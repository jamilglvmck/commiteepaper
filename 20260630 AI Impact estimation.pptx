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1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2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1" r:id="rId5"/>
  </p:sldMasterIdLst>
  <p:notesMasterIdLst>
    <p:notesMasterId r:id="rId9"/>
  </p:notesMasterIdLst>
  <p:handoutMasterIdLst>
    <p:handoutMasterId r:id="rId10"/>
  </p:handoutMasterIdLst>
  <p:sldIdLst>
    <p:sldId id="256" r:id="rId6"/>
    <p:sldId id="270" r:id="rId7"/>
    <p:sldId id="292" r:id="rId8"/>
  </p:sldIdLst>
  <p:sldSz cx="12192000" cy="6858000"/>
  <p:notesSz cx="7102475" cy="9388475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63F"/>
    <a:srgbClr val="0A5637"/>
    <a:srgbClr val="F7D147"/>
    <a:srgbClr val="74A09B"/>
    <a:srgbClr val="A6A6A6"/>
    <a:srgbClr val="FDF6DA"/>
    <a:srgbClr val="C5F3D4"/>
    <a:srgbClr val="FFFFFF"/>
    <a:srgbClr val="E4EAEA"/>
    <a:srgbClr val="FE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686395396629675E-2"/>
          <c:y val="2.1146807645384302E-2"/>
          <c:w val="0.97862720920674062"/>
          <c:h val="0.95363969093127288"/>
        </c:manualLayout>
      </c:layout>
      <c:bubbleChart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xVal>
            <c:numRef>
              <c:f>Sheet1!$A$1:$A$10</c:f>
              <c:numCache>
                <c:formatCode>General</c:formatCode>
                <c:ptCount val="10"/>
                <c:pt idx="0">
                  <c:v>5</c:v>
                </c:pt>
                <c:pt idx="1">
                  <c:v>3.2</c:v>
                </c:pt>
                <c:pt idx="2">
                  <c:v>1.7</c:v>
                </c:pt>
                <c:pt idx="3">
                  <c:v>1.3</c:v>
                </c:pt>
                <c:pt idx="4">
                  <c:v>0.4</c:v>
                </c:pt>
              </c:numCache>
            </c:numRef>
          </c:xVal>
          <c:yVal>
            <c:numRef>
              <c:f>Sheet1!$B$1:$B$10</c:f>
              <c:numCache>
                <c:formatCode>General</c:formatCode>
                <c:ptCount val="10"/>
                <c:pt idx="0">
                  <c:v>7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8</c:v>
                </c:pt>
              </c:numCache>
            </c:numRef>
          </c:yVal>
          <c:bubbleSize>
            <c:numRef>
              <c:f>Sheet1!$C$1:$C$10</c:f>
              <c:numCache>
                <c:formatCode>General</c:formatCode>
                <c:ptCount val="10"/>
                <c:pt idx="0">
                  <c:v>5</c:v>
                </c:pt>
                <c:pt idx="1">
                  <c:v>3.2</c:v>
                </c:pt>
                <c:pt idx="2">
                  <c:v>1.7</c:v>
                </c:pt>
                <c:pt idx="3">
                  <c:v>1.3</c:v>
                </c:pt>
                <c:pt idx="4">
                  <c:v>0.4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E517-42F8-8299-724CF6564FDD}"/>
            </c:ext>
          </c:extLst>
        </c:ser>
        <c:ser>
          <c:idx val="1"/>
          <c:order val="1"/>
          <c:spPr>
            <a:solidFill>
              <a:schemeClr val="accent6"/>
            </a:solidFill>
            <a:ln>
              <a:noFill/>
            </a:ln>
          </c:spPr>
          <c:invertIfNegative val="0"/>
          <c:xVal>
            <c:numRef>
              <c:f>Sheet1!$A$1:$A$10</c:f>
              <c:numCache>
                <c:formatCode>General</c:formatCode>
                <c:ptCount val="10"/>
                <c:pt idx="5">
                  <c:v>9.4</c:v>
                </c:pt>
                <c:pt idx="6">
                  <c:v>9.1999999999999993</c:v>
                </c:pt>
                <c:pt idx="7">
                  <c:v>6.4</c:v>
                </c:pt>
                <c:pt idx="8">
                  <c:v>0.4</c:v>
                </c:pt>
              </c:numCache>
            </c:numRef>
          </c:xVal>
          <c:yVal>
            <c:numRef>
              <c:f>Sheet1!$D$1:$D$10</c:f>
              <c:numCache>
                <c:formatCode>General</c:formatCode>
                <c:ptCount val="10"/>
                <c:pt idx="5">
                  <c:v>7</c:v>
                </c:pt>
                <c:pt idx="6">
                  <c:v>5</c:v>
                </c:pt>
                <c:pt idx="7">
                  <c:v>6</c:v>
                </c:pt>
                <c:pt idx="8">
                  <c:v>4</c:v>
                </c:pt>
              </c:numCache>
            </c:numRef>
          </c:yVal>
          <c:bubbleSize>
            <c:numRef>
              <c:f>Sheet1!$E$1:$E$10</c:f>
              <c:numCache>
                <c:formatCode>General</c:formatCode>
                <c:ptCount val="10"/>
                <c:pt idx="5">
                  <c:v>9.4</c:v>
                </c:pt>
                <c:pt idx="6">
                  <c:v>9.1999999999999993</c:v>
                </c:pt>
                <c:pt idx="7">
                  <c:v>6.4</c:v>
                </c:pt>
                <c:pt idx="8">
                  <c:v>0.4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1-E517-42F8-8299-724CF6564FDD}"/>
            </c:ext>
          </c:extLst>
        </c:ser>
        <c:ser>
          <c:idx val="2"/>
          <c:order val="2"/>
          <c:spPr>
            <a:solidFill>
              <a:schemeClr val="accent2"/>
            </a:solidFill>
            <a:ln>
              <a:noFill/>
            </a:ln>
          </c:spPr>
          <c:invertIfNegative val="0"/>
          <c:xVal>
            <c:numRef>
              <c:f>Sheet1!$A$1:$A$10</c:f>
              <c:numCache>
                <c:formatCode>General</c:formatCode>
                <c:ptCount val="10"/>
                <c:pt idx="9">
                  <c:v>8.6999999999999993</c:v>
                </c:pt>
              </c:numCache>
            </c:numRef>
          </c:xVal>
          <c:yVal>
            <c:numRef>
              <c:f>Sheet1!$F$1:$F$10</c:f>
              <c:numCache>
                <c:formatCode>General</c:formatCode>
                <c:ptCount val="10"/>
                <c:pt idx="9">
                  <c:v>8</c:v>
                </c:pt>
              </c:numCache>
            </c:numRef>
          </c:yVal>
          <c:bubbleSize>
            <c:numRef>
              <c:f>Sheet1!$G$1:$G$10</c:f>
              <c:numCache>
                <c:formatCode>General</c:formatCode>
                <c:ptCount val="10"/>
                <c:pt idx="9">
                  <c:v>8.6999999999999993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2-E517-42F8-8299-724CF6564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9"/>
        <c:showNegBubbles val="0"/>
        <c:axId val="98555904"/>
        <c:axId val="1"/>
      </c:bubbleChart>
      <c:valAx>
        <c:axId val="98555904"/>
        <c:scaling>
          <c:orientation val="minMax"/>
          <c:max val="10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10"/>
          <c:min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9855590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4 October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4 October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October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10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89565-3239-40C9-9EB5-8C3CBFF1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79454-3BD1-8389-9F21-2F996889B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15CEC-AE80-0F87-69BE-494DAD8EF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12" y="4518025"/>
            <a:ext cx="5632450" cy="1692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BE5F7-385A-5CFC-5242-F843C23E19C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 October 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C1257-4201-1606-DA95-41439A7F1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11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5.xml"/><Relationship Id="rId7" Type="http://schemas.openxmlformats.org/officeDocument/2006/relationships/oleObject" Target="../embeddings/oleObject2.bin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9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4.sv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1.emf"/><Relationship Id="rId5" Type="http://schemas.openxmlformats.org/officeDocument/2006/relationships/tags" Target="../tags/tag32.xml"/><Relationship Id="rId10" Type="http://schemas.openxmlformats.org/officeDocument/2006/relationships/oleObject" Target="../embeddings/oleObject3.bin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10" Type="http://schemas.openxmlformats.org/officeDocument/2006/relationships/image" Target="../media/image3.svg"/><Relationship Id="rId4" Type="http://schemas.openxmlformats.org/officeDocument/2006/relationships/tags" Target="../tags/tag39.xml"/><Relationship Id="rId9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10" Type="http://schemas.openxmlformats.org/officeDocument/2006/relationships/image" Target="../media/image3.svg"/><Relationship Id="rId4" Type="http://schemas.openxmlformats.org/officeDocument/2006/relationships/tags" Target="../tags/tag45.xml"/><Relationship Id="rId9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4.sv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2.emf"/><Relationship Id="rId5" Type="http://schemas.openxmlformats.org/officeDocument/2006/relationships/tags" Target="../tags/tag52.xml"/><Relationship Id="rId10" Type="http://schemas.openxmlformats.org/officeDocument/2006/relationships/oleObject" Target="../embeddings/oleObject6.bin"/><Relationship Id="rId4" Type="http://schemas.openxmlformats.org/officeDocument/2006/relationships/tags" Target="../tags/tag5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image" Target="../media/image4.svg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image" Target="../media/image1.emf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oleObject" Target="../embeddings/oleObject7.bin"/><Relationship Id="rId5" Type="http://schemas.openxmlformats.org/officeDocument/2006/relationships/tags" Target="../tags/tag6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9.xml"/><Relationship Id="rId9" Type="http://schemas.openxmlformats.org/officeDocument/2006/relationships/tags" Target="../tags/tag64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image" Target="../media/image4.svg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image" Target="../media/image1.emf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oleObject" Target="../embeddings/oleObject8.bin"/><Relationship Id="rId5" Type="http://schemas.openxmlformats.org/officeDocument/2006/relationships/tags" Target="../tags/tag6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8.xml"/><Relationship Id="rId9" Type="http://schemas.openxmlformats.org/officeDocument/2006/relationships/tags" Target="../tags/tag7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4.svg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1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oleObject" Target="../embeddings/oleObject9.bin"/><Relationship Id="rId5" Type="http://schemas.openxmlformats.org/officeDocument/2006/relationships/tags" Target="../tags/tag7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4.sv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5.emf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8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image" Target="../media/image4.svg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1.emf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9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ags" Target="../tags/tag103.xml"/><Relationship Id="rId7" Type="http://schemas.openxmlformats.org/officeDocument/2006/relationships/image" Target="../media/image6.sv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4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58183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000" b="1" i="0" baseline="0">
              <a:solidFill>
                <a:schemeClr val="bg1"/>
              </a:solidFill>
              <a:latin typeface="Georgia" panose="02040502050405020303" pitchFamily="18" charset="0"/>
              <a:ea typeface="Cambria" panose="02040503050406030204" pitchFamily="18" charset="0"/>
              <a:cs typeface="Times New Roman" panose="02020603050405020304" pitchFamily="18" charset="0"/>
              <a:sym typeface="Georgia" panose="02040502050405020303" pitchFamily="18" charset="0"/>
            </a:endParaRPr>
          </a:p>
        </p:txBody>
      </p:sp>
      <p:sp>
        <p:nvSpPr>
          <p:cNvPr id="32" name="Background">
            <a:extLst>
              <a:ext uri="{FF2B5EF4-FFF2-40B4-BE49-F238E27FC236}">
                <a16:creationId xmlns:a16="http://schemas.microsoft.com/office/drawing/2014/main" id="{1D980268-7BA9-4779-810B-9A371BD3036C}"/>
              </a:ext>
            </a:extLst>
          </p:cNvPr>
          <p:cNvSpPr/>
          <p:nvPr userDrawn="1"/>
        </p:nvSpPr>
        <p:spPr>
          <a:xfrm>
            <a:off x="0" y="1587"/>
            <a:ext cx="12192000" cy="6856413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224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0307DC1-89A8-4F19-831F-D7727709D848}"/>
              </a:ext>
            </a:extLst>
          </p:cNvPr>
          <p:cNvGrpSpPr/>
          <p:nvPr userDrawn="1"/>
        </p:nvGrpSpPr>
        <p:grpSpPr>
          <a:xfrm>
            <a:off x="0" y="3305867"/>
            <a:ext cx="6648374" cy="3337021"/>
            <a:chOff x="0" y="0"/>
            <a:chExt cx="6648374" cy="3337021"/>
          </a:xfrm>
        </p:grpSpPr>
        <p:pic>
          <p:nvPicPr>
            <p:cNvPr id="105" name="Graphic 104">
              <a:extLst>
                <a:ext uri="{FF2B5EF4-FFF2-40B4-BE49-F238E27FC236}">
                  <a16:creationId xmlns:a16="http://schemas.microsoft.com/office/drawing/2014/main" id="{21BADBE0-EF9D-4335-AF16-0F5531396D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0" y="0"/>
              <a:ext cx="3337021" cy="3337021"/>
            </a:xfrm>
            <a:prstGeom prst="rect">
              <a:avLst/>
            </a:prstGeom>
          </p:spPr>
        </p:pic>
        <p:pic>
          <p:nvPicPr>
            <p:cNvPr id="106" name="Graphic 105">
              <a:extLst>
                <a:ext uri="{FF2B5EF4-FFF2-40B4-BE49-F238E27FC236}">
                  <a16:creationId xmlns:a16="http://schemas.microsoft.com/office/drawing/2014/main" id="{FE9D55BB-E0CB-44EB-987D-AAEB678C20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11353" y="0"/>
              <a:ext cx="3337021" cy="3337021"/>
            </a:xfrm>
            <a:prstGeom prst="rect">
              <a:avLst/>
            </a:prstGeom>
          </p:spPr>
        </p:pic>
      </p:grpSp>
      <p:pic>
        <p:nvPicPr>
          <p:cNvPr id="107" name="Graphic 106">
            <a:extLst>
              <a:ext uri="{FF2B5EF4-FFF2-40B4-BE49-F238E27FC236}">
                <a16:creationId xmlns:a16="http://schemas.microsoft.com/office/drawing/2014/main" id="{24BBA23F-C71E-46C1-96BF-AB67B8254A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5762" y="3305867"/>
            <a:ext cx="3337021" cy="3337021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86098EE8-AB18-4F28-AC02-491CA6F909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31829"/>
          <a:stretch>
            <a:fillRect/>
          </a:stretch>
        </p:blipFill>
        <p:spPr>
          <a:xfrm>
            <a:off x="9917115" y="3305867"/>
            <a:ext cx="2274885" cy="3337021"/>
          </a:xfrm>
          <a:custGeom>
            <a:avLst/>
            <a:gdLst>
              <a:gd name="connsiteX0" fmla="*/ 0 w 2274885"/>
              <a:gd name="connsiteY0" fmla="*/ 0 h 3337021"/>
              <a:gd name="connsiteX1" fmla="*/ 2274885 w 2274885"/>
              <a:gd name="connsiteY1" fmla="*/ 0 h 3337021"/>
              <a:gd name="connsiteX2" fmla="*/ 2274885 w 2274885"/>
              <a:gd name="connsiteY2" fmla="*/ 3337021 h 3337021"/>
              <a:gd name="connsiteX3" fmla="*/ 0 w 2274885"/>
              <a:gd name="connsiteY3" fmla="*/ 3337021 h 333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885" h="3337021">
                <a:moveTo>
                  <a:pt x="0" y="0"/>
                </a:moveTo>
                <a:lnTo>
                  <a:pt x="2274885" y="0"/>
                </a:lnTo>
                <a:lnTo>
                  <a:pt x="2274885" y="3337021"/>
                </a:lnTo>
                <a:lnTo>
                  <a:pt x="0" y="3337021"/>
                </a:lnTo>
                <a:close/>
              </a:path>
            </a:pathLst>
          </a:cu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2A9E46F3-7EEF-45EC-B7C9-FAFF412582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92389"/>
          <a:stretch>
            <a:fillRect/>
          </a:stretch>
        </p:blipFill>
        <p:spPr>
          <a:xfrm>
            <a:off x="0" y="6604027"/>
            <a:ext cx="3337021" cy="253973"/>
          </a:xfrm>
          <a:custGeom>
            <a:avLst/>
            <a:gdLst>
              <a:gd name="connsiteX0" fmla="*/ 0 w 3337021"/>
              <a:gd name="connsiteY0" fmla="*/ 0 h 253973"/>
              <a:gd name="connsiteX1" fmla="*/ 3337021 w 3337021"/>
              <a:gd name="connsiteY1" fmla="*/ 0 h 253973"/>
              <a:gd name="connsiteX2" fmla="*/ 3337021 w 3337021"/>
              <a:gd name="connsiteY2" fmla="*/ 253973 h 253973"/>
              <a:gd name="connsiteX3" fmla="*/ 0 w 3337021"/>
              <a:gd name="connsiteY3" fmla="*/ 253973 h 253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021" h="253973">
                <a:moveTo>
                  <a:pt x="0" y="0"/>
                </a:moveTo>
                <a:lnTo>
                  <a:pt x="3337021" y="0"/>
                </a:lnTo>
                <a:lnTo>
                  <a:pt x="3337021" y="253973"/>
                </a:lnTo>
                <a:lnTo>
                  <a:pt x="0" y="253973"/>
                </a:lnTo>
                <a:close/>
              </a:path>
            </a:pathLst>
          </a:cu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F0B558E2-8155-4161-A0C3-8A3F8D9B29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92389"/>
          <a:stretch>
            <a:fillRect/>
          </a:stretch>
        </p:blipFill>
        <p:spPr>
          <a:xfrm>
            <a:off x="3311353" y="6604027"/>
            <a:ext cx="3337021" cy="253972"/>
          </a:xfrm>
          <a:custGeom>
            <a:avLst/>
            <a:gdLst>
              <a:gd name="connsiteX0" fmla="*/ 0 w 3337021"/>
              <a:gd name="connsiteY0" fmla="*/ 0 h 253972"/>
              <a:gd name="connsiteX1" fmla="*/ 3337021 w 3337021"/>
              <a:gd name="connsiteY1" fmla="*/ 0 h 253972"/>
              <a:gd name="connsiteX2" fmla="*/ 3337021 w 3337021"/>
              <a:gd name="connsiteY2" fmla="*/ 253972 h 253972"/>
              <a:gd name="connsiteX3" fmla="*/ 0 w 3337021"/>
              <a:gd name="connsiteY3" fmla="*/ 253972 h 253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021" h="253972">
                <a:moveTo>
                  <a:pt x="0" y="0"/>
                </a:moveTo>
                <a:lnTo>
                  <a:pt x="3337021" y="0"/>
                </a:lnTo>
                <a:lnTo>
                  <a:pt x="3337021" y="253972"/>
                </a:lnTo>
                <a:lnTo>
                  <a:pt x="0" y="253972"/>
                </a:lnTo>
                <a:close/>
              </a:path>
            </a:pathLst>
          </a:cu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7F35D97E-A39C-4F02-8745-F5C3640709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92389"/>
          <a:stretch>
            <a:fillRect/>
          </a:stretch>
        </p:blipFill>
        <p:spPr>
          <a:xfrm>
            <a:off x="6605762" y="6604027"/>
            <a:ext cx="3337021" cy="253972"/>
          </a:xfrm>
          <a:custGeom>
            <a:avLst/>
            <a:gdLst>
              <a:gd name="connsiteX0" fmla="*/ 0 w 3337021"/>
              <a:gd name="connsiteY0" fmla="*/ 0 h 253972"/>
              <a:gd name="connsiteX1" fmla="*/ 3337021 w 3337021"/>
              <a:gd name="connsiteY1" fmla="*/ 0 h 253972"/>
              <a:gd name="connsiteX2" fmla="*/ 3337021 w 3337021"/>
              <a:gd name="connsiteY2" fmla="*/ 253972 h 253972"/>
              <a:gd name="connsiteX3" fmla="*/ 0 w 3337021"/>
              <a:gd name="connsiteY3" fmla="*/ 253972 h 253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021" h="253972">
                <a:moveTo>
                  <a:pt x="0" y="0"/>
                </a:moveTo>
                <a:lnTo>
                  <a:pt x="3337021" y="0"/>
                </a:lnTo>
                <a:lnTo>
                  <a:pt x="3337021" y="253972"/>
                </a:lnTo>
                <a:lnTo>
                  <a:pt x="0" y="253972"/>
                </a:lnTo>
                <a:close/>
              </a:path>
            </a:pathLst>
          </a:cu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F5B3FA40-9DF6-443D-B910-DB34568AAA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31829" b="92389"/>
          <a:stretch>
            <a:fillRect/>
          </a:stretch>
        </p:blipFill>
        <p:spPr>
          <a:xfrm>
            <a:off x="9917115" y="6604027"/>
            <a:ext cx="2274885" cy="253972"/>
          </a:xfrm>
          <a:custGeom>
            <a:avLst/>
            <a:gdLst>
              <a:gd name="connsiteX0" fmla="*/ 0 w 2274885"/>
              <a:gd name="connsiteY0" fmla="*/ 0 h 253972"/>
              <a:gd name="connsiteX1" fmla="*/ 2274885 w 2274885"/>
              <a:gd name="connsiteY1" fmla="*/ 0 h 253972"/>
              <a:gd name="connsiteX2" fmla="*/ 2274885 w 2274885"/>
              <a:gd name="connsiteY2" fmla="*/ 253972 h 253972"/>
              <a:gd name="connsiteX3" fmla="*/ 0 w 2274885"/>
              <a:gd name="connsiteY3" fmla="*/ 253972 h 253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885" h="253972">
                <a:moveTo>
                  <a:pt x="0" y="0"/>
                </a:moveTo>
                <a:lnTo>
                  <a:pt x="2274885" y="0"/>
                </a:lnTo>
                <a:lnTo>
                  <a:pt x="2274885" y="253972"/>
                </a:lnTo>
                <a:lnTo>
                  <a:pt x="0" y="253972"/>
                </a:lnTo>
                <a:close/>
              </a:path>
            </a:pathLst>
          </a:custGeom>
        </p:spPr>
      </p:pic>
      <p:grpSp>
        <p:nvGrpSpPr>
          <p:cNvPr id="14" name="Rectangle 1">
            <a:extLst>
              <a:ext uri="{FF2B5EF4-FFF2-40B4-BE49-F238E27FC236}">
                <a16:creationId xmlns:a16="http://schemas.microsoft.com/office/drawing/2014/main" id="{74DBAC4F-5C86-458F-88E1-115AA10C0759}"/>
              </a:ext>
            </a:extLst>
          </p:cNvPr>
          <p:cNvGrpSpPr/>
          <p:nvPr userDrawn="1"/>
        </p:nvGrpSpPr>
        <p:grpSpPr>
          <a:xfrm>
            <a:off x="0" y="0"/>
            <a:ext cx="6648374" cy="3337021"/>
            <a:chOff x="0" y="0"/>
            <a:chExt cx="6648374" cy="3337021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03C966D-E0F6-499D-B964-1BBA7BCCCE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0" y="0"/>
              <a:ext cx="3337021" cy="3337021"/>
            </a:xfrm>
            <a:prstGeom prst="rect">
              <a:avLst/>
            </a:prstGeom>
          </p:spPr>
        </p:pic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363F64DD-88CA-4D07-A7DC-636636F8D2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11353" y="0"/>
              <a:ext cx="3337021" cy="3337021"/>
            </a:xfrm>
            <a:prstGeom prst="rect">
              <a:avLst/>
            </a:prstGeom>
          </p:spPr>
        </p:pic>
      </p:grpSp>
      <p:sp>
        <p:nvSpPr>
          <p:cNvPr id="63" name="Background">
            <a:extLst>
              <a:ext uri="{FF2B5EF4-FFF2-40B4-BE49-F238E27FC236}">
                <a16:creationId xmlns:a16="http://schemas.microsoft.com/office/drawing/2014/main" id="{425469C0-55E0-44DD-A565-3DED7D7E7D79}"/>
              </a:ext>
            </a:extLst>
          </p:cNvPr>
          <p:cNvSpPr/>
          <p:nvPr userDrawn="1"/>
        </p:nvSpPr>
        <p:spPr bwMode="ltGray">
          <a:xfrm rot="10800000">
            <a:off x="-2115" y="0"/>
            <a:ext cx="12189884" cy="6650767"/>
          </a:xfrm>
          <a:prstGeom prst="rect">
            <a:avLst/>
          </a:prstGeom>
          <a:gradFill>
            <a:gsLst>
              <a:gs pos="77000">
                <a:srgbClr val="0D1514">
                  <a:alpha val="0"/>
                </a:srgbClr>
              </a:gs>
              <a:gs pos="0">
                <a:srgbClr val="0D1514"/>
              </a:gs>
            </a:gsLst>
            <a:lin ang="19200000" scaled="0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1" name="Background">
            <a:extLst>
              <a:ext uri="{FF2B5EF4-FFF2-40B4-BE49-F238E27FC236}">
                <a16:creationId xmlns:a16="http://schemas.microsoft.com/office/drawing/2014/main" id="{0E2068AF-9C8C-490E-B5B3-460EC8A03D94}"/>
              </a:ext>
            </a:extLst>
          </p:cNvPr>
          <p:cNvSpPr/>
          <p:nvPr userDrawn="1"/>
        </p:nvSpPr>
        <p:spPr bwMode="ltGray">
          <a:xfrm>
            <a:off x="0" y="207233"/>
            <a:ext cx="12189884" cy="6650767"/>
          </a:xfrm>
          <a:prstGeom prst="rect">
            <a:avLst/>
          </a:prstGeom>
          <a:gradFill>
            <a:gsLst>
              <a:gs pos="8000">
                <a:schemeClr val="accent4">
                  <a:alpha val="28000"/>
                </a:schemeClr>
              </a:gs>
              <a:gs pos="31000">
                <a:schemeClr val="tx2">
                  <a:alpha val="0"/>
                </a:schemeClr>
              </a:gs>
              <a:gs pos="0">
                <a:schemeClr val="accent4">
                  <a:alpha val="58000"/>
                </a:schemeClr>
              </a:gs>
            </a:gsLst>
            <a:lin ang="16800000" scaled="0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A210679-AAFE-4A37-B347-17F73F4FE03C}"/>
              </a:ext>
            </a:extLst>
          </p:cNvPr>
          <p:cNvGrpSpPr/>
          <p:nvPr userDrawn="1"/>
        </p:nvGrpSpPr>
        <p:grpSpPr>
          <a:xfrm>
            <a:off x="558977" y="509609"/>
            <a:ext cx="1550169" cy="633391"/>
            <a:chOff x="1568450" y="-1222375"/>
            <a:chExt cx="2327275" cy="950912"/>
          </a:xfrm>
          <a:solidFill>
            <a:schemeClr val="bg1"/>
          </a:solidFill>
        </p:grpSpPr>
        <p:sp>
          <p:nvSpPr>
            <p:cNvPr id="36" name="Freeform 568">
              <a:extLst>
                <a:ext uri="{FF2B5EF4-FFF2-40B4-BE49-F238E27FC236}">
                  <a16:creationId xmlns:a16="http://schemas.microsoft.com/office/drawing/2014/main" id="{3C220D7C-BB8A-448D-B566-ED3009C094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43188" y="-682625"/>
              <a:ext cx="215900" cy="269875"/>
            </a:xfrm>
            <a:custGeom>
              <a:avLst/>
              <a:gdLst>
                <a:gd name="T0" fmla="*/ 0 w 77"/>
                <a:gd name="T1" fmla="*/ 0 h 96"/>
                <a:gd name="T2" fmla="*/ 34 w 77"/>
                <a:gd name="T3" fmla="*/ 0 h 96"/>
                <a:gd name="T4" fmla="*/ 70 w 77"/>
                <a:gd name="T5" fmla="*/ 27 h 96"/>
                <a:gd name="T6" fmla="*/ 60 w 77"/>
                <a:gd name="T7" fmla="*/ 44 h 96"/>
                <a:gd name="T8" fmla="*/ 60 w 77"/>
                <a:gd name="T9" fmla="*/ 44 h 96"/>
                <a:gd name="T10" fmla="*/ 77 w 77"/>
                <a:gd name="T11" fmla="*/ 67 h 96"/>
                <a:gd name="T12" fmla="*/ 38 w 77"/>
                <a:gd name="T13" fmla="*/ 96 h 96"/>
                <a:gd name="T14" fmla="*/ 0 w 77"/>
                <a:gd name="T15" fmla="*/ 96 h 96"/>
                <a:gd name="T16" fmla="*/ 0 w 77"/>
                <a:gd name="T17" fmla="*/ 0 h 96"/>
                <a:gd name="T18" fmla="*/ 32 w 77"/>
                <a:gd name="T19" fmla="*/ 40 h 96"/>
                <a:gd name="T20" fmla="*/ 47 w 77"/>
                <a:gd name="T21" fmla="*/ 29 h 96"/>
                <a:gd name="T22" fmla="*/ 30 w 77"/>
                <a:gd name="T23" fmla="*/ 18 h 96"/>
                <a:gd name="T24" fmla="*/ 23 w 77"/>
                <a:gd name="T25" fmla="*/ 18 h 96"/>
                <a:gd name="T26" fmla="*/ 23 w 77"/>
                <a:gd name="T27" fmla="*/ 40 h 96"/>
                <a:gd name="T28" fmla="*/ 32 w 77"/>
                <a:gd name="T29" fmla="*/ 40 h 96"/>
                <a:gd name="T30" fmla="*/ 35 w 77"/>
                <a:gd name="T31" fmla="*/ 78 h 96"/>
                <a:gd name="T32" fmla="*/ 53 w 77"/>
                <a:gd name="T33" fmla="*/ 67 h 96"/>
                <a:gd name="T34" fmla="*/ 33 w 77"/>
                <a:gd name="T35" fmla="*/ 55 h 96"/>
                <a:gd name="T36" fmla="*/ 23 w 77"/>
                <a:gd name="T37" fmla="*/ 55 h 96"/>
                <a:gd name="T38" fmla="*/ 23 w 77"/>
                <a:gd name="T39" fmla="*/ 78 h 96"/>
                <a:gd name="T40" fmla="*/ 35 w 77"/>
                <a:gd name="T41" fmla="*/ 7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" h="96">
                  <a:moveTo>
                    <a:pt x="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57" y="0"/>
                    <a:pt x="70" y="9"/>
                    <a:pt x="70" y="27"/>
                  </a:cubicBezTo>
                  <a:cubicBezTo>
                    <a:pt x="70" y="35"/>
                    <a:pt x="65" y="41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6" y="46"/>
                    <a:pt x="77" y="54"/>
                    <a:pt x="77" y="67"/>
                  </a:cubicBezTo>
                  <a:cubicBezTo>
                    <a:pt x="77" y="84"/>
                    <a:pt x="66" y="96"/>
                    <a:pt x="38" y="96"/>
                  </a:cubicBezTo>
                  <a:cubicBezTo>
                    <a:pt x="0" y="96"/>
                    <a:pt x="0" y="96"/>
                    <a:pt x="0" y="96"/>
                  </a:cubicBezTo>
                  <a:lnTo>
                    <a:pt x="0" y="0"/>
                  </a:lnTo>
                  <a:close/>
                  <a:moveTo>
                    <a:pt x="32" y="40"/>
                  </a:moveTo>
                  <a:cubicBezTo>
                    <a:pt x="42" y="40"/>
                    <a:pt x="47" y="38"/>
                    <a:pt x="47" y="29"/>
                  </a:cubicBezTo>
                  <a:cubicBezTo>
                    <a:pt x="47" y="21"/>
                    <a:pt x="41" y="18"/>
                    <a:pt x="30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40"/>
                    <a:pt x="23" y="40"/>
                    <a:pt x="23" y="40"/>
                  </a:cubicBezTo>
                  <a:lnTo>
                    <a:pt x="32" y="40"/>
                  </a:lnTo>
                  <a:close/>
                  <a:moveTo>
                    <a:pt x="35" y="78"/>
                  </a:moveTo>
                  <a:cubicBezTo>
                    <a:pt x="47" y="78"/>
                    <a:pt x="53" y="75"/>
                    <a:pt x="53" y="67"/>
                  </a:cubicBezTo>
                  <a:cubicBezTo>
                    <a:pt x="53" y="59"/>
                    <a:pt x="47" y="55"/>
                    <a:pt x="3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78"/>
                    <a:pt x="23" y="78"/>
                    <a:pt x="23" y="78"/>
                  </a:cubicBezTo>
                  <a:lnTo>
                    <a:pt x="35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7" name="Freeform 569">
              <a:extLst>
                <a:ext uri="{FF2B5EF4-FFF2-40B4-BE49-F238E27FC236}">
                  <a16:creationId xmlns:a16="http://schemas.microsoft.com/office/drawing/2014/main" id="{56955F2B-3B04-43A0-ABB2-69888FCB71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879725" y="-627063"/>
              <a:ext cx="204788" cy="220662"/>
            </a:xfrm>
            <a:custGeom>
              <a:avLst/>
              <a:gdLst>
                <a:gd name="T0" fmla="*/ 0 w 73"/>
                <a:gd name="T1" fmla="*/ 55 h 78"/>
                <a:gd name="T2" fmla="*/ 32 w 73"/>
                <a:gd name="T3" fmla="*/ 33 h 78"/>
                <a:gd name="T4" fmla="*/ 45 w 73"/>
                <a:gd name="T5" fmla="*/ 33 h 78"/>
                <a:gd name="T6" fmla="*/ 45 w 73"/>
                <a:gd name="T7" fmla="*/ 28 h 78"/>
                <a:gd name="T8" fmla="*/ 31 w 73"/>
                <a:gd name="T9" fmla="*/ 20 h 78"/>
                <a:gd name="T10" fmla="*/ 9 w 73"/>
                <a:gd name="T11" fmla="*/ 23 h 78"/>
                <a:gd name="T12" fmla="*/ 4 w 73"/>
                <a:gd name="T13" fmla="*/ 6 h 78"/>
                <a:gd name="T14" fmla="*/ 35 w 73"/>
                <a:gd name="T15" fmla="*/ 0 h 78"/>
                <a:gd name="T16" fmla="*/ 67 w 73"/>
                <a:gd name="T17" fmla="*/ 24 h 78"/>
                <a:gd name="T18" fmla="*/ 67 w 73"/>
                <a:gd name="T19" fmla="*/ 57 h 78"/>
                <a:gd name="T20" fmla="*/ 73 w 73"/>
                <a:gd name="T21" fmla="*/ 60 h 78"/>
                <a:gd name="T22" fmla="*/ 73 w 73"/>
                <a:gd name="T23" fmla="*/ 77 h 78"/>
                <a:gd name="T24" fmla="*/ 67 w 73"/>
                <a:gd name="T25" fmla="*/ 77 h 78"/>
                <a:gd name="T26" fmla="*/ 47 w 73"/>
                <a:gd name="T27" fmla="*/ 69 h 78"/>
                <a:gd name="T28" fmla="*/ 25 w 73"/>
                <a:gd name="T29" fmla="*/ 78 h 78"/>
                <a:gd name="T30" fmla="*/ 0 w 73"/>
                <a:gd name="T31" fmla="*/ 55 h 78"/>
                <a:gd name="T32" fmla="*/ 45 w 73"/>
                <a:gd name="T33" fmla="*/ 58 h 78"/>
                <a:gd name="T34" fmla="*/ 45 w 73"/>
                <a:gd name="T35" fmla="*/ 46 h 78"/>
                <a:gd name="T36" fmla="*/ 33 w 73"/>
                <a:gd name="T37" fmla="*/ 46 h 78"/>
                <a:gd name="T38" fmla="*/ 22 w 73"/>
                <a:gd name="T39" fmla="*/ 54 h 78"/>
                <a:gd name="T40" fmla="*/ 30 w 73"/>
                <a:gd name="T41" fmla="*/ 60 h 78"/>
                <a:gd name="T42" fmla="*/ 45 w 73"/>
                <a:gd name="T43" fmla="*/ 5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3" h="78">
                  <a:moveTo>
                    <a:pt x="0" y="55"/>
                  </a:moveTo>
                  <a:cubicBezTo>
                    <a:pt x="0" y="36"/>
                    <a:pt x="17" y="33"/>
                    <a:pt x="32" y="33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1"/>
                    <a:pt x="40" y="20"/>
                    <a:pt x="31" y="20"/>
                  </a:cubicBezTo>
                  <a:cubicBezTo>
                    <a:pt x="24" y="20"/>
                    <a:pt x="16" y="21"/>
                    <a:pt x="9" y="23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13" y="3"/>
                    <a:pt x="23" y="0"/>
                    <a:pt x="35" y="0"/>
                  </a:cubicBezTo>
                  <a:cubicBezTo>
                    <a:pt x="58" y="0"/>
                    <a:pt x="67" y="7"/>
                    <a:pt x="67" y="24"/>
                  </a:cubicBezTo>
                  <a:cubicBezTo>
                    <a:pt x="67" y="57"/>
                    <a:pt x="67" y="57"/>
                    <a:pt x="67" y="57"/>
                  </a:cubicBezTo>
                  <a:cubicBezTo>
                    <a:pt x="67" y="59"/>
                    <a:pt x="69" y="60"/>
                    <a:pt x="73" y="60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1" y="77"/>
                    <a:pt x="69" y="77"/>
                    <a:pt x="67" y="77"/>
                  </a:cubicBezTo>
                  <a:cubicBezTo>
                    <a:pt x="58" y="77"/>
                    <a:pt x="49" y="76"/>
                    <a:pt x="47" y="69"/>
                  </a:cubicBezTo>
                  <a:cubicBezTo>
                    <a:pt x="41" y="73"/>
                    <a:pt x="34" y="78"/>
                    <a:pt x="25" y="78"/>
                  </a:cubicBezTo>
                  <a:cubicBezTo>
                    <a:pt x="9" y="78"/>
                    <a:pt x="0" y="70"/>
                    <a:pt x="0" y="55"/>
                  </a:cubicBezTo>
                  <a:moveTo>
                    <a:pt x="45" y="58"/>
                  </a:moveTo>
                  <a:cubicBezTo>
                    <a:pt x="45" y="46"/>
                    <a:pt x="45" y="46"/>
                    <a:pt x="45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27" y="46"/>
                    <a:pt x="22" y="48"/>
                    <a:pt x="22" y="54"/>
                  </a:cubicBezTo>
                  <a:cubicBezTo>
                    <a:pt x="22" y="58"/>
                    <a:pt x="26" y="60"/>
                    <a:pt x="30" y="60"/>
                  </a:cubicBezTo>
                  <a:cubicBezTo>
                    <a:pt x="35" y="60"/>
                    <a:pt x="40" y="59"/>
                    <a:pt x="45" y="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8" name="Freeform 570">
              <a:extLst>
                <a:ext uri="{FF2B5EF4-FFF2-40B4-BE49-F238E27FC236}">
                  <a16:creationId xmlns:a16="http://schemas.microsoft.com/office/drawing/2014/main" id="{AB576AAF-61A1-45F3-B605-3C184D4B1C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17850" y="-627063"/>
              <a:ext cx="200025" cy="214312"/>
            </a:xfrm>
            <a:custGeom>
              <a:avLst/>
              <a:gdLst>
                <a:gd name="T0" fmla="*/ 0 w 71"/>
                <a:gd name="T1" fmla="*/ 2 h 76"/>
                <a:gd name="T2" fmla="*/ 22 w 71"/>
                <a:gd name="T3" fmla="*/ 2 h 76"/>
                <a:gd name="T4" fmla="*/ 22 w 71"/>
                <a:gd name="T5" fmla="*/ 10 h 76"/>
                <a:gd name="T6" fmla="*/ 46 w 71"/>
                <a:gd name="T7" fmla="*/ 0 h 76"/>
                <a:gd name="T8" fmla="*/ 71 w 71"/>
                <a:gd name="T9" fmla="*/ 30 h 76"/>
                <a:gd name="T10" fmla="*/ 71 w 71"/>
                <a:gd name="T11" fmla="*/ 76 h 76"/>
                <a:gd name="T12" fmla="*/ 49 w 71"/>
                <a:gd name="T13" fmla="*/ 76 h 76"/>
                <a:gd name="T14" fmla="*/ 49 w 71"/>
                <a:gd name="T15" fmla="*/ 32 h 76"/>
                <a:gd name="T16" fmla="*/ 39 w 71"/>
                <a:gd name="T17" fmla="*/ 20 h 76"/>
                <a:gd name="T18" fmla="*/ 22 w 71"/>
                <a:gd name="T19" fmla="*/ 24 h 76"/>
                <a:gd name="T20" fmla="*/ 22 w 71"/>
                <a:gd name="T21" fmla="*/ 76 h 76"/>
                <a:gd name="T22" fmla="*/ 0 w 71"/>
                <a:gd name="T23" fmla="*/ 76 h 76"/>
                <a:gd name="T24" fmla="*/ 0 w 71"/>
                <a:gd name="T25" fmla="*/ 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76">
                  <a:moveTo>
                    <a:pt x="0" y="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7" y="6"/>
                    <a:pt x="37" y="0"/>
                    <a:pt x="46" y="0"/>
                  </a:cubicBezTo>
                  <a:cubicBezTo>
                    <a:pt x="70" y="0"/>
                    <a:pt x="71" y="13"/>
                    <a:pt x="71" y="30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22"/>
                    <a:pt x="46" y="20"/>
                    <a:pt x="39" y="20"/>
                  </a:cubicBezTo>
                  <a:cubicBezTo>
                    <a:pt x="32" y="20"/>
                    <a:pt x="26" y="22"/>
                    <a:pt x="22" y="24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0" y="76"/>
                    <a:pt x="0" y="76"/>
                    <a:pt x="0" y="76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9" name="Freeform 571">
              <a:extLst>
                <a:ext uri="{FF2B5EF4-FFF2-40B4-BE49-F238E27FC236}">
                  <a16:creationId xmlns:a16="http://schemas.microsoft.com/office/drawing/2014/main" id="{3DF65FB0-FFED-471C-A0DF-2DDA327C3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9150" y="-700088"/>
              <a:ext cx="203200" cy="287337"/>
            </a:xfrm>
            <a:custGeom>
              <a:avLst/>
              <a:gdLst>
                <a:gd name="T0" fmla="*/ 0 w 128"/>
                <a:gd name="T1" fmla="*/ 0 h 181"/>
                <a:gd name="T2" fmla="*/ 41 w 128"/>
                <a:gd name="T3" fmla="*/ 0 h 181"/>
                <a:gd name="T4" fmla="*/ 41 w 128"/>
                <a:gd name="T5" fmla="*/ 99 h 181"/>
                <a:gd name="T6" fmla="*/ 76 w 128"/>
                <a:gd name="T7" fmla="*/ 50 h 181"/>
                <a:gd name="T8" fmla="*/ 121 w 128"/>
                <a:gd name="T9" fmla="*/ 50 h 181"/>
                <a:gd name="T10" fmla="*/ 73 w 128"/>
                <a:gd name="T11" fmla="*/ 110 h 181"/>
                <a:gd name="T12" fmla="*/ 128 w 128"/>
                <a:gd name="T13" fmla="*/ 181 h 181"/>
                <a:gd name="T14" fmla="*/ 78 w 128"/>
                <a:gd name="T15" fmla="*/ 181 h 181"/>
                <a:gd name="T16" fmla="*/ 41 w 128"/>
                <a:gd name="T17" fmla="*/ 128 h 181"/>
                <a:gd name="T18" fmla="*/ 41 w 128"/>
                <a:gd name="T19" fmla="*/ 181 h 181"/>
                <a:gd name="T20" fmla="*/ 0 w 128"/>
                <a:gd name="T21" fmla="*/ 181 h 181"/>
                <a:gd name="T22" fmla="*/ 0 w 128"/>
                <a:gd name="T2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8" h="181">
                  <a:moveTo>
                    <a:pt x="0" y="0"/>
                  </a:moveTo>
                  <a:lnTo>
                    <a:pt x="41" y="0"/>
                  </a:lnTo>
                  <a:lnTo>
                    <a:pt x="41" y="99"/>
                  </a:lnTo>
                  <a:lnTo>
                    <a:pt x="76" y="50"/>
                  </a:lnTo>
                  <a:lnTo>
                    <a:pt x="121" y="50"/>
                  </a:lnTo>
                  <a:lnTo>
                    <a:pt x="73" y="110"/>
                  </a:lnTo>
                  <a:lnTo>
                    <a:pt x="128" y="181"/>
                  </a:lnTo>
                  <a:lnTo>
                    <a:pt x="78" y="181"/>
                  </a:lnTo>
                  <a:lnTo>
                    <a:pt x="41" y="128"/>
                  </a:lnTo>
                  <a:lnTo>
                    <a:pt x="41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0" name="Freeform 572">
              <a:extLst>
                <a:ext uri="{FF2B5EF4-FFF2-40B4-BE49-F238E27FC236}">
                  <a16:creationId xmlns:a16="http://schemas.microsoft.com/office/drawing/2014/main" id="{4B9153B3-CE76-463A-840E-55087279F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5025" y="-1081088"/>
              <a:ext cx="268288" cy="269875"/>
            </a:xfrm>
            <a:custGeom>
              <a:avLst/>
              <a:gdLst>
                <a:gd name="T0" fmla="*/ 65 w 169"/>
                <a:gd name="T1" fmla="*/ 0 h 170"/>
                <a:gd name="T2" fmla="*/ 169 w 169"/>
                <a:gd name="T3" fmla="*/ 0 h 170"/>
                <a:gd name="T4" fmla="*/ 169 w 169"/>
                <a:gd name="T5" fmla="*/ 170 h 170"/>
                <a:gd name="T6" fmla="*/ 0 w 169"/>
                <a:gd name="T7" fmla="*/ 170 h 170"/>
                <a:gd name="T8" fmla="*/ 0 w 169"/>
                <a:gd name="T9" fmla="*/ 131 h 170"/>
                <a:gd name="T10" fmla="*/ 93 w 169"/>
                <a:gd name="T11" fmla="*/ 37 h 170"/>
                <a:gd name="T12" fmla="*/ 97 w 169"/>
                <a:gd name="T13" fmla="*/ 32 h 170"/>
                <a:gd name="T14" fmla="*/ 65 w 169"/>
                <a:gd name="T1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9" h="170">
                  <a:moveTo>
                    <a:pt x="65" y="0"/>
                  </a:moveTo>
                  <a:lnTo>
                    <a:pt x="169" y="0"/>
                  </a:lnTo>
                  <a:lnTo>
                    <a:pt x="169" y="170"/>
                  </a:lnTo>
                  <a:lnTo>
                    <a:pt x="0" y="170"/>
                  </a:lnTo>
                  <a:lnTo>
                    <a:pt x="0" y="131"/>
                  </a:lnTo>
                  <a:lnTo>
                    <a:pt x="93" y="37"/>
                  </a:lnTo>
                  <a:lnTo>
                    <a:pt x="97" y="32"/>
                  </a:lnTo>
                  <a:lnTo>
                    <a:pt x="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1" name="Freeform 573">
              <a:extLst>
                <a:ext uri="{FF2B5EF4-FFF2-40B4-BE49-F238E27FC236}">
                  <a16:creationId xmlns:a16="http://schemas.microsoft.com/office/drawing/2014/main" id="{D5E88290-50BA-4495-B221-8D6AC5095E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22463" y="-1222375"/>
              <a:ext cx="307975" cy="384175"/>
            </a:xfrm>
            <a:custGeom>
              <a:avLst/>
              <a:gdLst>
                <a:gd name="T0" fmla="*/ 74 w 194"/>
                <a:gd name="T1" fmla="*/ 0 h 242"/>
                <a:gd name="T2" fmla="*/ 194 w 194"/>
                <a:gd name="T3" fmla="*/ 121 h 242"/>
                <a:gd name="T4" fmla="*/ 74 w 194"/>
                <a:gd name="T5" fmla="*/ 242 h 242"/>
                <a:gd name="T6" fmla="*/ 47 w 194"/>
                <a:gd name="T7" fmla="*/ 215 h 242"/>
                <a:gd name="T8" fmla="*/ 47 w 194"/>
                <a:gd name="T9" fmla="*/ 74 h 242"/>
                <a:gd name="T10" fmla="*/ 0 w 194"/>
                <a:gd name="T11" fmla="*/ 74 h 242"/>
                <a:gd name="T12" fmla="*/ 74 w 194"/>
                <a:gd name="T1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" h="242">
                  <a:moveTo>
                    <a:pt x="74" y="0"/>
                  </a:moveTo>
                  <a:lnTo>
                    <a:pt x="194" y="121"/>
                  </a:lnTo>
                  <a:lnTo>
                    <a:pt x="74" y="242"/>
                  </a:lnTo>
                  <a:lnTo>
                    <a:pt x="47" y="215"/>
                  </a:lnTo>
                  <a:lnTo>
                    <a:pt x="47" y="74"/>
                  </a:lnTo>
                  <a:lnTo>
                    <a:pt x="0" y="74"/>
                  </a:lnTo>
                  <a:lnTo>
                    <a:pt x="7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2" name="Freeform 574">
              <a:extLst>
                <a:ext uri="{FF2B5EF4-FFF2-40B4-BE49-F238E27FC236}">
                  <a16:creationId xmlns:a16="http://schemas.microsoft.com/office/drawing/2014/main" id="{6C993C06-AA95-4443-B724-8B34E551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4975" y="-1081088"/>
              <a:ext cx="269875" cy="269875"/>
            </a:xfrm>
            <a:custGeom>
              <a:avLst/>
              <a:gdLst>
                <a:gd name="T0" fmla="*/ 0 w 170"/>
                <a:gd name="T1" fmla="*/ 0 h 170"/>
                <a:gd name="T2" fmla="*/ 0 w 170"/>
                <a:gd name="T3" fmla="*/ 105 h 170"/>
                <a:gd name="T4" fmla="*/ 29 w 170"/>
                <a:gd name="T5" fmla="*/ 76 h 170"/>
                <a:gd name="T6" fmla="*/ 34 w 170"/>
                <a:gd name="T7" fmla="*/ 71 h 170"/>
                <a:gd name="T8" fmla="*/ 133 w 170"/>
                <a:gd name="T9" fmla="*/ 170 h 170"/>
                <a:gd name="T10" fmla="*/ 170 w 170"/>
                <a:gd name="T11" fmla="*/ 170 h 170"/>
                <a:gd name="T12" fmla="*/ 170 w 170"/>
                <a:gd name="T13" fmla="*/ 0 h 170"/>
                <a:gd name="T14" fmla="*/ 0 w 170"/>
                <a:gd name="T1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170">
                  <a:moveTo>
                    <a:pt x="0" y="0"/>
                  </a:moveTo>
                  <a:lnTo>
                    <a:pt x="0" y="105"/>
                  </a:lnTo>
                  <a:lnTo>
                    <a:pt x="29" y="76"/>
                  </a:lnTo>
                  <a:lnTo>
                    <a:pt x="34" y="71"/>
                  </a:lnTo>
                  <a:lnTo>
                    <a:pt x="133" y="170"/>
                  </a:lnTo>
                  <a:lnTo>
                    <a:pt x="170" y="170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3" name="Freeform 575">
              <a:extLst>
                <a:ext uri="{FF2B5EF4-FFF2-40B4-BE49-F238E27FC236}">
                  <a16:creationId xmlns:a16="http://schemas.microsoft.com/office/drawing/2014/main" id="{87C29E33-DC8E-4D5E-9508-281A334048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68450" y="-939800"/>
              <a:ext cx="381000" cy="309562"/>
            </a:xfrm>
            <a:custGeom>
              <a:avLst/>
              <a:gdLst>
                <a:gd name="T0" fmla="*/ 0 w 240"/>
                <a:gd name="T1" fmla="*/ 122 h 195"/>
                <a:gd name="T2" fmla="*/ 120 w 240"/>
                <a:gd name="T3" fmla="*/ 0 h 195"/>
                <a:gd name="T4" fmla="*/ 240 w 240"/>
                <a:gd name="T5" fmla="*/ 122 h 195"/>
                <a:gd name="T6" fmla="*/ 214 w 240"/>
                <a:gd name="T7" fmla="*/ 149 h 195"/>
                <a:gd name="T8" fmla="*/ 74 w 240"/>
                <a:gd name="T9" fmla="*/ 149 h 195"/>
                <a:gd name="T10" fmla="*/ 74 w 240"/>
                <a:gd name="T11" fmla="*/ 195 h 195"/>
                <a:gd name="T12" fmla="*/ 0 w 240"/>
                <a:gd name="T13" fmla="*/ 122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95">
                  <a:moveTo>
                    <a:pt x="0" y="122"/>
                  </a:moveTo>
                  <a:lnTo>
                    <a:pt x="120" y="0"/>
                  </a:lnTo>
                  <a:lnTo>
                    <a:pt x="240" y="122"/>
                  </a:lnTo>
                  <a:lnTo>
                    <a:pt x="214" y="149"/>
                  </a:lnTo>
                  <a:lnTo>
                    <a:pt x="74" y="149"/>
                  </a:lnTo>
                  <a:lnTo>
                    <a:pt x="74" y="195"/>
                  </a:lnTo>
                  <a:lnTo>
                    <a:pt x="0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4" name="Freeform 576">
              <a:extLst>
                <a:ext uri="{FF2B5EF4-FFF2-40B4-BE49-F238E27FC236}">
                  <a16:creationId xmlns:a16="http://schemas.microsoft.com/office/drawing/2014/main" id="{14508571-8E23-401B-9B85-0763784D4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4975" y="-682625"/>
              <a:ext cx="269875" cy="269875"/>
            </a:xfrm>
            <a:custGeom>
              <a:avLst/>
              <a:gdLst>
                <a:gd name="T0" fmla="*/ 0 w 170"/>
                <a:gd name="T1" fmla="*/ 170 h 170"/>
                <a:gd name="T2" fmla="*/ 0 w 170"/>
                <a:gd name="T3" fmla="*/ 0 h 170"/>
                <a:gd name="T4" fmla="*/ 170 w 170"/>
                <a:gd name="T5" fmla="*/ 0 h 170"/>
                <a:gd name="T6" fmla="*/ 170 w 170"/>
                <a:gd name="T7" fmla="*/ 39 h 170"/>
                <a:gd name="T8" fmla="*/ 76 w 170"/>
                <a:gd name="T9" fmla="*/ 133 h 170"/>
                <a:gd name="T10" fmla="*/ 73 w 170"/>
                <a:gd name="T11" fmla="*/ 138 h 170"/>
                <a:gd name="T12" fmla="*/ 76 w 170"/>
                <a:gd name="T13" fmla="*/ 142 h 170"/>
                <a:gd name="T14" fmla="*/ 105 w 170"/>
                <a:gd name="T15" fmla="*/ 170 h 170"/>
                <a:gd name="T16" fmla="*/ 0 w 170"/>
                <a:gd name="T17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170">
                  <a:moveTo>
                    <a:pt x="0" y="170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39"/>
                  </a:lnTo>
                  <a:lnTo>
                    <a:pt x="76" y="133"/>
                  </a:lnTo>
                  <a:lnTo>
                    <a:pt x="73" y="138"/>
                  </a:lnTo>
                  <a:lnTo>
                    <a:pt x="76" y="142"/>
                  </a:lnTo>
                  <a:lnTo>
                    <a:pt x="105" y="170"/>
                  </a:lnTo>
                  <a:lnTo>
                    <a:pt x="0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5" name="Freeform 577">
              <a:extLst>
                <a:ext uri="{FF2B5EF4-FFF2-40B4-BE49-F238E27FC236}">
                  <a16:creationId xmlns:a16="http://schemas.microsoft.com/office/drawing/2014/main" id="{D75DFA95-69BA-452A-B53B-93057F5ADF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49438" y="-655638"/>
              <a:ext cx="307975" cy="384175"/>
            </a:xfrm>
            <a:custGeom>
              <a:avLst/>
              <a:gdLst>
                <a:gd name="T0" fmla="*/ 120 w 194"/>
                <a:gd name="T1" fmla="*/ 242 h 242"/>
                <a:gd name="T2" fmla="*/ 0 w 194"/>
                <a:gd name="T3" fmla="*/ 121 h 242"/>
                <a:gd name="T4" fmla="*/ 120 w 194"/>
                <a:gd name="T5" fmla="*/ 0 h 242"/>
                <a:gd name="T6" fmla="*/ 146 w 194"/>
                <a:gd name="T7" fmla="*/ 27 h 242"/>
                <a:gd name="T8" fmla="*/ 146 w 194"/>
                <a:gd name="T9" fmla="*/ 168 h 242"/>
                <a:gd name="T10" fmla="*/ 194 w 194"/>
                <a:gd name="T11" fmla="*/ 168 h 242"/>
                <a:gd name="T12" fmla="*/ 120 w 194"/>
                <a:gd name="T13" fmla="*/ 242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4" h="242">
                  <a:moveTo>
                    <a:pt x="120" y="242"/>
                  </a:moveTo>
                  <a:lnTo>
                    <a:pt x="0" y="121"/>
                  </a:lnTo>
                  <a:lnTo>
                    <a:pt x="120" y="0"/>
                  </a:lnTo>
                  <a:lnTo>
                    <a:pt x="146" y="27"/>
                  </a:lnTo>
                  <a:lnTo>
                    <a:pt x="146" y="168"/>
                  </a:lnTo>
                  <a:lnTo>
                    <a:pt x="194" y="168"/>
                  </a:lnTo>
                  <a:lnTo>
                    <a:pt x="120" y="2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6" name="Freeform 578">
              <a:extLst>
                <a:ext uri="{FF2B5EF4-FFF2-40B4-BE49-F238E27FC236}">
                  <a16:creationId xmlns:a16="http://schemas.microsoft.com/office/drawing/2014/main" id="{6291102D-0F2C-486C-ACE9-E05B63C55F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5025" y="-682625"/>
              <a:ext cx="268288" cy="269875"/>
            </a:xfrm>
            <a:custGeom>
              <a:avLst/>
              <a:gdLst>
                <a:gd name="T0" fmla="*/ 169 w 169"/>
                <a:gd name="T1" fmla="*/ 170 h 170"/>
                <a:gd name="T2" fmla="*/ 0 w 169"/>
                <a:gd name="T3" fmla="*/ 170 h 170"/>
                <a:gd name="T4" fmla="*/ 0 w 169"/>
                <a:gd name="T5" fmla="*/ 0 h 170"/>
                <a:gd name="T6" fmla="*/ 37 w 169"/>
                <a:gd name="T7" fmla="*/ 0 h 170"/>
                <a:gd name="T8" fmla="*/ 130 w 169"/>
                <a:gd name="T9" fmla="*/ 94 h 170"/>
                <a:gd name="T10" fmla="*/ 136 w 169"/>
                <a:gd name="T11" fmla="*/ 99 h 170"/>
                <a:gd name="T12" fmla="*/ 141 w 169"/>
                <a:gd name="T13" fmla="*/ 94 h 170"/>
                <a:gd name="T14" fmla="*/ 169 w 169"/>
                <a:gd name="T15" fmla="*/ 65 h 170"/>
                <a:gd name="T16" fmla="*/ 169 w 169"/>
                <a:gd name="T17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9" h="170">
                  <a:moveTo>
                    <a:pt x="169" y="170"/>
                  </a:moveTo>
                  <a:lnTo>
                    <a:pt x="0" y="170"/>
                  </a:lnTo>
                  <a:lnTo>
                    <a:pt x="0" y="0"/>
                  </a:lnTo>
                  <a:lnTo>
                    <a:pt x="37" y="0"/>
                  </a:lnTo>
                  <a:lnTo>
                    <a:pt x="130" y="94"/>
                  </a:lnTo>
                  <a:lnTo>
                    <a:pt x="136" y="99"/>
                  </a:lnTo>
                  <a:lnTo>
                    <a:pt x="141" y="94"/>
                  </a:lnTo>
                  <a:lnTo>
                    <a:pt x="169" y="65"/>
                  </a:lnTo>
                  <a:lnTo>
                    <a:pt x="169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7" name="Freeform 579">
              <a:extLst>
                <a:ext uri="{FF2B5EF4-FFF2-40B4-BE49-F238E27FC236}">
                  <a16:creationId xmlns:a16="http://schemas.microsoft.com/office/drawing/2014/main" id="{85BDF893-5B04-4A7A-9D6B-F541182B09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28838" y="-863600"/>
              <a:ext cx="382588" cy="309562"/>
            </a:xfrm>
            <a:custGeom>
              <a:avLst/>
              <a:gdLst>
                <a:gd name="T0" fmla="*/ 121 w 241"/>
                <a:gd name="T1" fmla="*/ 195 h 195"/>
                <a:gd name="T2" fmla="*/ 0 w 241"/>
                <a:gd name="T3" fmla="*/ 74 h 195"/>
                <a:gd name="T4" fmla="*/ 27 w 241"/>
                <a:gd name="T5" fmla="*/ 46 h 195"/>
                <a:gd name="T6" fmla="*/ 167 w 241"/>
                <a:gd name="T7" fmla="*/ 46 h 195"/>
                <a:gd name="T8" fmla="*/ 167 w 241"/>
                <a:gd name="T9" fmla="*/ 0 h 195"/>
                <a:gd name="T10" fmla="*/ 241 w 241"/>
                <a:gd name="T11" fmla="*/ 74 h 195"/>
                <a:gd name="T12" fmla="*/ 121 w 241"/>
                <a:gd name="T13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1" h="195">
                  <a:moveTo>
                    <a:pt x="121" y="195"/>
                  </a:moveTo>
                  <a:lnTo>
                    <a:pt x="0" y="74"/>
                  </a:lnTo>
                  <a:lnTo>
                    <a:pt x="27" y="46"/>
                  </a:lnTo>
                  <a:lnTo>
                    <a:pt x="167" y="46"/>
                  </a:lnTo>
                  <a:lnTo>
                    <a:pt x="167" y="0"/>
                  </a:lnTo>
                  <a:lnTo>
                    <a:pt x="241" y="74"/>
                  </a:lnTo>
                  <a:lnTo>
                    <a:pt x="121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8" name="Freeform 580">
              <a:extLst>
                <a:ext uri="{FF2B5EF4-FFF2-40B4-BE49-F238E27FC236}">
                  <a16:creationId xmlns:a16="http://schemas.microsoft.com/office/drawing/2014/main" id="{3A7EEDE8-CD2A-4758-A390-91258C0A14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43188" y="-1081088"/>
              <a:ext cx="211138" cy="269875"/>
            </a:xfrm>
            <a:custGeom>
              <a:avLst/>
              <a:gdLst>
                <a:gd name="T0" fmla="*/ 0 w 75"/>
                <a:gd name="T1" fmla="*/ 0 h 96"/>
                <a:gd name="T2" fmla="*/ 38 w 75"/>
                <a:gd name="T3" fmla="*/ 0 h 96"/>
                <a:gd name="T4" fmla="*/ 75 w 75"/>
                <a:gd name="T5" fmla="*/ 34 h 96"/>
                <a:gd name="T6" fmla="*/ 30 w 75"/>
                <a:gd name="T7" fmla="*/ 69 h 96"/>
                <a:gd name="T8" fmla="*/ 23 w 75"/>
                <a:gd name="T9" fmla="*/ 69 h 96"/>
                <a:gd name="T10" fmla="*/ 23 w 75"/>
                <a:gd name="T11" fmla="*/ 96 h 96"/>
                <a:gd name="T12" fmla="*/ 0 w 75"/>
                <a:gd name="T13" fmla="*/ 96 h 96"/>
                <a:gd name="T14" fmla="*/ 0 w 75"/>
                <a:gd name="T15" fmla="*/ 0 h 96"/>
                <a:gd name="T16" fmla="*/ 31 w 75"/>
                <a:gd name="T17" fmla="*/ 51 h 96"/>
                <a:gd name="T18" fmla="*/ 51 w 75"/>
                <a:gd name="T19" fmla="*/ 34 h 96"/>
                <a:gd name="T20" fmla="*/ 34 w 75"/>
                <a:gd name="T21" fmla="*/ 18 h 96"/>
                <a:gd name="T22" fmla="*/ 23 w 75"/>
                <a:gd name="T23" fmla="*/ 18 h 96"/>
                <a:gd name="T24" fmla="*/ 23 w 75"/>
                <a:gd name="T25" fmla="*/ 51 h 96"/>
                <a:gd name="T26" fmla="*/ 31 w 75"/>
                <a:gd name="T27" fmla="*/ 5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96">
                  <a:moveTo>
                    <a:pt x="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59" y="0"/>
                    <a:pt x="75" y="12"/>
                    <a:pt x="75" y="34"/>
                  </a:cubicBezTo>
                  <a:cubicBezTo>
                    <a:pt x="75" y="53"/>
                    <a:pt x="59" y="69"/>
                    <a:pt x="30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96"/>
                    <a:pt x="23" y="96"/>
                    <a:pt x="23" y="96"/>
                  </a:cubicBezTo>
                  <a:cubicBezTo>
                    <a:pt x="0" y="96"/>
                    <a:pt x="0" y="96"/>
                    <a:pt x="0" y="96"/>
                  </a:cubicBezTo>
                  <a:lnTo>
                    <a:pt x="0" y="0"/>
                  </a:lnTo>
                  <a:close/>
                  <a:moveTo>
                    <a:pt x="31" y="51"/>
                  </a:moveTo>
                  <a:cubicBezTo>
                    <a:pt x="46" y="51"/>
                    <a:pt x="51" y="43"/>
                    <a:pt x="51" y="34"/>
                  </a:cubicBezTo>
                  <a:cubicBezTo>
                    <a:pt x="51" y="25"/>
                    <a:pt x="47" y="18"/>
                    <a:pt x="34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51"/>
                    <a:pt x="23" y="51"/>
                    <a:pt x="23" y="51"/>
                  </a:cubicBezTo>
                  <a:lnTo>
                    <a:pt x="31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49" name="Freeform 581">
              <a:extLst>
                <a:ext uri="{FF2B5EF4-FFF2-40B4-BE49-F238E27FC236}">
                  <a16:creationId xmlns:a16="http://schemas.microsoft.com/office/drawing/2014/main" id="{04E86433-E0D9-41BF-9B41-4EE805D5DD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28963" y="-1087438"/>
              <a:ext cx="203200" cy="279400"/>
            </a:xfrm>
            <a:custGeom>
              <a:avLst/>
              <a:gdLst>
                <a:gd name="T0" fmla="*/ 0 w 72"/>
                <a:gd name="T1" fmla="*/ 92 h 99"/>
                <a:gd name="T2" fmla="*/ 6 w 72"/>
                <a:gd name="T3" fmla="*/ 76 h 99"/>
                <a:gd name="T4" fmla="*/ 32 w 72"/>
                <a:gd name="T5" fmla="*/ 80 h 99"/>
                <a:gd name="T6" fmla="*/ 48 w 72"/>
                <a:gd name="T7" fmla="*/ 71 h 99"/>
                <a:gd name="T8" fmla="*/ 3 w 72"/>
                <a:gd name="T9" fmla="*/ 27 h 99"/>
                <a:gd name="T10" fmla="*/ 37 w 72"/>
                <a:gd name="T11" fmla="*/ 0 h 99"/>
                <a:gd name="T12" fmla="*/ 67 w 72"/>
                <a:gd name="T13" fmla="*/ 7 h 99"/>
                <a:gd name="T14" fmla="*/ 61 w 72"/>
                <a:gd name="T15" fmla="*/ 23 h 99"/>
                <a:gd name="T16" fmla="*/ 38 w 72"/>
                <a:gd name="T17" fmla="*/ 19 h 99"/>
                <a:gd name="T18" fmla="*/ 25 w 72"/>
                <a:gd name="T19" fmla="*/ 27 h 99"/>
                <a:gd name="T20" fmla="*/ 72 w 72"/>
                <a:gd name="T21" fmla="*/ 70 h 99"/>
                <a:gd name="T22" fmla="*/ 32 w 72"/>
                <a:gd name="T23" fmla="*/ 99 h 99"/>
                <a:gd name="T24" fmla="*/ 0 w 72"/>
                <a:gd name="T25" fmla="*/ 9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2" h="99">
                  <a:moveTo>
                    <a:pt x="0" y="92"/>
                  </a:moveTo>
                  <a:cubicBezTo>
                    <a:pt x="6" y="76"/>
                    <a:pt x="6" y="76"/>
                    <a:pt x="6" y="76"/>
                  </a:cubicBezTo>
                  <a:cubicBezTo>
                    <a:pt x="15" y="79"/>
                    <a:pt x="21" y="80"/>
                    <a:pt x="32" y="80"/>
                  </a:cubicBezTo>
                  <a:cubicBezTo>
                    <a:pt x="43" y="80"/>
                    <a:pt x="48" y="77"/>
                    <a:pt x="48" y="71"/>
                  </a:cubicBezTo>
                  <a:cubicBezTo>
                    <a:pt x="48" y="55"/>
                    <a:pt x="3" y="59"/>
                    <a:pt x="3" y="27"/>
                  </a:cubicBezTo>
                  <a:cubicBezTo>
                    <a:pt x="3" y="8"/>
                    <a:pt x="20" y="0"/>
                    <a:pt x="37" y="0"/>
                  </a:cubicBezTo>
                  <a:cubicBezTo>
                    <a:pt x="52" y="0"/>
                    <a:pt x="60" y="3"/>
                    <a:pt x="67" y="7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54" y="21"/>
                    <a:pt x="48" y="19"/>
                    <a:pt x="38" y="19"/>
                  </a:cubicBezTo>
                  <a:cubicBezTo>
                    <a:pt x="28" y="19"/>
                    <a:pt x="25" y="22"/>
                    <a:pt x="25" y="27"/>
                  </a:cubicBezTo>
                  <a:cubicBezTo>
                    <a:pt x="25" y="39"/>
                    <a:pt x="72" y="39"/>
                    <a:pt x="72" y="70"/>
                  </a:cubicBezTo>
                  <a:cubicBezTo>
                    <a:pt x="72" y="91"/>
                    <a:pt x="52" y="99"/>
                    <a:pt x="32" y="99"/>
                  </a:cubicBezTo>
                  <a:cubicBezTo>
                    <a:pt x="16" y="99"/>
                    <a:pt x="7" y="96"/>
                    <a:pt x="0" y="9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50" name="Freeform 582">
              <a:extLst>
                <a:ext uri="{FF2B5EF4-FFF2-40B4-BE49-F238E27FC236}">
                  <a16:creationId xmlns:a16="http://schemas.microsoft.com/office/drawing/2014/main" id="{1AB69417-2FD1-4742-8DCA-CD3E13C707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65500" y="-1081088"/>
              <a:ext cx="234950" cy="269875"/>
            </a:xfrm>
            <a:custGeom>
              <a:avLst/>
              <a:gdLst>
                <a:gd name="T0" fmla="*/ 0 w 148"/>
                <a:gd name="T1" fmla="*/ 0 h 170"/>
                <a:gd name="T2" fmla="*/ 41 w 148"/>
                <a:gd name="T3" fmla="*/ 0 h 170"/>
                <a:gd name="T4" fmla="*/ 41 w 148"/>
                <a:gd name="T5" fmla="*/ 69 h 170"/>
                <a:gd name="T6" fmla="*/ 108 w 148"/>
                <a:gd name="T7" fmla="*/ 69 h 170"/>
                <a:gd name="T8" fmla="*/ 108 w 148"/>
                <a:gd name="T9" fmla="*/ 0 h 170"/>
                <a:gd name="T10" fmla="*/ 148 w 148"/>
                <a:gd name="T11" fmla="*/ 0 h 170"/>
                <a:gd name="T12" fmla="*/ 148 w 148"/>
                <a:gd name="T13" fmla="*/ 170 h 170"/>
                <a:gd name="T14" fmla="*/ 108 w 148"/>
                <a:gd name="T15" fmla="*/ 170 h 170"/>
                <a:gd name="T16" fmla="*/ 108 w 148"/>
                <a:gd name="T17" fmla="*/ 99 h 170"/>
                <a:gd name="T18" fmla="*/ 41 w 148"/>
                <a:gd name="T19" fmla="*/ 99 h 170"/>
                <a:gd name="T20" fmla="*/ 41 w 148"/>
                <a:gd name="T21" fmla="*/ 170 h 170"/>
                <a:gd name="T22" fmla="*/ 0 w 148"/>
                <a:gd name="T23" fmla="*/ 170 h 170"/>
                <a:gd name="T24" fmla="*/ 0 w 148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8" h="170">
                  <a:moveTo>
                    <a:pt x="0" y="0"/>
                  </a:moveTo>
                  <a:lnTo>
                    <a:pt x="41" y="0"/>
                  </a:lnTo>
                  <a:lnTo>
                    <a:pt x="41" y="69"/>
                  </a:lnTo>
                  <a:lnTo>
                    <a:pt x="108" y="69"/>
                  </a:lnTo>
                  <a:lnTo>
                    <a:pt x="108" y="0"/>
                  </a:lnTo>
                  <a:lnTo>
                    <a:pt x="148" y="0"/>
                  </a:lnTo>
                  <a:lnTo>
                    <a:pt x="148" y="170"/>
                  </a:lnTo>
                  <a:lnTo>
                    <a:pt x="108" y="170"/>
                  </a:lnTo>
                  <a:lnTo>
                    <a:pt x="108" y="99"/>
                  </a:lnTo>
                  <a:lnTo>
                    <a:pt x="41" y="99"/>
                  </a:lnTo>
                  <a:lnTo>
                    <a:pt x="41" y="170"/>
                  </a:lnTo>
                  <a:lnTo>
                    <a:pt x="0" y="17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51" name="Freeform 583">
              <a:extLst>
                <a:ext uri="{FF2B5EF4-FFF2-40B4-BE49-F238E27FC236}">
                  <a16:creationId xmlns:a16="http://schemas.microsoft.com/office/drawing/2014/main" id="{D94CA590-82AB-49B3-B576-C780D59F89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5850" y="-1081088"/>
              <a:ext cx="269875" cy="269875"/>
            </a:xfrm>
            <a:custGeom>
              <a:avLst/>
              <a:gdLst>
                <a:gd name="T0" fmla="*/ 114 w 170"/>
                <a:gd name="T1" fmla="*/ 0 h 170"/>
                <a:gd name="T2" fmla="*/ 57 w 170"/>
                <a:gd name="T3" fmla="*/ 0 h 170"/>
                <a:gd name="T4" fmla="*/ 0 w 170"/>
                <a:gd name="T5" fmla="*/ 170 h 170"/>
                <a:gd name="T6" fmla="*/ 43 w 170"/>
                <a:gd name="T7" fmla="*/ 170 h 170"/>
                <a:gd name="T8" fmla="*/ 59 w 170"/>
                <a:gd name="T9" fmla="*/ 121 h 170"/>
                <a:gd name="T10" fmla="*/ 112 w 170"/>
                <a:gd name="T11" fmla="*/ 121 h 170"/>
                <a:gd name="T12" fmla="*/ 128 w 170"/>
                <a:gd name="T13" fmla="*/ 170 h 170"/>
                <a:gd name="T14" fmla="*/ 170 w 170"/>
                <a:gd name="T15" fmla="*/ 170 h 170"/>
                <a:gd name="T16" fmla="*/ 114 w 170"/>
                <a:gd name="T17" fmla="*/ 0 h 170"/>
                <a:gd name="T18" fmla="*/ 68 w 170"/>
                <a:gd name="T19" fmla="*/ 90 h 170"/>
                <a:gd name="T20" fmla="*/ 85 w 170"/>
                <a:gd name="T21" fmla="*/ 25 h 170"/>
                <a:gd name="T22" fmla="*/ 101 w 170"/>
                <a:gd name="T23" fmla="*/ 90 h 170"/>
                <a:gd name="T24" fmla="*/ 68 w 170"/>
                <a:gd name="T25" fmla="*/ 9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170">
                  <a:moveTo>
                    <a:pt x="114" y="0"/>
                  </a:moveTo>
                  <a:lnTo>
                    <a:pt x="57" y="0"/>
                  </a:lnTo>
                  <a:lnTo>
                    <a:pt x="0" y="170"/>
                  </a:lnTo>
                  <a:lnTo>
                    <a:pt x="43" y="170"/>
                  </a:lnTo>
                  <a:lnTo>
                    <a:pt x="59" y="121"/>
                  </a:lnTo>
                  <a:lnTo>
                    <a:pt x="112" y="121"/>
                  </a:lnTo>
                  <a:lnTo>
                    <a:pt x="128" y="170"/>
                  </a:lnTo>
                  <a:lnTo>
                    <a:pt x="170" y="170"/>
                  </a:lnTo>
                  <a:lnTo>
                    <a:pt x="114" y="0"/>
                  </a:lnTo>
                  <a:close/>
                  <a:moveTo>
                    <a:pt x="68" y="90"/>
                  </a:moveTo>
                  <a:lnTo>
                    <a:pt x="85" y="25"/>
                  </a:lnTo>
                  <a:lnTo>
                    <a:pt x="101" y="90"/>
                  </a:lnTo>
                  <a:lnTo>
                    <a:pt x="68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53" name="Freeform 584">
              <a:extLst>
                <a:ext uri="{FF2B5EF4-FFF2-40B4-BE49-F238E27FC236}">
                  <a16:creationId xmlns:a16="http://schemas.microsoft.com/office/drawing/2014/main" id="{655EE57A-4269-4A01-B46E-FA33432EFE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843213" y="-1081088"/>
              <a:ext cx="271463" cy="269875"/>
            </a:xfrm>
            <a:custGeom>
              <a:avLst/>
              <a:gdLst>
                <a:gd name="T0" fmla="*/ 113 w 171"/>
                <a:gd name="T1" fmla="*/ 0 h 170"/>
                <a:gd name="T2" fmla="*/ 58 w 171"/>
                <a:gd name="T3" fmla="*/ 0 h 170"/>
                <a:gd name="T4" fmla="*/ 0 w 171"/>
                <a:gd name="T5" fmla="*/ 170 h 170"/>
                <a:gd name="T6" fmla="*/ 42 w 171"/>
                <a:gd name="T7" fmla="*/ 170 h 170"/>
                <a:gd name="T8" fmla="*/ 60 w 171"/>
                <a:gd name="T9" fmla="*/ 121 h 170"/>
                <a:gd name="T10" fmla="*/ 113 w 171"/>
                <a:gd name="T11" fmla="*/ 121 h 170"/>
                <a:gd name="T12" fmla="*/ 129 w 171"/>
                <a:gd name="T13" fmla="*/ 170 h 170"/>
                <a:gd name="T14" fmla="*/ 171 w 171"/>
                <a:gd name="T15" fmla="*/ 170 h 170"/>
                <a:gd name="T16" fmla="*/ 113 w 171"/>
                <a:gd name="T17" fmla="*/ 0 h 170"/>
                <a:gd name="T18" fmla="*/ 69 w 171"/>
                <a:gd name="T19" fmla="*/ 90 h 170"/>
                <a:gd name="T20" fmla="*/ 87 w 171"/>
                <a:gd name="T21" fmla="*/ 25 h 170"/>
                <a:gd name="T22" fmla="*/ 102 w 171"/>
                <a:gd name="T23" fmla="*/ 90 h 170"/>
                <a:gd name="T24" fmla="*/ 69 w 171"/>
                <a:gd name="T25" fmla="*/ 9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1" h="170">
                  <a:moveTo>
                    <a:pt x="113" y="0"/>
                  </a:moveTo>
                  <a:lnTo>
                    <a:pt x="58" y="0"/>
                  </a:lnTo>
                  <a:lnTo>
                    <a:pt x="0" y="170"/>
                  </a:lnTo>
                  <a:lnTo>
                    <a:pt x="42" y="170"/>
                  </a:lnTo>
                  <a:lnTo>
                    <a:pt x="60" y="121"/>
                  </a:lnTo>
                  <a:lnTo>
                    <a:pt x="113" y="121"/>
                  </a:lnTo>
                  <a:lnTo>
                    <a:pt x="129" y="170"/>
                  </a:lnTo>
                  <a:lnTo>
                    <a:pt x="171" y="170"/>
                  </a:lnTo>
                  <a:lnTo>
                    <a:pt x="113" y="0"/>
                  </a:lnTo>
                  <a:close/>
                  <a:moveTo>
                    <a:pt x="69" y="90"/>
                  </a:moveTo>
                  <a:lnTo>
                    <a:pt x="87" y="25"/>
                  </a:lnTo>
                  <a:lnTo>
                    <a:pt x="102" y="90"/>
                  </a:lnTo>
                  <a:lnTo>
                    <a:pt x="69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8977" y="5658585"/>
            <a:ext cx="6578247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ru-RU" sz="1400" kern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4"/>
            </p:custDataLst>
          </p:nvPr>
        </p:nvSpPr>
        <p:spPr>
          <a:xfrm>
            <a:off x="558977" y="4141454"/>
            <a:ext cx="657824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ru-RU" sz="1800" kern="1200" spc="1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8977" y="2180495"/>
            <a:ext cx="6578247" cy="184665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4000" b="1" i="0" kern="1200" spc="0" baseline="0" dirty="0">
                <a:ln w="6350" cap="flat">
                  <a:noFill/>
                  <a:miter lim="800000"/>
                </a:ln>
                <a:solidFill>
                  <a:schemeClr val="bg1"/>
                </a:solidFill>
                <a:latin typeface="Georgia" panose="02040502050405020303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3821A55-32CA-4C20-978C-9EE939DF1502}"/>
              </a:ext>
            </a:extLst>
          </p:cNvPr>
          <p:cNvGrpSpPr>
            <a:grpSpLocks/>
          </p:cNvGrpSpPr>
          <p:nvPr userDrawn="1"/>
        </p:nvGrpSpPr>
        <p:grpSpPr>
          <a:xfrm>
            <a:off x="6383063" y="595"/>
            <a:ext cx="5808938" cy="4147677"/>
            <a:chOff x="6383063" y="595"/>
            <a:chExt cx="5808938" cy="4147677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22AA9FA-C878-45A7-B15B-AFD7E7204710}"/>
                </a:ext>
              </a:extLst>
            </p:cNvPr>
            <p:cNvSpPr/>
            <p:nvPr userDrawn="1"/>
          </p:nvSpPr>
          <p:spPr>
            <a:xfrm>
              <a:off x="6383063" y="595"/>
              <a:ext cx="3383879" cy="2929447"/>
            </a:xfrm>
            <a:custGeom>
              <a:avLst/>
              <a:gdLst>
                <a:gd name="connsiteX0" fmla="*/ 1237514 w 3383879"/>
                <a:gd name="connsiteY0" fmla="*/ 0 h 2929447"/>
                <a:gd name="connsiteX1" fmla="*/ 2146365 w 3383879"/>
                <a:gd name="connsiteY1" fmla="*/ 0 h 2929447"/>
                <a:gd name="connsiteX2" fmla="*/ 3383879 w 3383879"/>
                <a:gd name="connsiteY2" fmla="*/ 1237512 h 2929447"/>
                <a:gd name="connsiteX3" fmla="*/ 1691939 w 3383879"/>
                <a:gd name="connsiteY3" fmla="*/ 2929447 h 2929447"/>
                <a:gd name="connsiteX4" fmla="*/ 0 w 3383879"/>
                <a:gd name="connsiteY4" fmla="*/ 1237512 h 292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879" h="2929447">
                  <a:moveTo>
                    <a:pt x="1237514" y="0"/>
                  </a:moveTo>
                  <a:lnTo>
                    <a:pt x="2146365" y="0"/>
                  </a:lnTo>
                  <a:lnTo>
                    <a:pt x="3383879" y="1237512"/>
                  </a:lnTo>
                  <a:lnTo>
                    <a:pt x="1691939" y="2929447"/>
                  </a:lnTo>
                  <a:lnTo>
                    <a:pt x="0" y="1237512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9525" cap="rnd">
              <a:gradFill>
                <a:gsLst>
                  <a:gs pos="0">
                    <a:schemeClr val="bg2"/>
                  </a:gs>
                  <a:gs pos="22000">
                    <a:schemeClr val="accent6"/>
                  </a:gs>
                  <a:gs pos="100000">
                    <a:schemeClr val="accent6">
                      <a:lumMod val="50000"/>
                      <a:alpha val="0"/>
                    </a:schemeClr>
                  </a:gs>
                </a:gsLst>
                <a:lin ang="20400000" scaled="0"/>
              </a:gra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1EF6E9D-72F5-4D05-90E5-E3BF873CC096}"/>
                </a:ext>
              </a:extLst>
            </p:cNvPr>
            <p:cNvSpPr/>
            <p:nvPr userDrawn="1"/>
          </p:nvSpPr>
          <p:spPr>
            <a:xfrm>
              <a:off x="11016064" y="1755490"/>
              <a:ext cx="1175937" cy="2392782"/>
            </a:xfrm>
            <a:custGeom>
              <a:avLst/>
              <a:gdLst>
                <a:gd name="connsiteX0" fmla="*/ 0 w 1175937"/>
                <a:gd name="connsiteY0" fmla="*/ 0 h 2392782"/>
                <a:gd name="connsiteX1" fmla="*/ 1175937 w 1175937"/>
                <a:gd name="connsiteY1" fmla="*/ 0 h 2392782"/>
                <a:gd name="connsiteX2" fmla="*/ 1175937 w 1175937"/>
                <a:gd name="connsiteY2" fmla="*/ 2392782 h 2392782"/>
                <a:gd name="connsiteX3" fmla="*/ 0 w 1175937"/>
                <a:gd name="connsiteY3" fmla="*/ 2392782 h 2392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5937" h="2392782">
                  <a:moveTo>
                    <a:pt x="0" y="0"/>
                  </a:moveTo>
                  <a:lnTo>
                    <a:pt x="1175937" y="0"/>
                  </a:lnTo>
                  <a:lnTo>
                    <a:pt x="1175937" y="2392782"/>
                  </a:lnTo>
                  <a:lnTo>
                    <a:pt x="0" y="2392782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9525" cap="rnd">
              <a:gradFill>
                <a:gsLst>
                  <a:gs pos="0">
                    <a:schemeClr val="bg2"/>
                  </a:gs>
                  <a:gs pos="0">
                    <a:schemeClr val="accent6"/>
                  </a:gs>
                  <a:gs pos="100000">
                    <a:schemeClr val="accent6">
                      <a:lumMod val="50000"/>
                      <a:alpha val="0"/>
                    </a:schemeClr>
                  </a:gs>
                </a:gsLst>
                <a:lin ang="13800000" scaled="0"/>
              </a:gra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D83665C-3679-4CF4-98E8-0A000EBB1A04}"/>
              </a:ext>
            </a:extLst>
          </p:cNvPr>
          <p:cNvSpPr>
            <a:spLocks/>
          </p:cNvSpPr>
          <p:nvPr userDrawn="1"/>
        </p:nvSpPr>
        <p:spPr>
          <a:xfrm>
            <a:off x="0" y="595"/>
            <a:ext cx="12184169" cy="3600"/>
          </a:xfrm>
          <a:prstGeom prst="rect">
            <a:avLst/>
          </a:prstGeom>
          <a:solidFill>
            <a:srgbClr val="0F181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100" name="Graphic 99">
            <a:extLst>
              <a:ext uri="{FF2B5EF4-FFF2-40B4-BE49-F238E27FC236}">
                <a16:creationId xmlns:a16="http://schemas.microsoft.com/office/drawing/2014/main" id="{B0B766AD-28CA-43A5-845C-8823405623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5762" y="0"/>
            <a:ext cx="3337021" cy="3337021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69B32686-5A0E-4496-BA51-B4D54B9B24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31829"/>
          <a:stretch>
            <a:fillRect/>
          </a:stretch>
        </p:blipFill>
        <p:spPr>
          <a:xfrm>
            <a:off x="9917115" y="0"/>
            <a:ext cx="2274885" cy="3337021"/>
          </a:xfrm>
          <a:custGeom>
            <a:avLst/>
            <a:gdLst>
              <a:gd name="connsiteX0" fmla="*/ 0 w 2274885"/>
              <a:gd name="connsiteY0" fmla="*/ 0 h 3337021"/>
              <a:gd name="connsiteX1" fmla="*/ 2274885 w 2274885"/>
              <a:gd name="connsiteY1" fmla="*/ 0 h 3337021"/>
              <a:gd name="connsiteX2" fmla="*/ 2274885 w 2274885"/>
              <a:gd name="connsiteY2" fmla="*/ 3337021 h 3337021"/>
              <a:gd name="connsiteX3" fmla="*/ 0 w 2274885"/>
              <a:gd name="connsiteY3" fmla="*/ 3337021 h 333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885" h="3337021">
                <a:moveTo>
                  <a:pt x="0" y="0"/>
                </a:moveTo>
                <a:lnTo>
                  <a:pt x="2274885" y="0"/>
                </a:lnTo>
                <a:lnTo>
                  <a:pt x="2274885" y="3337021"/>
                </a:lnTo>
                <a:lnTo>
                  <a:pt x="0" y="3337021"/>
                </a:lnTo>
                <a:close/>
              </a:path>
            </a:pathLst>
          </a:custGeom>
        </p:spPr>
      </p:pic>
      <p:sp>
        <p:nvSpPr>
          <p:cNvPr id="88" name="Freeform 87">
            <a:extLst>
              <a:ext uri="{FF2B5EF4-FFF2-40B4-BE49-F238E27FC236}">
                <a16:creationId xmlns:a16="http://schemas.microsoft.com/office/drawing/2014/main" id="{0869DF9D-C777-4747-8F7B-5731962C8D4F}"/>
              </a:ext>
            </a:extLst>
          </p:cNvPr>
          <p:cNvSpPr/>
          <p:nvPr userDrawn="1"/>
        </p:nvSpPr>
        <p:spPr>
          <a:xfrm>
            <a:off x="9993161" y="595"/>
            <a:ext cx="1011396" cy="505697"/>
          </a:xfrm>
          <a:custGeom>
            <a:avLst/>
            <a:gdLst>
              <a:gd name="connsiteX0" fmla="*/ 0 w 1011396"/>
              <a:gd name="connsiteY0" fmla="*/ 0 h 505697"/>
              <a:gd name="connsiteX1" fmla="*/ 1011396 w 1011396"/>
              <a:gd name="connsiteY1" fmla="*/ 0 h 505697"/>
              <a:gd name="connsiteX2" fmla="*/ 505698 w 1011396"/>
              <a:gd name="connsiteY2" fmla="*/ 505697 h 50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1396" h="505697">
                <a:moveTo>
                  <a:pt x="0" y="0"/>
                </a:moveTo>
                <a:lnTo>
                  <a:pt x="1011396" y="0"/>
                </a:lnTo>
                <a:lnTo>
                  <a:pt x="505698" y="505697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6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180000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80D45143-5DB5-4CA9-8522-A078B2EB170C}"/>
              </a:ext>
            </a:extLst>
          </p:cNvPr>
          <p:cNvSpPr/>
          <p:nvPr userDrawn="1"/>
        </p:nvSpPr>
        <p:spPr>
          <a:xfrm>
            <a:off x="7588332" y="1755491"/>
            <a:ext cx="2350014" cy="2350011"/>
          </a:xfrm>
          <a:custGeom>
            <a:avLst/>
            <a:gdLst>
              <a:gd name="connsiteX0" fmla="*/ 0 w 1960608"/>
              <a:gd name="connsiteY0" fmla="*/ 0 h 1960606"/>
              <a:gd name="connsiteX1" fmla="*/ 1996292 w 1960608"/>
              <a:gd name="connsiteY1" fmla="*/ 0 h 1960606"/>
              <a:gd name="connsiteX2" fmla="*/ 1996292 w 1960608"/>
              <a:gd name="connsiteY2" fmla="*/ 1996290 h 1960606"/>
              <a:gd name="connsiteX3" fmla="*/ 0 w 1960608"/>
              <a:gd name="connsiteY3" fmla="*/ 1996290 h 196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0608" h="1960606">
                <a:moveTo>
                  <a:pt x="0" y="0"/>
                </a:moveTo>
                <a:lnTo>
                  <a:pt x="1996292" y="0"/>
                </a:lnTo>
                <a:lnTo>
                  <a:pt x="1996292" y="1996290"/>
                </a:lnTo>
                <a:lnTo>
                  <a:pt x="0" y="199629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6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180000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5A97CE16-259C-40C1-953B-BEE803A3F8DC}"/>
              </a:ext>
            </a:extLst>
          </p:cNvPr>
          <p:cNvSpPr/>
          <p:nvPr userDrawn="1"/>
        </p:nvSpPr>
        <p:spPr>
          <a:xfrm>
            <a:off x="8806817" y="1970017"/>
            <a:ext cx="3337021" cy="3337016"/>
          </a:xfrm>
          <a:custGeom>
            <a:avLst/>
            <a:gdLst>
              <a:gd name="connsiteX0" fmla="*/ 0 w 2784064"/>
              <a:gd name="connsiteY0" fmla="*/ 1411576 h 2784061"/>
              <a:gd name="connsiteX1" fmla="*/ 1411578 w 2784064"/>
              <a:gd name="connsiteY1" fmla="*/ 0 h 2784061"/>
              <a:gd name="connsiteX2" fmla="*/ 2823157 w 2784064"/>
              <a:gd name="connsiteY2" fmla="*/ 1411576 h 2784061"/>
              <a:gd name="connsiteX3" fmla="*/ 1411578 w 2784064"/>
              <a:gd name="connsiteY3" fmla="*/ 2823153 h 27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4064" h="2784061">
                <a:moveTo>
                  <a:pt x="0" y="1411576"/>
                </a:moveTo>
                <a:lnTo>
                  <a:pt x="1411578" y="0"/>
                </a:lnTo>
                <a:lnTo>
                  <a:pt x="2823157" y="1411576"/>
                </a:lnTo>
                <a:lnTo>
                  <a:pt x="1411578" y="2823153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4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CB47A23C-2784-4882-9742-4461F7DED76A}"/>
              </a:ext>
            </a:extLst>
          </p:cNvPr>
          <p:cNvSpPr/>
          <p:nvPr userDrawn="1"/>
        </p:nvSpPr>
        <p:spPr>
          <a:xfrm>
            <a:off x="11016063" y="593"/>
            <a:ext cx="1175937" cy="719952"/>
          </a:xfrm>
          <a:custGeom>
            <a:avLst/>
            <a:gdLst>
              <a:gd name="connsiteX0" fmla="*/ 0 w 1175937"/>
              <a:gd name="connsiteY0" fmla="*/ 0 h 719952"/>
              <a:gd name="connsiteX1" fmla="*/ 1175937 w 1175937"/>
              <a:gd name="connsiteY1" fmla="*/ 0 h 719952"/>
              <a:gd name="connsiteX2" fmla="*/ 1175937 w 1175937"/>
              <a:gd name="connsiteY2" fmla="*/ 719952 h 719952"/>
              <a:gd name="connsiteX3" fmla="*/ 0 w 1175937"/>
              <a:gd name="connsiteY3" fmla="*/ 719952 h 71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5937" h="719952">
                <a:moveTo>
                  <a:pt x="0" y="0"/>
                </a:moveTo>
                <a:lnTo>
                  <a:pt x="1175937" y="0"/>
                </a:lnTo>
                <a:lnTo>
                  <a:pt x="1175937" y="719952"/>
                </a:lnTo>
                <a:lnTo>
                  <a:pt x="0" y="719952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6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420000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2FF91D16-63FA-4B04-A413-1294490DB2ED}"/>
              </a:ext>
            </a:extLst>
          </p:cNvPr>
          <p:cNvSpPr>
            <a:spLocks/>
          </p:cNvSpPr>
          <p:nvPr userDrawn="1"/>
        </p:nvSpPr>
        <p:spPr>
          <a:xfrm>
            <a:off x="6854020" y="17126"/>
            <a:ext cx="2395107" cy="2395103"/>
          </a:xfrm>
          <a:custGeom>
            <a:avLst/>
            <a:gdLst>
              <a:gd name="connsiteX0" fmla="*/ 0 w 2784064"/>
              <a:gd name="connsiteY0" fmla="*/ 1411577 h 2784061"/>
              <a:gd name="connsiteX1" fmla="*/ 1411578 w 2784064"/>
              <a:gd name="connsiteY1" fmla="*/ 0 h 2784061"/>
              <a:gd name="connsiteX2" fmla="*/ 2823157 w 2784064"/>
              <a:gd name="connsiteY2" fmla="*/ 1411577 h 2784061"/>
              <a:gd name="connsiteX3" fmla="*/ 1411578 w 2784064"/>
              <a:gd name="connsiteY3" fmla="*/ 2823153 h 27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4064" h="2784061">
                <a:moveTo>
                  <a:pt x="0" y="1411577"/>
                </a:moveTo>
                <a:lnTo>
                  <a:pt x="1411578" y="0"/>
                </a:lnTo>
                <a:lnTo>
                  <a:pt x="2823157" y="1411577"/>
                </a:lnTo>
                <a:lnTo>
                  <a:pt x="1411578" y="2823153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22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2040000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D862D366-97BF-48E7-A11D-16DF2A6B953C}"/>
              </a:ext>
            </a:extLst>
          </p:cNvPr>
          <p:cNvSpPr>
            <a:spLocks/>
          </p:cNvSpPr>
          <p:nvPr userDrawn="1"/>
        </p:nvSpPr>
        <p:spPr>
          <a:xfrm>
            <a:off x="9277774" y="2440973"/>
            <a:ext cx="2395107" cy="2395103"/>
          </a:xfrm>
          <a:custGeom>
            <a:avLst/>
            <a:gdLst>
              <a:gd name="connsiteX0" fmla="*/ 0 w 2784064"/>
              <a:gd name="connsiteY0" fmla="*/ 1411576 h 2784061"/>
              <a:gd name="connsiteX1" fmla="*/ 1411578 w 2784064"/>
              <a:gd name="connsiteY1" fmla="*/ 0 h 2784061"/>
              <a:gd name="connsiteX2" fmla="*/ 2823157 w 2784064"/>
              <a:gd name="connsiteY2" fmla="*/ 1411576 h 2784061"/>
              <a:gd name="connsiteX3" fmla="*/ 1411578 w 2784064"/>
              <a:gd name="connsiteY3" fmla="*/ 2823153 h 27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4064" h="2784061">
                <a:moveTo>
                  <a:pt x="0" y="1411576"/>
                </a:moveTo>
                <a:lnTo>
                  <a:pt x="1411578" y="0"/>
                </a:lnTo>
                <a:lnTo>
                  <a:pt x="2823157" y="1411576"/>
                </a:lnTo>
                <a:lnTo>
                  <a:pt x="1411578" y="2823153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4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300000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CB510C81-EEA5-4E58-9BAF-398F91BB5EE8}"/>
              </a:ext>
            </a:extLst>
          </p:cNvPr>
          <p:cNvSpPr>
            <a:spLocks/>
          </p:cNvSpPr>
          <p:nvPr userDrawn="1"/>
        </p:nvSpPr>
        <p:spPr>
          <a:xfrm>
            <a:off x="11701624" y="741214"/>
            <a:ext cx="490377" cy="980752"/>
          </a:xfrm>
          <a:custGeom>
            <a:avLst/>
            <a:gdLst>
              <a:gd name="connsiteX0" fmla="*/ 490377 w 490377"/>
              <a:gd name="connsiteY0" fmla="*/ 0 h 980752"/>
              <a:gd name="connsiteX1" fmla="*/ 490377 w 490377"/>
              <a:gd name="connsiteY1" fmla="*/ 980752 h 980752"/>
              <a:gd name="connsiteX2" fmla="*/ 0 w 490377"/>
              <a:gd name="connsiteY2" fmla="*/ 490376 h 98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0377" h="980752">
                <a:moveTo>
                  <a:pt x="490377" y="0"/>
                </a:moveTo>
                <a:lnTo>
                  <a:pt x="490377" y="980752"/>
                </a:lnTo>
                <a:lnTo>
                  <a:pt x="0" y="490376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4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300000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1C75C64A-41E2-4F29-B489-3CE0F2E545A3}"/>
              </a:ext>
            </a:extLst>
          </p:cNvPr>
          <p:cNvSpPr>
            <a:spLocks/>
          </p:cNvSpPr>
          <p:nvPr userDrawn="1"/>
        </p:nvSpPr>
        <p:spPr>
          <a:xfrm>
            <a:off x="10470731" y="594"/>
            <a:ext cx="43029" cy="21514"/>
          </a:xfrm>
          <a:custGeom>
            <a:avLst/>
            <a:gdLst>
              <a:gd name="connsiteX0" fmla="*/ 0 w 43029"/>
              <a:gd name="connsiteY0" fmla="*/ 0 h 21514"/>
              <a:gd name="connsiteX1" fmla="*/ 43029 w 43029"/>
              <a:gd name="connsiteY1" fmla="*/ 0 h 21514"/>
              <a:gd name="connsiteX2" fmla="*/ 21514 w 43029"/>
              <a:gd name="connsiteY2" fmla="*/ 21514 h 2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29" h="21514">
                <a:moveTo>
                  <a:pt x="0" y="0"/>
                </a:moveTo>
                <a:lnTo>
                  <a:pt x="43029" y="0"/>
                </a:lnTo>
                <a:lnTo>
                  <a:pt x="21514" y="21514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6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grpSp>
        <p:nvGrpSpPr>
          <p:cNvPr id="13" name="Freeform 74">
            <a:extLst>
              <a:ext uri="{FF2B5EF4-FFF2-40B4-BE49-F238E27FC236}">
                <a16:creationId xmlns:a16="http://schemas.microsoft.com/office/drawing/2014/main" id="{379FA29E-5FD1-4A79-9B2B-F27D4B5F1CB8}"/>
              </a:ext>
            </a:extLst>
          </p:cNvPr>
          <p:cNvGrpSpPr/>
          <p:nvPr userDrawn="1"/>
        </p:nvGrpSpPr>
        <p:grpSpPr>
          <a:xfrm>
            <a:off x="7588332" y="1755491"/>
            <a:ext cx="1079419" cy="1079419"/>
            <a:chOff x="7588332" y="1755491"/>
            <a:chExt cx="1079419" cy="107941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A6D5936-19AC-48F7-A3C9-243FA2865A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588332" y="1755491"/>
              <a:ext cx="1079419" cy="0"/>
            </a:xfrm>
            <a:prstGeom prst="line">
              <a:avLst/>
            </a:prstGeom>
            <a:ln w="88900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611">
                    <a:schemeClr val="accent6">
                      <a:lumMod val="75000"/>
                      <a:alpha val="0"/>
                    </a:schemeClr>
                  </a:gs>
                  <a:gs pos="30000">
                    <a:schemeClr val="accent6"/>
                  </a:gs>
                </a:gsLst>
                <a:lin ang="0" scaled="0"/>
              </a:gradFill>
              <a:round/>
              <a:tailEnd type="none"/>
            </a:ln>
            <a:effectLst>
              <a:softEdge rad="3810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B2909F8-2DFE-4EF1-8BE3-09232BDD17DF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7052898" y="2295201"/>
              <a:ext cx="1079419" cy="0"/>
            </a:xfrm>
            <a:prstGeom prst="line">
              <a:avLst/>
            </a:prstGeom>
            <a:ln w="88900" cap="rnd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87611">
                    <a:schemeClr val="accent6">
                      <a:lumMod val="75000"/>
                      <a:alpha val="0"/>
                    </a:schemeClr>
                  </a:gs>
                  <a:gs pos="30000">
                    <a:schemeClr val="accent6"/>
                  </a:gs>
                </a:gsLst>
                <a:lin ang="0" scaled="0"/>
              </a:gradFill>
              <a:round/>
              <a:tailEnd type="none"/>
            </a:ln>
            <a:effectLst>
              <a:softEdge rad="3810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Freeform 90">
            <a:extLst>
              <a:ext uri="{FF2B5EF4-FFF2-40B4-BE49-F238E27FC236}">
                <a16:creationId xmlns:a16="http://schemas.microsoft.com/office/drawing/2014/main" id="{5CCDDB3F-BABD-4B05-BE47-410F0C40904A}"/>
              </a:ext>
            </a:extLst>
          </p:cNvPr>
          <p:cNvSpPr/>
          <p:nvPr userDrawn="1"/>
        </p:nvSpPr>
        <p:spPr>
          <a:xfrm>
            <a:off x="7588332" y="594"/>
            <a:ext cx="2392785" cy="719952"/>
          </a:xfrm>
          <a:custGeom>
            <a:avLst/>
            <a:gdLst>
              <a:gd name="connsiteX0" fmla="*/ 0 w 2392785"/>
              <a:gd name="connsiteY0" fmla="*/ 0 h 719952"/>
              <a:gd name="connsiteX1" fmla="*/ 2392785 w 2392785"/>
              <a:gd name="connsiteY1" fmla="*/ 0 h 719952"/>
              <a:gd name="connsiteX2" fmla="*/ 2392785 w 2392785"/>
              <a:gd name="connsiteY2" fmla="*/ 719952 h 719952"/>
              <a:gd name="connsiteX3" fmla="*/ 0 w 2392785"/>
              <a:gd name="connsiteY3" fmla="*/ 719952 h 71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2785" h="719952">
                <a:moveTo>
                  <a:pt x="0" y="0"/>
                </a:moveTo>
                <a:lnTo>
                  <a:pt x="2392785" y="0"/>
                </a:lnTo>
                <a:lnTo>
                  <a:pt x="2392785" y="719952"/>
                </a:lnTo>
                <a:lnTo>
                  <a:pt x="0" y="719952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6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600000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6C657967-D890-4A42-A129-E8E05E2AD57E}"/>
              </a:ext>
            </a:extLst>
          </p:cNvPr>
          <p:cNvSpPr/>
          <p:nvPr userDrawn="1"/>
        </p:nvSpPr>
        <p:spPr>
          <a:xfrm>
            <a:off x="11230667" y="276874"/>
            <a:ext cx="961333" cy="1922662"/>
          </a:xfrm>
          <a:custGeom>
            <a:avLst/>
            <a:gdLst>
              <a:gd name="connsiteX0" fmla="*/ 961333 w 961333"/>
              <a:gd name="connsiteY0" fmla="*/ 0 h 1922662"/>
              <a:gd name="connsiteX1" fmla="*/ 961333 w 961333"/>
              <a:gd name="connsiteY1" fmla="*/ 1922662 h 1922662"/>
              <a:gd name="connsiteX2" fmla="*/ 0 w 961333"/>
              <a:gd name="connsiteY2" fmla="*/ 961331 h 1922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1333" h="1922662">
                <a:moveTo>
                  <a:pt x="961333" y="0"/>
                </a:moveTo>
                <a:lnTo>
                  <a:pt x="961333" y="1922662"/>
                </a:lnTo>
                <a:lnTo>
                  <a:pt x="0" y="961331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  <a:ln w="9525" cap="rnd">
            <a:gradFill>
              <a:gsLst>
                <a:gs pos="0">
                  <a:schemeClr val="bg2"/>
                </a:gs>
                <a:gs pos="86000">
                  <a:schemeClr val="accent6"/>
                </a:gs>
                <a:gs pos="12000">
                  <a:schemeClr val="accent6"/>
                </a:gs>
                <a:gs pos="100000">
                  <a:schemeClr val="accent6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rtl="0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A1B3513-35DD-4D8B-9A5A-9597EFA1059D}"/>
              </a:ext>
            </a:extLst>
          </p:cNvPr>
          <p:cNvSpPr>
            <a:spLocks/>
          </p:cNvSpPr>
          <p:nvPr userDrawn="1"/>
        </p:nvSpPr>
        <p:spPr>
          <a:xfrm>
            <a:off x="12188400" y="595"/>
            <a:ext cx="3600" cy="6858000"/>
          </a:xfrm>
          <a:prstGeom prst="rect">
            <a:avLst/>
          </a:prstGeom>
          <a:solidFill>
            <a:srgbClr val="0F181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545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91899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400" b="1" i="0" baseline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  <a:sym typeface="Georgia" panose="02040502050405020303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C0F6DE-CB58-4EB8-9CE2-D6C7C844A111}"/>
              </a:ext>
            </a:extLst>
          </p:cNvPr>
          <p:cNvGrpSpPr/>
          <p:nvPr userDrawn="1"/>
        </p:nvGrpSpPr>
        <p:grpSpPr>
          <a:xfrm>
            <a:off x="0" y="-1"/>
            <a:ext cx="4544291" cy="6858001"/>
            <a:chOff x="0" y="-1"/>
            <a:chExt cx="4544291" cy="685800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56FF46-6269-4FBC-BA98-5EB2510B0CDE}"/>
                </a:ext>
              </a:extLst>
            </p:cNvPr>
            <p:cNvGrpSpPr/>
            <p:nvPr userDrawn="1"/>
          </p:nvGrpSpPr>
          <p:grpSpPr>
            <a:xfrm>
              <a:off x="0" y="0"/>
              <a:ext cx="3337021" cy="6858000"/>
              <a:chOff x="0" y="0"/>
              <a:chExt cx="3337021" cy="6858000"/>
            </a:xfrm>
          </p:grpSpPr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B3290A93-3F92-4568-AA97-00611B1FB97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0" y="3305867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30" name="Graphic 29">
                <a:extLst>
                  <a:ext uri="{FF2B5EF4-FFF2-40B4-BE49-F238E27FC236}">
                    <a16:creationId xmlns:a16="http://schemas.microsoft.com/office/drawing/2014/main" id="{5442ACBE-FD74-451C-8EEE-53CC5598D86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b="92389"/>
              <a:stretch>
                <a:fillRect/>
              </a:stretch>
            </p:blipFill>
            <p:spPr>
              <a:xfrm>
                <a:off x="0" y="6604027"/>
                <a:ext cx="3337021" cy="253973"/>
              </a:xfrm>
              <a:custGeom>
                <a:avLst/>
                <a:gdLst>
                  <a:gd name="connsiteX0" fmla="*/ 0 w 3337021"/>
                  <a:gd name="connsiteY0" fmla="*/ 0 h 253973"/>
                  <a:gd name="connsiteX1" fmla="*/ 3337021 w 3337021"/>
                  <a:gd name="connsiteY1" fmla="*/ 0 h 253973"/>
                  <a:gd name="connsiteX2" fmla="*/ 3337021 w 3337021"/>
                  <a:gd name="connsiteY2" fmla="*/ 253973 h 253973"/>
                  <a:gd name="connsiteX3" fmla="*/ 0 w 3337021"/>
                  <a:gd name="connsiteY3" fmla="*/ 253973 h 253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7021" h="253973">
                    <a:moveTo>
                      <a:pt x="0" y="0"/>
                    </a:moveTo>
                    <a:lnTo>
                      <a:pt x="3337021" y="0"/>
                    </a:lnTo>
                    <a:lnTo>
                      <a:pt x="3337021" y="253973"/>
                    </a:lnTo>
                    <a:lnTo>
                      <a:pt x="0" y="253973"/>
                    </a:lnTo>
                    <a:close/>
                  </a:path>
                </a:pathLst>
              </a:custGeom>
            </p:spPr>
          </p:pic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4B3A9B0E-C966-4427-8CFB-8CA92F8B562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E38EDFA-08D4-4421-A20C-723724CEA01F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-1"/>
              <a:ext cx="4544291" cy="6857999"/>
            </a:xfrm>
            <a:prstGeom prst="rect">
              <a:avLst/>
            </a:prstGeom>
            <a:gradFill>
              <a:gsLst>
                <a:gs pos="85000">
                  <a:schemeClr val="bg2">
                    <a:alpha val="78000"/>
                  </a:schemeClr>
                </a:gs>
                <a:gs pos="11000">
                  <a:schemeClr val="bg2"/>
                </a:gs>
                <a:gs pos="100000">
                  <a:schemeClr val="bg2">
                    <a:alpha val="48000"/>
                  </a:schemeClr>
                </a:gs>
              </a:gsLst>
              <a:lin ang="114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54734" y="165068"/>
            <a:ext cx="11082528" cy="738664"/>
          </a:xfr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spc="0" baseline="0" dirty="0">
                <a:ln w="6350" cap="flat">
                  <a:noFill/>
                  <a:miter lim="800000"/>
                </a:ln>
                <a:solidFill>
                  <a:srgbClr val="191C1E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rtl="0">
              <a:defRPr lang="ru-RU" sz="1600" b="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 userDrawn="1"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B038539D-CC41-458B-A32A-66FDEFBA8E62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800" b="0" smtClean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800" b="0">
              <a:solidFill>
                <a:srgbClr val="191C1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FFA600-7FF4-49E7-B3E6-79A4ECF5D01F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210135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9162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400" b="1" i="0" baseline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  <a:sym typeface="Georgia" panose="02040502050405020303" pitchFamily="18" charset="0"/>
            </a:endParaRPr>
          </a:p>
        </p:txBody>
      </p:sp>
      <p:grpSp>
        <p:nvGrpSpPr>
          <p:cNvPr id="5" name="Background">
            <a:extLst>
              <a:ext uri="{FF2B5EF4-FFF2-40B4-BE49-F238E27FC236}">
                <a16:creationId xmlns:a16="http://schemas.microsoft.com/office/drawing/2014/main" id="{C12F2EBF-CB29-4245-9709-8A3AB25C1082}"/>
              </a:ext>
            </a:extLst>
          </p:cNvPr>
          <p:cNvGrpSpPr/>
          <p:nvPr userDrawn="1"/>
        </p:nvGrpSpPr>
        <p:grpSpPr>
          <a:xfrm>
            <a:off x="-2115" y="0"/>
            <a:ext cx="12194115" cy="6858000"/>
            <a:chOff x="-2115" y="8376119"/>
            <a:chExt cx="12194115" cy="6858000"/>
          </a:xfrm>
        </p:grpSpPr>
        <p:sp>
          <p:nvSpPr>
            <p:cNvPr id="50" name="Background">
              <a:extLst>
                <a:ext uri="{FF2B5EF4-FFF2-40B4-BE49-F238E27FC236}">
                  <a16:creationId xmlns:a16="http://schemas.microsoft.com/office/drawing/2014/main" id="{9CCA7045-39CE-4B45-993E-9D65996656C6}"/>
                </a:ext>
              </a:extLst>
            </p:cNvPr>
            <p:cNvSpPr/>
            <p:nvPr userDrawn="1"/>
          </p:nvSpPr>
          <p:spPr>
            <a:xfrm>
              <a:off x="0" y="8377706"/>
              <a:ext cx="12192000" cy="6856413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224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BA55F93-7B0A-4279-B19A-B63AB5BF2EB9}"/>
                </a:ext>
              </a:extLst>
            </p:cNvPr>
            <p:cNvGrpSpPr/>
            <p:nvPr userDrawn="1"/>
          </p:nvGrpSpPr>
          <p:grpSpPr>
            <a:xfrm>
              <a:off x="0" y="11681986"/>
              <a:ext cx="6648374" cy="3337021"/>
              <a:chOff x="0" y="0"/>
              <a:chExt cx="6648374" cy="3337021"/>
            </a:xfrm>
          </p:grpSpPr>
          <p:pic>
            <p:nvPicPr>
              <p:cNvPr id="52" name="Graphic 51">
                <a:extLst>
                  <a:ext uri="{FF2B5EF4-FFF2-40B4-BE49-F238E27FC236}">
                    <a16:creationId xmlns:a16="http://schemas.microsoft.com/office/drawing/2014/main" id="{9008B0E7-80F2-46F6-B605-37A23B9225F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53" name="Graphic 52">
                <a:extLst>
                  <a:ext uri="{FF2B5EF4-FFF2-40B4-BE49-F238E27FC236}">
                    <a16:creationId xmlns:a16="http://schemas.microsoft.com/office/drawing/2014/main" id="{260C2D05-7D30-4E7B-A98E-9261BFC6085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11353" y="0"/>
                <a:ext cx="3337021" cy="3337021"/>
              </a:xfrm>
              <a:prstGeom prst="rect">
                <a:avLst/>
              </a:prstGeom>
            </p:spPr>
          </p:pic>
        </p:grp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24F2E44F-03F7-449F-B901-28539A23A0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05762" y="11681986"/>
              <a:ext cx="3337021" cy="3337021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0165378C-FEC8-4F51-B2F7-CDE4952154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31829"/>
            <a:stretch>
              <a:fillRect/>
            </a:stretch>
          </p:blipFill>
          <p:spPr>
            <a:xfrm>
              <a:off x="9917115" y="11681986"/>
              <a:ext cx="2274885" cy="3337021"/>
            </a:xfrm>
            <a:custGeom>
              <a:avLst/>
              <a:gdLst>
                <a:gd name="connsiteX0" fmla="*/ 0 w 2274885"/>
                <a:gd name="connsiteY0" fmla="*/ 0 h 3337021"/>
                <a:gd name="connsiteX1" fmla="*/ 2274885 w 2274885"/>
                <a:gd name="connsiteY1" fmla="*/ 0 h 3337021"/>
                <a:gd name="connsiteX2" fmla="*/ 2274885 w 2274885"/>
                <a:gd name="connsiteY2" fmla="*/ 3337021 h 3337021"/>
                <a:gd name="connsiteX3" fmla="*/ 0 w 2274885"/>
                <a:gd name="connsiteY3" fmla="*/ 3337021 h 333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3337021">
                  <a:moveTo>
                    <a:pt x="0" y="0"/>
                  </a:moveTo>
                  <a:lnTo>
                    <a:pt x="2274885" y="0"/>
                  </a:lnTo>
                  <a:lnTo>
                    <a:pt x="2274885" y="3337021"/>
                  </a:lnTo>
                  <a:lnTo>
                    <a:pt x="0" y="3337021"/>
                  </a:lnTo>
                  <a:close/>
                </a:path>
              </a:pathLst>
            </a:cu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F31DBB21-9605-40A3-B9D4-30B8AC9316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b="92389"/>
            <a:stretch>
              <a:fillRect/>
            </a:stretch>
          </p:blipFill>
          <p:spPr>
            <a:xfrm>
              <a:off x="0" y="14980146"/>
              <a:ext cx="3337021" cy="253973"/>
            </a:xfrm>
            <a:custGeom>
              <a:avLst/>
              <a:gdLst>
                <a:gd name="connsiteX0" fmla="*/ 0 w 3337021"/>
                <a:gd name="connsiteY0" fmla="*/ 0 h 253973"/>
                <a:gd name="connsiteX1" fmla="*/ 3337021 w 3337021"/>
                <a:gd name="connsiteY1" fmla="*/ 0 h 253973"/>
                <a:gd name="connsiteX2" fmla="*/ 3337021 w 3337021"/>
                <a:gd name="connsiteY2" fmla="*/ 253973 h 253973"/>
                <a:gd name="connsiteX3" fmla="*/ 0 w 3337021"/>
                <a:gd name="connsiteY3" fmla="*/ 253973 h 25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3">
                  <a:moveTo>
                    <a:pt x="0" y="0"/>
                  </a:moveTo>
                  <a:lnTo>
                    <a:pt x="3337021" y="0"/>
                  </a:lnTo>
                  <a:lnTo>
                    <a:pt x="3337021" y="253973"/>
                  </a:lnTo>
                  <a:lnTo>
                    <a:pt x="0" y="253973"/>
                  </a:lnTo>
                  <a:close/>
                </a:path>
              </a:pathLst>
            </a:custGeom>
          </p:spPr>
        </p:pic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6DBFD3E3-0C4E-4AD0-8362-200C740659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b="92389"/>
            <a:stretch>
              <a:fillRect/>
            </a:stretch>
          </p:blipFill>
          <p:spPr>
            <a:xfrm>
              <a:off x="3311353" y="14980146"/>
              <a:ext cx="3337021" cy="253972"/>
            </a:xfrm>
            <a:custGeom>
              <a:avLst/>
              <a:gdLst>
                <a:gd name="connsiteX0" fmla="*/ 0 w 3337021"/>
                <a:gd name="connsiteY0" fmla="*/ 0 h 253972"/>
                <a:gd name="connsiteX1" fmla="*/ 3337021 w 3337021"/>
                <a:gd name="connsiteY1" fmla="*/ 0 h 253972"/>
                <a:gd name="connsiteX2" fmla="*/ 3337021 w 3337021"/>
                <a:gd name="connsiteY2" fmla="*/ 253972 h 253972"/>
                <a:gd name="connsiteX3" fmla="*/ 0 w 3337021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2">
                  <a:moveTo>
                    <a:pt x="0" y="0"/>
                  </a:moveTo>
                  <a:lnTo>
                    <a:pt x="3337021" y="0"/>
                  </a:lnTo>
                  <a:lnTo>
                    <a:pt x="3337021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F0BE1516-5EB6-49CE-AE5F-FCB53BEC01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b="92389"/>
            <a:stretch>
              <a:fillRect/>
            </a:stretch>
          </p:blipFill>
          <p:spPr>
            <a:xfrm>
              <a:off x="6605762" y="14980146"/>
              <a:ext cx="3337021" cy="253972"/>
            </a:xfrm>
            <a:custGeom>
              <a:avLst/>
              <a:gdLst>
                <a:gd name="connsiteX0" fmla="*/ 0 w 3337021"/>
                <a:gd name="connsiteY0" fmla="*/ 0 h 253972"/>
                <a:gd name="connsiteX1" fmla="*/ 3337021 w 3337021"/>
                <a:gd name="connsiteY1" fmla="*/ 0 h 253972"/>
                <a:gd name="connsiteX2" fmla="*/ 3337021 w 3337021"/>
                <a:gd name="connsiteY2" fmla="*/ 253972 h 253972"/>
                <a:gd name="connsiteX3" fmla="*/ 0 w 3337021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2">
                  <a:moveTo>
                    <a:pt x="0" y="0"/>
                  </a:moveTo>
                  <a:lnTo>
                    <a:pt x="3337021" y="0"/>
                  </a:lnTo>
                  <a:lnTo>
                    <a:pt x="3337021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907C4F19-E1B8-4F28-89A9-11EEBA277E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31829" b="92389"/>
            <a:stretch>
              <a:fillRect/>
            </a:stretch>
          </p:blipFill>
          <p:spPr>
            <a:xfrm>
              <a:off x="9917115" y="14980146"/>
              <a:ext cx="2274885" cy="253972"/>
            </a:xfrm>
            <a:custGeom>
              <a:avLst/>
              <a:gdLst>
                <a:gd name="connsiteX0" fmla="*/ 0 w 2274885"/>
                <a:gd name="connsiteY0" fmla="*/ 0 h 253972"/>
                <a:gd name="connsiteX1" fmla="*/ 2274885 w 2274885"/>
                <a:gd name="connsiteY1" fmla="*/ 0 h 253972"/>
                <a:gd name="connsiteX2" fmla="*/ 2274885 w 2274885"/>
                <a:gd name="connsiteY2" fmla="*/ 253972 h 253972"/>
                <a:gd name="connsiteX3" fmla="*/ 0 w 2274885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253972">
                  <a:moveTo>
                    <a:pt x="0" y="0"/>
                  </a:moveTo>
                  <a:lnTo>
                    <a:pt x="2274885" y="0"/>
                  </a:lnTo>
                  <a:lnTo>
                    <a:pt x="2274885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grpSp>
          <p:nvGrpSpPr>
            <p:cNvPr id="60" name="Rectangle 1">
              <a:extLst>
                <a:ext uri="{FF2B5EF4-FFF2-40B4-BE49-F238E27FC236}">
                  <a16:creationId xmlns:a16="http://schemas.microsoft.com/office/drawing/2014/main" id="{A2A7EC7E-B8B2-48A9-93A4-7970F7C25785}"/>
                </a:ext>
              </a:extLst>
            </p:cNvPr>
            <p:cNvGrpSpPr/>
            <p:nvPr userDrawn="1"/>
          </p:nvGrpSpPr>
          <p:grpSpPr>
            <a:xfrm>
              <a:off x="0" y="8376119"/>
              <a:ext cx="6648374" cy="3337021"/>
              <a:chOff x="0" y="0"/>
              <a:chExt cx="6648374" cy="3337021"/>
            </a:xfrm>
          </p:grpSpPr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8B57CEC4-C30D-441D-B82D-9234340D8C4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62" name="Graphic 61">
                <a:extLst>
                  <a:ext uri="{FF2B5EF4-FFF2-40B4-BE49-F238E27FC236}">
                    <a16:creationId xmlns:a16="http://schemas.microsoft.com/office/drawing/2014/main" id="{AF16816F-7163-4101-BD16-93CE6C9331D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11353" y="0"/>
                <a:ext cx="3337021" cy="3337021"/>
              </a:xfrm>
              <a:prstGeom prst="rect">
                <a:avLst/>
              </a:prstGeom>
            </p:spPr>
          </p:pic>
        </p:grp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762D2C4C-8A4E-4D86-9AD3-CBEFE20A57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05762" y="8376119"/>
              <a:ext cx="3337021" cy="3337021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881C5693-D00A-4724-8F31-B2CD98BC7D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31829"/>
            <a:stretch>
              <a:fillRect/>
            </a:stretch>
          </p:blipFill>
          <p:spPr>
            <a:xfrm>
              <a:off x="9917115" y="8376119"/>
              <a:ext cx="2274885" cy="3337021"/>
            </a:xfrm>
            <a:custGeom>
              <a:avLst/>
              <a:gdLst>
                <a:gd name="connsiteX0" fmla="*/ 0 w 2274885"/>
                <a:gd name="connsiteY0" fmla="*/ 0 h 3337021"/>
                <a:gd name="connsiteX1" fmla="*/ 2274885 w 2274885"/>
                <a:gd name="connsiteY1" fmla="*/ 0 h 3337021"/>
                <a:gd name="connsiteX2" fmla="*/ 2274885 w 2274885"/>
                <a:gd name="connsiteY2" fmla="*/ 3337021 h 3337021"/>
                <a:gd name="connsiteX3" fmla="*/ 0 w 2274885"/>
                <a:gd name="connsiteY3" fmla="*/ 3337021 h 333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3337021">
                  <a:moveTo>
                    <a:pt x="0" y="0"/>
                  </a:moveTo>
                  <a:lnTo>
                    <a:pt x="2274885" y="0"/>
                  </a:lnTo>
                  <a:lnTo>
                    <a:pt x="2274885" y="3337021"/>
                  </a:lnTo>
                  <a:lnTo>
                    <a:pt x="0" y="3337021"/>
                  </a:lnTo>
                  <a:close/>
                </a:path>
              </a:pathLst>
            </a:custGeom>
          </p:spPr>
        </p:pic>
        <p:sp>
          <p:nvSpPr>
            <p:cNvPr id="65" name="Background">
              <a:extLst>
                <a:ext uri="{FF2B5EF4-FFF2-40B4-BE49-F238E27FC236}">
                  <a16:creationId xmlns:a16="http://schemas.microsoft.com/office/drawing/2014/main" id="{A352F5A7-04C8-478F-B363-7A29EFBAF466}"/>
                </a:ext>
              </a:extLst>
            </p:cNvPr>
            <p:cNvSpPr/>
            <p:nvPr userDrawn="1"/>
          </p:nvSpPr>
          <p:spPr bwMode="ltGray">
            <a:xfrm rot="10800000">
              <a:off x="-2115" y="8376119"/>
              <a:ext cx="12189884" cy="6650767"/>
            </a:xfrm>
            <a:prstGeom prst="rect">
              <a:avLst/>
            </a:prstGeom>
            <a:gradFill>
              <a:gsLst>
                <a:gs pos="77000">
                  <a:srgbClr val="0D1514">
                    <a:alpha val="0"/>
                  </a:srgbClr>
                </a:gs>
                <a:gs pos="0">
                  <a:srgbClr val="0D1514"/>
                </a:gs>
              </a:gsLst>
              <a:lin ang="192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6" name="Background">
              <a:extLst>
                <a:ext uri="{FF2B5EF4-FFF2-40B4-BE49-F238E27FC236}">
                  <a16:creationId xmlns:a16="http://schemas.microsoft.com/office/drawing/2014/main" id="{B59FE6DA-33AA-41AD-91AB-0B245F5AD233}"/>
                </a:ext>
              </a:extLst>
            </p:cNvPr>
            <p:cNvSpPr/>
            <p:nvPr userDrawn="1"/>
          </p:nvSpPr>
          <p:spPr bwMode="ltGray">
            <a:xfrm>
              <a:off x="0" y="8583352"/>
              <a:ext cx="12189884" cy="6650767"/>
            </a:xfrm>
            <a:prstGeom prst="rect">
              <a:avLst/>
            </a:prstGeom>
            <a:gradFill>
              <a:gsLst>
                <a:gs pos="8000">
                  <a:schemeClr val="accent4">
                    <a:alpha val="28000"/>
                  </a:schemeClr>
                </a:gs>
                <a:gs pos="31000">
                  <a:schemeClr val="tx2">
                    <a:alpha val="0"/>
                  </a:schemeClr>
                </a:gs>
                <a:gs pos="0">
                  <a:schemeClr val="accent4">
                    <a:alpha val="58000"/>
                  </a:schemeClr>
                </a:gs>
              </a:gsLst>
              <a:lin ang="168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54734" y="165068"/>
            <a:ext cx="11082528" cy="73866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spc="0" baseline="0" dirty="0">
                <a:ln w="6350" cap="flat">
                  <a:noFill/>
                  <a:miter lim="800000"/>
                </a:ln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 userDrawn="1"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>
                <a:solidFill>
                  <a:schemeClr val="bg1"/>
                </a:solidFill>
              </a:rPr>
              <a:t>Source: …</a:t>
            </a:r>
          </a:p>
        </p:txBody>
      </p:sp>
      <p:sp>
        <p:nvSpPr>
          <p:cNvPr id="25" name="4. Footnote" hidden="1">
            <a:extLst>
              <a:ext uri="{FF2B5EF4-FFF2-40B4-BE49-F238E27FC236}">
                <a16:creationId xmlns:a16="http://schemas.microsoft.com/office/drawing/2014/main" id="{B1C8A38F-E18D-4209-BB91-D82556C25DD0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>
                <a:solidFill>
                  <a:schemeClr val="bg1"/>
                </a:solidFill>
              </a:rPr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171376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06843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400" b="1" i="0" baseline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  <a:sym typeface="Georgia" panose="02040502050405020303" pitchFamily="18" charset="0"/>
            </a:endParaRPr>
          </a:p>
        </p:txBody>
      </p:sp>
      <p:grpSp>
        <p:nvGrpSpPr>
          <p:cNvPr id="5" name="Background">
            <a:extLst>
              <a:ext uri="{FF2B5EF4-FFF2-40B4-BE49-F238E27FC236}">
                <a16:creationId xmlns:a16="http://schemas.microsoft.com/office/drawing/2014/main" id="{C12F2EBF-CB29-4245-9709-8A3AB25C1082}"/>
              </a:ext>
            </a:extLst>
          </p:cNvPr>
          <p:cNvGrpSpPr/>
          <p:nvPr userDrawn="1"/>
        </p:nvGrpSpPr>
        <p:grpSpPr>
          <a:xfrm>
            <a:off x="-2115" y="0"/>
            <a:ext cx="12194115" cy="6858000"/>
            <a:chOff x="-2115" y="8376119"/>
            <a:chExt cx="12194115" cy="6858000"/>
          </a:xfrm>
        </p:grpSpPr>
        <p:sp>
          <p:nvSpPr>
            <p:cNvPr id="50" name="Background">
              <a:extLst>
                <a:ext uri="{FF2B5EF4-FFF2-40B4-BE49-F238E27FC236}">
                  <a16:creationId xmlns:a16="http://schemas.microsoft.com/office/drawing/2014/main" id="{9CCA7045-39CE-4B45-993E-9D65996656C6}"/>
                </a:ext>
              </a:extLst>
            </p:cNvPr>
            <p:cNvSpPr/>
            <p:nvPr userDrawn="1"/>
          </p:nvSpPr>
          <p:spPr>
            <a:xfrm>
              <a:off x="0" y="8377706"/>
              <a:ext cx="12192000" cy="6856413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1224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BA55F93-7B0A-4279-B19A-B63AB5BF2EB9}"/>
                </a:ext>
              </a:extLst>
            </p:cNvPr>
            <p:cNvGrpSpPr/>
            <p:nvPr userDrawn="1"/>
          </p:nvGrpSpPr>
          <p:grpSpPr>
            <a:xfrm>
              <a:off x="0" y="11681986"/>
              <a:ext cx="6648374" cy="3337021"/>
              <a:chOff x="0" y="0"/>
              <a:chExt cx="6648374" cy="3337021"/>
            </a:xfrm>
          </p:grpSpPr>
          <p:pic>
            <p:nvPicPr>
              <p:cNvPr id="52" name="Graphic 51">
                <a:extLst>
                  <a:ext uri="{FF2B5EF4-FFF2-40B4-BE49-F238E27FC236}">
                    <a16:creationId xmlns:a16="http://schemas.microsoft.com/office/drawing/2014/main" id="{9008B0E7-80F2-46F6-B605-37A23B9225F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53" name="Graphic 52">
                <a:extLst>
                  <a:ext uri="{FF2B5EF4-FFF2-40B4-BE49-F238E27FC236}">
                    <a16:creationId xmlns:a16="http://schemas.microsoft.com/office/drawing/2014/main" id="{260C2D05-7D30-4E7B-A98E-9261BFC6085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11353" y="0"/>
                <a:ext cx="3337021" cy="3337021"/>
              </a:xfrm>
              <a:prstGeom prst="rect">
                <a:avLst/>
              </a:prstGeom>
            </p:spPr>
          </p:pic>
        </p:grp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24F2E44F-03F7-449F-B901-28539A23A0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05762" y="11681986"/>
              <a:ext cx="3337021" cy="3337021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0165378C-FEC8-4F51-B2F7-CDE4952154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31829"/>
            <a:stretch>
              <a:fillRect/>
            </a:stretch>
          </p:blipFill>
          <p:spPr>
            <a:xfrm>
              <a:off x="9917115" y="11681986"/>
              <a:ext cx="2274885" cy="3337021"/>
            </a:xfrm>
            <a:custGeom>
              <a:avLst/>
              <a:gdLst>
                <a:gd name="connsiteX0" fmla="*/ 0 w 2274885"/>
                <a:gd name="connsiteY0" fmla="*/ 0 h 3337021"/>
                <a:gd name="connsiteX1" fmla="*/ 2274885 w 2274885"/>
                <a:gd name="connsiteY1" fmla="*/ 0 h 3337021"/>
                <a:gd name="connsiteX2" fmla="*/ 2274885 w 2274885"/>
                <a:gd name="connsiteY2" fmla="*/ 3337021 h 3337021"/>
                <a:gd name="connsiteX3" fmla="*/ 0 w 2274885"/>
                <a:gd name="connsiteY3" fmla="*/ 3337021 h 333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3337021">
                  <a:moveTo>
                    <a:pt x="0" y="0"/>
                  </a:moveTo>
                  <a:lnTo>
                    <a:pt x="2274885" y="0"/>
                  </a:lnTo>
                  <a:lnTo>
                    <a:pt x="2274885" y="3337021"/>
                  </a:lnTo>
                  <a:lnTo>
                    <a:pt x="0" y="3337021"/>
                  </a:lnTo>
                  <a:close/>
                </a:path>
              </a:pathLst>
            </a:cu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F31DBB21-9605-40A3-B9D4-30B8AC9316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b="92389"/>
            <a:stretch>
              <a:fillRect/>
            </a:stretch>
          </p:blipFill>
          <p:spPr>
            <a:xfrm>
              <a:off x="0" y="14980146"/>
              <a:ext cx="3337021" cy="253973"/>
            </a:xfrm>
            <a:custGeom>
              <a:avLst/>
              <a:gdLst>
                <a:gd name="connsiteX0" fmla="*/ 0 w 3337021"/>
                <a:gd name="connsiteY0" fmla="*/ 0 h 253973"/>
                <a:gd name="connsiteX1" fmla="*/ 3337021 w 3337021"/>
                <a:gd name="connsiteY1" fmla="*/ 0 h 253973"/>
                <a:gd name="connsiteX2" fmla="*/ 3337021 w 3337021"/>
                <a:gd name="connsiteY2" fmla="*/ 253973 h 253973"/>
                <a:gd name="connsiteX3" fmla="*/ 0 w 3337021"/>
                <a:gd name="connsiteY3" fmla="*/ 253973 h 25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3">
                  <a:moveTo>
                    <a:pt x="0" y="0"/>
                  </a:moveTo>
                  <a:lnTo>
                    <a:pt x="3337021" y="0"/>
                  </a:lnTo>
                  <a:lnTo>
                    <a:pt x="3337021" y="253973"/>
                  </a:lnTo>
                  <a:lnTo>
                    <a:pt x="0" y="253973"/>
                  </a:lnTo>
                  <a:close/>
                </a:path>
              </a:pathLst>
            </a:custGeom>
          </p:spPr>
        </p:pic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6DBFD3E3-0C4E-4AD0-8362-200C740659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b="92389"/>
            <a:stretch>
              <a:fillRect/>
            </a:stretch>
          </p:blipFill>
          <p:spPr>
            <a:xfrm>
              <a:off x="3311353" y="14980146"/>
              <a:ext cx="3337021" cy="253972"/>
            </a:xfrm>
            <a:custGeom>
              <a:avLst/>
              <a:gdLst>
                <a:gd name="connsiteX0" fmla="*/ 0 w 3337021"/>
                <a:gd name="connsiteY0" fmla="*/ 0 h 253972"/>
                <a:gd name="connsiteX1" fmla="*/ 3337021 w 3337021"/>
                <a:gd name="connsiteY1" fmla="*/ 0 h 253972"/>
                <a:gd name="connsiteX2" fmla="*/ 3337021 w 3337021"/>
                <a:gd name="connsiteY2" fmla="*/ 253972 h 253972"/>
                <a:gd name="connsiteX3" fmla="*/ 0 w 3337021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2">
                  <a:moveTo>
                    <a:pt x="0" y="0"/>
                  </a:moveTo>
                  <a:lnTo>
                    <a:pt x="3337021" y="0"/>
                  </a:lnTo>
                  <a:lnTo>
                    <a:pt x="3337021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F0BE1516-5EB6-49CE-AE5F-FCB53BEC01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b="92389"/>
            <a:stretch>
              <a:fillRect/>
            </a:stretch>
          </p:blipFill>
          <p:spPr>
            <a:xfrm>
              <a:off x="6605762" y="14980146"/>
              <a:ext cx="3337021" cy="253972"/>
            </a:xfrm>
            <a:custGeom>
              <a:avLst/>
              <a:gdLst>
                <a:gd name="connsiteX0" fmla="*/ 0 w 3337021"/>
                <a:gd name="connsiteY0" fmla="*/ 0 h 253972"/>
                <a:gd name="connsiteX1" fmla="*/ 3337021 w 3337021"/>
                <a:gd name="connsiteY1" fmla="*/ 0 h 253972"/>
                <a:gd name="connsiteX2" fmla="*/ 3337021 w 3337021"/>
                <a:gd name="connsiteY2" fmla="*/ 253972 h 253972"/>
                <a:gd name="connsiteX3" fmla="*/ 0 w 3337021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2">
                  <a:moveTo>
                    <a:pt x="0" y="0"/>
                  </a:moveTo>
                  <a:lnTo>
                    <a:pt x="3337021" y="0"/>
                  </a:lnTo>
                  <a:lnTo>
                    <a:pt x="3337021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907C4F19-E1B8-4F28-89A9-11EEBA277E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31829" b="92389"/>
            <a:stretch>
              <a:fillRect/>
            </a:stretch>
          </p:blipFill>
          <p:spPr>
            <a:xfrm>
              <a:off x="9917115" y="14980146"/>
              <a:ext cx="2274885" cy="253972"/>
            </a:xfrm>
            <a:custGeom>
              <a:avLst/>
              <a:gdLst>
                <a:gd name="connsiteX0" fmla="*/ 0 w 2274885"/>
                <a:gd name="connsiteY0" fmla="*/ 0 h 253972"/>
                <a:gd name="connsiteX1" fmla="*/ 2274885 w 2274885"/>
                <a:gd name="connsiteY1" fmla="*/ 0 h 253972"/>
                <a:gd name="connsiteX2" fmla="*/ 2274885 w 2274885"/>
                <a:gd name="connsiteY2" fmla="*/ 253972 h 253972"/>
                <a:gd name="connsiteX3" fmla="*/ 0 w 2274885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253972">
                  <a:moveTo>
                    <a:pt x="0" y="0"/>
                  </a:moveTo>
                  <a:lnTo>
                    <a:pt x="2274885" y="0"/>
                  </a:lnTo>
                  <a:lnTo>
                    <a:pt x="2274885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grpSp>
          <p:nvGrpSpPr>
            <p:cNvPr id="60" name="Rectangle 1">
              <a:extLst>
                <a:ext uri="{FF2B5EF4-FFF2-40B4-BE49-F238E27FC236}">
                  <a16:creationId xmlns:a16="http://schemas.microsoft.com/office/drawing/2014/main" id="{A2A7EC7E-B8B2-48A9-93A4-7970F7C25785}"/>
                </a:ext>
              </a:extLst>
            </p:cNvPr>
            <p:cNvGrpSpPr/>
            <p:nvPr userDrawn="1"/>
          </p:nvGrpSpPr>
          <p:grpSpPr>
            <a:xfrm>
              <a:off x="0" y="8376119"/>
              <a:ext cx="6648374" cy="3337021"/>
              <a:chOff x="0" y="0"/>
              <a:chExt cx="6648374" cy="3337021"/>
            </a:xfrm>
          </p:grpSpPr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8B57CEC4-C30D-441D-B82D-9234340D8C4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62" name="Graphic 61">
                <a:extLst>
                  <a:ext uri="{FF2B5EF4-FFF2-40B4-BE49-F238E27FC236}">
                    <a16:creationId xmlns:a16="http://schemas.microsoft.com/office/drawing/2014/main" id="{AF16816F-7163-4101-BD16-93CE6C9331D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11353" y="0"/>
                <a:ext cx="3337021" cy="3337021"/>
              </a:xfrm>
              <a:prstGeom prst="rect">
                <a:avLst/>
              </a:prstGeom>
            </p:spPr>
          </p:pic>
        </p:grpSp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762D2C4C-8A4E-4D86-9AD3-CBEFE20A57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05762" y="8376119"/>
              <a:ext cx="3337021" cy="3337021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881C5693-D00A-4724-8F31-B2CD98BC7D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r="31829"/>
            <a:stretch>
              <a:fillRect/>
            </a:stretch>
          </p:blipFill>
          <p:spPr>
            <a:xfrm>
              <a:off x="9917115" y="8376119"/>
              <a:ext cx="2274885" cy="3337021"/>
            </a:xfrm>
            <a:custGeom>
              <a:avLst/>
              <a:gdLst>
                <a:gd name="connsiteX0" fmla="*/ 0 w 2274885"/>
                <a:gd name="connsiteY0" fmla="*/ 0 h 3337021"/>
                <a:gd name="connsiteX1" fmla="*/ 2274885 w 2274885"/>
                <a:gd name="connsiteY1" fmla="*/ 0 h 3337021"/>
                <a:gd name="connsiteX2" fmla="*/ 2274885 w 2274885"/>
                <a:gd name="connsiteY2" fmla="*/ 3337021 h 3337021"/>
                <a:gd name="connsiteX3" fmla="*/ 0 w 2274885"/>
                <a:gd name="connsiteY3" fmla="*/ 3337021 h 333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3337021">
                  <a:moveTo>
                    <a:pt x="0" y="0"/>
                  </a:moveTo>
                  <a:lnTo>
                    <a:pt x="2274885" y="0"/>
                  </a:lnTo>
                  <a:lnTo>
                    <a:pt x="2274885" y="3337021"/>
                  </a:lnTo>
                  <a:lnTo>
                    <a:pt x="0" y="3337021"/>
                  </a:lnTo>
                  <a:close/>
                </a:path>
              </a:pathLst>
            </a:custGeom>
          </p:spPr>
        </p:pic>
        <p:sp>
          <p:nvSpPr>
            <p:cNvPr id="65" name="Background">
              <a:extLst>
                <a:ext uri="{FF2B5EF4-FFF2-40B4-BE49-F238E27FC236}">
                  <a16:creationId xmlns:a16="http://schemas.microsoft.com/office/drawing/2014/main" id="{A352F5A7-04C8-478F-B363-7A29EFBAF466}"/>
                </a:ext>
              </a:extLst>
            </p:cNvPr>
            <p:cNvSpPr/>
            <p:nvPr userDrawn="1"/>
          </p:nvSpPr>
          <p:spPr bwMode="ltGray">
            <a:xfrm rot="10800000">
              <a:off x="-2115" y="8376119"/>
              <a:ext cx="12189884" cy="6650767"/>
            </a:xfrm>
            <a:prstGeom prst="rect">
              <a:avLst/>
            </a:prstGeom>
            <a:gradFill>
              <a:gsLst>
                <a:gs pos="77000">
                  <a:srgbClr val="0D1514">
                    <a:alpha val="0"/>
                  </a:srgbClr>
                </a:gs>
                <a:gs pos="0">
                  <a:srgbClr val="0D1514"/>
                </a:gs>
              </a:gsLst>
              <a:lin ang="192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6" name="Background">
              <a:extLst>
                <a:ext uri="{FF2B5EF4-FFF2-40B4-BE49-F238E27FC236}">
                  <a16:creationId xmlns:a16="http://schemas.microsoft.com/office/drawing/2014/main" id="{B59FE6DA-33AA-41AD-91AB-0B245F5AD233}"/>
                </a:ext>
              </a:extLst>
            </p:cNvPr>
            <p:cNvSpPr/>
            <p:nvPr userDrawn="1"/>
          </p:nvSpPr>
          <p:spPr bwMode="ltGray">
            <a:xfrm>
              <a:off x="0" y="8583352"/>
              <a:ext cx="12189884" cy="6650767"/>
            </a:xfrm>
            <a:prstGeom prst="rect">
              <a:avLst/>
            </a:prstGeom>
            <a:gradFill>
              <a:gsLst>
                <a:gs pos="8000">
                  <a:schemeClr val="accent4">
                    <a:alpha val="28000"/>
                  </a:schemeClr>
                </a:gs>
                <a:gs pos="31000">
                  <a:schemeClr val="tx2">
                    <a:alpha val="0"/>
                  </a:schemeClr>
                </a:gs>
                <a:gs pos="0">
                  <a:schemeClr val="accent4">
                    <a:alpha val="58000"/>
                  </a:schemeClr>
                </a:gs>
              </a:gsLst>
              <a:lin ang="168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54734" y="165068"/>
            <a:ext cx="11082528" cy="73866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spc="0" baseline="0" dirty="0">
                <a:ln w="6350" cap="flat">
                  <a:noFill/>
                  <a:miter lim="800000"/>
                </a:ln>
                <a:solidFill>
                  <a:schemeClr val="bg1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 userDrawn="1"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>
                <a:solidFill>
                  <a:schemeClr val="bg1"/>
                </a:solidFill>
              </a:rPr>
              <a:t>Source: …</a:t>
            </a:r>
          </a:p>
        </p:txBody>
      </p:sp>
      <p:sp>
        <p:nvSpPr>
          <p:cNvPr id="25" name="4. Footnote" hidden="1">
            <a:extLst>
              <a:ext uri="{FF2B5EF4-FFF2-40B4-BE49-F238E27FC236}">
                <a16:creationId xmlns:a16="http://schemas.microsoft.com/office/drawing/2014/main" id="{B1C8A38F-E18D-4209-BB91-D82556C25DD0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>
                <a:solidFill>
                  <a:schemeClr val="bg1"/>
                </a:solidFill>
              </a:rPr>
              <a:t>Footnotes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3056B-DBE0-D752-3AC0-D7AAA3AF1AC4}"/>
              </a:ext>
            </a:extLst>
          </p:cNvPr>
          <p:cNvSpPr txBox="1"/>
          <p:nvPr userDrawn="1"/>
        </p:nvSpPr>
        <p:spPr>
          <a:xfrm>
            <a:off x="8545514" y="6435725"/>
            <a:ext cx="208756" cy="152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fld id="{5965CEB5-1DD1-49A1-A595-403D2BB5701F}" type="slidenum">
              <a:rPr lang="en-US" sz="1000" b="0" i="0" baseline="0" smtClean="0"/>
              <a:pPr algn="l" rtl="0">
                <a:spcBef>
                  <a:spcPts val="300"/>
                </a:spcBef>
                <a:spcAft>
                  <a:spcPts val="300"/>
                </a:spcAft>
                <a:buNone/>
              </a:pPr>
              <a:t>‹#›</a:t>
            </a:fld>
            <a:endParaRPr lang="en-US" sz="1000" b="0" i="0" baseline="0"/>
          </a:p>
        </p:txBody>
      </p:sp>
    </p:spTree>
    <p:extLst>
      <p:ext uri="{BB962C8B-B14F-4D97-AF65-F5344CB8AC3E}">
        <p14:creationId xmlns:p14="http://schemas.microsoft.com/office/powerpoint/2010/main" val="401187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467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1" i="0" baseline="0">
              <a:solidFill>
                <a:schemeClr val="bg1"/>
              </a:solidFill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  <a:sym typeface="Georgia" panose="02040502050405020303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0F539A-BC4E-41ED-B165-07BB7C76FD2A}"/>
              </a:ext>
            </a:extLst>
          </p:cNvPr>
          <p:cNvGrpSpPr/>
          <p:nvPr userDrawn="1"/>
        </p:nvGrpSpPr>
        <p:grpSpPr>
          <a:xfrm>
            <a:off x="0" y="-1"/>
            <a:ext cx="4544291" cy="6858001"/>
            <a:chOff x="0" y="-1"/>
            <a:chExt cx="4544291" cy="685800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05B1C71-372E-4CC9-A7BE-C99679981502}"/>
                </a:ext>
              </a:extLst>
            </p:cNvPr>
            <p:cNvGrpSpPr/>
            <p:nvPr userDrawn="1"/>
          </p:nvGrpSpPr>
          <p:grpSpPr>
            <a:xfrm>
              <a:off x="0" y="0"/>
              <a:ext cx="3337021" cy="6858000"/>
              <a:chOff x="0" y="0"/>
              <a:chExt cx="3337021" cy="6858000"/>
            </a:xfrm>
          </p:grpSpPr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E5F8B074-1072-48FC-974F-E70879C6D2F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0" y="3305867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25" name="Graphic 24">
                <a:extLst>
                  <a:ext uri="{FF2B5EF4-FFF2-40B4-BE49-F238E27FC236}">
                    <a16:creationId xmlns:a16="http://schemas.microsoft.com/office/drawing/2014/main" id="{4D195B11-AB6C-4D1A-A364-CC5CEE26D6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b="92389"/>
              <a:stretch>
                <a:fillRect/>
              </a:stretch>
            </p:blipFill>
            <p:spPr>
              <a:xfrm>
                <a:off x="0" y="6604027"/>
                <a:ext cx="3337021" cy="253973"/>
              </a:xfrm>
              <a:custGeom>
                <a:avLst/>
                <a:gdLst>
                  <a:gd name="connsiteX0" fmla="*/ 0 w 3337021"/>
                  <a:gd name="connsiteY0" fmla="*/ 0 h 253973"/>
                  <a:gd name="connsiteX1" fmla="*/ 3337021 w 3337021"/>
                  <a:gd name="connsiteY1" fmla="*/ 0 h 253973"/>
                  <a:gd name="connsiteX2" fmla="*/ 3337021 w 3337021"/>
                  <a:gd name="connsiteY2" fmla="*/ 253973 h 253973"/>
                  <a:gd name="connsiteX3" fmla="*/ 0 w 3337021"/>
                  <a:gd name="connsiteY3" fmla="*/ 253973 h 253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7021" h="253973">
                    <a:moveTo>
                      <a:pt x="0" y="0"/>
                    </a:moveTo>
                    <a:lnTo>
                      <a:pt x="3337021" y="0"/>
                    </a:lnTo>
                    <a:lnTo>
                      <a:pt x="3337021" y="253973"/>
                    </a:lnTo>
                    <a:lnTo>
                      <a:pt x="0" y="253973"/>
                    </a:lnTo>
                    <a:close/>
                  </a:path>
                </a:pathLst>
              </a:custGeom>
            </p:spPr>
          </p:pic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E60F1F0A-C640-429C-8573-54538774724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EC3B9AE-9069-4C4B-9F60-384885192A38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-1"/>
              <a:ext cx="4544291" cy="6857999"/>
            </a:xfrm>
            <a:prstGeom prst="rect">
              <a:avLst/>
            </a:prstGeom>
            <a:gradFill>
              <a:gsLst>
                <a:gs pos="85000">
                  <a:schemeClr val="bg2">
                    <a:alpha val="78000"/>
                  </a:schemeClr>
                </a:gs>
                <a:gs pos="11000">
                  <a:schemeClr val="bg2"/>
                </a:gs>
                <a:gs pos="100000">
                  <a:schemeClr val="bg2">
                    <a:alpha val="48000"/>
                  </a:schemeClr>
                </a:gs>
              </a:gsLst>
              <a:lin ang="114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25451"/>
            <a:ext cx="10131552" cy="5539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600" b="1" kern="1200" spc="0" baseline="0" dirty="0">
                <a:ln w="6350" cap="flat">
                  <a:noFill/>
                  <a:miter lim="800000"/>
                </a:ln>
                <a:solidFill>
                  <a:srgbClr val="191C1E"/>
                </a:solidFill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“Click to add quote”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ru-RU" sz="1600" b="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800" b="0" smtClean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800" b="0">
              <a:solidFill>
                <a:srgbClr val="191C1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 err="1"/>
              <a:t>Источник</a:t>
            </a:r>
            <a:r>
              <a:rPr lang="en-US" sz="800"/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289230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576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2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385429-219C-4D13-B18E-6E819E960DE4}"/>
              </a:ext>
            </a:extLst>
          </p:cNvPr>
          <p:cNvGrpSpPr/>
          <p:nvPr userDrawn="1"/>
        </p:nvGrpSpPr>
        <p:grpSpPr>
          <a:xfrm>
            <a:off x="0" y="-1"/>
            <a:ext cx="4544291" cy="6858001"/>
            <a:chOff x="0" y="-1"/>
            <a:chExt cx="4544291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0D1115-28CB-4F26-8A3F-D87F0295C698}"/>
                </a:ext>
              </a:extLst>
            </p:cNvPr>
            <p:cNvGrpSpPr/>
            <p:nvPr userDrawn="1"/>
          </p:nvGrpSpPr>
          <p:grpSpPr>
            <a:xfrm>
              <a:off x="0" y="0"/>
              <a:ext cx="3337021" cy="6858000"/>
              <a:chOff x="0" y="0"/>
              <a:chExt cx="3337021" cy="685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353078DF-55C7-45AB-9FA8-C0B2564A2E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3305867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EBD2B1E4-5FBB-40D4-BD3A-048F6192B3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b="92389"/>
              <a:stretch>
                <a:fillRect/>
              </a:stretch>
            </p:blipFill>
            <p:spPr>
              <a:xfrm>
                <a:off x="0" y="6604027"/>
                <a:ext cx="3337021" cy="253973"/>
              </a:xfrm>
              <a:custGeom>
                <a:avLst/>
                <a:gdLst>
                  <a:gd name="connsiteX0" fmla="*/ 0 w 3337021"/>
                  <a:gd name="connsiteY0" fmla="*/ 0 h 253973"/>
                  <a:gd name="connsiteX1" fmla="*/ 3337021 w 3337021"/>
                  <a:gd name="connsiteY1" fmla="*/ 0 h 253973"/>
                  <a:gd name="connsiteX2" fmla="*/ 3337021 w 3337021"/>
                  <a:gd name="connsiteY2" fmla="*/ 253973 h 253973"/>
                  <a:gd name="connsiteX3" fmla="*/ 0 w 3337021"/>
                  <a:gd name="connsiteY3" fmla="*/ 253973 h 253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7021" h="253973">
                    <a:moveTo>
                      <a:pt x="0" y="0"/>
                    </a:moveTo>
                    <a:lnTo>
                      <a:pt x="3337021" y="0"/>
                    </a:lnTo>
                    <a:lnTo>
                      <a:pt x="3337021" y="253973"/>
                    </a:lnTo>
                    <a:lnTo>
                      <a:pt x="0" y="253973"/>
                    </a:lnTo>
                    <a:close/>
                  </a:path>
                </a:pathLst>
              </a:custGeom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076C6520-DADB-4D33-9B8F-41CE6ABE4BD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397C38-99B9-4557-B2A5-EC4D3F9E3315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-1"/>
              <a:ext cx="4544291" cy="6857999"/>
            </a:xfrm>
            <a:prstGeom prst="rect">
              <a:avLst/>
            </a:prstGeom>
            <a:gradFill>
              <a:gsLst>
                <a:gs pos="85000">
                  <a:schemeClr val="bg2">
                    <a:alpha val="78000"/>
                  </a:schemeClr>
                </a:gs>
                <a:gs pos="11000">
                  <a:schemeClr val="bg2"/>
                </a:gs>
                <a:gs pos="100000">
                  <a:schemeClr val="bg2">
                    <a:alpha val="48000"/>
                  </a:schemeClr>
                </a:gs>
              </a:gsLst>
              <a:lin ang="114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5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800" b="0" smtClean="0"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800" b="0"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ru-RU" sz="22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ru-RU" sz="1600" b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>
                <a:solidFill>
                  <a:schemeClr val="tx1"/>
                </a:solidFill>
              </a:rPr>
              <a:t>Source</a:t>
            </a:r>
            <a:r>
              <a:rPr lang="en-US" sz="800"/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345493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29909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ED74A0-59B0-4A64-8367-F678F9212088}"/>
              </a:ext>
            </a:extLst>
          </p:cNvPr>
          <p:cNvGrpSpPr/>
          <p:nvPr userDrawn="1"/>
        </p:nvGrpSpPr>
        <p:grpSpPr>
          <a:xfrm>
            <a:off x="0" y="-1"/>
            <a:ext cx="4544291" cy="6858001"/>
            <a:chOff x="0" y="-1"/>
            <a:chExt cx="4544291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2DC4787-100B-4D10-AFDD-81C509730CDE}"/>
                </a:ext>
              </a:extLst>
            </p:cNvPr>
            <p:cNvGrpSpPr/>
            <p:nvPr userDrawn="1"/>
          </p:nvGrpSpPr>
          <p:grpSpPr>
            <a:xfrm>
              <a:off x="0" y="0"/>
              <a:ext cx="3337021" cy="6858000"/>
              <a:chOff x="0" y="0"/>
              <a:chExt cx="3337021" cy="685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3A31D9D-3D16-459C-A978-4E188F572AD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3305867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4436E28E-192C-4128-8C07-8E2244890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b="92389"/>
              <a:stretch>
                <a:fillRect/>
              </a:stretch>
            </p:blipFill>
            <p:spPr>
              <a:xfrm>
                <a:off x="0" y="6604027"/>
                <a:ext cx="3337021" cy="253973"/>
              </a:xfrm>
              <a:custGeom>
                <a:avLst/>
                <a:gdLst>
                  <a:gd name="connsiteX0" fmla="*/ 0 w 3337021"/>
                  <a:gd name="connsiteY0" fmla="*/ 0 h 253973"/>
                  <a:gd name="connsiteX1" fmla="*/ 3337021 w 3337021"/>
                  <a:gd name="connsiteY1" fmla="*/ 0 h 253973"/>
                  <a:gd name="connsiteX2" fmla="*/ 3337021 w 3337021"/>
                  <a:gd name="connsiteY2" fmla="*/ 253973 h 253973"/>
                  <a:gd name="connsiteX3" fmla="*/ 0 w 3337021"/>
                  <a:gd name="connsiteY3" fmla="*/ 253973 h 253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7021" h="253973">
                    <a:moveTo>
                      <a:pt x="0" y="0"/>
                    </a:moveTo>
                    <a:lnTo>
                      <a:pt x="3337021" y="0"/>
                    </a:lnTo>
                    <a:lnTo>
                      <a:pt x="3337021" y="253973"/>
                    </a:lnTo>
                    <a:lnTo>
                      <a:pt x="0" y="253973"/>
                    </a:lnTo>
                    <a:close/>
                  </a:path>
                </a:pathLst>
              </a:custGeom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958ADED3-1240-4CAC-85D6-6E46237FD2B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2A39CEA-7672-470D-90B7-74EF0D8C9630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-1"/>
              <a:ext cx="4544291" cy="6857999"/>
            </a:xfrm>
            <a:prstGeom prst="rect">
              <a:avLst/>
            </a:prstGeom>
            <a:gradFill>
              <a:gsLst>
                <a:gs pos="85000">
                  <a:schemeClr val="bg2">
                    <a:alpha val="78000"/>
                  </a:schemeClr>
                </a:gs>
                <a:gs pos="11000">
                  <a:schemeClr val="bg2"/>
                </a:gs>
                <a:gs pos="100000">
                  <a:schemeClr val="bg2">
                    <a:alpha val="48000"/>
                  </a:schemeClr>
                </a:gs>
              </a:gsLst>
              <a:lin ang="114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5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800" b="0" smtClean="0"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800" b="0"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75146"/>
            <a:ext cx="3465576" cy="73866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ru-RU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ru-RU" sz="1600" b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7" y="6330793"/>
            <a:ext cx="34655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34655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>
                <a:solidFill>
                  <a:schemeClr val="tx1"/>
                </a:solidFill>
              </a:rPr>
              <a:t>Source</a:t>
            </a:r>
            <a:r>
              <a:rPr lang="en-US" sz="800"/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352548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355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48AAEC-DB11-4FDE-8B23-9F9DBCC6C2B3}"/>
              </a:ext>
            </a:extLst>
          </p:cNvPr>
          <p:cNvGrpSpPr/>
          <p:nvPr userDrawn="1"/>
        </p:nvGrpSpPr>
        <p:grpSpPr>
          <a:xfrm>
            <a:off x="0" y="-1"/>
            <a:ext cx="4544291" cy="6858001"/>
            <a:chOff x="0" y="-1"/>
            <a:chExt cx="4544291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27F1B22-A681-4273-AE0B-1C49DDE84D4C}"/>
                </a:ext>
              </a:extLst>
            </p:cNvPr>
            <p:cNvGrpSpPr/>
            <p:nvPr userDrawn="1"/>
          </p:nvGrpSpPr>
          <p:grpSpPr>
            <a:xfrm>
              <a:off x="0" y="0"/>
              <a:ext cx="3337021" cy="6858000"/>
              <a:chOff x="0" y="0"/>
              <a:chExt cx="3337021" cy="685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6CC197B9-DD53-418B-A4DC-BA8FCD0160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3305867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1DE6CBB0-24E3-4A8B-9658-6B30F0E706F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b="92389"/>
              <a:stretch>
                <a:fillRect/>
              </a:stretch>
            </p:blipFill>
            <p:spPr>
              <a:xfrm>
                <a:off x="0" y="6604027"/>
                <a:ext cx="3337021" cy="253973"/>
              </a:xfrm>
              <a:custGeom>
                <a:avLst/>
                <a:gdLst>
                  <a:gd name="connsiteX0" fmla="*/ 0 w 3337021"/>
                  <a:gd name="connsiteY0" fmla="*/ 0 h 253973"/>
                  <a:gd name="connsiteX1" fmla="*/ 3337021 w 3337021"/>
                  <a:gd name="connsiteY1" fmla="*/ 0 h 253973"/>
                  <a:gd name="connsiteX2" fmla="*/ 3337021 w 3337021"/>
                  <a:gd name="connsiteY2" fmla="*/ 253973 h 253973"/>
                  <a:gd name="connsiteX3" fmla="*/ 0 w 3337021"/>
                  <a:gd name="connsiteY3" fmla="*/ 253973 h 253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7021" h="253973">
                    <a:moveTo>
                      <a:pt x="0" y="0"/>
                    </a:moveTo>
                    <a:lnTo>
                      <a:pt x="3337021" y="0"/>
                    </a:lnTo>
                    <a:lnTo>
                      <a:pt x="3337021" y="253973"/>
                    </a:lnTo>
                    <a:lnTo>
                      <a:pt x="0" y="253973"/>
                    </a:lnTo>
                    <a:close/>
                  </a:path>
                </a:pathLst>
              </a:custGeom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9D972D20-461D-45BA-A52C-06399F8A5A4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CF8767-9735-473B-B437-BB5E2C875815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-1"/>
              <a:ext cx="4544291" cy="6857999"/>
            </a:xfrm>
            <a:prstGeom prst="rect">
              <a:avLst/>
            </a:prstGeom>
            <a:gradFill>
              <a:gsLst>
                <a:gs pos="85000">
                  <a:schemeClr val="bg2">
                    <a:alpha val="78000"/>
                  </a:schemeClr>
                </a:gs>
                <a:gs pos="11000">
                  <a:schemeClr val="bg2"/>
                </a:gs>
                <a:gs pos="100000">
                  <a:schemeClr val="bg2">
                    <a:alpha val="48000"/>
                  </a:schemeClr>
                </a:gs>
              </a:gsLst>
              <a:lin ang="114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5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800" b="0" smtClean="0"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800" b="0"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065776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ru-RU" dirty="0"/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506577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rtl="0">
              <a:defRPr lang="ru-RU" sz="1600" b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50657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50657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>
                <a:solidFill>
                  <a:schemeClr val="tx1"/>
                </a:solidFill>
              </a:rPr>
              <a:t>Source</a:t>
            </a:r>
            <a:r>
              <a:rPr lang="en-US" sz="800"/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23515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1908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8BC3A1-8E69-4011-AD76-54DE1B7346E6}"/>
              </a:ext>
            </a:extLst>
          </p:cNvPr>
          <p:cNvGrpSpPr/>
          <p:nvPr userDrawn="1"/>
        </p:nvGrpSpPr>
        <p:grpSpPr>
          <a:xfrm>
            <a:off x="0" y="-1"/>
            <a:ext cx="4544291" cy="6858001"/>
            <a:chOff x="0" y="-1"/>
            <a:chExt cx="4544291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70A8405-C924-41D3-8FD1-29DC2F8BF589}"/>
                </a:ext>
              </a:extLst>
            </p:cNvPr>
            <p:cNvGrpSpPr/>
            <p:nvPr userDrawn="1"/>
          </p:nvGrpSpPr>
          <p:grpSpPr>
            <a:xfrm>
              <a:off x="0" y="0"/>
              <a:ext cx="3337021" cy="6858000"/>
              <a:chOff x="0" y="0"/>
              <a:chExt cx="3337021" cy="685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4DA33A9A-0F33-4B38-92FE-4D649E49BEE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3305867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C3EE0E3B-7D0D-4AB3-8E07-7C1C6D41350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b="92389"/>
              <a:stretch>
                <a:fillRect/>
              </a:stretch>
            </p:blipFill>
            <p:spPr>
              <a:xfrm>
                <a:off x="0" y="6604027"/>
                <a:ext cx="3337021" cy="253973"/>
              </a:xfrm>
              <a:custGeom>
                <a:avLst/>
                <a:gdLst>
                  <a:gd name="connsiteX0" fmla="*/ 0 w 3337021"/>
                  <a:gd name="connsiteY0" fmla="*/ 0 h 253973"/>
                  <a:gd name="connsiteX1" fmla="*/ 3337021 w 3337021"/>
                  <a:gd name="connsiteY1" fmla="*/ 0 h 253973"/>
                  <a:gd name="connsiteX2" fmla="*/ 3337021 w 3337021"/>
                  <a:gd name="connsiteY2" fmla="*/ 253973 h 253973"/>
                  <a:gd name="connsiteX3" fmla="*/ 0 w 3337021"/>
                  <a:gd name="connsiteY3" fmla="*/ 253973 h 253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7021" h="253973">
                    <a:moveTo>
                      <a:pt x="0" y="0"/>
                    </a:moveTo>
                    <a:lnTo>
                      <a:pt x="3337021" y="0"/>
                    </a:lnTo>
                    <a:lnTo>
                      <a:pt x="3337021" y="253973"/>
                    </a:lnTo>
                    <a:lnTo>
                      <a:pt x="0" y="253973"/>
                    </a:lnTo>
                    <a:close/>
                  </a:path>
                </a:pathLst>
              </a:custGeom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FEE1EFED-7EA3-4879-8F99-CE87B2ECA1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153F629-ABF4-4B12-96F8-27E2AA136AD5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-1"/>
              <a:ext cx="4544291" cy="6857999"/>
            </a:xfrm>
            <a:prstGeom prst="rect">
              <a:avLst/>
            </a:prstGeom>
            <a:gradFill>
              <a:gsLst>
                <a:gs pos="85000">
                  <a:schemeClr val="bg2">
                    <a:alpha val="78000"/>
                  </a:schemeClr>
                </a:gs>
                <a:gs pos="11000">
                  <a:schemeClr val="bg2"/>
                </a:gs>
                <a:gs pos="100000">
                  <a:schemeClr val="bg2">
                    <a:alpha val="48000"/>
                  </a:schemeClr>
                </a:gs>
              </a:gsLst>
              <a:lin ang="114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ru-RU" dirty="0"/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5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800" b="0" smtClean="0"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800" b="0"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rtl="0">
              <a:defRPr lang="ru-RU" sz="1600" b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>
                <a:solidFill>
                  <a:schemeClr val="tx1"/>
                </a:solidFill>
              </a:rPr>
              <a:t>Source</a:t>
            </a:r>
            <a:r>
              <a:rPr lang="en-US" sz="800"/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1953901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59293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2B402C-4E9A-4C49-95BC-08C80D9394EC}"/>
              </a:ext>
            </a:extLst>
          </p:cNvPr>
          <p:cNvGrpSpPr/>
          <p:nvPr userDrawn="1"/>
        </p:nvGrpSpPr>
        <p:grpSpPr>
          <a:xfrm>
            <a:off x="0" y="-1"/>
            <a:ext cx="4544291" cy="6858001"/>
            <a:chOff x="0" y="-1"/>
            <a:chExt cx="4544291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BB4B49C-0BF5-4E59-AAEE-224340421E20}"/>
                </a:ext>
              </a:extLst>
            </p:cNvPr>
            <p:cNvGrpSpPr/>
            <p:nvPr userDrawn="1"/>
          </p:nvGrpSpPr>
          <p:grpSpPr>
            <a:xfrm>
              <a:off x="0" y="0"/>
              <a:ext cx="3337021" cy="6858000"/>
              <a:chOff x="0" y="0"/>
              <a:chExt cx="3337021" cy="685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C379868A-9A32-49DD-B088-849ADB13330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3305867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F860B71F-73D2-4140-9B7E-E84C1ED6435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 b="92389"/>
              <a:stretch>
                <a:fillRect/>
              </a:stretch>
            </p:blipFill>
            <p:spPr>
              <a:xfrm>
                <a:off x="0" y="6604027"/>
                <a:ext cx="3337021" cy="253973"/>
              </a:xfrm>
              <a:custGeom>
                <a:avLst/>
                <a:gdLst>
                  <a:gd name="connsiteX0" fmla="*/ 0 w 3337021"/>
                  <a:gd name="connsiteY0" fmla="*/ 0 h 253973"/>
                  <a:gd name="connsiteX1" fmla="*/ 3337021 w 3337021"/>
                  <a:gd name="connsiteY1" fmla="*/ 0 h 253973"/>
                  <a:gd name="connsiteX2" fmla="*/ 3337021 w 3337021"/>
                  <a:gd name="connsiteY2" fmla="*/ 253973 h 253973"/>
                  <a:gd name="connsiteX3" fmla="*/ 0 w 3337021"/>
                  <a:gd name="connsiteY3" fmla="*/ 253973 h 253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7021" h="253973">
                    <a:moveTo>
                      <a:pt x="0" y="0"/>
                    </a:moveTo>
                    <a:lnTo>
                      <a:pt x="3337021" y="0"/>
                    </a:lnTo>
                    <a:lnTo>
                      <a:pt x="3337021" y="253973"/>
                    </a:lnTo>
                    <a:lnTo>
                      <a:pt x="0" y="253973"/>
                    </a:lnTo>
                    <a:close/>
                  </a:path>
                </a:pathLst>
              </a:custGeom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F12D97A6-D75E-470D-8B68-12AF6900B0E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B62E48F-039F-4A8A-AA4A-7E4B0A2100D4}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-1"/>
              <a:ext cx="4544291" cy="6857999"/>
            </a:xfrm>
            <a:prstGeom prst="rect">
              <a:avLst/>
            </a:prstGeom>
            <a:gradFill>
              <a:gsLst>
                <a:gs pos="85000">
                  <a:schemeClr val="bg2">
                    <a:alpha val="78000"/>
                  </a:schemeClr>
                </a:gs>
                <a:gs pos="11000">
                  <a:schemeClr val="bg2"/>
                </a:gs>
                <a:gs pos="100000">
                  <a:schemeClr val="bg2">
                    <a:alpha val="48000"/>
                  </a:schemeClr>
                </a:gs>
              </a:gsLst>
              <a:lin ang="1140000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5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n-US" sz="800" b="0" noProof="0" smtClean="0"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800" b="0" noProof="0"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ru-RU" dirty="0"/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rtl="0">
              <a:defRPr lang="ru-RU" sz="1600" b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ru-RU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>
                <a:solidFill>
                  <a:schemeClr val="tx1"/>
                </a:solidFill>
              </a:rPr>
              <a:t>Source</a:t>
            </a:r>
            <a:r>
              <a:rPr lang="en-US" sz="800"/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177371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76653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Rectangle 1">
            <a:extLst>
              <a:ext uri="{FF2B5EF4-FFF2-40B4-BE49-F238E27FC236}">
                <a16:creationId xmlns:a16="http://schemas.microsoft.com/office/drawing/2014/main" id="{4C0CE1A6-9A27-4E62-A51D-D2E5F558BE1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7964129"/>
            <a:chExt cx="12192000" cy="6858000"/>
          </a:xfrm>
        </p:grpSpPr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3B83D280-9CA5-45FB-9649-4AB81AB05C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31829"/>
            <a:stretch>
              <a:fillRect/>
            </a:stretch>
          </p:blipFill>
          <p:spPr>
            <a:xfrm>
              <a:off x="9917115" y="11269996"/>
              <a:ext cx="2274885" cy="3337021"/>
            </a:xfrm>
            <a:custGeom>
              <a:avLst/>
              <a:gdLst>
                <a:gd name="connsiteX0" fmla="*/ 0 w 2274885"/>
                <a:gd name="connsiteY0" fmla="*/ 0 h 3337021"/>
                <a:gd name="connsiteX1" fmla="*/ 2274885 w 2274885"/>
                <a:gd name="connsiteY1" fmla="*/ 0 h 3337021"/>
                <a:gd name="connsiteX2" fmla="*/ 2274885 w 2274885"/>
                <a:gd name="connsiteY2" fmla="*/ 3337021 h 3337021"/>
                <a:gd name="connsiteX3" fmla="*/ 0 w 2274885"/>
                <a:gd name="connsiteY3" fmla="*/ 3337021 h 333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3337021">
                  <a:moveTo>
                    <a:pt x="0" y="0"/>
                  </a:moveTo>
                  <a:lnTo>
                    <a:pt x="2274885" y="0"/>
                  </a:lnTo>
                  <a:lnTo>
                    <a:pt x="2274885" y="3337021"/>
                  </a:lnTo>
                  <a:lnTo>
                    <a:pt x="0" y="3337021"/>
                  </a:lnTo>
                  <a:close/>
                </a:path>
              </a:pathLst>
            </a:custGeom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78947C6-9C7B-4912-92C5-BE469863B9AC}"/>
                </a:ext>
              </a:extLst>
            </p:cNvPr>
            <p:cNvGrpSpPr/>
            <p:nvPr userDrawn="1"/>
          </p:nvGrpSpPr>
          <p:grpSpPr>
            <a:xfrm>
              <a:off x="0" y="11269996"/>
              <a:ext cx="6648374" cy="3337021"/>
              <a:chOff x="0" y="0"/>
              <a:chExt cx="6648374" cy="3337021"/>
            </a:xfrm>
          </p:grpSpPr>
          <p:pic>
            <p:nvPicPr>
              <p:cNvPr id="63" name="Graphic 62">
                <a:extLst>
                  <a:ext uri="{FF2B5EF4-FFF2-40B4-BE49-F238E27FC236}">
                    <a16:creationId xmlns:a16="http://schemas.microsoft.com/office/drawing/2014/main" id="{8ED31E17-35AF-4B55-9F4C-7C6311B62C7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64" name="Graphic 63">
                <a:extLst>
                  <a:ext uri="{FF2B5EF4-FFF2-40B4-BE49-F238E27FC236}">
                    <a16:creationId xmlns:a16="http://schemas.microsoft.com/office/drawing/2014/main" id="{80A4288B-B0B1-4C20-849D-DEFB7A770DD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311353" y="0"/>
                <a:ext cx="3337021" cy="3337021"/>
              </a:xfrm>
              <a:prstGeom prst="rect">
                <a:avLst/>
              </a:prstGeom>
            </p:spPr>
          </p:pic>
        </p:grp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7A8F4C7D-3B0D-4777-B8A4-13F6C65B2F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05762" y="11269996"/>
              <a:ext cx="3337021" cy="3337021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9A998010-F40B-4CA8-AE54-ED7D2A3977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92389"/>
            <a:stretch>
              <a:fillRect/>
            </a:stretch>
          </p:blipFill>
          <p:spPr>
            <a:xfrm>
              <a:off x="0" y="14568156"/>
              <a:ext cx="3337021" cy="253973"/>
            </a:xfrm>
            <a:custGeom>
              <a:avLst/>
              <a:gdLst>
                <a:gd name="connsiteX0" fmla="*/ 0 w 3337021"/>
                <a:gd name="connsiteY0" fmla="*/ 0 h 253973"/>
                <a:gd name="connsiteX1" fmla="*/ 3337021 w 3337021"/>
                <a:gd name="connsiteY1" fmla="*/ 0 h 253973"/>
                <a:gd name="connsiteX2" fmla="*/ 3337021 w 3337021"/>
                <a:gd name="connsiteY2" fmla="*/ 253973 h 253973"/>
                <a:gd name="connsiteX3" fmla="*/ 0 w 3337021"/>
                <a:gd name="connsiteY3" fmla="*/ 253973 h 25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3">
                  <a:moveTo>
                    <a:pt x="0" y="0"/>
                  </a:moveTo>
                  <a:lnTo>
                    <a:pt x="3337021" y="0"/>
                  </a:lnTo>
                  <a:lnTo>
                    <a:pt x="3337021" y="253973"/>
                  </a:lnTo>
                  <a:lnTo>
                    <a:pt x="0" y="253973"/>
                  </a:lnTo>
                  <a:close/>
                </a:path>
              </a:pathLst>
            </a:cu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0DA76578-2678-4F33-88C5-48C38A18A7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92389"/>
            <a:stretch>
              <a:fillRect/>
            </a:stretch>
          </p:blipFill>
          <p:spPr>
            <a:xfrm>
              <a:off x="3311353" y="14568156"/>
              <a:ext cx="3337021" cy="253972"/>
            </a:xfrm>
            <a:custGeom>
              <a:avLst/>
              <a:gdLst>
                <a:gd name="connsiteX0" fmla="*/ 0 w 3337021"/>
                <a:gd name="connsiteY0" fmla="*/ 0 h 253972"/>
                <a:gd name="connsiteX1" fmla="*/ 3337021 w 3337021"/>
                <a:gd name="connsiteY1" fmla="*/ 0 h 253972"/>
                <a:gd name="connsiteX2" fmla="*/ 3337021 w 3337021"/>
                <a:gd name="connsiteY2" fmla="*/ 253972 h 253972"/>
                <a:gd name="connsiteX3" fmla="*/ 0 w 3337021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2">
                  <a:moveTo>
                    <a:pt x="0" y="0"/>
                  </a:moveTo>
                  <a:lnTo>
                    <a:pt x="3337021" y="0"/>
                  </a:lnTo>
                  <a:lnTo>
                    <a:pt x="3337021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9567012B-4F69-43C5-91D6-81AD504F08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92389"/>
            <a:stretch>
              <a:fillRect/>
            </a:stretch>
          </p:blipFill>
          <p:spPr>
            <a:xfrm>
              <a:off x="6605762" y="14568156"/>
              <a:ext cx="3337021" cy="253972"/>
            </a:xfrm>
            <a:custGeom>
              <a:avLst/>
              <a:gdLst>
                <a:gd name="connsiteX0" fmla="*/ 0 w 3337021"/>
                <a:gd name="connsiteY0" fmla="*/ 0 h 253972"/>
                <a:gd name="connsiteX1" fmla="*/ 3337021 w 3337021"/>
                <a:gd name="connsiteY1" fmla="*/ 0 h 253972"/>
                <a:gd name="connsiteX2" fmla="*/ 3337021 w 3337021"/>
                <a:gd name="connsiteY2" fmla="*/ 253972 h 253972"/>
                <a:gd name="connsiteX3" fmla="*/ 0 w 3337021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7021" h="253972">
                  <a:moveTo>
                    <a:pt x="0" y="0"/>
                  </a:moveTo>
                  <a:lnTo>
                    <a:pt x="3337021" y="0"/>
                  </a:lnTo>
                  <a:lnTo>
                    <a:pt x="3337021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303A7A82-1A6A-449B-B860-9AD729144C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31829" b="92389"/>
            <a:stretch>
              <a:fillRect/>
            </a:stretch>
          </p:blipFill>
          <p:spPr>
            <a:xfrm>
              <a:off x="9917115" y="14568156"/>
              <a:ext cx="2274885" cy="253972"/>
            </a:xfrm>
            <a:custGeom>
              <a:avLst/>
              <a:gdLst>
                <a:gd name="connsiteX0" fmla="*/ 0 w 2274885"/>
                <a:gd name="connsiteY0" fmla="*/ 0 h 253972"/>
                <a:gd name="connsiteX1" fmla="*/ 2274885 w 2274885"/>
                <a:gd name="connsiteY1" fmla="*/ 0 h 253972"/>
                <a:gd name="connsiteX2" fmla="*/ 2274885 w 2274885"/>
                <a:gd name="connsiteY2" fmla="*/ 253972 h 253972"/>
                <a:gd name="connsiteX3" fmla="*/ 0 w 2274885"/>
                <a:gd name="connsiteY3" fmla="*/ 253972 h 25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253972">
                  <a:moveTo>
                    <a:pt x="0" y="0"/>
                  </a:moveTo>
                  <a:lnTo>
                    <a:pt x="2274885" y="0"/>
                  </a:lnTo>
                  <a:lnTo>
                    <a:pt x="2274885" y="253972"/>
                  </a:lnTo>
                  <a:lnTo>
                    <a:pt x="0" y="253972"/>
                  </a:lnTo>
                  <a:close/>
                </a:path>
              </a:pathLst>
            </a:custGeom>
          </p:spPr>
        </p:pic>
        <p:grpSp>
          <p:nvGrpSpPr>
            <p:cNvPr id="56" name="Rectangle 1">
              <a:extLst>
                <a:ext uri="{FF2B5EF4-FFF2-40B4-BE49-F238E27FC236}">
                  <a16:creationId xmlns:a16="http://schemas.microsoft.com/office/drawing/2014/main" id="{0111E63D-01DF-4B01-8324-4C758862C6DA}"/>
                </a:ext>
              </a:extLst>
            </p:cNvPr>
            <p:cNvGrpSpPr/>
            <p:nvPr userDrawn="1"/>
          </p:nvGrpSpPr>
          <p:grpSpPr>
            <a:xfrm>
              <a:off x="0" y="7964129"/>
              <a:ext cx="6648374" cy="3337021"/>
              <a:chOff x="0" y="0"/>
              <a:chExt cx="6648374" cy="3337021"/>
            </a:xfrm>
          </p:grpSpPr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418FB497-B95F-4B3C-A293-3D0D12BFC61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3337021" cy="3337021"/>
              </a:xfrm>
              <a:prstGeom prst="rect">
                <a:avLst/>
              </a:prstGeom>
            </p:spPr>
          </p:pic>
          <p:pic>
            <p:nvPicPr>
              <p:cNvPr id="62" name="Graphic 61">
                <a:extLst>
                  <a:ext uri="{FF2B5EF4-FFF2-40B4-BE49-F238E27FC236}">
                    <a16:creationId xmlns:a16="http://schemas.microsoft.com/office/drawing/2014/main" id="{703F74E5-A7A3-4EAB-AF61-2538630F643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311353" y="0"/>
                <a:ext cx="3337021" cy="3337021"/>
              </a:xfrm>
              <a:prstGeom prst="rect">
                <a:avLst/>
              </a:prstGeom>
            </p:spPr>
          </p:pic>
        </p:grpSp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8072EC3A-AD32-4D2A-8946-1F5C90EFD1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05762" y="7964129"/>
              <a:ext cx="3337021" cy="3337021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F9294B6B-7F7C-4738-A75D-96A67B4418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31829"/>
            <a:stretch>
              <a:fillRect/>
            </a:stretch>
          </p:blipFill>
          <p:spPr>
            <a:xfrm>
              <a:off x="9917115" y="7964129"/>
              <a:ext cx="2274885" cy="3337021"/>
            </a:xfrm>
            <a:custGeom>
              <a:avLst/>
              <a:gdLst>
                <a:gd name="connsiteX0" fmla="*/ 0 w 2274885"/>
                <a:gd name="connsiteY0" fmla="*/ 0 h 3337021"/>
                <a:gd name="connsiteX1" fmla="*/ 2274885 w 2274885"/>
                <a:gd name="connsiteY1" fmla="*/ 0 h 3337021"/>
                <a:gd name="connsiteX2" fmla="*/ 2274885 w 2274885"/>
                <a:gd name="connsiteY2" fmla="*/ 3337021 h 3337021"/>
                <a:gd name="connsiteX3" fmla="*/ 0 w 2274885"/>
                <a:gd name="connsiteY3" fmla="*/ 3337021 h 333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885" h="3337021">
                  <a:moveTo>
                    <a:pt x="0" y="0"/>
                  </a:moveTo>
                  <a:lnTo>
                    <a:pt x="2274885" y="0"/>
                  </a:lnTo>
                  <a:lnTo>
                    <a:pt x="2274885" y="3337021"/>
                  </a:lnTo>
                  <a:lnTo>
                    <a:pt x="0" y="3337021"/>
                  </a:lnTo>
                  <a:close/>
                </a:path>
              </a:pathLst>
            </a:cu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B11B6E5-83C7-404D-82A6-610F43992FCF}"/>
              </a:ext>
            </a:extLst>
          </p:cNvPr>
          <p:cNvSpPr>
            <a:spLocks/>
          </p:cNvSpPr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68000"/>
                </a:schemeClr>
              </a:gs>
            </a:gsLst>
            <a:lin ang="13800000" scaled="0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7F457-6247-44D4-BE3C-66B191EB78D5}"/>
              </a:ext>
            </a:extLst>
          </p:cNvPr>
          <p:cNvSpPr txBox="1"/>
          <p:nvPr userDrawn="1"/>
        </p:nvSpPr>
        <p:spPr>
          <a:xfrm>
            <a:off x="3860800" y="2367171"/>
            <a:ext cx="4470400" cy="2123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 rtl="0"/>
            <a:r>
              <a:rPr lang="en-US" sz="13800" b="1">
                <a:solidFill>
                  <a:schemeClr val="accent4"/>
                </a:solidFill>
                <a:latin typeface="Georgia" panose="02040502050405020303" pitchFamily="18" charset="0"/>
              </a:rPr>
              <a:t>END</a:t>
            </a: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5" y="6514142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 err="1"/>
              <a:t>Источник</a:t>
            </a:r>
            <a:r>
              <a:rPr lang="en-US" sz="800"/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3791374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7F5254C-849A-1E86-15C0-79D42D5C38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3719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7F5254C-849A-1E86-15C0-79D42D5C38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F65D8DF-2F87-41A3-8853-1CB0E14A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534400"/>
            <a:ext cx="11082528" cy="369332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AF9B4-EBE0-4C8B-BF32-690CB74D8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96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26" Type="http://schemas.openxmlformats.org/officeDocument/2006/relationships/tags" Target="../tags/tag14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9.xml"/><Relationship Id="rId34" Type="http://schemas.openxmlformats.org/officeDocument/2006/relationships/tags" Target="../tags/tag2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5" Type="http://schemas.openxmlformats.org/officeDocument/2006/relationships/tags" Target="../tags/tag13.xml"/><Relationship Id="rId33" Type="http://schemas.openxmlformats.org/officeDocument/2006/relationships/tags" Target="../tags/tag21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29" Type="http://schemas.openxmlformats.org/officeDocument/2006/relationships/tags" Target="../tags/tag1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2.xml"/><Relationship Id="rId32" Type="http://schemas.openxmlformats.org/officeDocument/2006/relationships/tags" Target="../tags/tag20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23" Type="http://schemas.openxmlformats.org/officeDocument/2006/relationships/tags" Target="../tags/tag11.xml"/><Relationship Id="rId28" Type="http://schemas.openxmlformats.org/officeDocument/2006/relationships/tags" Target="../tags/tag16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31" Type="http://schemas.openxmlformats.org/officeDocument/2006/relationships/tags" Target="../tags/tag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Relationship Id="rId22" Type="http://schemas.openxmlformats.org/officeDocument/2006/relationships/tags" Target="../tags/tag10.xml"/><Relationship Id="rId27" Type="http://schemas.openxmlformats.org/officeDocument/2006/relationships/tags" Target="../tags/tag15.xml"/><Relationship Id="rId30" Type="http://schemas.openxmlformats.org/officeDocument/2006/relationships/tags" Target="../tags/tag18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34572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413" imgH="416" progId="TCLayout.ActiveDocument.1">
                  <p:embed/>
                </p:oleObj>
              </mc:Choice>
              <mc:Fallback>
                <p:oleObj name="think-cell Slide" r:id="rId3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54736" y="165068"/>
            <a:ext cx="11082528" cy="73866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3754105" y="21717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/>
              <a:t>Above Chart Exhibit Title</a:t>
            </a:r>
            <a:br>
              <a:rPr lang="en-US"/>
            </a:br>
            <a:r>
              <a:rPr lang="en-US" b="0"/>
              <a:t>Units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19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 sz="800">
                <a:solidFill>
                  <a:schemeClr val="tx1"/>
                </a:solidFill>
              </a:rPr>
              <a:t>Source</a:t>
            </a:r>
            <a:r>
              <a:rPr lang="en-US" sz="800"/>
              <a:t>: …</a:t>
            </a:r>
          </a:p>
        </p:txBody>
      </p:sp>
      <p:grpSp>
        <p:nvGrpSpPr>
          <p:cNvPr id="151" name="MoonEmpty" hidden="1">
            <a:extLst>
              <a:ext uri="{FF2B5EF4-FFF2-40B4-BE49-F238E27FC236}">
                <a16:creationId xmlns:a16="http://schemas.microsoft.com/office/drawing/2014/main" id="{2F753080-3BFC-45F3-88AB-4A3B00E033C4}"/>
              </a:ext>
            </a:extLst>
          </p:cNvPr>
          <p:cNvGrpSpPr>
            <a:grpSpLocks/>
          </p:cNvGrpSpPr>
          <p:nvPr userDrawn="1">
            <p:custDataLst>
              <p:tags r:id="rId20"/>
            </p:custDataLst>
          </p:nvPr>
        </p:nvGrpSpPr>
        <p:grpSpPr>
          <a:xfrm>
            <a:off x="4624301" y="4029356"/>
            <a:ext cx="252000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0D06ABC0-BED2-49D7-B91B-3BD1CCF4D8BE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53" name="Arc 152" hidden="1">
              <a:extLst>
                <a:ext uri="{FF2B5EF4-FFF2-40B4-BE49-F238E27FC236}">
                  <a16:creationId xmlns:a16="http://schemas.microsoft.com/office/drawing/2014/main" id="{C470DE01-97F6-453C-BD86-07C2B3D33B2E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grpFill/>
            <a:ln w="6350" cap="sq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21"/>
            </p:custDataLst>
          </p:nvPr>
        </p:nvGrpSpPr>
        <p:grpSpPr>
          <a:xfrm>
            <a:off x="5026732" y="4029356"/>
            <a:ext cx="252000" cy="252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5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22"/>
            </p:custDataLst>
          </p:nvPr>
        </p:nvGrpSpPr>
        <p:grpSpPr>
          <a:xfrm>
            <a:off x="5429163" y="4029356"/>
            <a:ext cx="252000" cy="252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5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5831594" y="4029356"/>
            <a:ext cx="252000" cy="252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5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6234026" y="4029356"/>
            <a:ext cx="252000" cy="252000"/>
            <a:chOff x="762000" y="1270000"/>
            <a:chExt cx="254000" cy="254000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grpFill/>
            <a:ln w="6350" cap="sq" cmpd="sng" algn="ctr">
              <a:noFill/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1D9F4D12-1DFF-41B1-B819-B21105F3C5FD}"/>
              </a:ext>
            </a:extLst>
          </p:cNvPr>
          <p:cNvGrpSpPr/>
          <p:nvPr userDrawn="1"/>
        </p:nvGrpSpPr>
        <p:grpSpPr>
          <a:xfrm>
            <a:off x="-497642" y="-473349"/>
            <a:ext cx="12134906" cy="6740642"/>
            <a:chOff x="-497642" y="-473349"/>
            <a:chExt cx="12134906" cy="6740642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9DD1189C-DDE8-45B3-ABD7-88E0E80AC195}"/>
                </a:ext>
              </a:extLst>
            </p:cNvPr>
            <p:cNvSpPr>
              <a:spLocks/>
            </p:cNvSpPr>
            <p:nvPr userDrawn="1"/>
          </p:nvSpPr>
          <p:spPr>
            <a:xfrm>
              <a:off x="-497642" y="1265979"/>
              <a:ext cx="364936" cy="5001314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>
                  <a:solidFill>
                    <a:schemeClr val="bg1"/>
                  </a:solidFill>
                </a:rPr>
                <a:t>Work area</a:t>
              </a: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03050732-7AD1-4473-B4C9-3C5B1492E16F}"/>
                </a:ext>
              </a:extLst>
            </p:cNvPr>
            <p:cNvSpPr>
              <a:spLocks/>
            </p:cNvSpPr>
            <p:nvPr userDrawn="1"/>
          </p:nvSpPr>
          <p:spPr>
            <a:xfrm>
              <a:off x="554736" y="-473349"/>
              <a:ext cx="11082528" cy="338554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>
                  <a:solidFill>
                    <a:schemeClr val="bg1"/>
                  </a:solidFill>
                </a:rPr>
                <a:t>Work area</a:t>
              </a:r>
            </a:p>
          </p:txBody>
        </p:sp>
      </p:grpSp>
      <p:sp>
        <p:nvSpPr>
          <p:cNvPr id="38" name="Sticker" hidden="1">
            <a:extLst>
              <a:ext uri="{FF2B5EF4-FFF2-40B4-BE49-F238E27FC236}">
                <a16:creationId xmlns:a16="http://schemas.microsoft.com/office/drawing/2014/main" id="{1A105216-11F0-454B-81B3-42715382498C}"/>
              </a:ext>
            </a:extLst>
          </p:cNvPr>
          <p:cNvSpPr txBox="1"/>
          <p:nvPr userDrawn="1"/>
        </p:nvSpPr>
        <p:spPr>
          <a:xfrm>
            <a:off x="7793929" y="0"/>
            <a:ext cx="4398071" cy="216513"/>
          </a:xfrm>
          <a:prstGeom prst="rect">
            <a:avLst/>
          </a:prstGeom>
          <a:gradFill>
            <a:gsLst>
              <a:gs pos="75000">
                <a:schemeClr val="accent5"/>
              </a:gs>
              <a:gs pos="25000">
                <a:schemeClr val="bg2">
                  <a:alpha val="0"/>
                </a:schemeClr>
              </a:gs>
            </a:gsLst>
            <a:lin ang="19200000" scaled="0"/>
          </a:gradFill>
          <a:ln w="6350">
            <a:noFill/>
            <a:miter lim="800000"/>
          </a:ln>
        </p:spPr>
        <p:txBody>
          <a:bodyPr vert="horz" wrap="square" lIns="0" tIns="0" rIns="540000" bIns="0" rtlCol="0" anchor="ctr" anchorCtr="0"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algn="r" rtl="0"/>
            <a:r>
              <a:rPr lang="en-US" b="0">
                <a:latin typeface="+mn-lt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158285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4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400" b="1" kern="1200" spc="0" baseline="0" dirty="0">
          <a:ln w="6350" cap="flat">
            <a:noFill/>
            <a:miter lim="800000"/>
          </a:ln>
          <a:solidFill>
            <a:srgbClr val="191C1E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rgbClr val="191C1E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rgbClr val="191C1E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rgbClr val="191C1E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rgbClr val="191C1E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rgbClr val="191C1E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07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10" Type="http://schemas.openxmlformats.org/officeDocument/2006/relationships/image" Target="../media/image5.emf"/><Relationship Id="rId4" Type="http://schemas.openxmlformats.org/officeDocument/2006/relationships/tags" Target="../tags/tag108.xml"/><Relationship Id="rId9" Type="http://schemas.openxmlformats.org/officeDocument/2006/relationships/oleObject" Target="../embeddings/oleObject14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23.xml"/><Relationship Id="rId18" Type="http://schemas.openxmlformats.org/officeDocument/2006/relationships/tags" Target="../tags/tag128.xml"/><Relationship Id="rId26" Type="http://schemas.openxmlformats.org/officeDocument/2006/relationships/tags" Target="../tags/tag136.xml"/><Relationship Id="rId39" Type="http://schemas.openxmlformats.org/officeDocument/2006/relationships/tags" Target="../tags/tag149.xml"/><Relationship Id="rId21" Type="http://schemas.openxmlformats.org/officeDocument/2006/relationships/tags" Target="../tags/tag131.xml"/><Relationship Id="rId34" Type="http://schemas.openxmlformats.org/officeDocument/2006/relationships/tags" Target="../tags/tag144.xml"/><Relationship Id="rId42" Type="http://schemas.openxmlformats.org/officeDocument/2006/relationships/slideLayout" Target="../slideLayouts/slideLayout2.xml"/><Relationship Id="rId47" Type="http://schemas.openxmlformats.org/officeDocument/2006/relationships/image" Target="../media/image10.svg"/><Relationship Id="rId50" Type="http://schemas.openxmlformats.org/officeDocument/2006/relationships/image" Target="../media/image13.svg"/><Relationship Id="rId55" Type="http://schemas.openxmlformats.org/officeDocument/2006/relationships/image" Target="../media/image18.svg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6" Type="http://schemas.openxmlformats.org/officeDocument/2006/relationships/tags" Target="../tags/tag126.xml"/><Relationship Id="rId29" Type="http://schemas.openxmlformats.org/officeDocument/2006/relationships/tags" Target="../tags/tag139.xml"/><Relationship Id="rId11" Type="http://schemas.openxmlformats.org/officeDocument/2006/relationships/tags" Target="../tags/tag121.xml"/><Relationship Id="rId24" Type="http://schemas.openxmlformats.org/officeDocument/2006/relationships/tags" Target="../tags/tag134.xml"/><Relationship Id="rId32" Type="http://schemas.openxmlformats.org/officeDocument/2006/relationships/tags" Target="../tags/tag142.xml"/><Relationship Id="rId37" Type="http://schemas.openxmlformats.org/officeDocument/2006/relationships/tags" Target="../tags/tag147.xml"/><Relationship Id="rId40" Type="http://schemas.openxmlformats.org/officeDocument/2006/relationships/tags" Target="../tags/tag150.xml"/><Relationship Id="rId45" Type="http://schemas.openxmlformats.org/officeDocument/2006/relationships/image" Target="../media/image8.emf"/><Relationship Id="rId53" Type="http://schemas.openxmlformats.org/officeDocument/2006/relationships/image" Target="../media/image16.svg"/><Relationship Id="rId58" Type="http://schemas.openxmlformats.org/officeDocument/2006/relationships/image" Target="../media/image21.svg"/><Relationship Id="rId5" Type="http://schemas.openxmlformats.org/officeDocument/2006/relationships/tags" Target="../tags/tag115.xml"/><Relationship Id="rId19" Type="http://schemas.openxmlformats.org/officeDocument/2006/relationships/tags" Target="../tags/tag129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tags" Target="../tags/tag124.xml"/><Relationship Id="rId22" Type="http://schemas.openxmlformats.org/officeDocument/2006/relationships/tags" Target="../tags/tag132.xml"/><Relationship Id="rId27" Type="http://schemas.openxmlformats.org/officeDocument/2006/relationships/tags" Target="../tags/tag137.xml"/><Relationship Id="rId30" Type="http://schemas.openxmlformats.org/officeDocument/2006/relationships/tags" Target="../tags/tag140.xml"/><Relationship Id="rId35" Type="http://schemas.openxmlformats.org/officeDocument/2006/relationships/tags" Target="../tags/tag145.xml"/><Relationship Id="rId43" Type="http://schemas.openxmlformats.org/officeDocument/2006/relationships/notesSlide" Target="../notesSlides/notesSlide2.xml"/><Relationship Id="rId48" Type="http://schemas.openxmlformats.org/officeDocument/2006/relationships/image" Target="../media/image11.svg"/><Relationship Id="rId56" Type="http://schemas.openxmlformats.org/officeDocument/2006/relationships/image" Target="../media/image19.svg"/><Relationship Id="rId8" Type="http://schemas.openxmlformats.org/officeDocument/2006/relationships/tags" Target="../tags/tag118.xml"/><Relationship Id="rId51" Type="http://schemas.openxmlformats.org/officeDocument/2006/relationships/image" Target="../media/image14.svg"/><Relationship Id="rId3" Type="http://schemas.openxmlformats.org/officeDocument/2006/relationships/tags" Target="../tags/tag113.xml"/><Relationship Id="rId12" Type="http://schemas.openxmlformats.org/officeDocument/2006/relationships/tags" Target="../tags/tag122.xml"/><Relationship Id="rId17" Type="http://schemas.openxmlformats.org/officeDocument/2006/relationships/tags" Target="../tags/tag127.xml"/><Relationship Id="rId25" Type="http://schemas.openxmlformats.org/officeDocument/2006/relationships/tags" Target="../tags/tag135.xml"/><Relationship Id="rId33" Type="http://schemas.openxmlformats.org/officeDocument/2006/relationships/tags" Target="../tags/tag143.xml"/><Relationship Id="rId38" Type="http://schemas.openxmlformats.org/officeDocument/2006/relationships/tags" Target="../tags/tag148.xml"/><Relationship Id="rId46" Type="http://schemas.openxmlformats.org/officeDocument/2006/relationships/image" Target="../media/image9.svg"/><Relationship Id="rId20" Type="http://schemas.openxmlformats.org/officeDocument/2006/relationships/tags" Target="../tags/tag130.xml"/><Relationship Id="rId41" Type="http://schemas.openxmlformats.org/officeDocument/2006/relationships/tags" Target="../tags/tag151.xml"/><Relationship Id="rId54" Type="http://schemas.openxmlformats.org/officeDocument/2006/relationships/image" Target="../media/image17.svg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5" Type="http://schemas.openxmlformats.org/officeDocument/2006/relationships/tags" Target="../tags/tag125.xml"/><Relationship Id="rId23" Type="http://schemas.openxmlformats.org/officeDocument/2006/relationships/tags" Target="../tags/tag133.xml"/><Relationship Id="rId28" Type="http://schemas.openxmlformats.org/officeDocument/2006/relationships/tags" Target="../tags/tag138.xml"/><Relationship Id="rId36" Type="http://schemas.openxmlformats.org/officeDocument/2006/relationships/tags" Target="../tags/tag146.xml"/><Relationship Id="rId49" Type="http://schemas.openxmlformats.org/officeDocument/2006/relationships/image" Target="../media/image12.svg"/><Relationship Id="rId57" Type="http://schemas.openxmlformats.org/officeDocument/2006/relationships/image" Target="../media/image20.svg"/><Relationship Id="rId10" Type="http://schemas.openxmlformats.org/officeDocument/2006/relationships/tags" Target="../tags/tag120.xml"/><Relationship Id="rId31" Type="http://schemas.openxmlformats.org/officeDocument/2006/relationships/tags" Target="../tags/tag141.xml"/><Relationship Id="rId44" Type="http://schemas.openxmlformats.org/officeDocument/2006/relationships/oleObject" Target="../embeddings/oleObject15.bin"/><Relationship Id="rId52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64.xml"/><Relationship Id="rId18" Type="http://schemas.openxmlformats.org/officeDocument/2006/relationships/tags" Target="../tags/tag169.xml"/><Relationship Id="rId26" Type="http://schemas.openxmlformats.org/officeDocument/2006/relationships/tags" Target="../tags/tag177.xml"/><Relationship Id="rId3" Type="http://schemas.openxmlformats.org/officeDocument/2006/relationships/tags" Target="../tags/tag154.xml"/><Relationship Id="rId21" Type="http://schemas.openxmlformats.org/officeDocument/2006/relationships/tags" Target="../tags/tag172.xml"/><Relationship Id="rId34" Type="http://schemas.openxmlformats.org/officeDocument/2006/relationships/chart" Target="../charts/chart1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5" Type="http://schemas.openxmlformats.org/officeDocument/2006/relationships/tags" Target="../tags/tag176.xml"/><Relationship Id="rId33" Type="http://schemas.openxmlformats.org/officeDocument/2006/relationships/image" Target="../media/image22.emf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20" Type="http://schemas.openxmlformats.org/officeDocument/2006/relationships/tags" Target="../tags/tag171.xml"/><Relationship Id="rId29" Type="http://schemas.openxmlformats.org/officeDocument/2006/relationships/tags" Target="../tags/tag180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24" Type="http://schemas.openxmlformats.org/officeDocument/2006/relationships/tags" Target="../tags/tag175.xml"/><Relationship Id="rId32" Type="http://schemas.openxmlformats.org/officeDocument/2006/relationships/oleObject" Target="../embeddings/oleObject16.bin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23" Type="http://schemas.openxmlformats.org/officeDocument/2006/relationships/tags" Target="../tags/tag174.xml"/><Relationship Id="rId28" Type="http://schemas.openxmlformats.org/officeDocument/2006/relationships/tags" Target="../tags/tag179.xml"/><Relationship Id="rId10" Type="http://schemas.openxmlformats.org/officeDocument/2006/relationships/tags" Target="../tags/tag161.xml"/><Relationship Id="rId19" Type="http://schemas.openxmlformats.org/officeDocument/2006/relationships/tags" Target="../tags/tag170.xml"/><Relationship Id="rId31" Type="http://schemas.openxmlformats.org/officeDocument/2006/relationships/slideLayout" Target="../slideLayouts/slideLayout10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Relationship Id="rId22" Type="http://schemas.openxmlformats.org/officeDocument/2006/relationships/tags" Target="../tags/tag173.xml"/><Relationship Id="rId27" Type="http://schemas.openxmlformats.org/officeDocument/2006/relationships/tags" Target="../tags/tag178.xml"/><Relationship Id="rId30" Type="http://schemas.openxmlformats.org/officeDocument/2006/relationships/tags" Target="../tags/tag181.xml"/><Relationship Id="rId8" Type="http://schemas.openxmlformats.org/officeDocument/2006/relationships/tags" Target="../tags/tag1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FC82A3A-0A2D-4C91-9164-E53833C359F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372920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88" progId="TCLayout.ActiveDocument.1">
                  <p:embed/>
                </p:oleObj>
              </mc:Choice>
              <mc:Fallback>
                <p:oleObj name="think-cell Slide" r:id="rId9" imgW="572" imgH="588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FC82A3A-0A2D-4C91-9164-E53833C35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08DE052-9238-470A-B7A3-D8EB461E3CE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Tahoma" panose="020B0604030504040204" pitchFamily="34" charset="0"/>
              <a:sym typeface="Georgia" panose="02040502050405020303" pitchFamily="18" charset="0"/>
            </a:endParaRPr>
          </a:p>
        </p:txBody>
      </p:sp>
      <p:sp>
        <p:nvSpPr>
          <p:cNvPr id="7" name="Documenttype">
            <a:extLst>
              <a:ext uri="{FF2B5EF4-FFF2-40B4-BE49-F238E27FC236}">
                <a16:creationId xmlns:a16="http://schemas.microsoft.com/office/drawing/2014/main" id="{DA858B46-5D1F-EBE1-D8A9-51E5B8C2925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/>
              <a:t>June 2026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88411BE9-77FF-42E6-1F8B-2D95D26AEB2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8977" y="4141454"/>
            <a:ext cx="6578247" cy="27699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/>
              <a:t>Preliminary Results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A5D4630-F7DD-45DE-8B28-13C4C3DDAD2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8977" y="2796048"/>
            <a:ext cx="6578247" cy="123110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/>
          <a:lstStyle/>
          <a:p>
            <a:r>
              <a:rPr lang="en-US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PASHA Bank AI Impact Assessment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589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9A67-D234-7CCA-9F90-715C2FA5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3C1696BB-BC62-8F4C-FC7C-5B135EF9B7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1829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428" imgH="428" progId="TCLayout.ActiveDocument.1">
                  <p:embed/>
                </p:oleObj>
              </mc:Choice>
              <mc:Fallback>
                <p:oleObj name="think-cell Slide" r:id="rId44" imgW="428" imgH="428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3C1696BB-BC62-8F4C-FC7C-5B135EF9B7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" name="Rectangle 352">
            <a:extLst>
              <a:ext uri="{FF2B5EF4-FFF2-40B4-BE49-F238E27FC236}">
                <a16:creationId xmlns:a16="http://schemas.microsoft.com/office/drawing/2014/main" id="{073ABDAF-E9CB-9D39-B6FB-33D0A89C0172}"/>
              </a:ext>
            </a:extLst>
          </p:cNvPr>
          <p:cNvSpPr>
            <a:spLocks/>
          </p:cNvSpPr>
          <p:nvPr/>
        </p:nvSpPr>
        <p:spPr>
          <a:xfrm>
            <a:off x="553972" y="5929500"/>
            <a:ext cx="11082528" cy="236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67891C86-3E22-C686-0D7C-DD1FA92C236F}"/>
              </a:ext>
            </a:extLst>
          </p:cNvPr>
          <p:cNvSpPr>
            <a:spLocks/>
          </p:cNvSpPr>
          <p:nvPr/>
        </p:nvSpPr>
        <p:spPr>
          <a:xfrm>
            <a:off x="553972" y="4222300"/>
            <a:ext cx="11082528" cy="236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820EE6BE-E7D1-3DA8-82DC-9BFBEF0AEB8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>
            <a:noAutofit/>
          </a:bodyPr>
          <a:lstStyle/>
          <a:p>
            <a:r>
              <a:rPr lang="en-US" dirty="0"/>
              <a:t>For each business domain, the business impact is assessed through a bottom-up calculation of underlying value streams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E6B504-D391-FB44-C60B-AE8F982924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Legend1">
            <a:extLst>
              <a:ext uri="{FF2B5EF4-FFF2-40B4-BE49-F238E27FC236}">
                <a16:creationId xmlns:a16="http://schemas.microsoft.com/office/drawing/2014/main" id="{3F993248-81FA-C999-D080-FDDD7B0875B3}"/>
              </a:ext>
            </a:extLst>
          </p:cNvPr>
          <p:cNvSpPr>
            <a:spLocks/>
          </p:cNvSpPr>
          <p:nvPr/>
        </p:nvSpPr>
        <p:spPr>
          <a:xfrm>
            <a:off x="10705806" y="894929"/>
            <a:ext cx="91307" cy="101330"/>
          </a:xfrm>
          <a:prstGeom prst="rect">
            <a:avLst/>
          </a:prstGeom>
          <a:solidFill>
            <a:srgbClr val="1C863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9" name="Legend1">
            <a:extLst>
              <a:ext uri="{FF2B5EF4-FFF2-40B4-BE49-F238E27FC236}">
                <a16:creationId xmlns:a16="http://schemas.microsoft.com/office/drawing/2014/main" id="{A283ABE1-4996-88EB-7512-595E04F12093}"/>
              </a:ext>
            </a:extLst>
          </p:cNvPr>
          <p:cNvSpPr txBox="1"/>
          <p:nvPr/>
        </p:nvSpPr>
        <p:spPr>
          <a:xfrm>
            <a:off x="10844617" y="884039"/>
            <a:ext cx="700513" cy="123111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dirty="0" err="1"/>
              <a:t>Opex</a:t>
            </a:r>
            <a:r>
              <a:rPr lang="en-US" sz="800" dirty="0"/>
              <a:t> reduction</a:t>
            </a:r>
          </a:p>
        </p:txBody>
      </p:sp>
      <p:sp>
        <p:nvSpPr>
          <p:cNvPr id="12" name="RectangleLegend2">
            <a:extLst>
              <a:ext uri="{FF2B5EF4-FFF2-40B4-BE49-F238E27FC236}">
                <a16:creationId xmlns:a16="http://schemas.microsoft.com/office/drawing/2014/main" id="{453373C2-94EC-FADD-0805-A77813491B1A}"/>
              </a:ext>
            </a:extLst>
          </p:cNvPr>
          <p:cNvSpPr>
            <a:spLocks/>
          </p:cNvSpPr>
          <p:nvPr/>
        </p:nvSpPr>
        <p:spPr>
          <a:xfrm>
            <a:off x="10705806" y="1067737"/>
            <a:ext cx="91307" cy="101330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0" name="Legend2">
            <a:extLst>
              <a:ext uri="{FF2B5EF4-FFF2-40B4-BE49-F238E27FC236}">
                <a16:creationId xmlns:a16="http://schemas.microsoft.com/office/drawing/2014/main" id="{2306B192-F0E9-B855-81BC-989047021C51}"/>
              </a:ext>
            </a:extLst>
          </p:cNvPr>
          <p:cNvSpPr txBox="1"/>
          <p:nvPr/>
        </p:nvSpPr>
        <p:spPr>
          <a:xfrm>
            <a:off x="10844617" y="1056847"/>
            <a:ext cx="831959" cy="123111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dirty="0"/>
              <a:t>Revenue increase</a:t>
            </a:r>
          </a:p>
        </p:txBody>
      </p:sp>
      <p:cxnSp>
        <p:nvCxnSpPr>
          <p:cNvPr id="61" name="GreyLineSeparatorStrong 90">
            <a:extLst>
              <a:ext uri="{FF2B5EF4-FFF2-40B4-BE49-F238E27FC236}">
                <a16:creationId xmlns:a16="http://schemas.microsoft.com/office/drawing/2014/main" id="{6F8FBD58-C66D-4DF8-04D3-6AD160902BEA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53972" y="1741943"/>
            <a:ext cx="11082528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2014E301-4B9C-D05B-D035-C197534A6A37}"/>
              </a:ext>
            </a:extLst>
          </p:cNvPr>
          <p:cNvSpPr/>
          <p:nvPr/>
        </p:nvSpPr>
        <p:spPr>
          <a:xfrm>
            <a:off x="2869020" y="1607006"/>
            <a:ext cx="269875" cy="269875"/>
          </a:xfrm>
          <a:prstGeom prst="ellipse">
            <a:avLst/>
          </a:prstGeom>
          <a:solidFill>
            <a:schemeClr val="bg1"/>
          </a:solidFill>
          <a:ln w="6350" cap="sq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AF37AF29-AD32-8CF3-F9EB-FCEDD96E2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874206" y="1612192"/>
            <a:ext cx="259503" cy="259503"/>
          </a:xfrm>
          <a:prstGeom prst="rect">
            <a:avLst/>
          </a:prstGeom>
        </p:spPr>
      </p:pic>
      <p:sp>
        <p:nvSpPr>
          <p:cNvPr id="112" name="Oval 111">
            <a:extLst>
              <a:ext uri="{FF2B5EF4-FFF2-40B4-BE49-F238E27FC236}">
                <a16:creationId xmlns:a16="http://schemas.microsoft.com/office/drawing/2014/main" id="{D6334C21-92B4-D33F-0192-EBA78207CB84}"/>
              </a:ext>
            </a:extLst>
          </p:cNvPr>
          <p:cNvSpPr/>
          <p:nvPr/>
        </p:nvSpPr>
        <p:spPr>
          <a:xfrm>
            <a:off x="6459230" y="1607006"/>
            <a:ext cx="269875" cy="269875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116" name="Graphic 115">
            <a:extLst>
              <a:ext uri="{FF2B5EF4-FFF2-40B4-BE49-F238E27FC236}">
                <a16:creationId xmlns:a16="http://schemas.microsoft.com/office/drawing/2014/main" id="{ADB3B325-7BD3-3714-4CE9-09D45984EE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464416" y="1612192"/>
            <a:ext cx="259503" cy="259503"/>
          </a:xfrm>
          <a:prstGeom prst="rect">
            <a:avLst/>
          </a:prstGeom>
        </p:spPr>
      </p:pic>
      <p:sp>
        <p:nvSpPr>
          <p:cNvPr id="122" name="Oval 121">
            <a:extLst>
              <a:ext uri="{FF2B5EF4-FFF2-40B4-BE49-F238E27FC236}">
                <a16:creationId xmlns:a16="http://schemas.microsoft.com/office/drawing/2014/main" id="{621BF775-094C-4241-8C9E-949B147C410C}"/>
              </a:ext>
            </a:extLst>
          </p:cNvPr>
          <p:cNvSpPr/>
          <p:nvPr/>
        </p:nvSpPr>
        <p:spPr>
          <a:xfrm>
            <a:off x="10041094" y="1607006"/>
            <a:ext cx="269875" cy="269875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125" name="Graphic 124">
            <a:extLst>
              <a:ext uri="{FF2B5EF4-FFF2-40B4-BE49-F238E27FC236}">
                <a16:creationId xmlns:a16="http://schemas.microsoft.com/office/drawing/2014/main" id="{B75C96B6-93B1-3C39-CDA9-2598DA8324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046280" y="1612192"/>
            <a:ext cx="259503" cy="259503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B91A5951-B093-55A7-56EC-61EC0C458AF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226615" y="1338042"/>
            <a:ext cx="3144895" cy="387798"/>
          </a:xfrm>
          <a:prstGeom prst="rect">
            <a:avLst/>
          </a:prstGeom>
        </p:spPr>
        <p:txBody>
          <a:bodyPr vert="horz" wrap="square" lIns="0" tIns="0" rIns="0" bIns="18288" rtlCol="0" anchor="b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Identifies specific AI-driven use cases to be implemented within each domain</a:t>
            </a:r>
            <a:endParaRPr kumimoji="0" lang="en-ZA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cxnSp>
        <p:nvCxnSpPr>
          <p:cNvPr id="252" name="GreyLineSeparatorStrong 90">
            <a:extLst>
              <a:ext uri="{FF2B5EF4-FFF2-40B4-BE49-F238E27FC236}">
                <a16:creationId xmlns:a16="http://schemas.microsoft.com/office/drawing/2014/main" id="{EE22EF3D-CAAC-8AD8-3867-87A1A07626D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53972" y="2284268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GreyLineSeparatorStrong 90">
            <a:extLst>
              <a:ext uri="{FF2B5EF4-FFF2-40B4-BE49-F238E27FC236}">
                <a16:creationId xmlns:a16="http://schemas.microsoft.com/office/drawing/2014/main" id="{0EDEF16E-8B1A-A09C-E3FC-12CC358EB810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53972" y="2651869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GreyLineSeparatorStrong 90">
            <a:extLst>
              <a:ext uri="{FF2B5EF4-FFF2-40B4-BE49-F238E27FC236}">
                <a16:creationId xmlns:a16="http://schemas.microsoft.com/office/drawing/2014/main" id="{FA11BBDC-6103-AA6B-7EAC-C34A0A987196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553972" y="3019470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GreyLineSeparatorStrong 90">
            <a:extLst>
              <a:ext uri="{FF2B5EF4-FFF2-40B4-BE49-F238E27FC236}">
                <a16:creationId xmlns:a16="http://schemas.microsoft.com/office/drawing/2014/main" id="{3A20AF68-F403-AE51-5EC3-6791B7F155CB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553972" y="3487098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GreyLineSeparatorStrong 90">
            <a:extLst>
              <a:ext uri="{FF2B5EF4-FFF2-40B4-BE49-F238E27FC236}">
                <a16:creationId xmlns:a16="http://schemas.microsoft.com/office/drawing/2014/main" id="{29CE5C6A-A599-CB2B-E5E3-7BF28B68EF4F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553972" y="3854699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GreyLineSeparatorStrong 90">
            <a:extLst>
              <a:ext uri="{FF2B5EF4-FFF2-40B4-BE49-F238E27FC236}">
                <a16:creationId xmlns:a16="http://schemas.microsoft.com/office/drawing/2014/main" id="{2CC16FD1-1544-9962-20CB-826E6B5AA87E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553972" y="4826697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GreyLineSeparatorStrong 90">
            <a:extLst>
              <a:ext uri="{FF2B5EF4-FFF2-40B4-BE49-F238E27FC236}">
                <a16:creationId xmlns:a16="http://schemas.microsoft.com/office/drawing/2014/main" id="{A35DCE04-0006-BB7A-7C84-D0D825AF7867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553972" y="5194298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GreyLineSeparatorStrong 90">
            <a:extLst>
              <a:ext uri="{FF2B5EF4-FFF2-40B4-BE49-F238E27FC236}">
                <a16:creationId xmlns:a16="http://schemas.microsoft.com/office/drawing/2014/main" id="{776E6390-9E92-B5EA-8375-4FABCB13B4CC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553972" y="5561899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GreyLineSeparatorStrong 90">
            <a:extLst>
              <a:ext uri="{FF2B5EF4-FFF2-40B4-BE49-F238E27FC236}">
                <a16:creationId xmlns:a16="http://schemas.microsoft.com/office/drawing/2014/main" id="{3554A6B3-914C-9F84-3902-F4077A13CFF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553972" y="4459096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GreyLineSeparatorStrong 90">
            <a:extLst>
              <a:ext uri="{FF2B5EF4-FFF2-40B4-BE49-F238E27FC236}">
                <a16:creationId xmlns:a16="http://schemas.microsoft.com/office/drawing/2014/main" id="{456EF786-BA85-6964-BCB5-FB043E6293DB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553972" y="4222300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0AB5F9-F9CE-E5DA-C0A4-B33A0C02E93C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553972" y="1153376"/>
            <a:ext cx="2227328" cy="572464"/>
          </a:xfrm>
          <a:prstGeom prst="rect">
            <a:avLst/>
          </a:prstGeom>
        </p:spPr>
        <p:txBody>
          <a:bodyPr vert="horz" wrap="square" lIns="0" tIns="0" rIns="0" bIns="18288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Defines key domains and establishes the OPEX/revenue base for impact calculation</a:t>
            </a:r>
            <a:endParaRPr kumimoji="0" lang="en-ZA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cxnSp>
        <p:nvCxnSpPr>
          <p:cNvPr id="313" name="GreyLineSeparatorStrong 90">
            <a:extLst>
              <a:ext uri="{FF2B5EF4-FFF2-40B4-BE49-F238E27FC236}">
                <a16:creationId xmlns:a16="http://schemas.microsoft.com/office/drawing/2014/main" id="{294FAD15-E6EC-CC37-6141-60C92174FD9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>
          <a:xfrm>
            <a:off x="553972" y="5929500"/>
            <a:ext cx="11082528" cy="0"/>
          </a:xfrm>
          <a:prstGeom prst="straightConnector1">
            <a:avLst/>
          </a:prstGeom>
          <a:ln w="635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GreyLineSeparatorStrong 90">
            <a:extLst>
              <a:ext uri="{FF2B5EF4-FFF2-40B4-BE49-F238E27FC236}">
                <a16:creationId xmlns:a16="http://schemas.microsoft.com/office/drawing/2014/main" id="{E2E8B9F9-C540-9DB8-2C4A-37AEC4F4D2CE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>
          <a:xfrm>
            <a:off x="553972" y="6166296"/>
            <a:ext cx="11082528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44B6244-CBB9-3942-5A51-D6C20785CCB8}"/>
              </a:ext>
            </a:extLst>
          </p:cNvPr>
          <p:cNvCxnSpPr>
            <a:cxnSpLocks/>
          </p:cNvCxnSpPr>
          <p:nvPr/>
        </p:nvCxnSpPr>
        <p:spPr>
          <a:xfrm>
            <a:off x="9597153" y="1286855"/>
            <a:ext cx="0" cy="826808"/>
          </a:xfrm>
          <a:prstGeom prst="line">
            <a:avLst/>
          </a:prstGeom>
          <a:ln w="6350" cap="flat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ACE53860-9AFE-A3C7-FC9C-2E56FC913639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6816825" y="1153376"/>
            <a:ext cx="3300467" cy="572464"/>
          </a:xfrm>
          <a:prstGeom prst="rect">
            <a:avLst/>
          </a:prstGeom>
        </p:spPr>
        <p:txBody>
          <a:bodyPr vert="horz" wrap="square" lIns="0" tIns="0" rIns="0" bIns="18288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US" sz="1200" b="1" dirty="0">
                <a:latin typeface="Arial"/>
                <a:sym typeface="Aptos Display" panose="020B0004020202020204" pitchFamily="34" charset="0"/>
              </a:rPr>
              <a:t>Assesses the potential for cost reduction or revenue uplift through key performance drivers, </a:t>
            </a:r>
            <a:r>
              <a:rPr lang="en-US" sz="1200" i="1" dirty="0">
                <a:latin typeface="Arial"/>
                <a:sym typeface="Aptos Display" panose="020B0004020202020204" pitchFamily="34" charset="0"/>
              </a:rPr>
              <a:t>optimization %</a:t>
            </a:r>
            <a:endParaRPr kumimoji="0" lang="en-ZA" sz="120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AABC09F-DF97-590D-AC9C-26938B16CFC2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>
          <a:xfrm>
            <a:off x="10562606" y="1368819"/>
            <a:ext cx="1073894" cy="357021"/>
          </a:xfrm>
          <a:prstGeom prst="rect">
            <a:avLst/>
          </a:prstGeom>
        </p:spPr>
        <p:txBody>
          <a:bodyPr vert="horz" wrap="square" lIns="0" tIns="0" rIns="0" bIns="18288" rtlCol="0" anchor="b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Impact</a:t>
            </a:r>
            <a:br>
              <a:rPr kumimoji="0" lang="en-ZA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</a:br>
            <a:r>
              <a:rPr kumimoji="0" lang="en-ZA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AZN M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F4BE7C5-A05C-7E84-C5E2-B6F39047D5AB}"/>
              </a:ext>
            </a:extLst>
          </p:cNvPr>
          <p:cNvSpPr txBox="1">
            <a:spLocks/>
          </p:cNvSpPr>
          <p:nvPr/>
        </p:nvSpPr>
        <p:spPr>
          <a:xfrm>
            <a:off x="3226615" y="1804233"/>
            <a:ext cx="3144895" cy="45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Coding copilots + AI test/review &amp; GenAI service desk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Intelligent document processing &amp; agentic reconciliation workflows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E00CB9-9152-9CCF-94B0-345981E0361B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961682" y="1804233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341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ptos Display" panose="020B0004020202020204" pitchFamily="34" charset="0"/>
              </a:rPr>
              <a:t>Technology &amp; Operations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5AB5399-7B20-8FB1-1F35-6D7232EFF199}"/>
              </a:ext>
            </a:extLst>
          </p:cNvPr>
          <p:cNvSpPr txBox="1">
            <a:spLocks/>
          </p:cNvSpPr>
          <p:nvPr/>
        </p:nvSpPr>
        <p:spPr>
          <a:xfrm>
            <a:off x="6817360" y="1804233"/>
            <a:ext cx="1996466" cy="45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Time spent on document handling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Developer time spent on code review and debugging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4D7F88-B0AA-6FB1-CC7A-8D9D7A5912E4}"/>
              </a:ext>
            </a:extLst>
          </p:cNvPr>
          <p:cNvSpPr txBox="1">
            <a:spLocks/>
          </p:cNvSpPr>
          <p:nvPr/>
        </p:nvSpPr>
        <p:spPr>
          <a:xfrm>
            <a:off x="8931305" y="1804233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11% – 19%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12EC1E1-47BA-CE65-72F3-C038FDBE52D9}"/>
              </a:ext>
            </a:extLst>
          </p:cNvPr>
          <p:cNvSpPr txBox="1">
            <a:spLocks/>
          </p:cNvSpPr>
          <p:nvPr/>
        </p:nvSpPr>
        <p:spPr>
          <a:xfrm>
            <a:off x="10562606" y="1804233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6.5 – 10.9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213A1410-DCAD-7690-CB28-999309769C7A}"/>
              </a:ext>
            </a:extLst>
          </p:cNvPr>
          <p:cNvSpPr txBox="1">
            <a:spLocks/>
          </p:cNvSpPr>
          <p:nvPr/>
        </p:nvSpPr>
        <p:spPr>
          <a:xfrm>
            <a:off x="3226615" y="2310333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RM copilots (auto briefs, memo/report drafting, NBA)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GenAI research &amp; pitch drafting, lead scoring</a:t>
            </a:r>
          </a:p>
        </p:txBody>
      </p:sp>
      <p:pic>
        <p:nvPicPr>
          <p:cNvPr id="91" name="CustomIcon">
            <a:extLst>
              <a:ext uri="{FF2B5EF4-FFF2-40B4-BE49-F238E27FC236}">
                <a16:creationId xmlns:a16="http://schemas.microsoft.com/office/drawing/2014/main" id="{4EF807CE-9F7C-2DFA-1B60-883EB591E834}"/>
              </a:ext>
            </a:extLst>
          </p:cNvPr>
          <p:cNvPicPr>
            <a:picLocks/>
          </p:cNvPicPr>
          <p:nvPr>
            <p:custDataLst>
              <p:tags r:id="rId2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53972" y="2310333"/>
            <a:ext cx="277957" cy="27795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DDA0DCB-7D00-769D-D379-ADDFB5FB7D45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961682" y="2310333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Front-Office &amp; BD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C9BDDD4-F563-7C1C-DBDD-89D6D6653BC4}"/>
              </a:ext>
            </a:extLst>
          </p:cNvPr>
          <p:cNvSpPr txBox="1">
            <a:spLocks/>
          </p:cNvSpPr>
          <p:nvPr/>
        </p:nvSpPr>
        <p:spPr>
          <a:xfrm>
            <a:off x="6817360" y="2310333"/>
            <a:ext cx="199646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Less RM time spent on meeting prep &amp; account planning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E56F470-6209-481D-7A27-4FF55B28CBF3}"/>
              </a:ext>
            </a:extLst>
          </p:cNvPr>
          <p:cNvSpPr txBox="1">
            <a:spLocks/>
          </p:cNvSpPr>
          <p:nvPr/>
        </p:nvSpPr>
        <p:spPr>
          <a:xfrm>
            <a:off x="8931305" y="2310333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17% – 28%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B0D4B719-F7F5-8FB4-FCC8-0F30BD7982A6}"/>
              </a:ext>
            </a:extLst>
          </p:cNvPr>
          <p:cNvSpPr txBox="1">
            <a:spLocks/>
          </p:cNvSpPr>
          <p:nvPr/>
        </p:nvSpPr>
        <p:spPr>
          <a:xfrm>
            <a:off x="10562606" y="2310333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3.7 – 6.2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B6C114C-BCA1-8162-3492-46C614D5CFD2}"/>
              </a:ext>
            </a:extLst>
          </p:cNvPr>
          <p:cNvSpPr txBox="1">
            <a:spLocks/>
          </p:cNvSpPr>
          <p:nvPr/>
        </p:nvSpPr>
        <p:spPr>
          <a:xfrm>
            <a:off x="3226615" y="2677934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AI screening/monitoring &amp; auto SAR/risk drafting</a:t>
            </a:r>
          </a:p>
          <a:p>
            <a:pPr lvl="1">
              <a:buSzPct val="100000"/>
            </a:pPr>
            <a:r>
              <a:rPr lang="en-US" sz="900" spc="-2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GenAI summarization for workpapers, contracts &amp; research</a:t>
            </a:r>
          </a:p>
        </p:txBody>
      </p:sp>
      <p:pic>
        <p:nvPicPr>
          <p:cNvPr id="93" name="CustomIcon">
            <a:extLst>
              <a:ext uri="{FF2B5EF4-FFF2-40B4-BE49-F238E27FC236}">
                <a16:creationId xmlns:a16="http://schemas.microsoft.com/office/drawing/2014/main" id="{8A571853-341A-D041-5CBD-83A51CF8BB7F}"/>
              </a:ext>
            </a:extLst>
          </p:cNvPr>
          <p:cNvPicPr>
            <a:picLocks/>
          </p:cNvPicPr>
          <p:nvPr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553972" y="2677934"/>
            <a:ext cx="277957" cy="27795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774201A-8497-AB3D-48B0-065E7FDA9415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>
          <a:xfrm>
            <a:off x="961682" y="2677934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Risk, Compliance &amp; Control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C526E5F-EBB5-41C5-88DF-CBCB71AFD915}"/>
              </a:ext>
            </a:extLst>
          </p:cNvPr>
          <p:cNvSpPr txBox="1">
            <a:spLocks/>
          </p:cNvSpPr>
          <p:nvPr/>
        </p:nvSpPr>
        <p:spPr>
          <a:xfrm>
            <a:off x="6817360" y="2677934"/>
            <a:ext cx="199646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Decreased credit-memo, proposal &amp; research time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63FEE34-8A96-6D0C-8E91-3EDBA807B7D9}"/>
              </a:ext>
            </a:extLst>
          </p:cNvPr>
          <p:cNvSpPr txBox="1">
            <a:spLocks/>
          </p:cNvSpPr>
          <p:nvPr/>
        </p:nvSpPr>
        <p:spPr>
          <a:xfrm>
            <a:off x="8931305" y="2677934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17% – 28%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80FC446-818C-A574-E9A9-B7C2F84322FD}"/>
              </a:ext>
            </a:extLst>
          </p:cNvPr>
          <p:cNvSpPr txBox="1">
            <a:spLocks/>
          </p:cNvSpPr>
          <p:nvPr/>
        </p:nvSpPr>
        <p:spPr>
          <a:xfrm>
            <a:off x="10562606" y="2677934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2.4 – 3.9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A957AFA-B50B-36D6-B75A-CF5A38BD546C}"/>
              </a:ext>
            </a:extLst>
          </p:cNvPr>
          <p:cNvSpPr txBox="1">
            <a:spLocks/>
          </p:cNvSpPr>
          <p:nvPr/>
        </p:nvSpPr>
        <p:spPr>
          <a:xfrm>
            <a:off x="3226615" y="3045535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HR assistant (policy Q&amp;A, onboarding) &amp; GenAI content</a:t>
            </a:r>
          </a:p>
          <a:p>
            <a:pPr lvl="1">
              <a:buSzPct val="100000"/>
            </a:pPr>
            <a:r>
              <a:rPr lang="fr-FR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Auto </a:t>
            </a:r>
            <a:r>
              <a:rPr lang="fr-FR" sz="900" dirty="0" err="1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reconciliations</a:t>
            </a:r>
            <a:r>
              <a:rPr lang="fr-FR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/AP &amp; </a:t>
            </a:r>
            <a:r>
              <a:rPr lang="fr-FR" sz="900" dirty="0" err="1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invoice</a:t>
            </a:r>
            <a:r>
              <a:rPr lang="fr-FR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/PO automation</a:t>
            </a:r>
            <a:endParaRPr lang="en-US" sz="900" dirty="0">
              <a:solidFill>
                <a:srgbClr val="000000"/>
              </a:solidFill>
              <a:latin typeface="Arial" panose="020B0604020202020204" pitchFamily="34" charset="0"/>
              <a:cs typeface="+mn-cs"/>
              <a:sym typeface=""/>
            </a:endParaRPr>
          </a:p>
        </p:txBody>
      </p:sp>
      <p:pic>
        <p:nvPicPr>
          <p:cNvPr id="96" name="CustomIcon">
            <a:extLst>
              <a:ext uri="{FF2B5EF4-FFF2-40B4-BE49-F238E27FC236}">
                <a16:creationId xmlns:a16="http://schemas.microsoft.com/office/drawing/2014/main" id="{71332D05-5F1D-0722-E19E-354B035141F3}"/>
              </a:ext>
            </a:extLst>
          </p:cNvPr>
          <p:cNvPicPr>
            <a:picLocks/>
          </p:cNvPicPr>
          <p:nvPr>
            <p:custDataLst>
              <p:tags r:id="rId2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53972" y="3045535"/>
            <a:ext cx="277957" cy="27795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9403915-F3B3-C1B2-9746-0B61290DF0B3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>
          <a:xfrm>
            <a:off x="961682" y="3045535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Corporate Functions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67BEE40-B9C0-48FD-6F7C-565F41AFEA5F}"/>
              </a:ext>
            </a:extLst>
          </p:cNvPr>
          <p:cNvSpPr txBox="1">
            <a:spLocks/>
          </p:cNvSpPr>
          <p:nvPr/>
        </p:nvSpPr>
        <p:spPr>
          <a:xfrm>
            <a:off x="6817360" y="3045535"/>
            <a:ext cx="1996466" cy="4154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Less time spent on employee queries, onboarding &amp; financial reconciliations/AP-AR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B9040DF-82D1-A77E-C90D-81521A7AE77E}"/>
              </a:ext>
            </a:extLst>
          </p:cNvPr>
          <p:cNvSpPr txBox="1">
            <a:spLocks/>
          </p:cNvSpPr>
          <p:nvPr/>
        </p:nvSpPr>
        <p:spPr>
          <a:xfrm>
            <a:off x="8931305" y="3045535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6% – 11%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2E3A206C-1E80-7987-31B0-FFA4AAE9301F}"/>
              </a:ext>
            </a:extLst>
          </p:cNvPr>
          <p:cNvSpPr txBox="1">
            <a:spLocks/>
          </p:cNvSpPr>
          <p:nvPr/>
        </p:nvSpPr>
        <p:spPr>
          <a:xfrm>
            <a:off x="10562606" y="3045535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1.3 – 2.1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09C59C9-6CE5-AE42-D458-526E3CD3BB0E}"/>
              </a:ext>
            </a:extLst>
          </p:cNvPr>
          <p:cNvSpPr txBox="1">
            <a:spLocks/>
          </p:cNvSpPr>
          <p:nvPr/>
        </p:nvSpPr>
        <p:spPr>
          <a:xfrm>
            <a:off x="3226615" y="3880764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Doc automation &amp; GenAI workplace helpdesk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AI cash forecasting &amp; incident triage</a:t>
            </a:r>
          </a:p>
        </p:txBody>
      </p:sp>
      <p:pic>
        <p:nvPicPr>
          <p:cNvPr id="98" name="CustomIcon">
            <a:extLst>
              <a:ext uri="{FF2B5EF4-FFF2-40B4-BE49-F238E27FC236}">
                <a16:creationId xmlns:a16="http://schemas.microsoft.com/office/drawing/2014/main" id="{6FA34D0E-0378-1570-3221-18A056B72D4A}"/>
              </a:ext>
            </a:extLst>
          </p:cNvPr>
          <p:cNvPicPr>
            <a:picLocks/>
          </p:cNvPicPr>
          <p:nvPr>
            <p:custDataLst>
              <p:tags r:id="rId2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53972" y="3880764"/>
            <a:ext cx="277957" cy="27795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1F2AD6A-2355-31BF-89BF-8195ACF065EA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>
          <a:xfrm>
            <a:off x="961682" y="3880764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Property &amp; Facilities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3D413E0-F737-289E-3AF1-38AE3BD57886}"/>
              </a:ext>
            </a:extLst>
          </p:cNvPr>
          <p:cNvSpPr txBox="1">
            <a:spLocks/>
          </p:cNvSpPr>
          <p:nvPr/>
        </p:nvSpPr>
        <p:spPr>
          <a:xfrm>
            <a:off x="6817895" y="3880764"/>
            <a:ext cx="199646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Decreased ATM cash-handling effort &amp; incident resolution time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A3A8F68-30D3-6393-D03C-8795E4F251F9}"/>
              </a:ext>
            </a:extLst>
          </p:cNvPr>
          <p:cNvSpPr txBox="1">
            <a:spLocks/>
          </p:cNvSpPr>
          <p:nvPr/>
        </p:nvSpPr>
        <p:spPr>
          <a:xfrm>
            <a:off x="8931305" y="3880764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2% – 3%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044AEFE7-BAFD-1247-B6BA-C75B4F2D6B0D}"/>
              </a:ext>
            </a:extLst>
          </p:cNvPr>
          <p:cNvSpPr txBox="1">
            <a:spLocks/>
          </p:cNvSpPr>
          <p:nvPr/>
        </p:nvSpPr>
        <p:spPr>
          <a:xfrm>
            <a:off x="10562606" y="3880764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0.3 – 0.5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FB12CE7-94C5-91AB-CC85-AA9B4D3AFE4D}"/>
              </a:ext>
            </a:extLst>
          </p:cNvPr>
          <p:cNvSpPr txBox="1">
            <a:spLocks/>
          </p:cNvSpPr>
          <p:nvPr/>
        </p:nvSpPr>
        <p:spPr>
          <a:xfrm>
            <a:off x="3226615" y="3513163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Voice/chat assistants &amp; real-time agent assist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AI debtor outreach (voice/SMS/chat) &amp; smart prioritization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B2512D-01D7-C6F7-F7EC-B3D7611FEF73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>
          <a:xfrm>
            <a:off x="961682" y="3513163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Customer Service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pic>
        <p:nvPicPr>
          <p:cNvPr id="100" name="CustomIcon">
            <a:extLst>
              <a:ext uri="{FF2B5EF4-FFF2-40B4-BE49-F238E27FC236}">
                <a16:creationId xmlns:a16="http://schemas.microsoft.com/office/drawing/2014/main" id="{C9F6437E-66F1-A85A-F1DA-E9EF7DC76C49}"/>
              </a:ext>
            </a:extLst>
          </p:cNvPr>
          <p:cNvPicPr>
            <a:picLocks/>
          </p:cNvPicPr>
          <p:nvPr>
            <p:custDataLst>
              <p:tags r:id="rId3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53972" y="3513163"/>
            <a:ext cx="277957" cy="277957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992ACC0F-0B44-F814-AA8A-76972890609D}"/>
              </a:ext>
            </a:extLst>
          </p:cNvPr>
          <p:cNvSpPr txBox="1">
            <a:spLocks/>
          </p:cNvSpPr>
          <p:nvPr/>
        </p:nvSpPr>
        <p:spPr>
          <a:xfrm>
            <a:off x="6816825" y="3513163"/>
            <a:ext cx="199646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Decreased average handle time (AHT) &amp; </a:t>
            </a:r>
            <a:r>
              <a:rPr lang="en-US" sz="900">
                <a:cs typeface="+mn-cs"/>
              </a:rPr>
              <a:t>after-call work</a:t>
            </a:r>
            <a:endParaRPr lang="en-US" sz="900" dirty="0"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995EC7-8657-611D-1CE5-343662ECB401}"/>
              </a:ext>
            </a:extLst>
          </p:cNvPr>
          <p:cNvSpPr txBox="1">
            <a:spLocks/>
          </p:cNvSpPr>
          <p:nvPr/>
        </p:nvSpPr>
        <p:spPr>
          <a:xfrm>
            <a:off x="8931305" y="3513163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18</a:t>
            </a: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% – 29%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AACBFF5-1688-1F90-354A-852A4032EEA1}"/>
              </a:ext>
            </a:extLst>
          </p:cNvPr>
          <p:cNvSpPr txBox="1">
            <a:spLocks/>
          </p:cNvSpPr>
          <p:nvPr/>
        </p:nvSpPr>
        <p:spPr>
          <a:xfrm>
            <a:off x="10562606" y="3513163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ZA" dirty="0">
                <a:sym typeface="Aptos Display" panose="020B0004020202020204" pitchFamily="34" charset="0"/>
              </a:rPr>
              <a:t>1.0 </a:t>
            </a:r>
            <a:r>
              <a:rPr lang="en-ZA">
                <a:sym typeface="Aptos Display" panose="020B0004020202020204" pitchFamily="34" charset="0"/>
              </a:rPr>
              <a:t>– 1.6</a:t>
            </a:r>
            <a:endParaRPr lang="en-ZA" dirty="0">
              <a:sym typeface="Aptos Display" panose="020B0004020202020204" pitchFamily="34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098457D-1272-71D7-6D4B-FCA72D3AFFA7}"/>
              </a:ext>
            </a:extLst>
          </p:cNvPr>
          <p:cNvSpPr txBox="1">
            <a:spLocks/>
          </p:cNvSpPr>
          <p:nvPr/>
        </p:nvSpPr>
        <p:spPr>
          <a:xfrm>
            <a:off x="3226615" y="4485161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AI underwriting copilots (NIM × volume)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Sharper risk selection models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045198-8D53-4BDD-0731-02027D99F1C6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>
          <a:xfrm>
            <a:off x="961682" y="4485161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Underwriting process uplift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ABAC156-B05F-BD88-AE7F-551395118AEB}"/>
              </a:ext>
            </a:extLst>
          </p:cNvPr>
          <p:cNvSpPr txBox="1">
            <a:spLocks/>
          </p:cNvSpPr>
          <p:nvPr/>
        </p:nvSpPr>
        <p:spPr>
          <a:xfrm>
            <a:off x="6817895" y="4485161"/>
            <a:ext cx="199646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Faster credit decisioning &amp; </a:t>
            </a:r>
            <a:r>
              <a:rPr lang="en-US" sz="900">
                <a:cs typeface="+mn-cs"/>
              </a:rPr>
              <a:t>higher throughput</a:t>
            </a:r>
            <a:endParaRPr lang="en-US" sz="900" dirty="0">
              <a:cs typeface="+mn-c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8887CD5-F648-F5EC-F937-28A8591EC316}"/>
              </a:ext>
            </a:extLst>
          </p:cNvPr>
          <p:cNvSpPr txBox="1">
            <a:spLocks/>
          </p:cNvSpPr>
          <p:nvPr/>
        </p:nvSpPr>
        <p:spPr>
          <a:xfrm>
            <a:off x="8931305" y="4485161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2% – 3%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A12E062C-0FBD-D688-E958-E517D37F34C4}"/>
              </a:ext>
            </a:extLst>
          </p:cNvPr>
          <p:cNvSpPr txBox="1">
            <a:spLocks/>
          </p:cNvSpPr>
          <p:nvPr/>
        </p:nvSpPr>
        <p:spPr>
          <a:xfrm>
            <a:off x="10562606" y="4485161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7.4 – 12.3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C64DC90B-B30F-A807-F836-79033CCF496F}"/>
              </a:ext>
            </a:extLst>
          </p:cNvPr>
          <p:cNvSpPr txBox="1">
            <a:spLocks/>
          </p:cNvSpPr>
          <p:nvPr/>
        </p:nvSpPr>
        <p:spPr>
          <a:xfrm>
            <a:off x="3226615" y="4852762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AI propensity scoring of dormant accounts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GenAI RM outreach &amp; nudges</a:t>
            </a:r>
          </a:p>
        </p:txBody>
      </p:sp>
      <p:pic>
        <p:nvPicPr>
          <p:cNvPr id="102" name="CustomIcon">
            <a:extLst>
              <a:ext uri="{FF2B5EF4-FFF2-40B4-BE49-F238E27FC236}">
                <a16:creationId xmlns:a16="http://schemas.microsoft.com/office/drawing/2014/main" id="{4D165997-773E-7EE3-159F-CE4D58F1E7A9}"/>
              </a:ext>
            </a:extLst>
          </p:cNvPr>
          <p:cNvPicPr>
            <a:picLocks/>
          </p:cNvPicPr>
          <p:nvPr>
            <p:custDataLst>
              <p:tags r:id="rId3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53972" y="4852762"/>
            <a:ext cx="277957" cy="27795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6CE8792-7CCB-AC7C-E203-2C0AF3EFF672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>
          <a:xfrm>
            <a:off x="961682" y="4852762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Customer re-activation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135645F-9A0A-CB9A-6344-EE07DBF5A141}"/>
              </a:ext>
            </a:extLst>
          </p:cNvPr>
          <p:cNvSpPr txBox="1">
            <a:spLocks/>
          </p:cNvSpPr>
          <p:nvPr/>
        </p:nvSpPr>
        <p:spPr>
          <a:xfrm>
            <a:off x="6817895" y="4852762"/>
            <a:ext cx="199646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Increased re-activation of dormant SME/CIB accounts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0EEC45B-21F9-7E68-1503-4C3659AA7CAD}"/>
              </a:ext>
            </a:extLst>
          </p:cNvPr>
          <p:cNvSpPr txBox="1">
            <a:spLocks/>
          </p:cNvSpPr>
          <p:nvPr/>
        </p:nvSpPr>
        <p:spPr>
          <a:xfrm>
            <a:off x="8931305" y="4852762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1</a:t>
            </a: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% – 3%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03A3B65-F333-7A82-133B-754FACFDE5D7}"/>
              </a:ext>
            </a:extLst>
          </p:cNvPr>
          <p:cNvSpPr txBox="1">
            <a:spLocks/>
          </p:cNvSpPr>
          <p:nvPr/>
        </p:nvSpPr>
        <p:spPr>
          <a:xfrm>
            <a:off x="10562606" y="4852762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5.5– 12.9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AED7212-CF6C-9BB5-83DE-FD625D80F4EA}"/>
              </a:ext>
            </a:extLst>
          </p:cNvPr>
          <p:cNvSpPr txBox="1">
            <a:spLocks/>
          </p:cNvSpPr>
          <p:nvPr/>
        </p:nvSpPr>
        <p:spPr>
          <a:xfrm>
            <a:off x="3226615" y="5220363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Next-best-product models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AI-guided cross-sell in RM workflow</a:t>
            </a:r>
          </a:p>
        </p:txBody>
      </p:sp>
      <p:pic>
        <p:nvPicPr>
          <p:cNvPr id="104" name="CustomIcon">
            <a:extLst>
              <a:ext uri="{FF2B5EF4-FFF2-40B4-BE49-F238E27FC236}">
                <a16:creationId xmlns:a16="http://schemas.microsoft.com/office/drawing/2014/main" id="{7DB8DB34-6911-596A-FBC1-7D5524BA7663}"/>
              </a:ext>
            </a:extLst>
          </p:cNvPr>
          <p:cNvPicPr>
            <a:picLocks/>
          </p:cNvPicPr>
          <p:nvPr>
            <p:custDataLst>
              <p:tags r:id="rId3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53972" y="5220363"/>
            <a:ext cx="277957" cy="27795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567B059-2794-ABF1-1CCC-8252A4906EFE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>
          <a:xfrm>
            <a:off x="961682" y="5220363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Increased cross-sell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D48FCE8-994B-4E0A-28C3-7290452AE9B9}"/>
              </a:ext>
            </a:extLst>
          </p:cNvPr>
          <p:cNvSpPr txBox="1">
            <a:spLocks/>
          </p:cNvSpPr>
          <p:nvPr/>
        </p:nvSpPr>
        <p:spPr>
          <a:xfrm>
            <a:off x="6817895" y="5220363"/>
            <a:ext cx="1996466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 Increased products held </a:t>
            </a:r>
            <a:r>
              <a:rPr lang="en-US" sz="900">
                <a:cs typeface="+mn-cs"/>
              </a:rPr>
              <a:t>per client</a:t>
            </a:r>
            <a:endParaRPr lang="en-US" sz="900" dirty="0"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A9D06CD-D74C-BA58-DF5C-B0528F86591C}"/>
              </a:ext>
            </a:extLst>
          </p:cNvPr>
          <p:cNvSpPr txBox="1">
            <a:spLocks/>
          </p:cNvSpPr>
          <p:nvPr/>
        </p:nvSpPr>
        <p:spPr>
          <a:xfrm>
            <a:off x="8931305" y="5220363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1</a:t>
            </a: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% – 2%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27B6DB65-B7A8-EDBD-1A05-5D9D1C633BF4}"/>
              </a:ext>
            </a:extLst>
          </p:cNvPr>
          <p:cNvSpPr txBox="1">
            <a:spLocks/>
          </p:cNvSpPr>
          <p:nvPr/>
        </p:nvSpPr>
        <p:spPr>
          <a:xfrm>
            <a:off x="10562606" y="5220363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3.8 </a:t>
            </a: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– 9.0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406496F-E343-DA16-732B-5351D3F1CF5A}"/>
              </a:ext>
            </a:extLst>
          </p:cNvPr>
          <p:cNvSpPr txBox="1">
            <a:spLocks/>
          </p:cNvSpPr>
          <p:nvPr/>
        </p:nvSpPr>
        <p:spPr>
          <a:xfrm>
            <a:off x="3226615" y="5587964"/>
            <a:ext cx="3144895" cy="315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GenAI onboarding</a:t>
            </a:r>
          </a:p>
          <a:p>
            <a:pPr lvl="1">
              <a:buSzPct val="100000"/>
            </a:pPr>
            <a:r>
              <a:rPr lang="en-US" sz="900" dirty="0">
                <a:solidFill>
                  <a:srgbClr val="000000"/>
                </a:solidFill>
                <a:latin typeface="Arial" panose="020B0604020202020204" pitchFamily="34" charset="0"/>
                <a:cs typeface="+mn-cs"/>
                <a:sym typeface=""/>
              </a:rPr>
              <a:t>Win-rate &amp; pricing analytics</a:t>
            </a:r>
          </a:p>
        </p:txBody>
      </p:sp>
      <p:pic>
        <p:nvPicPr>
          <p:cNvPr id="115" name="CustomIcon">
            <a:extLst>
              <a:ext uri="{FF2B5EF4-FFF2-40B4-BE49-F238E27FC236}">
                <a16:creationId xmlns:a16="http://schemas.microsoft.com/office/drawing/2014/main" id="{F8C2B39F-8D80-D6A0-C633-1D9CAC79DE05}"/>
              </a:ext>
            </a:extLst>
          </p:cNvPr>
          <p:cNvPicPr>
            <a:picLocks/>
          </p:cNvPicPr>
          <p:nvPr>
            <p:custDataLst>
              <p:tags r:id="rId3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53972" y="5587964"/>
            <a:ext cx="277957" cy="27795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D9B20FB-A7A7-247E-D19A-4CC03094B166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>
          <a:xfrm>
            <a:off x="961682" y="5587964"/>
            <a:ext cx="1819618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Other lifecycle levers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7D4ABC6-4D3F-0996-EC58-50C9160AC0E8}"/>
              </a:ext>
            </a:extLst>
          </p:cNvPr>
          <p:cNvSpPr txBox="1">
            <a:spLocks/>
          </p:cNvSpPr>
          <p:nvPr/>
        </p:nvSpPr>
        <p:spPr>
          <a:xfrm>
            <a:off x="6817895" y="5587964"/>
            <a:ext cx="1996466" cy="1384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n-US" sz="900" dirty="0">
                <a:cs typeface="+mn-cs"/>
              </a:rPr>
              <a:t>Improved </a:t>
            </a:r>
            <a:r>
              <a:rPr lang="en-US" sz="900">
                <a:cs typeface="+mn-cs"/>
              </a:rPr>
              <a:t>deal win-rate</a:t>
            </a:r>
            <a:endParaRPr lang="en-US" sz="900" dirty="0"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CF5467A-F526-8F2F-9D1C-D4D364ED59F2}"/>
              </a:ext>
            </a:extLst>
          </p:cNvPr>
          <p:cNvSpPr txBox="1">
            <a:spLocks/>
          </p:cNvSpPr>
          <p:nvPr/>
        </p:nvSpPr>
        <p:spPr>
          <a:xfrm>
            <a:off x="8931305" y="5587964"/>
            <a:ext cx="79691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1</a:t>
            </a:r>
            <a:r>
              <a:rPr kumimoji="0" lang="en-ZA" sz="1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% – 2%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94FC746-28ED-A9F6-3E3C-024E5CD17743}"/>
              </a:ext>
            </a:extLst>
          </p:cNvPr>
          <p:cNvSpPr txBox="1">
            <a:spLocks/>
          </p:cNvSpPr>
          <p:nvPr/>
        </p:nvSpPr>
        <p:spPr>
          <a:xfrm>
            <a:off x="10562606" y="5587964"/>
            <a:ext cx="677829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0.2 </a:t>
            </a:r>
            <a:r>
              <a:rPr kumimoji="0" lang="en-ZA" sz="1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ptos Display" panose="020B0004020202020204" pitchFamily="34" charset="0"/>
              </a:rPr>
              <a:t>– 0.6</a:t>
            </a:r>
            <a:endParaRPr kumimoji="0" lang="en-ZA" sz="1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2D07510B-AC23-0BA0-82E4-E3DAAD827A23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>
          <a:xfrm>
            <a:off x="553972" y="4271449"/>
            <a:ext cx="2227328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Sub-total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F342C8DB-E7F8-D3D3-0B7C-4E6E79E9113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53972" y="1804233"/>
            <a:ext cx="277957" cy="277957"/>
          </a:xfrm>
          <a:prstGeom prst="rect">
            <a:avLst/>
          </a:prstGeom>
        </p:spPr>
      </p:pic>
      <p:sp>
        <p:nvSpPr>
          <p:cNvPr id="297" name="TextBox 296">
            <a:extLst>
              <a:ext uri="{FF2B5EF4-FFF2-40B4-BE49-F238E27FC236}">
                <a16:creationId xmlns:a16="http://schemas.microsoft.com/office/drawing/2014/main" id="{636B12F4-3241-B80A-6481-A213ECCB2899}"/>
              </a:ext>
            </a:extLst>
          </p:cNvPr>
          <p:cNvSpPr txBox="1">
            <a:spLocks/>
          </p:cNvSpPr>
          <p:nvPr/>
        </p:nvSpPr>
        <p:spPr>
          <a:xfrm>
            <a:off x="8813291" y="4235960"/>
            <a:ext cx="3043429" cy="1308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15-25 MN AZN </a:t>
            </a:r>
            <a:r>
              <a:rPr lang="en-ZA" sz="1200" i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(6-10% of pre-tax profit)</a:t>
            </a:r>
            <a:endParaRPr kumimoji="0" lang="en-ZA" sz="1200" i="1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pic>
        <p:nvPicPr>
          <p:cNvPr id="106" name="CustomIcon">
            <a:extLst>
              <a:ext uri="{FF2B5EF4-FFF2-40B4-BE49-F238E27FC236}">
                <a16:creationId xmlns:a16="http://schemas.microsoft.com/office/drawing/2014/main" id="{1E1188E3-7AC1-484E-06C6-AD051C614C8B}"/>
              </a:ext>
            </a:extLst>
          </p:cNvPr>
          <p:cNvPicPr>
            <a:picLocks/>
          </p:cNvPicPr>
          <p:nvPr>
            <p:custDataLst>
              <p:tags r:id="rId3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553972" y="4485161"/>
            <a:ext cx="277957" cy="277957"/>
          </a:xfrm>
          <a:prstGeom prst="rect">
            <a:avLst/>
          </a:prstGeom>
        </p:spPr>
      </p:pic>
      <p:sp>
        <p:nvSpPr>
          <p:cNvPr id="308" name="TextBox 307">
            <a:extLst>
              <a:ext uri="{FF2B5EF4-FFF2-40B4-BE49-F238E27FC236}">
                <a16:creationId xmlns:a16="http://schemas.microsoft.com/office/drawing/2014/main" id="{C6CDFBDB-624B-DEAE-65F5-A7DE191CF74C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>
          <a:xfrm>
            <a:off x="553972" y="5978649"/>
            <a:ext cx="2227328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Sub-total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999076A8-9EE0-DC51-C068-60794B3FF5F5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>
          <a:xfrm>
            <a:off x="553972" y="6215444"/>
            <a:ext cx="2227328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lvl="1" indent="0">
              <a:buClr>
                <a:srgbClr val="006341"/>
              </a:buClr>
              <a:buNone/>
              <a:defRPr/>
            </a:pPr>
            <a:r>
              <a:rPr lang="en-US" sz="900" b="1" dirty="0">
                <a:solidFill>
                  <a:srgbClr val="000000"/>
                </a:solidFill>
                <a:sym typeface="Aptos Display" panose="020B0004020202020204" pitchFamily="34" charset="0"/>
              </a:rPr>
              <a:t>Total</a:t>
            </a:r>
            <a:endParaRPr kumimoji="0" lang="en-ZA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ptos Display" panose="020B0004020202020204" pitchFamily="34" charset="0"/>
            </a:endParaRPr>
          </a:p>
        </p:txBody>
      </p:sp>
      <p:sp>
        <p:nvSpPr>
          <p:cNvPr id="354" name="RectangleLegend1">
            <a:extLst>
              <a:ext uri="{FF2B5EF4-FFF2-40B4-BE49-F238E27FC236}">
                <a16:creationId xmlns:a16="http://schemas.microsoft.com/office/drawing/2014/main" id="{294455C9-22BD-0EE7-4F2C-7AAA63E9EDFC}"/>
              </a:ext>
            </a:extLst>
          </p:cNvPr>
          <p:cNvSpPr>
            <a:spLocks/>
          </p:cNvSpPr>
          <p:nvPr/>
        </p:nvSpPr>
        <p:spPr>
          <a:xfrm>
            <a:off x="459458" y="1804233"/>
            <a:ext cx="42643" cy="2628798"/>
          </a:xfrm>
          <a:prstGeom prst="rect">
            <a:avLst/>
          </a:prstGeom>
          <a:solidFill>
            <a:srgbClr val="1C863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56" name="RectangleLegend1">
            <a:extLst>
              <a:ext uri="{FF2B5EF4-FFF2-40B4-BE49-F238E27FC236}">
                <a16:creationId xmlns:a16="http://schemas.microsoft.com/office/drawing/2014/main" id="{843A0E84-A781-04AC-6144-4DDCE79FD5C7}"/>
              </a:ext>
            </a:extLst>
          </p:cNvPr>
          <p:cNvSpPr>
            <a:spLocks/>
          </p:cNvSpPr>
          <p:nvPr/>
        </p:nvSpPr>
        <p:spPr>
          <a:xfrm>
            <a:off x="459458" y="4485161"/>
            <a:ext cx="42643" cy="1631987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D379B-94CF-B3F0-F10D-5B9A7DAA4E13}"/>
              </a:ext>
            </a:extLst>
          </p:cNvPr>
          <p:cNvSpPr txBox="1">
            <a:spLocks/>
          </p:cNvSpPr>
          <p:nvPr/>
        </p:nvSpPr>
        <p:spPr>
          <a:xfrm>
            <a:off x="8813291" y="5949314"/>
            <a:ext cx="3043429" cy="1308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17-35 MN AZN </a:t>
            </a:r>
            <a:r>
              <a:rPr lang="en-ZA" sz="1200" i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(7-14% of pre-tax profit)</a:t>
            </a:r>
            <a:endParaRPr kumimoji="0" lang="en-ZA" sz="1200" i="1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2BC01-A089-C7E8-1E88-242417558A31}"/>
              </a:ext>
            </a:extLst>
          </p:cNvPr>
          <p:cNvSpPr txBox="1">
            <a:spLocks/>
          </p:cNvSpPr>
          <p:nvPr/>
        </p:nvSpPr>
        <p:spPr>
          <a:xfrm>
            <a:off x="8813291" y="6272287"/>
            <a:ext cx="3043429" cy="1308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634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lang="en-ZA" sz="1200" b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32-60 MN AZN </a:t>
            </a:r>
            <a:r>
              <a:rPr lang="en-ZA" sz="1200" i="1" kern="0" dirty="0">
                <a:solidFill>
                  <a:schemeClr val="accent1"/>
                </a:solidFill>
                <a:latin typeface="Arial"/>
                <a:sym typeface="Aptos Display" panose="020B0004020202020204" pitchFamily="34" charset="0"/>
              </a:rPr>
              <a:t>(13-24% of pre-tax profit)</a:t>
            </a:r>
            <a:endParaRPr kumimoji="0" lang="en-ZA" sz="1200" i="1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901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EA70-D003-278D-7C58-418F391A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7CAE7082-7A24-F2A6-D55B-F3B5708C6FD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96260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484" imgH="486" progId="TCLayout.ActiveDocument.1">
                  <p:embed/>
                </p:oleObj>
              </mc:Choice>
              <mc:Fallback>
                <p:oleObj name="think-cell Slide" r:id="rId32" imgW="484" imgH="486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7CAE7082-7A24-F2A6-D55B-F3B5708C6F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BE63F247-2935-FDCA-2C08-7FB6A614E897}"/>
              </a:ext>
            </a:extLst>
          </p:cNvPr>
          <p:cNvSpPr/>
          <p:nvPr/>
        </p:nvSpPr>
        <p:spPr>
          <a:xfrm>
            <a:off x="3389313" y="2171701"/>
            <a:ext cx="5324918" cy="26733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2FAFC3-B6B5-4A3F-A4D8-BC3FBCE1BF21}"/>
              </a:ext>
            </a:extLst>
          </p:cNvPr>
          <p:cNvCxnSpPr>
            <a:cxnSpLocks/>
          </p:cNvCxnSpPr>
          <p:nvPr/>
        </p:nvCxnSpPr>
        <p:spPr>
          <a:xfrm>
            <a:off x="4608512" y="2797175"/>
            <a:ext cx="0" cy="3236913"/>
          </a:xfrm>
          <a:prstGeom prst="line">
            <a:avLst/>
          </a:prstGeom>
          <a:ln w="6350" cap="sq">
            <a:solidFill>
              <a:schemeClr val="bg2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96F104-4764-4B32-0C74-8D24A61B3022}"/>
              </a:ext>
            </a:extLst>
          </p:cNvPr>
          <p:cNvCxnSpPr>
            <a:cxnSpLocks/>
          </p:cNvCxnSpPr>
          <p:nvPr/>
        </p:nvCxnSpPr>
        <p:spPr>
          <a:xfrm>
            <a:off x="869950" y="4071128"/>
            <a:ext cx="7642225" cy="0"/>
          </a:xfrm>
          <a:prstGeom prst="line">
            <a:avLst/>
          </a:prstGeom>
          <a:ln w="6350" cap="sq">
            <a:solidFill>
              <a:schemeClr val="bg2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2. Slide Title">
            <a:extLst>
              <a:ext uri="{FF2B5EF4-FFF2-40B4-BE49-F238E27FC236}">
                <a16:creationId xmlns:a16="http://schemas.microsoft.com/office/drawing/2014/main" id="{A6491452-51FC-3EA1-4F8B-108EF0A9C40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16813"/>
            <a:ext cx="7918704" cy="110799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>
            <a:spAutoFit/>
          </a:bodyPr>
          <a:lstStyle/>
          <a:p>
            <a:r>
              <a:rPr lang="en-US" dirty="0"/>
              <a:t>IT and Risk emerge as the highest-potential AI domains, representing a combined ~21M AZN value pool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75AC8B5D-A776-6B1A-AF99-1B9AF08DF0E1}"/>
              </a:ext>
            </a:extLst>
          </p:cNvPr>
          <p:cNvSpPr txBox="1">
            <a:spLocks/>
          </p:cNvSpPr>
          <p:nvPr/>
        </p:nvSpPr>
        <p:spPr>
          <a:xfrm>
            <a:off x="9102725" y="1646839"/>
            <a:ext cx="253454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 b="1">
                <a:cs typeface="Arial" panose="020B0604020202020204" pitchFamily="34" charset="0"/>
              </a:defRPr>
            </a:lvl1pPr>
          </a:lstStyle>
          <a:p>
            <a:r>
              <a:rPr lang="en-US" sz="1600"/>
              <a:t>Key insights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5495A6-2C1B-F640-2EE0-6F03C8227129}"/>
              </a:ext>
            </a:extLst>
          </p:cNvPr>
          <p:cNvCxnSpPr>
            <a:cxnSpLocks/>
          </p:cNvCxnSpPr>
          <p:nvPr/>
        </p:nvCxnSpPr>
        <p:spPr>
          <a:xfrm>
            <a:off x="9102725" y="1940685"/>
            <a:ext cx="2534540" cy="0"/>
          </a:xfrm>
          <a:prstGeom prst="line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E307FD0-3E8C-3B62-C394-AA90E6B7FE6E}"/>
              </a:ext>
            </a:extLst>
          </p:cNvPr>
          <p:cNvSpPr txBox="1">
            <a:spLocks/>
          </p:cNvSpPr>
          <p:nvPr/>
        </p:nvSpPr>
        <p:spPr>
          <a:xfrm>
            <a:off x="554736" y="1478831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 b="1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600" noProof="1"/>
              <a:t>Prioritization matrix </a:t>
            </a:r>
            <a:r>
              <a:rPr lang="en-US" sz="1600" b="0" i="1" noProof="1"/>
              <a:t>(preliminary)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CF1C6B8-5F6E-8DE1-7C9F-6561E6980339}"/>
              </a:ext>
            </a:extLst>
          </p:cNvPr>
          <p:cNvCxnSpPr>
            <a:cxnSpLocks/>
          </p:cNvCxnSpPr>
          <p:nvPr/>
        </p:nvCxnSpPr>
        <p:spPr>
          <a:xfrm>
            <a:off x="554736" y="1772677"/>
            <a:ext cx="7918704" cy="0"/>
          </a:xfrm>
          <a:prstGeom prst="straightConnector1">
            <a:avLst/>
          </a:prstGeom>
          <a:ln w="12700" cap="sq" cmpd="sng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Table 79" hidden="1">
            <a:extLst>
              <a:ext uri="{FF2B5EF4-FFF2-40B4-BE49-F238E27FC236}">
                <a16:creationId xmlns:a16="http://schemas.microsoft.com/office/drawing/2014/main" id="{D733233D-A12E-50DD-A363-D989DB3333BC}"/>
              </a:ext>
            </a:extLst>
          </p:cNvPr>
          <p:cNvGraphicFramePr>
            <a:graphicFrameLocks noGrp="1"/>
          </p:cNvGraphicFramePr>
          <p:nvPr/>
        </p:nvGraphicFramePr>
        <p:xfrm>
          <a:off x="12546518" y="805300"/>
          <a:ext cx="1807339" cy="306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7339">
                  <a:extLst>
                    <a:ext uri="{9D8B030D-6E8A-4147-A177-3AD203B41FA5}">
                      <a16:colId xmlns:a16="http://schemas.microsoft.com/office/drawing/2014/main" val="3824017129"/>
                    </a:ext>
                  </a:extLst>
                </a:gridCol>
              </a:tblGrid>
              <a:tr h="13906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Client management (RM Co-pilots, Churn Prediction)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2338326286"/>
                  </a:ext>
                </a:extLst>
              </a:tr>
              <a:tr h="13906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de-DE" sz="1000" u="none" strike="noStrike">
                          <a:effectLst/>
                        </a:rPr>
                        <a:t>IT &amp; Software Dev (Code Gen, L1/L2 Automation)</a:t>
                      </a:r>
                      <a:endParaRPr lang="de-DE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2205446907"/>
                  </a:ext>
                </a:extLst>
              </a:tr>
              <a:tr h="16173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Credit Underwriting (Automated Decisioning, Alt Data)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2540376633"/>
                  </a:ext>
                </a:extLst>
              </a:tr>
              <a:tr h="11638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Back-Office Ops (NLP Doc Extraction, KYC/AML)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1337487242"/>
                  </a:ext>
                </a:extLst>
              </a:tr>
              <a:tr h="9371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Collections (NPL Early-Warning Signals)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2238939313"/>
                  </a:ext>
                </a:extLst>
              </a:tr>
              <a:tr h="13906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Contact Center (Smart IVR, Conversational Voicebots)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682789550"/>
                  </a:ext>
                </a:extLst>
              </a:tr>
              <a:tr h="11638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Finance (Automated FP&amp;A, Reconciliation)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1710943572"/>
                  </a:ext>
                </a:extLst>
              </a:tr>
              <a:tr h="139061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Legal &amp; Compliance (Contract Review, Reg Tracking)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970064188"/>
                  </a:ext>
                </a:extLst>
              </a:tr>
              <a:tr h="9371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HR (CV Screening, HR Chatbots)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3195708520"/>
                  </a:ext>
                </a:extLst>
              </a:tr>
              <a:tr h="9371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Marketing (Content Gen, Hyper-targeting)</a:t>
                      </a:r>
                      <a:endParaRPr lang="en-US" sz="1000" b="0" i="0" u="none" strike="noStrike">
                        <a:solidFill>
                          <a:srgbClr val="111918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512" marR="1512" marT="1512" marB="0" anchor="b"/>
                </a:tc>
                <a:extLst>
                  <a:ext uri="{0D108BD9-81ED-4DB2-BD59-A6C34878D82A}">
                    <a16:rowId xmlns:a16="http://schemas.microsoft.com/office/drawing/2014/main" val="909083295"/>
                  </a:ext>
                </a:extLst>
              </a:tr>
            </a:tbl>
          </a:graphicData>
        </a:graphic>
      </p:graphicFrame>
      <p:sp>
        <p:nvSpPr>
          <p:cNvPr id="238" name="TextBox 237">
            <a:extLst>
              <a:ext uri="{FF2B5EF4-FFF2-40B4-BE49-F238E27FC236}">
                <a16:creationId xmlns:a16="http://schemas.microsoft.com/office/drawing/2014/main" id="{7D6CAC49-F269-859F-551E-77E8EF22080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02725" y="2030872"/>
            <a:ext cx="2534540" cy="39805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ts val="500"/>
              </a:spcBef>
            </a:pPr>
            <a:r>
              <a:rPr lang="en-US" dirty="0"/>
              <a:t>Underwriting impact is </a:t>
            </a:r>
            <a:r>
              <a:rPr lang="en-US" b="1" dirty="0"/>
              <a:t>directionally estimated based on loan portfolio dynamics</a:t>
            </a:r>
            <a:r>
              <a:rPr lang="en-US" dirty="0"/>
              <a:t>, while value potential for the remaining domains has been benchmarked against global best practices</a:t>
            </a:r>
          </a:p>
          <a:p>
            <a:pPr lvl="1">
              <a:spcBef>
                <a:spcPts val="500"/>
              </a:spcBef>
            </a:pPr>
            <a:r>
              <a:rPr lang="en-US" dirty="0">
                <a:latin typeface="+mn-lt"/>
              </a:rPr>
              <a:t>Preliminary AI </a:t>
            </a:r>
            <a:r>
              <a:rPr lang="en-US" b="1" dirty="0">
                <a:latin typeface="+mn-lt"/>
              </a:rPr>
              <a:t>value potential across all domains totals ~45M AZN </a:t>
            </a:r>
            <a:r>
              <a:rPr lang="en-US" i="1" dirty="0">
                <a:latin typeface="+mn-lt"/>
              </a:rPr>
              <a:t>(preliminary calculation), </a:t>
            </a:r>
            <a:r>
              <a:rPr lang="en-US" b="1" dirty="0">
                <a:latin typeface="+mn-lt"/>
              </a:rPr>
              <a:t>equivalent to ~18% of pre-tax profit</a:t>
            </a:r>
            <a:r>
              <a:rPr lang="en-US" dirty="0">
                <a:latin typeface="+mn-lt"/>
              </a:rPr>
              <a:t>, broadly in line with global benchmarks and confirming a material enterprise-wide opportunity</a:t>
            </a:r>
          </a:p>
        </p:txBody>
      </p: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D5A8CE60-C70F-6C30-B1A4-E1EC371070E2}"/>
              </a:ext>
            </a:extLst>
          </p:cNvPr>
          <p:cNvCxnSpPr>
            <a:cxnSpLocks/>
          </p:cNvCxnSpPr>
          <p:nvPr/>
        </p:nvCxnSpPr>
        <p:spPr>
          <a:xfrm flipV="1">
            <a:off x="826961" y="2292350"/>
            <a:ext cx="0" cy="203821"/>
          </a:xfrm>
          <a:prstGeom prst="straightConnector1">
            <a:avLst/>
          </a:prstGeom>
          <a:ln w="9525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96F8AF2A-EAE1-67B0-F2A4-B34739FE29F0}"/>
              </a:ext>
            </a:extLst>
          </p:cNvPr>
          <p:cNvCxnSpPr>
            <a:cxnSpLocks/>
          </p:cNvCxnSpPr>
          <p:nvPr/>
        </p:nvCxnSpPr>
        <p:spPr>
          <a:xfrm>
            <a:off x="8361282" y="6128950"/>
            <a:ext cx="238539" cy="0"/>
          </a:xfrm>
          <a:prstGeom prst="straightConnector1">
            <a:avLst/>
          </a:prstGeom>
          <a:ln w="9525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265DF-2EF3-548B-B5DC-E5E2A03C4A81}"/>
              </a:ext>
            </a:extLst>
          </p:cNvPr>
          <p:cNvCxnSpPr>
            <a:cxnSpLocks/>
          </p:cNvCxnSpPr>
          <p:nvPr/>
        </p:nvCxnSpPr>
        <p:spPr>
          <a:xfrm>
            <a:off x="171450" y="6963689"/>
            <a:ext cx="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8" name="Chart 127">
            <a:extLst>
              <a:ext uri="{FF2B5EF4-FFF2-40B4-BE49-F238E27FC236}">
                <a16:creationId xmlns:a16="http://schemas.microsoft.com/office/drawing/2014/main" id="{DE8FA106-91A3-077D-3B4A-E6BE71299E2D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64881373"/>
              </p:ext>
            </p:extLst>
          </p:nvPr>
        </p:nvGraphicFramePr>
        <p:xfrm>
          <a:off x="746125" y="2319338"/>
          <a:ext cx="7724775" cy="3903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787400" y="6175375"/>
            <a:ext cx="82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42F82DF-2906-44E0-8E0C-0BE5F0B621B4}" type="datetime'''''''''''0'''''''''''''''''''''''''''''''''''">
              <a:rPr lang="en-US" altLang="en-US" sz="1200" smtClean="0">
                <a:latin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200">
              <a:latin typeface="+mn-lt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2298700" y="6175375"/>
            <a:ext cx="82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1550595-D494-4ABB-B570-B6C6DEA80C77}" type="datetime'''''''''''''''''2'''''''''''''''''''''''">
              <a:rPr lang="en-US" altLang="en-US" sz="1200" smtClean="0">
                <a:latin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sz="1200">
              <a:latin typeface="+mn-lt"/>
            </a:endParaRPr>
          </a:p>
        </p:txBody>
      </p:sp>
      <p:sp>
        <p:nvSpPr>
          <p:cNvPr id="11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3811588" y="6175375"/>
            <a:ext cx="82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5EE7E42-9152-4F49-97AD-FEEAEEE304BC}" type="datetime'''''''''''''''4'''''''''''''''''''''''''''''">
              <a:rPr lang="en-US" altLang="en-US" sz="1200" smtClean="0">
                <a:latin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sz="1200">
              <a:latin typeface="+mn-lt"/>
            </a:endParaRPr>
          </a:p>
        </p:txBody>
      </p:sp>
      <p:sp>
        <p:nvSpPr>
          <p:cNvPr id="11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5322888" y="6175375"/>
            <a:ext cx="82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087B934-D64B-4F6E-BB04-8486DF3AB4F8}" type="datetime'6'''''''''''''''''''''''''''''''''''''''''''''''''''''''''''''">
              <a:rPr lang="en-US" altLang="en-US" sz="1200" smtClean="0">
                <a:latin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sz="1200">
              <a:latin typeface="+mn-lt"/>
            </a:endParaRPr>
          </a:p>
        </p:txBody>
      </p:sp>
      <p:sp>
        <p:nvSpPr>
          <p:cNvPr id="122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835775" y="6175375"/>
            <a:ext cx="82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23CD5F6-7722-4414-9E6D-27358496515A}" type="datetime'''''''''''''''''''''''''''''''''''''''''''''''''''''''''8'''">
              <a:rPr lang="en-US" altLang="en-US" sz="1200" smtClean="0">
                <a:latin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sz="1200">
              <a:latin typeface="+mn-lt"/>
            </a:endParaRPr>
          </a:p>
        </p:txBody>
      </p:sp>
      <p:sp>
        <p:nvSpPr>
          <p:cNvPr id="18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8305800" y="6175375"/>
            <a:ext cx="1651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1085B73-BF52-449F-9324-C9EE3493C0B5}" type="datetime'''''10'''''''''''''''''''''''''''''''''''''''''''''''''">
              <a:rPr lang="en-US" altLang="en-US" sz="1200" smtClean="0">
                <a:effectLst/>
                <a:latin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z="1200">
              <a:latin typeface="+mn-lt"/>
            </a:endParaRPr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644525" y="6034088"/>
            <a:ext cx="82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1F8E7C0-2E6E-4CA5-A823-165F01C4FC00}" type="datetime'''''''''''''''''''''''''''''''''''''3'''">
              <a:rPr lang="en-US" altLang="en-US" sz="1200" smtClean="0">
                <a:effectLst/>
                <a:latin typeface="+mn-lt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sz="1200">
              <a:latin typeface="+mn-lt"/>
            </a:endParaRPr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644525" y="4438650"/>
            <a:ext cx="82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740F88E-DAD0-42B2-842F-398FE0183D5D}" type="datetime'''''''6'''''''''''''''''''''''''''''''''''">
              <a:rPr lang="en-US" altLang="en-US" sz="1200" smtClean="0">
                <a:effectLst/>
                <a:latin typeface="+mn-lt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sz="1200">
              <a:latin typeface="+mn-lt"/>
            </a:endParaRPr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gray">
          <a:xfrm>
            <a:off x="644525" y="2843213"/>
            <a:ext cx="82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F72E0E0-446A-4B80-823C-3C91BFE5906A}" type="datetime'''''''''''''''''''''''''''''''''''''''''''''''''''9'">
              <a:rPr lang="en-US" altLang="en-US" sz="1200" smtClean="0">
                <a:effectLst/>
                <a:latin typeface="+mn-lt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sz="1200">
              <a:latin typeface="+mn-lt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914707F-C996-9E76-C95A-7AB4575FBAFB}"/>
              </a:ext>
            </a:extLst>
          </p:cNvPr>
          <p:cNvCxnSpPr/>
          <p:nvPr>
            <p:custDataLst>
              <p:tags r:id="rId14"/>
            </p:custDataLst>
          </p:nvPr>
        </p:nvCxnSpPr>
        <p:spPr bwMode="gray">
          <a:xfrm>
            <a:off x="7261226" y="3997325"/>
            <a:ext cx="207963" cy="0"/>
          </a:xfrm>
          <a:prstGeom prst="line">
            <a:avLst/>
          </a:prstGeom>
          <a:ln w="31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5799138" y="6480175"/>
            <a:ext cx="26717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it-IT" altLang="en-US" sz="1200" b="1">
                <a:effectLst/>
                <a:latin typeface="+mn-lt"/>
              </a:rPr>
              <a:t>Conservative AI Value </a:t>
            </a:r>
            <a:r>
              <a:rPr lang="it-IT" altLang="en-US" sz="1200">
                <a:effectLst/>
                <a:latin typeface="+mn-lt"/>
              </a:rPr>
              <a:t>(AZN Millions)</a:t>
            </a:r>
            <a:endParaRPr lang="en-US" sz="1200">
              <a:latin typeface="+mn-lt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644525" y="2092325"/>
            <a:ext cx="23495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>
                <a:effectLst/>
                <a:latin typeface="+mn-lt"/>
              </a:rPr>
              <a:t>Feasibility &amp; Strategy Fit </a:t>
            </a:r>
            <a:r>
              <a:rPr lang="en-US" altLang="en-US" sz="1200">
                <a:effectLst/>
                <a:latin typeface="+mn-lt"/>
              </a:rPr>
              <a:t>(0-10)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gray">
          <a:xfrm>
            <a:off x="6542088" y="2819400"/>
            <a:ext cx="1727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AC7E8B9-91AC-4268-823A-C15B96DF893B}" type="datetime'''''''''''''Techno''''lo''''gy'' &amp;'''' Op''erati''''''o''''ns'">
              <a:rPr lang="en-US" altLang="en-US" sz="1200" smtClean="0">
                <a:latin typeface="+mn-lt"/>
              </a:rPr>
              <a:pPr/>
              <a:t>Technology &amp; Operations</a:t>
            </a:fld>
            <a:endParaRPr lang="en-US" sz="1200">
              <a:latin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3992563" y="4352925"/>
            <a:ext cx="12334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7734ED4-9565-4F05-8F67-5F2F4E14D6E4}" type="datetime'''''''Fro''n''''t''-''''Of''fi''ce'''' &amp;'' ''''''B''''D'">
              <a:rPr lang="en-US" altLang="en-US" sz="1200" smtClean="0">
                <a:latin typeface="+mn-lt"/>
              </a:rPr>
              <a:pPr/>
              <a:t>Front-Office &amp; BD</a:t>
            </a:fld>
            <a:endParaRPr lang="en-US" sz="1200">
              <a:latin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1092200" y="3906838"/>
            <a:ext cx="18684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D519BD7-F1C8-4ADA-963D-416B39AC0227}" type="datetime'R''''''is''k'', Com''p''''li''''ance &amp;'''' ''Con''tr''o''''l'">
              <a:rPr lang="en-US" altLang="en-US" sz="1200" smtClean="0">
                <a:latin typeface="+mn-lt"/>
              </a:rPr>
              <a:pPr/>
              <a:t>Risk, Compliance &amp; Control</a:t>
            </a:fld>
            <a:endParaRPr lang="en-US" sz="1200">
              <a:latin typeface="+mn-lt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FA930B37-A4D7-6A35-D584-0EC8F3272356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2328863" y="3375025"/>
            <a:ext cx="13954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2F89753-B4B6-48CE-B844-BE98815E919F}" type="datetime'''''C''orp''o''''''ra''''t''e'''' ''''''F''unctio''''n''''s'''">
              <a:rPr lang="en-US" altLang="en-US" sz="1200" smtClean="0">
                <a:latin typeface="+mn-lt"/>
              </a:rPr>
              <a:pPr/>
              <a:t>Corporate Functions</a:t>
            </a:fld>
            <a:endParaRPr lang="en-US" sz="1200">
              <a:latin typeface="+mn-lt"/>
            </a:endParaRPr>
          </a:p>
        </p:txBody>
      </p:sp>
      <p:sp>
        <p:nvSpPr>
          <p:cNvPr id="99" name="Text Placeholder 4">
            <a:extLst>
              <a:ext uri="{FF2B5EF4-FFF2-40B4-BE49-F238E27FC236}">
                <a16:creationId xmlns:a16="http://schemas.microsoft.com/office/drawing/2014/main" id="{ED9C83EB-2FD2-CA8A-E5DD-5ED0CEC29005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2000250" y="2843213"/>
            <a:ext cx="1219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923DAF6-1AB1-4372-8937-1DD36EB5672F}" type="datetime'C''''''us''''t''''''o''mer'' ''''''S''''e''''''r''''vi''ce'">
              <a:rPr lang="en-US" altLang="en-US" sz="1200" smtClean="0">
                <a:latin typeface="+mn-lt"/>
              </a:rPr>
              <a:pPr/>
              <a:t>Customer Service</a:t>
            </a:fld>
            <a:endParaRPr lang="en-US" sz="1200">
              <a:latin typeface="+mn-lt"/>
            </a:endParaRP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6DEEFDBF-9E69-3727-8618-1AD0DB090AD2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698500" y="3359150"/>
            <a:ext cx="1373188" cy="1825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B894BC5-61CA-4129-9492-430476E9F119}" type="datetime'''''''''Prop''''e''rty &amp;'''' Faci''li''''t''''''''''''i''es'''">
              <a:rPr lang="en-US" altLang="en-US" sz="1200" smtClean="0">
                <a:solidFill>
                  <a:schemeClr val="bg1"/>
                </a:solidFill>
                <a:latin typeface="+mn-lt"/>
              </a:rPr>
              <a:pPr/>
              <a:t>Property &amp; Facilities</a:t>
            </a:fld>
            <a:endParaRPr lang="en-US" sz="12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3" name="Text Placeholder 4">
            <a:extLst>
              <a:ext uri="{FF2B5EF4-FFF2-40B4-BE49-F238E27FC236}">
                <a16:creationId xmlns:a16="http://schemas.microsoft.com/office/drawing/2014/main" id="{40E2A138-4FD0-A8D3-0915-FD98BB08DFA9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5407025" y="3906838"/>
            <a:ext cx="1854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EF686BE-FED3-4FCA-9674-0ECC2574858E}" type="datetime'Und''''erwri''t''in''g'''''' ''proce''''''s''s'' upl''''ift'">
              <a:rPr lang="en-US" altLang="en-US" sz="1200" smtClean="0">
                <a:latin typeface="+mn-lt"/>
              </a:rPr>
              <a:pPr/>
              <a:t>Underwriting process uplift</a:t>
            </a:fld>
            <a:endParaRPr lang="en-US" sz="1200">
              <a:latin typeface="+mn-lt"/>
            </a:endParaRPr>
          </a:p>
        </p:txBody>
      </p:sp>
      <p:sp>
        <p:nvSpPr>
          <p:cNvPr id="105" name="Text Placeholder 4">
            <a:extLst>
              <a:ext uri="{FF2B5EF4-FFF2-40B4-BE49-F238E27FC236}">
                <a16:creationId xmlns:a16="http://schemas.microsoft.com/office/drawing/2014/main" id="{4AE2D0C3-1C14-58A0-D531-9B5332ECFF4C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5738813" y="4970463"/>
            <a:ext cx="15684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A94FDEA-C2B8-4CD0-90F7-20416E1A60A7}" type="datetime'''''Cu''s''to''''''''''m''''''''e''r'' re-''a''''''ctivation'">
              <a:rPr lang="en-US" altLang="en-US" sz="1200" smtClean="0">
                <a:latin typeface="+mn-lt"/>
              </a:rPr>
              <a:pPr/>
              <a:t>Customer re-activation</a:t>
            </a:fld>
            <a:endParaRPr lang="en-US" sz="1200">
              <a:latin typeface="+mn-lt"/>
            </a:endParaRPr>
          </a:p>
        </p:txBody>
      </p:sp>
      <p:sp>
        <p:nvSpPr>
          <p:cNvPr id="107" name="Text Placeholder 4">
            <a:extLst>
              <a:ext uri="{FF2B5EF4-FFF2-40B4-BE49-F238E27FC236}">
                <a16:creationId xmlns:a16="http://schemas.microsoft.com/office/drawing/2014/main" id="{FBFCE8D2-6C82-19AD-4F3F-25A4AFE52550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gray">
          <a:xfrm>
            <a:off x="6067425" y="4438650"/>
            <a:ext cx="13716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5596CBB-9172-42F8-8AB6-22BAFE07545F}" type="datetime'Inc''reased'' c''r''os''''s-''''''s''e''''''''''''''''l''''l'">
              <a:rPr lang="en-US" altLang="en-US" sz="1200" smtClean="0">
                <a:latin typeface="+mn-lt"/>
              </a:rPr>
              <a:pPr/>
              <a:t>Increased cross-sell</a:t>
            </a:fld>
            <a:endParaRPr lang="en-US" sz="1200">
              <a:latin typeface="+mn-lt"/>
            </a:endParaRPr>
          </a:p>
        </p:txBody>
      </p:sp>
      <p:sp>
        <p:nvSpPr>
          <p:cNvPr id="109" name="Text Placeholder 4">
            <a:extLst>
              <a:ext uri="{FF2B5EF4-FFF2-40B4-BE49-F238E27FC236}">
                <a16:creationId xmlns:a16="http://schemas.microsoft.com/office/drawing/2014/main" id="{93F549A9-4E16-61B6-C285-F77571692BC8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gray">
          <a:xfrm>
            <a:off x="1241425" y="5502275"/>
            <a:ext cx="14462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C79C957-E8B2-409E-AF4C-272A79A059E6}" type="datetime'''''''''O''the''r ''li''''f''e''cyc''''l''''''e'' lever''s'''">
              <a:rPr lang="en-US" altLang="en-US" sz="1200" smtClean="0">
                <a:latin typeface="+mn-lt"/>
              </a:rPr>
              <a:pPr/>
              <a:t>Other lifecycle levers</a:t>
            </a:fld>
            <a:endParaRPr lang="en-US" sz="1200">
              <a:latin typeface="+mn-lt"/>
            </a:endParaRPr>
          </a:p>
        </p:txBody>
      </p:sp>
      <p:sp>
        <p:nvSpPr>
          <p:cNvPr id="25" name="Title 5">
            <a:extLst>
              <a:ext uri="{FF2B5EF4-FFF2-40B4-BE49-F238E27FC236}">
                <a16:creationId xmlns:a16="http://schemas.microsoft.com/office/drawing/2014/main" id="{DF420982-9C88-7149-F9C9-89F6E3D4B589}"/>
              </a:ext>
            </a:extLst>
          </p:cNvPr>
          <p:cNvSpPr txBox="1">
            <a:spLocks/>
          </p:cNvSpPr>
          <p:nvPr/>
        </p:nvSpPr>
        <p:spPr>
          <a:xfrm>
            <a:off x="6989446" y="2292155"/>
            <a:ext cx="1675701" cy="1692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 b="1">
                <a:cs typeface="Arial" panose="020B0604020202020204" pitchFamily="34" charset="0"/>
              </a:defRPr>
            </a:lvl1pPr>
          </a:lstStyle>
          <a:p>
            <a:r>
              <a:rPr lang="en-US" sz="1100" i="1">
                <a:solidFill>
                  <a:schemeClr val="accent6"/>
                </a:solidFill>
              </a:rPr>
              <a:t>Preliminary priorities 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E625B79-D89D-569B-A988-5798BD87D9BA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051675" y="1462088"/>
            <a:ext cx="165100" cy="16510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42BDD4C-3851-864B-44F9-86A072083B88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7051675" y="1228725"/>
            <a:ext cx="165100" cy="16510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7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7267575" y="1460500"/>
            <a:ext cx="1184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2897BFB-818D-440B-AAFA-5B0CA7B530EC}" type="datetime'R''''''''''e''''''''venue incr''''e''''''as''''''''''e'''">
              <a:rPr lang="en-US" altLang="en-US" sz="1200" smtClean="0">
                <a:effectLst/>
                <a:latin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Revenue increase</a:t>
            </a:fld>
            <a:endParaRPr lang="en-US" sz="1200" dirty="0">
              <a:latin typeface="+mn-lt"/>
            </a:endParaRP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FF980B6C-28D3-B0DF-C648-D89EE21EC316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7267575" y="1227138"/>
            <a:ext cx="10445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rgbClr val="191C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0283E20-6314-40BD-96BA-AF8C3B840F6C}" type="datetime'''''''''O''PE''''X ''r''''''''e''''''duc''t''i''''o''''n'''''">
              <a:rPr lang="en-US" altLang="en-US" sz="1200" smtClean="0">
                <a:latin typeface="+mn-lt"/>
              </a:rPr>
              <a:pPr/>
              <a:t>OPEX reduction</a:t>
            </a:fld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8997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UNDODONOTDELETE" val="0"/>
  <p:tag name="TEMPLATELASTEDITED" val="2024-05-30 01:34 PM"/>
  <p:tag name="LINKEDPICTURESLINKREMOVED" val="True"/>
  <p:tag name="ICONLINEFILL" val="Color [A=255, R=10, G=86, B=55]"/>
  <p:tag name="ICONLINEFILLTHEME" val="Accent 4"/>
  <p:tag name="ICONFILLBACKGROUND" val="Color [A=255, R=255, G=255, B=255]"/>
  <p:tag name="ICONFILLBACKGROUNDTHEME" val="Accent 4"/>
  <p:tag name="ICONENCLOSURE" val="False"/>
  <p:tag name="THINKCELLPRESENTATIONDONOTDELETE" val="&lt;?xml version=&quot;1.0&quot; encoding=&quot;UTF-16&quot; standalone=&quot;yes&quot;?&gt;&lt;root reqver=&quot;28224&quot;&gt;&lt;version val=&quot;358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2&quot;&gt;&lt;elem m_fUsage=&quot;4.17624823094767805287E+00&quot;&gt;&lt;m_msothmcolidx val=&quot;0&quot;/&gt;&lt;m_rgb r=&quot;82&quot; g=&quot;82&quot; b=&quot;82&quot;/&gt;&lt;/elem&gt;&lt;elem m_fUsage=&quot;2.57981050093707420245E+00&quot;&gt;&lt;m_msothmcolidx val=&quot;0&quot;/&gt;&lt;m_rgb r=&quot;B0&quot; g=&quot;B0&quot; b=&quot;B0&quot;/&gt;&lt;/elem&gt;&lt;elem m_fUsage=&quot;1.40784777884686795879E+00&quot;&gt;&lt;m_msothmcolidx val=&quot;0&quot;/&gt;&lt;m_rgb r=&quot;A6&quot; g=&quot;A6&quot; b=&quot;A6&quot;/&gt;&lt;/elem&gt;&lt;elem m_fUsage=&quot;1.15658076349397953564E+00&quot;&gt;&lt;m_msothmcolidx val=&quot;0&quot;/&gt;&lt;m_rgb r=&quot;B1&quot; g=&quot;B1&quot; b=&quot;B1&quot;/&gt;&lt;/elem&gt;&lt;elem m_fUsage=&quot;3.28868636430079519517E-01&quot;&gt;&lt;m_msothmcolidx val=&quot;0&quot;/&gt;&lt;m_rgb r=&quot;CE&quot; g=&quot;10&quot; b=&quot;25&quot;/&gt;&lt;/elem&gt;&lt;elem m_fUsage=&quot;3.04287613164003434285E-01&quot;&gt;&lt;m_msothmcolidx val=&quot;0&quot;/&gt;&lt;m_rgb r=&quot;D9&quot; g=&quot;D9&quot; b=&quot;D9&quot;/&gt;&lt;/elem&gt;&lt;elem m_fUsage=&quot;2.49789788573267883265E-02&quot;&gt;&lt;m_msothmcolidx val=&quot;0&quot;/&gt;&lt;m_rgb r=&quot;FF&quot; g=&quot;AC&quot; b=&quot;A3&quot;/&gt;&lt;/elem&gt;&lt;elem m_fUsage=&quot;9.00723040409630998360E-03&quot;&gt;&lt;m_msothmcolidx val=&quot;0&quot;/&gt;&lt;m_rgb r=&quot;C5&quot; g=&quot;F3&quot; b=&quot;D4&quot;/&gt;&lt;/elem&gt;&lt;elem m_fUsage=&quot;4.63839768658810738117E-03&quot;&gt;&lt;m_msothmcolidx val=&quot;0&quot;/&gt;&lt;m_rgb r=&quot;1A&quot; g=&quot;50&quot; b=&quot;3A&quot;/&gt;&lt;/elem&gt;&lt;elem m_fUsage=&quot;1.31002050863762210288E-03&quot;&gt;&lt;m_msothmcolidx val=&quot;0&quot;/&gt;&lt;m_rgb r=&quot;FB&quot; g=&quot;ED&quot; b=&quot;B7&quot;/&gt;&lt;/elem&gt;&lt;elem m_fUsage=&quot;1.06111661199647386647E-03&quot;&gt;&lt;m_msothmcolidx val=&quot;0&quot;/&gt;&lt;m_rgb r=&quot;F2&quot; g=&quot;F2&quot; b=&quot;F2&quot;/&gt;&lt;/elem&gt;&lt;elem m_fUsage=&quot;9.55004950796826544875E-04&quot;&gt;&lt;m_msothmcolidx val=&quot;0&quot;/&gt;&lt;m_rgb r=&quot;85&quot; g=&quot;14&quot; b=&quot;36&quot;/&gt;&lt;/elem&gt;&lt;elem m_fUsage=&quot;7.81086801740824834481E-04&quot;&gt;&lt;m_msothmcolidx val=&quot;0&quot;/&gt;&lt;m_rgb r=&quot;E9&quot; g=&quot;DA&quot; b=&quot;69&quot;/&gt;&lt;/elem&gt;&lt;elem m_fUsage=&quot;7.60878666313954846005E-04&quot;&gt;&lt;m_msothmcolidx val=&quot;0&quot;/&gt;&lt;m_rgb r=&quot;FB&quot; g=&quot;CA&quot; b=&quot;D1&quot;/&gt;&lt;/elem&gt;&lt;elem m_fUsage=&quot;5.63920873396018141471E-04&quot;&gt;&lt;m_msothmcolidx val=&quot;0&quot;/&gt;&lt;m_rgb r=&quot;59&quot; g=&quot;59&quot; b=&quot;59&quot;/&gt;&lt;/elem&gt;&lt;elem m_fUsage=&quot;4.61223945559939725852E-04&quot;&gt;&lt;m_msothmcolidx val=&quot;0&quot;/&gt;&lt;m_rgb r=&quot;1E&quot; g=&quot;00&quot; b=&quot;FD&quot;/&gt;&lt;/elem&gt;&lt;elem m_fUsage=&quot;4.56775907450774763981E-04&quot;&gt;&lt;m_msothmcolidx val=&quot;0&quot;/&gt;&lt;m_rgb r=&quot;00&quot; g=&quot;00&quot; b=&quot;00&quot;/&gt;&lt;/elem&gt;&lt;elem m_fUsage=&quot;3.32989636531614858345E-04&quot;&gt;&lt;m_msothmcolidx val=&quot;0&quot;/&gt;&lt;m_rgb r=&quot;E5&quot; g=&quot;F5&quot; b=&quot;FB&quot;/&gt;&lt;/elem&gt;&lt;elem m_fUsage=&quot;2.99690672878453394194E-04&quot;&gt;&lt;m_msothmcolidx val=&quot;0&quot;/&gt;&lt;m_rgb r=&quot;F3&quot; g=&quot;E5&quot; b=&quot;FB&quot;/&gt;&lt;/elem&gt;&lt;elem m_fUsage=&quot;1.96627050475553261533E-04&quot;&gt;&lt;m_msothmcolidx val=&quot;0&quot;/&gt;&lt;m_rgb r=&quot;66&quot; g=&quot;FF&quot; b=&quot;AC&quot;/&gt;&lt;/elem&gt;&lt;elem m_fUsage=&quot;1.59267910885198152142E-04&quot;&gt;&lt;m_msothmcolidx val=&quot;0&quot;/&gt;&lt;m_rgb r=&quot;89&quot; g=&quot;89&quot; b=&quot;9C&quot;/&gt;&lt;/elem&gt;&lt;elem m_fUsage=&quot;9.81390413377109405851E-05&quot;&gt;&lt;m_msothmcolidx val=&quot;0&quot;/&gt;&lt;m_rgb r=&quot;AF&quot; g=&quot;F4&quot; b=&quot;75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1008183255279256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hlT7lGQomWkE8tnMs3l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8"/>
  <p:tag name="LEFT" val="267.5"/>
  <p:tag name="MTNUMBER" val="0,795693112442127"/>
  <p:tag name="MTTABLE" val="Cell"/>
  <p:tag name="TOP" val="110"/>
  <p:tag name="WIDTH" val="202.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8"/>
  <p:tag name="LEFT" val="267.5"/>
  <p:tag name="MTNUMBER" val="0,795693112442127"/>
  <p:tag name="MTTABLE" val="Cell"/>
  <p:tag name="TOP" val="110"/>
  <p:tag name="WIDTH" val="202.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GreyLineSeparatorStron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8"/>
  <p:tag name="LEFT" val="267.5"/>
  <p:tag name="MTNUMBER" val="0,795693112442127"/>
  <p:tag name="MTTABLE" val="Cell"/>
  <p:tag name="TOP" val="110"/>
  <p:tag name="WIDTH" val="202.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8"/>
  <p:tag name="LEFT" val="267.5"/>
  <p:tag name="MTNUMBER" val="0,795693112442127"/>
  <p:tag name="MTTABLE" val="Cell"/>
  <p:tag name="TOP" val="110"/>
  <p:tag name="WIDTH" val="202.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60.3062"/>
  <p:tag name="LEFT" val="490"/>
  <p:tag name="MTNUMBER" val="0,795693112442127"/>
  <p:tag name="MTTABLE" val="Cell"/>
  <p:tag name="TOP" val="139.3875"/>
  <p:tag name="WIDTH" val="202.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0"/>
  <p:tag name="2LEVEL" val="5"/>
  <p:tag name="3LEVEL" val="2.5"/>
  <p:tag name="4LEVEL" val="1.25"/>
  <p:tag name="5LEVEL" val="0.6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HynGIaOIIZugwMmbseb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QvZV4zp7OHS6.kEvEHG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Z5.kHE.ZZdGvI7fsABS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puH_HwIhCLuI04yjj2R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az3RdWJ7YThUhAVwGZj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rnszD1qmuwDw1saRlYA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aduYebE.rQoinbd6OMs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W78unx4FKr0MKDQPa4D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MY7C79bnxtrowhLKWXO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8ToTS9h.dHSEqTc1wpEE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Mb_SalJvqiJ4O.gd148S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aByz5.Y3X3XPMPlbv0d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9S_5B0h2730uLHp2JvNa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FmUHIBYeGuVhRL8pXlX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vhUypR0eVJjML_vNyHH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9s033psT2ZErI1B2a5h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4CDDYdKTXDsfcqSVRka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N3IY6AHgcxa4aF4xLHt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OhJiirxTS1BzCMVkFWC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yrKKCUWaY33j8ClLCer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x4UzfxDhEhQxbqQKnH_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73SIrx3eYtMm95eUGVqL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IJp9VA8OXv6qPOOhPMI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6J8.pbBVhydjCcDHICyC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7TxuoZULSsLjXcGKA7J1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QENNhP.OjQILbfyS7wK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4OXBgWCDS6Dhhfodluow"/>
</p:tagLst>
</file>

<file path=ppt/theme/theme1.xml><?xml version="1.0" encoding="utf-8"?>
<a:theme xmlns:a="http://schemas.openxmlformats.org/drawingml/2006/main" name="3_White">
  <a:themeElements>
    <a:clrScheme name="Custom 1">
      <a:dk1>
        <a:srgbClr val="111918"/>
      </a:dk1>
      <a:lt1>
        <a:srgbClr val="FFFFFF"/>
      </a:lt1>
      <a:dk2>
        <a:srgbClr val="111918"/>
      </a:dk2>
      <a:lt2>
        <a:srgbClr val="FFFFFF"/>
      </a:lt2>
      <a:accent1>
        <a:srgbClr val="111918"/>
      </a:accent1>
      <a:accent2>
        <a:srgbClr val="1C863F"/>
      </a:accent2>
      <a:accent3>
        <a:srgbClr val="E9F7EE"/>
      </a:accent3>
      <a:accent4>
        <a:srgbClr val="0A5637"/>
      </a:accent4>
      <a:accent5>
        <a:srgbClr val="E4EAEA"/>
      </a:accent5>
      <a:accent6>
        <a:srgbClr val="F7D147"/>
      </a:accent6>
      <a:hlink>
        <a:srgbClr val="309DE3"/>
      </a:hlink>
      <a:folHlink>
        <a:srgbClr val="B4B4B4"/>
      </a:folHlink>
    </a:clrScheme>
    <a:fontScheme name="Custom 4">
      <a:majorFont>
        <a:latin typeface="Georgia"/>
        <a:ea typeface=""/>
        <a:cs typeface=""/>
      </a:majorFont>
      <a:minorFont>
        <a:latin typeface="Tahom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Pasha Bank">
        <a:dk1>
          <a:srgbClr val="000000"/>
        </a:dk1>
        <a:lt1>
          <a:srgbClr val="FFFFFF"/>
        </a:lt1>
        <a:dk2>
          <a:srgbClr val="191C1E"/>
        </a:dk2>
        <a:lt2>
          <a:srgbClr val="FFFFFF"/>
        </a:lt2>
        <a:accent1>
          <a:srgbClr val="191C1E"/>
        </a:accent1>
        <a:accent2>
          <a:srgbClr val="CAB597"/>
        </a:accent2>
        <a:accent3>
          <a:srgbClr val="E0D4C2"/>
        </a:accent3>
        <a:accent4>
          <a:srgbClr val="4E3227"/>
        </a:accent4>
        <a:accent5>
          <a:srgbClr val="F3EFD7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05F5B"/>
    </a:custClr>
    <a:custClr name="Custom 2">
      <a:srgbClr val="74A09B"/>
    </a:custClr>
    <a:custClr name="Custom 3">
      <a:srgbClr val="B9D0CD"/>
    </a:custClr>
  </a:custClrLst>
  <a:extLst>
    <a:ext uri="{05A4C25C-085E-4340-85A3-A5531E510DB2}">
      <thm15:themeFamily xmlns:thm15="http://schemas.microsoft.com/office/thememl/2012/main" name="Паша Банк Премиум_Pasha Bank Premium_NVI_16x9_(2020)_eng.potx" id="{580EA364-9433-4864-8FB8-AF233E5953FF}" vid="{ACA3B730-9EDB-4893-820D-8578A98D4CFA}"/>
    </a:ext>
  </a:extLst>
</a:theme>
</file>

<file path=ppt/theme/theme2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1">
    <wetp:webextensionref xmlns:r="http://schemas.openxmlformats.org/officeDocument/2006/relationships" r:id="rId1"/>
  </wetp:taskpane>
  <wetp:taskpane dockstate="right" visibility="0" width="438" row="8">
    <wetp:webextensionref xmlns:r="http://schemas.openxmlformats.org/officeDocument/2006/relationships" r:id="rId2"/>
  </wetp:taskpane>
  <wetp:taskpane dockstate="right" visibility="1" width="525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C0A698D-5F7E-45E5-A99D-9516E3C867B4}">
  <we:reference id="7888317b-a425-4590-9747-4c188fd7be2e" version="2.40.2.0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5F5ECE2-7E39-4255-BD47-97E0109E044C}">
  <we:reference id="e74ca2a7-5e50-4ebf-bfa5-bb75c7950374" version="4.0.0.0" store="EXCatalog" storeType="EXCatalog"/>
  <we:alternateReferences/>
  <we:properties>
    <we:property name="srChargeCodeData" value="{&quot;selectedSupportOption&quot;:&quot;SLIDEREQUESTPLUS&quot;,&quot;language&quot;:&quot;English&quot;,&quot;chargeCode&quot;:{&quot;activityCode&quot;:&quot;CE&quot;,&quot;allocation_date&quot;:&quot;2026-04-27T00:30:00.000Z&quot;,&quot;announcements&quot;:{&quot;createdAt&quot;:null,&quot;id&quot;:4,&quot;link&quot;:&quot;https://vgm.intranet.mckinsey.com/capacity-home&quot;,&quot;linkText&quot;:&quot;Learn more&quot;,&quot;longDescription&quot;:&quot;Alert: VG&amp;Media closed Dec 25 &amp; Jan 1. Tokens unavailable, standard delivery only Dec 23-Jan 3&quot;,&quot;shortDescription&quot;:&quot;Due to Values Day on June 19, plan for 24+ hour start times and \&quot;No Token\&quot; delivery option only.&quot;,&quot;showOnAddin&quot;:1,&quot;source&quot;:&quot;cs-web-addin&quot;,&quot;updatedAt&quot;:{},&quot;webAddinAnnouncementText&quot;:{&quot;body&quot;:&quot;Due to Values Day on June 19, plan for 24+ hour start times and \&quot;No Token\&quot; delivery option only.&quot;,&quot;heading&quot;:&quot;VG&amp;Media Capacity Alert&quot;,&quot;primaryAction&quot;:{&quot;label&quot;:&quot;Learn more&quot;,&quot;url&quot;:&quot;https://vgm.intranet.mckinsey.com/capacity-home&quot;},&quot;secondaryAction&quot;:{&quot;label&quot;:&quot;&quot;,&quot;url&quot;:&quot;&quot;},&quot;style&quot;:&quot;warning&quot;}},&quot;chargeCode&quot;:&quot;valid&quot;,&quot;chargeCodeRegistered&quot;:true,&quot;critical&quot;:0,&quot;csProjectId&quot;:1212260532,&quot;eligibleForPlus&quot;:false,&quot;featureFlag&quot;:{&quot;blockRequestsEnabled&quot;:false,&quot;overnightDeliveryEnabled&quot;:false,&quot;searchOfferingEnabled&quot;:false},&quot;forecast_value&quot;:&quot;Usual&quot;,&quot;inScope&quot;:true,&quot;is_mandate&quot;:1,&quot;isBoxDisabled&quot;:false,&quot;isCTEEnabled&quot;:false,&quot;lane&quot;:&quot;Global&quot;,&quot;mandate_date&quot;:&quot;2026-03-16&quot;,&quot;maxStartTime&quot;:480,&quot;message&quot;:&quot;&quot;,&quot;outSourced&quot;:true,&quot;platform&quot;:&quot;GW&quot;,&quot;projectType&quot;:&quot;Client&quot;,&quot;showInternal&quot;:false,&quot;study_end_date&quot;:&quot;2026-09-24&quot;,&quot;subLane&quot;:&quot;&quot;,&quot;teamMembers&quot;:[{&quot;end_date&quot;:&quot;2026-07-03&quot;,&quot;fmno&quot;:344518,&quot;start_date&quot;:&quot;2026-04-13&quot;},{&quot;end_date&quot;:&quot;2026-07-17&quot;,&quot;fmno&quot;:301316,&quot;start_date&quot;:&quot;2026-04-13&quot;},{&quot;end_date&quot;:&quot;2026-07-03&quot;,&quot;fmno&quot;:145759,&quot;start_date&quot;:&quot;2026-04-13&quot;},{&quot;end_date&quot;:&quot;2026-06-30&quot;,&quot;fmno&quot;:189650,&quot;start_date&quot;:&quot;2026-05-13&quot;}],&quot;token_admin&quot;:&quot;Sinan Dundar&quot;,&quot;tokenInfo&quot;:{&quot;allocated&quot;:57,&quot;autoNegotiation&quot;:64,&quot;autoNegotiationAvailCount&quot;:10,&quot;available&quot;:0,&quot;buffer&quot;:7,&quot;eligibleForNegotiation&quot;:true,&quot;escalationCount&quot;:0,&quot;forecast_value&quot;:&quot;Usual&quot;,&quot;manualNegotiation&quot;:9,&quot;manualNegotiationAvailCount&quot;:1,&quot;minimumTokenValue&quot;:30,&quot;negotiated&quot;:0,&quot;spent&quot;:130,&quot;study_end_date&quot;:&quot;2026-09-24&quot;,&quot;teamMembers&quot;:[],&quot;token_admin&quot;:null},&quot;userRegistered&quot;:true,&quot;code&quot;:&quot;8778KH01&quot;,&quot;updatedAt&quot;:&quot;2026-06-18T01:48:16.771Z&quot;}}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660691E-05B7-4113-80D3-DDDA2D5E8A09}">
  <we:reference id="5332053f-08b1-4ad5-b936-144d44d33f40" version="2.62.2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20A6254070E24794FE1579C5A6C6D3" ma:contentTypeVersion="13" ma:contentTypeDescription="Create a new document." ma:contentTypeScope="" ma:versionID="856520005649c6e1a5be1125adfad44c">
  <xsd:schema xmlns:xsd="http://www.w3.org/2001/XMLSchema" xmlns:xs="http://www.w3.org/2001/XMLSchema" xmlns:p="http://schemas.microsoft.com/office/2006/metadata/properties" xmlns:ns2="0be14fa9-6cae-4a6e-8f64-c89653d71d1a" xmlns:ns3="04527f1d-420b-4ae9-8cfd-f1f820dd9ec6" targetNamespace="http://schemas.microsoft.com/office/2006/metadata/properties" ma:root="true" ma:fieldsID="542299730c12770953427dc040bddabb" ns2:_="" ns3:_="">
    <xsd:import namespace="0be14fa9-6cae-4a6e-8f64-c89653d71d1a"/>
    <xsd:import namespace="04527f1d-420b-4ae9-8cfd-f1f820dd9ec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e14fa9-6cae-4a6e-8f64-c89653d71d1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0" nillable="true" ma:displayName="Taxonomy Catch All Column" ma:hidden="true" ma:list="{c5f9a80a-5724-4ce0-89cc-e8e2fb0f3bae}" ma:internalName="TaxCatchAll" ma:showField="CatchAllData" ma:web="0be14fa9-6cae-4a6e-8f64-c89653d71d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27f1d-420b-4ae9-8cfd-f1f820dd9e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displayName="Image Tags_0" ma:hidden="true" ma:internalName="lcf76f155ced4ddcb4097134ff3c332f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527f1d-420b-4ae9-8cfd-f1f820dd9ec6" xsi:nil="true"/>
    <TaxCatchAll xmlns="0be14fa9-6cae-4a6e-8f64-c89653d71d1a" xsi:nil="true"/>
    <_dlc_DocId xmlns="0be14fa9-6cae-4a6e-8f64-c89653d71d1a">DREYFNV3VPE6-1370595577-2690</_dlc_DocId>
    <_dlc_DocIdUrl xmlns="0be14fa9-6cae-4a6e-8f64-c89653d71d1a">
      <Url>https://mckinsey.sharepoint.com/sites/spe-int-hp2fb3s8gbn/_layouts/15/DocIdRedir.aspx?ID=DREYFNV3VPE6-1370595577-2690</Url>
      <Description>DREYFNV3VPE6-1370595577-2690</Description>
    </_dlc_DocIdUrl>
  </documentManagement>
</p:properties>
</file>

<file path=customXml/itemProps1.xml><?xml version="1.0" encoding="utf-8"?>
<ds:datastoreItem xmlns:ds="http://schemas.openxmlformats.org/officeDocument/2006/customXml" ds:itemID="{DD9506CC-CDA4-4209-B1FA-6E54A92D5AD1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02FF45-338E-40B2-91CC-A5150C6386DD}">
  <ds:schemaRefs>
    <ds:schemaRef ds:uri="04527f1d-420b-4ae9-8cfd-f1f820dd9ec6"/>
    <ds:schemaRef ds:uri="0be14fa9-6cae-4a6e-8f64-c89653d71d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67DF283F-4B82-4892-8EF9-70B9B3E3286B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04527f1d-420b-4ae9-8cfd-f1f820dd9ec6"/>
    <ds:schemaRef ds:uri="0be14fa9-6cae-4a6e-8f64-c89653d71d1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64</TotalTime>
  <Words>666</Words>
  <Application>Microsoft Office PowerPoint</Application>
  <PresentationFormat>Widescreen</PresentationFormat>
  <Paragraphs>120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Aptos</vt:lpstr>
      <vt:lpstr>Aptos Display</vt:lpstr>
      <vt:lpstr>Arial</vt:lpstr>
      <vt:lpstr>Century Gothic</vt:lpstr>
      <vt:lpstr>Georgia</vt:lpstr>
      <vt:lpstr>Segoe UI</vt:lpstr>
      <vt:lpstr>Tahoma</vt:lpstr>
      <vt:lpstr>Wingdings</vt:lpstr>
      <vt:lpstr>3_White</vt:lpstr>
      <vt:lpstr>think-cell Slide</vt:lpstr>
      <vt:lpstr>PASHA Bank AI Impact Assessment</vt:lpstr>
      <vt:lpstr>For each business domain, the business impact is assessed through a bottom-up calculation of underlying value streams</vt:lpstr>
      <vt:lpstr>IT and Risk emerge as the highest-potential AI domains, representing a combined ~21M AZN value pool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Alexandra Marzan</dc:creator>
  <cp:keywords/>
  <dc:description/>
  <cp:lastModifiedBy>Jamil Guliyev</cp:lastModifiedBy>
  <cp:revision>2</cp:revision>
  <cp:lastPrinted>2018-10-30T20:37:12Z</cp:lastPrinted>
  <dcterms:created xsi:type="dcterms:W3CDTF">2026-04-21T19:35:39Z</dcterms:created>
  <dcterms:modified xsi:type="dcterms:W3CDTF">2026-10-04T11:07:20Z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MSIP_Label_83303d7c-e5a3-4cc8-90eb-69bfd7570ac4_Enabled">
    <vt:lpwstr>true</vt:lpwstr>
  </property>
  <property fmtid="{D5CDD505-2E9C-101B-9397-08002B2CF9AE}" pid="10" name="MSIP_Label_83303d7c-e5a3-4cc8-90eb-69bfd7570ac4_SetDate">
    <vt:lpwstr>2026-04-21T19:36:13Z</vt:lpwstr>
  </property>
  <property fmtid="{D5CDD505-2E9C-101B-9397-08002B2CF9AE}" pid="11" name="MSIP_Label_83303d7c-e5a3-4cc8-90eb-69bfd7570ac4_Method">
    <vt:lpwstr>Standard</vt:lpwstr>
  </property>
  <property fmtid="{D5CDD505-2E9C-101B-9397-08002B2CF9AE}" pid="12" name="MSIP_Label_83303d7c-e5a3-4cc8-90eb-69bfd7570ac4_Name">
    <vt:lpwstr>Client Confidential Information-SLV1</vt:lpwstr>
  </property>
  <property fmtid="{D5CDD505-2E9C-101B-9397-08002B2CF9AE}" pid="13" name="MSIP_Label_83303d7c-e5a3-4cc8-90eb-69bfd7570ac4_SiteId">
    <vt:lpwstr>cc8936bc-9382-4fff-87cb-6f55999549e7</vt:lpwstr>
  </property>
  <property fmtid="{D5CDD505-2E9C-101B-9397-08002B2CF9AE}" pid="14" name="MSIP_Label_83303d7c-e5a3-4cc8-90eb-69bfd7570ac4_ActionId">
    <vt:lpwstr>ed0ebb9b-bc7f-48b2-809c-174b7410e90a</vt:lpwstr>
  </property>
  <property fmtid="{D5CDD505-2E9C-101B-9397-08002B2CF9AE}" pid="15" name="MSIP_Label_83303d7c-e5a3-4cc8-90eb-69bfd7570ac4_ContentBits">
    <vt:lpwstr>0</vt:lpwstr>
  </property>
  <property fmtid="{D5CDD505-2E9C-101B-9397-08002B2CF9AE}" pid="16" name="MSIP_Label_83303d7c-e5a3-4cc8-90eb-69bfd7570ac4_Tag">
    <vt:lpwstr>10, 3, 0, 1</vt:lpwstr>
  </property>
  <property fmtid="{D5CDD505-2E9C-101B-9397-08002B2CF9AE}" pid="17" name="ContentTypeId">
    <vt:lpwstr>0x010100BA20A6254070E24794FE1579C5A6C6D3</vt:lpwstr>
  </property>
  <property fmtid="{D5CDD505-2E9C-101B-9397-08002B2CF9AE}" pid="18" name="_dlc_DocIdItemGuid">
    <vt:lpwstr>fbc1c050-0773-419f-8ddb-f385c94fba8a</vt:lpwstr>
  </property>
</Properties>
</file>