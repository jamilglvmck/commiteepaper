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1.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notesSlides/notesSlide3.xml" ContentType="application/vnd.openxmlformats-officedocument.presentationml.notesSlide+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notesSlides/notesSlide4.xml" ContentType="application/vnd.openxmlformats-officedocument.presentationml.notesSlide+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charts/chart2.xml" ContentType="application/vnd.openxmlformats-officedocument.drawingml.chart+xml"/>
  <Override PartName="/ppt/charts/chart3.xml" ContentType="application/vnd.openxmlformats-officedocument.drawingml.chart+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charts/chart4.xml" ContentType="application/vnd.openxmlformats-officedocument.drawingml.chart+xml"/>
  <Override PartName="/ppt/charts/chart5.xml" ContentType="application/vnd.openxmlformats-officedocument.drawingml.chart+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notesSlides/notesSlide5.xml" ContentType="application/vnd.openxmlformats-officedocument.presentationml.notesSlide+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notesSlides/notesSlide6.xml" ContentType="application/vnd.openxmlformats-officedocument.presentationml.notesSlide+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notesSlides/notesSlide7.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notesSlides/notesSlide8.xml" ContentType="application/vnd.openxmlformats-officedocument.presentationml.notesSlide+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charts/chart10.xml" ContentType="application/vnd.openxmlformats-officedocument.drawingml.chart+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notesSlides/notesSlide9.xml" ContentType="application/vnd.openxmlformats-officedocument.presentationml.notesSlide+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notesSlides/notesSlide10.xml" ContentType="application/vnd.openxmlformats-officedocument.presentationml.notesSlide+xml"/>
  <Override PartName="/ppt/charts/chart11.xml" ContentType="application/vnd.openxmlformats-officedocument.drawingml.chart+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notesSlides/notesSlide11.xml" ContentType="application/vnd.openxmlformats-officedocument.presentationml.notesSlide+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notesSlides/notesSlide12.xml" ContentType="application/vnd.openxmlformats-officedocument.presentationml.notesSlide+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notesSlides/notesSlide13.xml" ContentType="application/vnd.openxmlformats-officedocument.presentationml.notesSlide+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notesSlides/notesSlide14.xml" ContentType="application/vnd.openxmlformats-officedocument.presentationml.notesSlide+xml"/>
  <Override PartName="/ppt/tags/tag785.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1" r:id="rId5"/>
  </p:sldMasterIdLst>
  <p:notesMasterIdLst>
    <p:notesMasterId r:id="rId41"/>
  </p:notesMasterIdLst>
  <p:handoutMasterIdLst>
    <p:handoutMasterId r:id="rId42"/>
  </p:handoutMasterIdLst>
  <p:sldIdLst>
    <p:sldId id="309" r:id="rId6"/>
    <p:sldId id="256" r:id="rId7"/>
    <p:sldId id="262" r:id="rId8"/>
    <p:sldId id="294" r:id="rId9"/>
    <p:sldId id="293" r:id="rId10"/>
    <p:sldId id="280" r:id="rId11"/>
    <p:sldId id="295" r:id="rId12"/>
    <p:sldId id="290" r:id="rId13"/>
    <p:sldId id="267" r:id="rId14"/>
    <p:sldId id="257" r:id="rId15"/>
    <p:sldId id="261" r:id="rId16"/>
    <p:sldId id="291" r:id="rId17"/>
    <p:sldId id="275" r:id="rId18"/>
    <p:sldId id="284" r:id="rId19"/>
    <p:sldId id="266" r:id="rId20"/>
    <p:sldId id="281" r:id="rId21"/>
    <p:sldId id="274" r:id="rId22"/>
    <p:sldId id="276" r:id="rId23"/>
    <p:sldId id="289" r:id="rId24"/>
    <p:sldId id="279" r:id="rId25"/>
    <p:sldId id="282" r:id="rId26"/>
    <p:sldId id="283" r:id="rId27"/>
    <p:sldId id="260" r:id="rId28"/>
    <p:sldId id="2147483646" r:id="rId29"/>
    <p:sldId id="258" r:id="rId30"/>
    <p:sldId id="2147482985" r:id="rId31"/>
    <p:sldId id="259" r:id="rId32"/>
    <p:sldId id="2147483647" r:id="rId33"/>
    <p:sldId id="2147483636" r:id="rId34"/>
    <p:sldId id="2147483644" r:id="rId35"/>
    <p:sldId id="2147483468" r:id="rId36"/>
    <p:sldId id="2147483503" r:id="rId37"/>
    <p:sldId id="2147483634" r:id="rId38"/>
    <p:sldId id="2147483633" r:id="rId39"/>
    <p:sldId id="268" r:id="rId40"/>
  </p:sldIdLst>
  <p:sldSz cx="12192000" cy="6858000"/>
  <p:notesSz cx="7102475" cy="9388475"/>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5637"/>
    <a:srgbClr val="F7D147"/>
    <a:srgbClr val="1C863F"/>
    <a:srgbClr val="74A09B"/>
    <a:srgbClr val="A6A6A6"/>
    <a:srgbClr val="FDF6DA"/>
    <a:srgbClr val="C5F3D4"/>
    <a:srgbClr val="FFFFFF"/>
    <a:srgbClr val="E4EAEA"/>
    <a:srgbClr val="FEDA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10.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1106719367588931E-2"/>
          <c:y val="3.6723163841807911E-2"/>
          <c:w val="0.91778656126482216"/>
          <c:h val="0.92655367231638419"/>
        </c:manualLayout>
      </c:layout>
      <c:barChart>
        <c:barDir val="col"/>
        <c:grouping val="stacked"/>
        <c:varyColors val="0"/>
        <c:ser>
          <c:idx val="0"/>
          <c:order val="0"/>
          <c:spPr>
            <a:solidFill>
              <a:schemeClr val="accent2"/>
            </a:solidFill>
            <a:ln w="9525" cmpd="sng" algn="ctr">
              <a:solidFill>
                <a:schemeClr val="bg1"/>
              </a:solidFill>
              <a:prstDash val="solid"/>
            </a:ln>
          </c:spPr>
          <c:invertIfNegative val="0"/>
          <c:val>
            <c:numRef>
              <c:f>Sheet1!$A$1:$B$1</c:f>
              <c:numCache>
                <c:formatCode>General</c:formatCode>
                <c:ptCount val="2"/>
                <c:pt idx="0">
                  <c:v>460</c:v>
                </c:pt>
                <c:pt idx="1">
                  <c:v>2054.4</c:v>
                </c:pt>
              </c:numCache>
            </c:numRef>
          </c:val>
          <c:extLst>
            <c:ext xmlns:c16="http://schemas.microsoft.com/office/drawing/2014/chart" uri="{C3380CC4-5D6E-409C-BE32-E72D297353CC}">
              <c16:uniqueId val="{00000000-A95A-4A6D-92D0-1FD6F6B16BF0}"/>
            </c:ext>
          </c:extLst>
        </c:ser>
        <c:ser>
          <c:idx val="1"/>
          <c:order val="1"/>
          <c:spPr>
            <a:solidFill>
              <a:srgbClr val="B0B0B0"/>
            </a:solidFill>
            <a:ln w="9525" cmpd="sng" algn="ctr">
              <a:solidFill>
                <a:schemeClr val="bg1"/>
              </a:solidFill>
              <a:prstDash val="solid"/>
            </a:ln>
          </c:spPr>
          <c:invertIfNegative val="0"/>
          <c:val>
            <c:numRef>
              <c:f>Sheet1!$A$2:$B$2</c:f>
              <c:numCache>
                <c:formatCode>General</c:formatCode>
                <c:ptCount val="2"/>
                <c:pt idx="0">
                  <c:v>2065.4725156669651</c:v>
                </c:pt>
                <c:pt idx="1">
                  <c:v>1115.072515666965</c:v>
                </c:pt>
              </c:numCache>
            </c:numRef>
          </c:val>
          <c:extLst>
            <c:ext xmlns:c16="http://schemas.microsoft.com/office/drawing/2014/chart" uri="{C3380CC4-5D6E-409C-BE32-E72D297353CC}">
              <c16:uniqueId val="{00000001-A95A-4A6D-92D0-1FD6F6B16BF0}"/>
            </c:ext>
          </c:extLst>
        </c:ser>
        <c:dLbls>
          <c:showLegendKey val="0"/>
          <c:showVal val="0"/>
          <c:showCatName val="0"/>
          <c:showSerName val="0"/>
          <c:showPercent val="0"/>
          <c:showBubbleSize val="0"/>
        </c:dLbls>
        <c:gapWidth val="40"/>
        <c:overlap val="100"/>
        <c:axId val="1626053967"/>
        <c:axId val="1"/>
      </c:barChart>
      <c:catAx>
        <c:axId val="162605396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169.4725156669651"/>
          <c:min val="0"/>
        </c:scaling>
        <c:delete val="1"/>
        <c:axPos val="l"/>
        <c:numFmt formatCode="General" sourceLinked="1"/>
        <c:majorTickMark val="out"/>
        <c:minorTickMark val="none"/>
        <c:tickLblPos val="nextTo"/>
        <c:crossAx val="1626053967"/>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0270270270270274E-2"/>
          <c:y val="2.9213483146067417E-2"/>
          <c:w val="0.85945945945945945"/>
          <c:h val="0.94157303370786516"/>
        </c:manualLayout>
      </c:layout>
      <c:barChart>
        <c:barDir val="col"/>
        <c:grouping val="stacked"/>
        <c:varyColors val="0"/>
        <c:ser>
          <c:idx val="0"/>
          <c:order val="0"/>
          <c:spPr>
            <a:solidFill>
              <a:srgbClr val="74A09B"/>
            </a:solidFill>
            <a:ln>
              <a:noFill/>
            </a:ln>
          </c:spPr>
          <c:invertIfNegative val="0"/>
          <c:val>
            <c:numRef>
              <c:f>Sheet1!$A$1</c:f>
              <c:numCache>
                <c:formatCode>General</c:formatCode>
                <c:ptCount val="1"/>
                <c:pt idx="0">
                  <c:v>20080</c:v>
                </c:pt>
              </c:numCache>
            </c:numRef>
          </c:val>
          <c:extLst>
            <c:ext xmlns:c16="http://schemas.microsoft.com/office/drawing/2014/chart" uri="{C3380CC4-5D6E-409C-BE32-E72D297353CC}">
              <c16:uniqueId val="{00000000-3E86-468A-8258-F2835A3DD22E}"/>
            </c:ext>
          </c:extLst>
        </c:ser>
        <c:ser>
          <c:idx val="1"/>
          <c:order val="1"/>
          <c:spPr>
            <a:solidFill>
              <a:srgbClr val="405F5B"/>
            </a:solidFill>
            <a:ln>
              <a:noFill/>
            </a:ln>
          </c:spPr>
          <c:invertIfNegative val="0"/>
          <c:val>
            <c:numRef>
              <c:f>Sheet1!$A$2</c:f>
              <c:numCache>
                <c:formatCode>General</c:formatCode>
                <c:ptCount val="1"/>
                <c:pt idx="0">
                  <c:v>31042</c:v>
                </c:pt>
              </c:numCache>
            </c:numRef>
          </c:val>
          <c:extLst>
            <c:ext xmlns:c16="http://schemas.microsoft.com/office/drawing/2014/chart" uri="{C3380CC4-5D6E-409C-BE32-E72D297353CC}">
              <c16:uniqueId val="{00000001-3E86-468A-8258-F2835A3DD22E}"/>
            </c:ext>
          </c:extLst>
        </c:ser>
        <c:ser>
          <c:idx val="2"/>
          <c:order val="2"/>
          <c:spPr>
            <a:solidFill>
              <a:schemeClr val="accent1"/>
            </a:solidFill>
            <a:ln>
              <a:noFill/>
            </a:ln>
          </c:spPr>
          <c:invertIfNegative val="0"/>
          <c:val>
            <c:numRef>
              <c:f>Sheet1!$A$3</c:f>
              <c:numCache>
                <c:formatCode>General</c:formatCode>
                <c:ptCount val="1"/>
                <c:pt idx="0">
                  <c:v>105812</c:v>
                </c:pt>
              </c:numCache>
            </c:numRef>
          </c:val>
          <c:extLst>
            <c:ext xmlns:c16="http://schemas.microsoft.com/office/drawing/2014/chart" uri="{C3380CC4-5D6E-409C-BE32-E72D297353CC}">
              <c16:uniqueId val="{00000002-3E86-468A-8258-F2835A3DD22E}"/>
            </c:ext>
          </c:extLst>
        </c:ser>
        <c:dLbls>
          <c:showLegendKey val="0"/>
          <c:showVal val="0"/>
          <c:showCatName val="0"/>
          <c:showSerName val="0"/>
          <c:showPercent val="0"/>
          <c:showBubbleSize val="0"/>
        </c:dLbls>
        <c:gapWidth val="40"/>
        <c:overlap val="100"/>
        <c:axId val="1191971552"/>
        <c:axId val="1"/>
      </c:barChart>
      <c:catAx>
        <c:axId val="119197155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56934"/>
          <c:min val="0"/>
        </c:scaling>
        <c:delete val="1"/>
        <c:axPos val="l"/>
        <c:numFmt formatCode="General" sourceLinked="1"/>
        <c:majorTickMark val="out"/>
        <c:minorTickMark val="none"/>
        <c:tickLblPos val="nextTo"/>
        <c:crossAx val="1191971552"/>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2043238660449344E-2"/>
          <c:y val="3.443708609271523E-2"/>
          <c:w val="0.95591352267910135"/>
          <c:h val="0.93112582781456954"/>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ADB2-4EE7-99F3-D84E029272B0}"/>
              </c:ext>
            </c:extLst>
          </c:dPt>
          <c:dPt>
            <c:idx val="4"/>
            <c:invertIfNegative val="0"/>
            <c:bubble3D val="0"/>
            <c:spPr>
              <a:solidFill>
                <a:schemeClr val="accent1"/>
              </a:solidFill>
              <a:ln>
                <a:noFill/>
              </a:ln>
            </c:spPr>
            <c:extLst>
              <c:ext xmlns:c16="http://schemas.microsoft.com/office/drawing/2014/chart" uri="{C3380CC4-5D6E-409C-BE32-E72D297353CC}">
                <c16:uniqueId val="{00000001-ADB2-4EE7-99F3-D84E029272B0}"/>
              </c:ext>
            </c:extLst>
          </c:dPt>
          <c:val>
            <c:numRef>
              <c:f>Sheet1!$A$1:$E$1</c:f>
              <c:numCache>
                <c:formatCode>General</c:formatCode>
                <c:ptCount val="5"/>
                <c:pt idx="0">
                  <c:v>46786</c:v>
                </c:pt>
                <c:pt idx="1">
                  <c:v>46786</c:v>
                </c:pt>
                <c:pt idx="2">
                  <c:v>86740</c:v>
                </c:pt>
                <c:pt idx="3">
                  <c:v>101858</c:v>
                </c:pt>
                <c:pt idx="4">
                  <c:v>105812</c:v>
                </c:pt>
              </c:numCache>
            </c:numRef>
          </c:val>
          <c:extLst>
            <c:ext xmlns:c16="http://schemas.microsoft.com/office/drawing/2014/chart" uri="{C3380CC4-5D6E-409C-BE32-E72D297353CC}">
              <c16:uniqueId val="{00000002-ADB2-4EE7-99F3-D84E029272B0}"/>
            </c:ext>
          </c:extLst>
        </c:ser>
        <c:ser>
          <c:idx val="1"/>
          <c:order val="1"/>
          <c:spPr>
            <a:solidFill>
              <a:schemeClr val="accent1"/>
            </a:solidFill>
            <a:ln>
              <a:noFill/>
            </a:ln>
          </c:spPr>
          <c:invertIfNegative val="0"/>
          <c:val>
            <c:numRef>
              <c:f>Sheet1!$A$2:$E$2</c:f>
              <c:numCache>
                <c:formatCode>General</c:formatCode>
                <c:ptCount val="5"/>
                <c:pt idx="1">
                  <c:v>39954</c:v>
                </c:pt>
                <c:pt idx="2">
                  <c:v>15118</c:v>
                </c:pt>
                <c:pt idx="3">
                  <c:v>3954</c:v>
                </c:pt>
              </c:numCache>
            </c:numRef>
          </c:val>
          <c:extLst>
            <c:ext xmlns:c16="http://schemas.microsoft.com/office/drawing/2014/chart" uri="{C3380CC4-5D6E-409C-BE32-E72D297353CC}">
              <c16:uniqueId val="{00000003-ADB2-4EE7-99F3-D84E029272B0}"/>
            </c:ext>
          </c:extLst>
        </c:ser>
        <c:dLbls>
          <c:showLegendKey val="0"/>
          <c:showVal val="0"/>
          <c:showCatName val="0"/>
          <c:showSerName val="0"/>
          <c:showPercent val="0"/>
          <c:showBubbleSize val="0"/>
        </c:dLbls>
        <c:gapWidth val="40"/>
        <c:overlap val="100"/>
        <c:axId val="1463411232"/>
        <c:axId val="1"/>
      </c:barChart>
      <c:catAx>
        <c:axId val="146341123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5812"/>
          <c:min val="0"/>
        </c:scaling>
        <c:delete val="1"/>
        <c:axPos val="l"/>
        <c:numFmt formatCode="General" sourceLinked="1"/>
        <c:majorTickMark val="out"/>
        <c:minorTickMark val="none"/>
        <c:tickLblPos val="nextTo"/>
        <c:crossAx val="1463411232"/>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2520325203252036E-2"/>
          <c:y val="3.0897207367795602E-2"/>
          <c:w val="0.93495934959349591"/>
          <c:h val="0.93820558526440878"/>
        </c:manualLayout>
      </c:layout>
      <c:barChart>
        <c:barDir val="col"/>
        <c:grouping val="stacked"/>
        <c:varyColors val="0"/>
        <c:ser>
          <c:idx val="0"/>
          <c:order val="0"/>
          <c:spPr>
            <a:solidFill>
              <a:schemeClr val="accent1"/>
            </a:solidFill>
            <a:ln>
              <a:noFill/>
            </a:ln>
          </c:spPr>
          <c:invertIfNegative val="0"/>
          <c:val>
            <c:numRef>
              <c:f>Sheet1!$A$1:$B$1</c:f>
              <c:numCache>
                <c:formatCode>General</c:formatCode>
                <c:ptCount val="2"/>
                <c:pt idx="0">
                  <c:v>0.15450779246399679</c:v>
                </c:pt>
                <c:pt idx="1">
                  <c:v>0.31990131578947367</c:v>
                </c:pt>
              </c:numCache>
            </c:numRef>
          </c:val>
          <c:extLst>
            <c:ext xmlns:c16="http://schemas.microsoft.com/office/drawing/2014/chart" uri="{C3380CC4-5D6E-409C-BE32-E72D297353CC}">
              <c16:uniqueId val="{00000000-1FFC-41F9-82D0-98708C1A632C}"/>
            </c:ext>
          </c:extLst>
        </c:ser>
        <c:ser>
          <c:idx val="1"/>
          <c:order val="1"/>
          <c:spPr>
            <a:solidFill>
              <a:schemeClr val="accent4"/>
            </a:solidFill>
            <a:ln>
              <a:noFill/>
            </a:ln>
          </c:spPr>
          <c:invertIfNegative val="0"/>
          <c:val>
            <c:numRef>
              <c:f>Sheet1!$A$2:$B$2</c:f>
              <c:numCache>
                <c:formatCode>General</c:formatCode>
                <c:ptCount val="2"/>
                <c:pt idx="0">
                  <c:v>0.29840205168672318</c:v>
                </c:pt>
                <c:pt idx="1">
                  <c:v>0.29749177631578949</c:v>
                </c:pt>
              </c:numCache>
            </c:numRef>
          </c:val>
          <c:extLst>
            <c:ext xmlns:c16="http://schemas.microsoft.com/office/drawing/2014/chart" uri="{C3380CC4-5D6E-409C-BE32-E72D297353CC}">
              <c16:uniqueId val="{00000001-1FFC-41F9-82D0-98708C1A632C}"/>
            </c:ext>
          </c:extLst>
        </c:ser>
        <c:ser>
          <c:idx val="2"/>
          <c:order val="2"/>
          <c:spPr>
            <a:solidFill>
              <a:schemeClr val="accent2"/>
            </a:solidFill>
            <a:ln>
              <a:noFill/>
            </a:ln>
          </c:spPr>
          <c:invertIfNegative val="0"/>
          <c:val>
            <c:numRef>
              <c:f>Sheet1!$A$3:$B$3</c:f>
              <c:numCache>
                <c:formatCode>General</c:formatCode>
                <c:ptCount val="2"/>
                <c:pt idx="0">
                  <c:v>4.2559347668836733E-2</c:v>
                </c:pt>
                <c:pt idx="1">
                  <c:v>5.1809210526315819E-2</c:v>
                </c:pt>
              </c:numCache>
            </c:numRef>
          </c:val>
          <c:extLst>
            <c:ext xmlns:c16="http://schemas.microsoft.com/office/drawing/2014/chart" uri="{C3380CC4-5D6E-409C-BE32-E72D297353CC}">
              <c16:uniqueId val="{00000002-1FFC-41F9-82D0-98708C1A632C}"/>
            </c:ext>
          </c:extLst>
        </c:ser>
        <c:ser>
          <c:idx val="3"/>
          <c:order val="3"/>
          <c:spPr>
            <a:solidFill>
              <a:schemeClr val="accent3"/>
            </a:solidFill>
            <a:ln>
              <a:noFill/>
            </a:ln>
          </c:spPr>
          <c:invertIfNegative val="0"/>
          <c:val>
            <c:numRef>
              <c:f>Sheet1!$A$4:$B$4</c:f>
              <c:numCache>
                <c:formatCode>General</c:formatCode>
                <c:ptCount val="2"/>
                <c:pt idx="0">
                  <c:v>0.50453080818044327</c:v>
                </c:pt>
                <c:pt idx="1">
                  <c:v>0.33079769736842102</c:v>
                </c:pt>
              </c:numCache>
            </c:numRef>
          </c:val>
          <c:extLst>
            <c:ext xmlns:c16="http://schemas.microsoft.com/office/drawing/2014/chart" uri="{C3380CC4-5D6E-409C-BE32-E72D297353CC}">
              <c16:uniqueId val="{00000003-1FFC-41F9-82D0-98708C1A632C}"/>
            </c:ext>
          </c:extLst>
        </c:ser>
        <c:dLbls>
          <c:showLegendKey val="0"/>
          <c:showVal val="0"/>
          <c:showCatName val="0"/>
          <c:showSerName val="0"/>
          <c:showPercent val="0"/>
          <c:showBubbleSize val="0"/>
        </c:dLbls>
        <c:gapWidth val="40"/>
        <c:overlap val="100"/>
        <c:axId val="983157615"/>
        <c:axId val="1"/>
      </c:barChart>
      <c:catAx>
        <c:axId val="98315761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
          <c:min val="0"/>
        </c:scaling>
        <c:delete val="1"/>
        <c:axPos val="l"/>
        <c:numFmt formatCode="General" sourceLinked="1"/>
        <c:majorTickMark val="out"/>
        <c:minorTickMark val="none"/>
        <c:tickLblPos val="nextTo"/>
        <c:crossAx val="983157615"/>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938650306748466E-2"/>
          <c:y val="3.0714707619610159E-2"/>
          <c:w val="0.96012269938650308"/>
          <c:h val="0.9385705847607797"/>
        </c:manualLayout>
      </c:layout>
      <c:barChart>
        <c:barDir val="col"/>
        <c:grouping val="stacked"/>
        <c:varyColors val="0"/>
        <c:ser>
          <c:idx val="0"/>
          <c:order val="0"/>
          <c:spPr>
            <a:solidFill>
              <a:srgbClr val="405F5B"/>
            </a:solidFill>
            <a:ln>
              <a:noFill/>
            </a:ln>
          </c:spPr>
          <c:invertIfNegative val="0"/>
          <c:dPt>
            <c:idx val="1"/>
            <c:invertIfNegative val="0"/>
            <c:bubble3D val="0"/>
            <c:spPr>
              <a:noFill/>
              <a:ln>
                <a:noFill/>
              </a:ln>
            </c:spPr>
            <c:extLst>
              <c:ext xmlns:c16="http://schemas.microsoft.com/office/drawing/2014/chart" uri="{C3380CC4-5D6E-409C-BE32-E72D297353CC}">
                <c16:uniqueId val="{00000000-91AB-4505-A9DC-A729C5A3F5B8}"/>
              </c:ext>
            </c:extLst>
          </c:dPt>
          <c:val>
            <c:numRef>
              <c:f>Sheet1!$A$1:$C$1</c:f>
              <c:numCache>
                <c:formatCode>General</c:formatCode>
                <c:ptCount val="3"/>
                <c:pt idx="0">
                  <c:v>156934</c:v>
                </c:pt>
                <c:pt idx="1">
                  <c:v>99273</c:v>
                </c:pt>
                <c:pt idx="2">
                  <c:v>99273</c:v>
                </c:pt>
              </c:numCache>
            </c:numRef>
          </c:val>
          <c:extLst>
            <c:ext xmlns:c16="http://schemas.microsoft.com/office/drawing/2014/chart" uri="{C3380CC4-5D6E-409C-BE32-E72D297353CC}">
              <c16:uniqueId val="{00000001-91AB-4505-A9DC-A729C5A3F5B8}"/>
            </c:ext>
          </c:extLst>
        </c:ser>
        <c:ser>
          <c:idx val="1"/>
          <c:order val="1"/>
          <c:spPr>
            <a:solidFill>
              <a:srgbClr val="405F5B"/>
            </a:solidFill>
            <a:ln>
              <a:noFill/>
            </a:ln>
          </c:spPr>
          <c:invertIfNegative val="0"/>
          <c:val>
            <c:numRef>
              <c:f>Sheet1!$A$2:$C$2</c:f>
              <c:numCache>
                <c:formatCode>General</c:formatCode>
                <c:ptCount val="3"/>
                <c:pt idx="1">
                  <c:v>57661</c:v>
                </c:pt>
              </c:numCache>
            </c:numRef>
          </c:val>
          <c:extLst>
            <c:ext xmlns:c16="http://schemas.microsoft.com/office/drawing/2014/chart" uri="{C3380CC4-5D6E-409C-BE32-E72D297353CC}">
              <c16:uniqueId val="{00000002-91AB-4505-A9DC-A729C5A3F5B8}"/>
            </c:ext>
          </c:extLst>
        </c:ser>
        <c:dLbls>
          <c:showLegendKey val="0"/>
          <c:showVal val="0"/>
          <c:showCatName val="0"/>
          <c:showSerName val="0"/>
          <c:showPercent val="0"/>
          <c:showBubbleSize val="0"/>
        </c:dLbls>
        <c:gapWidth val="40"/>
        <c:overlap val="100"/>
        <c:axId val="778055007"/>
        <c:axId val="1"/>
      </c:barChart>
      <c:catAx>
        <c:axId val="77805500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56934"/>
          <c:min val="0"/>
        </c:scaling>
        <c:delete val="1"/>
        <c:axPos val="l"/>
        <c:numFmt formatCode="General" sourceLinked="1"/>
        <c:majorTickMark val="out"/>
        <c:minorTickMark val="none"/>
        <c:tickLblPos val="nextTo"/>
        <c:crossAx val="778055007"/>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8232044198895E-2"/>
          <c:y val="2.0708880923934688E-2"/>
          <c:w val="0.85635359116022103"/>
          <c:h val="0.95858223815213062"/>
        </c:manualLayout>
      </c:layout>
      <c:barChart>
        <c:barDir val="bar"/>
        <c:grouping val="stacked"/>
        <c:varyColors val="0"/>
        <c:ser>
          <c:idx val="0"/>
          <c:order val="0"/>
          <c:spPr>
            <a:solidFill>
              <a:schemeClr val="accent4"/>
            </a:solidFill>
            <a:ln w="9525" cmpd="sng" algn="ctr">
              <a:solidFill>
                <a:schemeClr val="bg1"/>
              </a:solidFill>
              <a:prstDash val="solid"/>
            </a:ln>
          </c:spPr>
          <c:invertIfNegative val="0"/>
          <c:val>
            <c:numRef>
              <c:f>Sheet1!$A$1:$G$1</c:f>
              <c:numCache>
                <c:formatCode>General</c:formatCode>
                <c:ptCount val="7"/>
                <c:pt idx="2">
                  <c:v>786.99999999999989</c:v>
                </c:pt>
                <c:pt idx="3">
                  <c:v>308.00000000000006</c:v>
                </c:pt>
                <c:pt idx="4">
                  <c:v>87</c:v>
                </c:pt>
                <c:pt idx="5">
                  <c:v>1546</c:v>
                </c:pt>
                <c:pt idx="6">
                  <c:v>174</c:v>
                </c:pt>
              </c:numCache>
            </c:numRef>
          </c:val>
          <c:extLst>
            <c:ext xmlns:c16="http://schemas.microsoft.com/office/drawing/2014/chart" uri="{C3380CC4-5D6E-409C-BE32-E72D297353CC}">
              <c16:uniqueId val="{00000000-F03B-4258-9D77-807C4C352DAB}"/>
            </c:ext>
          </c:extLst>
        </c:ser>
        <c:dLbls>
          <c:showLegendKey val="0"/>
          <c:showVal val="0"/>
          <c:showCatName val="0"/>
          <c:showSerName val="0"/>
          <c:showPercent val="0"/>
          <c:showBubbleSize val="0"/>
        </c:dLbls>
        <c:gapWidth val="40"/>
        <c:overlap val="100"/>
        <c:axId val="1752420432"/>
        <c:axId val="1"/>
      </c:barChart>
      <c:catAx>
        <c:axId val="1752420432"/>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546"/>
          <c:min val="0"/>
        </c:scaling>
        <c:delete val="1"/>
        <c:axPos val="t"/>
        <c:numFmt formatCode="General" sourceLinked="1"/>
        <c:majorTickMark val="out"/>
        <c:minorTickMark val="none"/>
        <c:tickLblPos val="nextTo"/>
        <c:crossAx val="1752420432"/>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9877112135176648E-2"/>
          <c:y val="2.0708880923934688E-2"/>
          <c:w val="0.84024577572964665"/>
          <c:h val="0.95858223815213062"/>
        </c:manualLayout>
      </c:layout>
      <c:barChart>
        <c:barDir val="bar"/>
        <c:grouping val="stacked"/>
        <c:varyColors val="0"/>
        <c:ser>
          <c:idx val="0"/>
          <c:order val="0"/>
          <c:spPr>
            <a:solidFill>
              <a:schemeClr val="accent6"/>
            </a:solidFill>
            <a:ln w="9525" cmpd="sng" algn="ctr">
              <a:solidFill>
                <a:schemeClr val="bg1"/>
              </a:solidFill>
              <a:prstDash val="solid"/>
            </a:ln>
          </c:spPr>
          <c:invertIfNegative val="0"/>
          <c:val>
            <c:numRef>
              <c:f>Sheet1!$A$1:$G$1</c:f>
              <c:numCache>
                <c:formatCode>General</c:formatCode>
                <c:ptCount val="7"/>
                <c:pt idx="2">
                  <c:v>165</c:v>
                </c:pt>
                <c:pt idx="3">
                  <c:v>144</c:v>
                </c:pt>
                <c:pt idx="4">
                  <c:v>44</c:v>
                </c:pt>
                <c:pt idx="5">
                  <c:v>32</c:v>
                </c:pt>
                <c:pt idx="6">
                  <c:v>68.000000000000014</c:v>
                </c:pt>
              </c:numCache>
            </c:numRef>
          </c:val>
          <c:extLst>
            <c:ext xmlns:c16="http://schemas.microsoft.com/office/drawing/2014/chart" uri="{C3380CC4-5D6E-409C-BE32-E72D297353CC}">
              <c16:uniqueId val="{00000000-4961-4821-9708-FDC557E6CBD8}"/>
            </c:ext>
          </c:extLst>
        </c:ser>
        <c:dLbls>
          <c:showLegendKey val="0"/>
          <c:showVal val="0"/>
          <c:showCatName val="0"/>
          <c:showSerName val="0"/>
          <c:showPercent val="0"/>
          <c:showBubbleSize val="0"/>
        </c:dLbls>
        <c:gapWidth val="40"/>
        <c:overlap val="100"/>
        <c:axId val="1337515904"/>
        <c:axId val="1"/>
      </c:barChart>
      <c:catAx>
        <c:axId val="133751590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65"/>
          <c:min val="0"/>
        </c:scaling>
        <c:delete val="1"/>
        <c:axPos val="t"/>
        <c:numFmt formatCode="General" sourceLinked="1"/>
        <c:majorTickMark val="out"/>
        <c:minorTickMark val="none"/>
        <c:tickLblPos val="nextTo"/>
        <c:crossAx val="1337515904"/>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030927835051547"/>
          <c:y val="0.1087378640776699"/>
          <c:w val="0.57869415807560143"/>
          <c:h val="0.78252427184466022"/>
        </c:manualLayout>
      </c:layout>
      <c:barChart>
        <c:barDir val="col"/>
        <c:grouping val="stacked"/>
        <c:varyColors val="0"/>
        <c:ser>
          <c:idx val="0"/>
          <c:order val="0"/>
          <c:spPr>
            <a:solidFill>
              <a:schemeClr val="accent4"/>
            </a:solidFill>
            <a:ln w="3175" cmpd="sng" algn="ctr">
              <a:solidFill>
                <a:schemeClr val="tx1"/>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200" kern="1200">
                      <a:solidFill>
                        <a:schemeClr val="bg1"/>
                      </a:solidFill>
                      <a:latin typeface="+mn-lt"/>
                      <a:ea typeface="Tahoma"/>
                      <a:cs typeface="Tahoma"/>
                    </a:defRPr>
                  </a:pPr>
                  <a:endParaRPr lang="az-Latn-AZ"/>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CD1-45FD-BF32-3478F17E0C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96.97133826959103</c:v>
                </c:pt>
              </c:numCache>
            </c:numRef>
          </c:val>
          <c:extLst>
            <c:ext xmlns:c16="http://schemas.microsoft.com/office/drawing/2014/chart" uri="{C3380CC4-5D6E-409C-BE32-E72D297353CC}">
              <c16:uniqueId val="{00000001-3CD1-45FD-BF32-3478F17E0C98}"/>
            </c:ext>
          </c:extLst>
        </c:ser>
        <c:ser>
          <c:idx val="1"/>
          <c:order val="1"/>
          <c:spPr>
            <a:solidFill>
              <a:schemeClr val="accent6"/>
            </a:solidFill>
            <a:ln>
              <a:noFill/>
            </a:ln>
          </c:spPr>
          <c:invertIfNegative val="0"/>
          <c:val>
            <c:numRef>
              <c:f>Sheet1!$A$2</c:f>
              <c:numCache>
                <c:formatCode>General</c:formatCode>
                <c:ptCount val="1"/>
                <c:pt idx="0">
                  <c:v>3.0286617304089658</c:v>
                </c:pt>
              </c:numCache>
            </c:numRef>
          </c:val>
          <c:extLst>
            <c:ext xmlns:c16="http://schemas.microsoft.com/office/drawing/2014/chart" uri="{C3380CC4-5D6E-409C-BE32-E72D297353CC}">
              <c16:uniqueId val="{00000002-3CD1-45FD-BF32-3478F17E0C98}"/>
            </c:ext>
          </c:extLst>
        </c:ser>
        <c:dLbls>
          <c:showLegendKey val="0"/>
          <c:showVal val="0"/>
          <c:showCatName val="0"/>
          <c:showSerName val="0"/>
          <c:showPercent val="0"/>
          <c:showBubbleSize val="0"/>
        </c:dLbls>
        <c:gapWidth val="40"/>
        <c:overlap val="100"/>
        <c:axId val="1256786832"/>
        <c:axId val="1"/>
      </c:barChart>
      <c:catAx>
        <c:axId val="125678683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256786832"/>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030927835051547"/>
          <c:y val="0.1087378640776699"/>
          <c:w val="0.57869415807560143"/>
          <c:h val="0.78252427184466022"/>
        </c:manualLayout>
      </c:layout>
      <c:barChart>
        <c:barDir val="col"/>
        <c:grouping val="stacked"/>
        <c:varyColors val="0"/>
        <c:ser>
          <c:idx val="0"/>
          <c:order val="0"/>
          <c:spPr>
            <a:solidFill>
              <a:schemeClr val="accent4"/>
            </a:solidFill>
            <a:ln w="3175" cmpd="sng" algn="ctr">
              <a:solidFill>
                <a:schemeClr val="tx1"/>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200" kern="1200">
                      <a:solidFill>
                        <a:schemeClr val="bg1"/>
                      </a:solidFill>
                      <a:latin typeface="+mn-lt"/>
                      <a:ea typeface="Tahoma"/>
                      <a:cs typeface="Tahoma"/>
                    </a:defRPr>
                  </a:pPr>
                  <a:endParaRPr lang="az-Latn-AZ"/>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64B-4DF1-81EE-99130A193DC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71.969155756396205</c:v>
                </c:pt>
              </c:numCache>
            </c:numRef>
          </c:val>
          <c:extLst>
            <c:ext xmlns:c16="http://schemas.microsoft.com/office/drawing/2014/chart" uri="{C3380CC4-5D6E-409C-BE32-E72D297353CC}">
              <c16:uniqueId val="{00000001-C64B-4DF1-81EE-99130A193DC5}"/>
            </c:ext>
          </c:extLst>
        </c:ser>
        <c:ser>
          <c:idx val="1"/>
          <c:order val="1"/>
          <c:spPr>
            <a:solidFill>
              <a:schemeClr val="accent6"/>
            </a:solidFill>
            <a:ln>
              <a:noFill/>
            </a:ln>
          </c:spPr>
          <c:invertIfNegative val="0"/>
          <c:dLbls>
            <c:dLbl>
              <c:idx val="0"/>
              <c:layout>
                <c:manualLayout>
                  <c:x val="0"/>
                  <c:y val="0"/>
                </c:manualLayout>
              </c:layout>
              <c:numFmt formatCode="#,##0&quot;%&quot;;&quot;-&quot;#,##0&quot;%&quot;;0&quot;%&quot;" sourceLinked="0"/>
              <c:spPr>
                <a:noFill/>
                <a:ln>
                  <a:noFill/>
                </a:ln>
              </c:spPr>
              <c:txPr>
                <a:bodyPr wrap="none"/>
                <a:lstStyle/>
                <a:p>
                  <a:pPr>
                    <a:defRPr sz="1200" kern="1200">
                      <a:solidFill>
                        <a:srgbClr val="191C1E"/>
                      </a:solidFill>
                      <a:latin typeface="+mn-lt"/>
                      <a:ea typeface="Tahoma"/>
                      <a:cs typeface="Tahoma"/>
                    </a:defRPr>
                  </a:pPr>
                  <a:endParaRPr lang="az-Latn-AZ"/>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64B-4DF1-81EE-99130A193DC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28.030844243603791</c:v>
                </c:pt>
              </c:numCache>
            </c:numRef>
          </c:val>
          <c:extLst>
            <c:ext xmlns:c16="http://schemas.microsoft.com/office/drawing/2014/chart" uri="{C3380CC4-5D6E-409C-BE32-E72D297353CC}">
              <c16:uniqueId val="{00000003-C64B-4DF1-81EE-99130A193DC5}"/>
            </c:ext>
          </c:extLst>
        </c:ser>
        <c:dLbls>
          <c:showLegendKey val="0"/>
          <c:showVal val="0"/>
          <c:showCatName val="0"/>
          <c:showSerName val="0"/>
          <c:showPercent val="0"/>
          <c:showBubbleSize val="0"/>
        </c:dLbls>
        <c:gapWidth val="40"/>
        <c:overlap val="100"/>
        <c:axId val="704895776"/>
        <c:axId val="1"/>
      </c:barChart>
      <c:catAx>
        <c:axId val="704895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704895776"/>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5666337611056269E-2"/>
          <c:y val="2.4413145539906103E-2"/>
          <c:w val="0.94866732477788751"/>
          <c:h val="0.95117370892018782"/>
        </c:manualLayout>
      </c:layout>
      <c:barChart>
        <c:barDir val="col"/>
        <c:grouping val="stacked"/>
        <c:varyColors val="0"/>
        <c:ser>
          <c:idx val="0"/>
          <c:order val="0"/>
          <c:spPr>
            <a:solidFill>
              <a:srgbClr val="B9D0CD"/>
            </a:solidFill>
            <a:ln w="9525" cmpd="sng" algn="ctr">
              <a:solidFill>
                <a:schemeClr val="bg1"/>
              </a:solidFill>
              <a:prstDash val="solid"/>
            </a:ln>
          </c:spPr>
          <c:invertIfNegative val="0"/>
          <c:dPt>
            <c:idx val="0"/>
            <c:invertIfNegative val="0"/>
            <c:bubble3D val="0"/>
            <c:spPr>
              <a:solidFill>
                <a:schemeClr val="accent4"/>
              </a:solidFill>
              <a:ln w="9525" cmpd="sng" algn="ctr">
                <a:solidFill>
                  <a:schemeClr val="bg1"/>
                </a:solidFill>
                <a:prstDash val="solid"/>
              </a:ln>
            </c:spPr>
            <c:extLst>
              <c:ext xmlns:c16="http://schemas.microsoft.com/office/drawing/2014/chart" uri="{C3380CC4-5D6E-409C-BE32-E72D297353CC}">
                <c16:uniqueId val="{00000000-A84C-4999-B2FD-2EBAE8FB7114}"/>
              </c:ext>
            </c:extLst>
          </c:dPt>
          <c:val>
            <c:numRef>
              <c:f>Sheet1!$A$1:$B$1</c:f>
              <c:numCache>
                <c:formatCode>General</c:formatCode>
                <c:ptCount val="2"/>
                <c:pt idx="0">
                  <c:v>6865</c:v>
                </c:pt>
                <c:pt idx="1">
                  <c:v>20744</c:v>
                </c:pt>
              </c:numCache>
            </c:numRef>
          </c:val>
          <c:extLst>
            <c:ext xmlns:c16="http://schemas.microsoft.com/office/drawing/2014/chart" uri="{C3380CC4-5D6E-409C-BE32-E72D297353CC}">
              <c16:uniqueId val="{00000001-A84C-4999-B2FD-2EBAE8FB7114}"/>
            </c:ext>
          </c:extLst>
        </c:ser>
        <c:dLbls>
          <c:showLegendKey val="0"/>
          <c:showVal val="0"/>
          <c:showCatName val="0"/>
          <c:showSerName val="0"/>
          <c:showPercent val="0"/>
          <c:showBubbleSize val="0"/>
        </c:dLbls>
        <c:gapWidth val="40"/>
        <c:overlap val="100"/>
        <c:axId val="627999839"/>
        <c:axId val="1"/>
      </c:barChart>
      <c:catAx>
        <c:axId val="62799983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0744"/>
          <c:min val="0"/>
        </c:scaling>
        <c:delete val="1"/>
        <c:axPos val="l"/>
        <c:numFmt formatCode="General" sourceLinked="1"/>
        <c:majorTickMark val="out"/>
        <c:minorTickMark val="none"/>
        <c:tickLblPos val="nextTo"/>
        <c:crossAx val="627999839"/>
        <c:crosses val="min"/>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843997562461912E-2"/>
          <c:y val="3.8095238095238099E-2"/>
          <c:w val="0.96831200487507618"/>
          <c:h val="0.92380952380952386"/>
        </c:manualLayout>
      </c:layout>
      <c:barChart>
        <c:barDir val="col"/>
        <c:grouping val="stacked"/>
        <c:varyColors val="0"/>
        <c:ser>
          <c:idx val="0"/>
          <c:order val="0"/>
          <c:spPr>
            <a:solidFill>
              <a:schemeClr val="accent1"/>
            </a:solidFill>
            <a:ln w="9525" cmpd="sng" algn="ctr">
              <a:solidFill>
                <a:schemeClr val="bg1"/>
              </a:solidFill>
              <a:prstDash val="solid"/>
            </a:ln>
          </c:spPr>
          <c:invertIfNegative val="0"/>
          <c:val>
            <c:numRef>
              <c:f>Sheet1!$A$1:$E$1</c:f>
              <c:numCache>
                <c:formatCode>General</c:formatCode>
                <c:ptCount val="5"/>
                <c:pt idx="0">
                  <c:v>17905.900000000001</c:v>
                </c:pt>
                <c:pt idx="1">
                  <c:v>22279.599999999999</c:v>
                </c:pt>
                <c:pt idx="2">
                  <c:v>21967.911729880001</c:v>
                </c:pt>
                <c:pt idx="3">
                  <c:v>23397.483274829996</c:v>
                </c:pt>
                <c:pt idx="4">
                  <c:v>21898.398089285998</c:v>
                </c:pt>
              </c:numCache>
            </c:numRef>
          </c:val>
          <c:extLst>
            <c:ext xmlns:c16="http://schemas.microsoft.com/office/drawing/2014/chart" uri="{C3380CC4-5D6E-409C-BE32-E72D297353CC}">
              <c16:uniqueId val="{00000000-B121-4DAE-859C-CAEB35C646E0}"/>
            </c:ext>
          </c:extLst>
        </c:ser>
        <c:ser>
          <c:idx val="1"/>
          <c:order val="1"/>
          <c:spPr>
            <a:solidFill>
              <a:srgbClr val="7F7F7F"/>
            </a:solidFill>
            <a:ln w="9525" cmpd="sng" algn="ctr">
              <a:solidFill>
                <a:schemeClr val="bg1"/>
              </a:solidFill>
              <a:prstDash val="solid"/>
            </a:ln>
          </c:spPr>
          <c:invertIfNegative val="0"/>
          <c:val>
            <c:numRef>
              <c:f>Sheet1!$A$2:$E$2</c:f>
              <c:numCache>
                <c:formatCode>General</c:formatCode>
                <c:ptCount val="5"/>
                <c:pt idx="0">
                  <c:v>9032.4000000000015</c:v>
                </c:pt>
                <c:pt idx="1">
                  <c:v>11483</c:v>
                </c:pt>
                <c:pt idx="2">
                  <c:v>12582.168386130001</c:v>
                </c:pt>
                <c:pt idx="3">
                  <c:v>14299.093513350002</c:v>
                </c:pt>
                <c:pt idx="4">
                  <c:v>16323.463994228499</c:v>
                </c:pt>
              </c:numCache>
            </c:numRef>
          </c:val>
          <c:extLst>
            <c:ext xmlns:c16="http://schemas.microsoft.com/office/drawing/2014/chart" uri="{C3380CC4-5D6E-409C-BE32-E72D297353CC}">
              <c16:uniqueId val="{00000001-B121-4DAE-859C-CAEB35C646E0}"/>
            </c:ext>
          </c:extLst>
        </c:ser>
        <c:dLbls>
          <c:showLegendKey val="0"/>
          <c:showVal val="0"/>
          <c:showCatName val="0"/>
          <c:showSerName val="0"/>
          <c:showPercent val="0"/>
          <c:showBubbleSize val="0"/>
        </c:dLbls>
        <c:gapWidth val="40"/>
        <c:overlap val="100"/>
        <c:axId val="1688037648"/>
        <c:axId val="1"/>
      </c:barChart>
      <c:catAx>
        <c:axId val="168803764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8221.862083514497"/>
          <c:min val="0"/>
        </c:scaling>
        <c:delete val="1"/>
        <c:axPos val="l"/>
        <c:numFmt formatCode="General" sourceLinked="1"/>
        <c:majorTickMark val="out"/>
        <c:minorTickMark val="none"/>
        <c:tickLblPos val="nextTo"/>
        <c:crossAx val="1688037648"/>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4 October 2026</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4 October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CA504-769B-48D9-BF0B-E2ECCA75C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EB392-6A0A-9A38-E10B-4DCE905B0C5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B47DA2-AA61-F9C9-20C0-5957311A34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CC71B2-1956-5D2C-87D8-55C75FD98AC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834495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1421A-9CFC-6083-C2E3-952481919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ECD7D-67BC-B66D-260D-8DECDE7970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46469-CE1A-8A9F-9268-553945625DE3}"/>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02743050-7FC2-5783-8EA2-4A98750442B0}"/>
              </a:ext>
            </a:extLst>
          </p:cNvPr>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a:extLst>
              <a:ext uri="{FF2B5EF4-FFF2-40B4-BE49-F238E27FC236}">
                <a16:creationId xmlns:a16="http://schemas.microsoft.com/office/drawing/2014/main" id="{6F26117B-D99A-005E-5780-E44F1EBAF4DC}"/>
              </a:ext>
            </a:extLst>
          </p:cNvPr>
          <p:cNvSpPr>
            <a:spLocks noGrp="1"/>
          </p:cNvSpPr>
          <p:nvPr>
            <p:ph type="sldNum" sz="quarter" idx="5"/>
          </p:nvPr>
        </p:nvSpPr>
        <p:spPr/>
        <p:txBody>
          <a:bodyPr/>
          <a:lstStyle/>
          <a:p>
            <a:fld id="{CF5EBCF4-26FC-4F76-8DA1-52FDDC328D44}" type="slidenum">
              <a:rPr lang="en-US" smtClean="0"/>
              <a:pPr/>
              <a:t>6</a:t>
            </a:fld>
            <a:endParaRPr lang="en-US"/>
          </a:p>
        </p:txBody>
      </p:sp>
    </p:spTree>
    <p:extLst>
      <p:ext uri="{BB962C8B-B14F-4D97-AF65-F5344CB8AC3E}">
        <p14:creationId xmlns:p14="http://schemas.microsoft.com/office/powerpoint/2010/main" val="4069779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6114CC-49B1-1F4D-A34F-F92C2FFCA8E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39716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20B6B-E329-2293-B7AC-ADEFC57E5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4DB46-3C6F-E2A2-51C1-FAF569F8B99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0FD79B8-B5BB-07B3-B31C-E96F284B85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5FF85C-C06B-DC7F-2C97-83BE662536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6114CC-49B1-1F4D-A34F-F92C2FFCA8E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8932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16</a:t>
            </a:fld>
            <a:endParaRPr lang="en-US"/>
          </a:p>
        </p:txBody>
      </p:sp>
    </p:spTree>
    <p:extLst>
      <p:ext uri="{BB962C8B-B14F-4D97-AF65-F5344CB8AC3E}">
        <p14:creationId xmlns:p14="http://schemas.microsoft.com/office/powerpoint/2010/main" val="3941755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17</a:t>
            </a:fld>
            <a:endParaRPr lang="en-US"/>
          </a:p>
        </p:txBody>
      </p:sp>
    </p:spTree>
    <p:extLst>
      <p:ext uri="{BB962C8B-B14F-4D97-AF65-F5344CB8AC3E}">
        <p14:creationId xmlns:p14="http://schemas.microsoft.com/office/powerpoint/2010/main" val="3167713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B0EB8-A4DF-000D-5403-1B7BA5960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554CA-9D64-63AC-5DC6-BB68D3386BD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61F0415-A964-9516-C8CA-79559A11812B}"/>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CC56BA6-AC45-6AB6-8DD9-1B2EF22C9F31}"/>
              </a:ext>
            </a:extLst>
          </p:cNvPr>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a:extLst>
              <a:ext uri="{FF2B5EF4-FFF2-40B4-BE49-F238E27FC236}">
                <a16:creationId xmlns:a16="http://schemas.microsoft.com/office/drawing/2014/main" id="{A5866199-9C49-0E9B-C49A-BFE35B997862}"/>
              </a:ext>
            </a:extLst>
          </p:cNvPr>
          <p:cNvSpPr>
            <a:spLocks noGrp="1"/>
          </p:cNvSpPr>
          <p:nvPr>
            <p:ph type="sldNum" sz="quarter" idx="5"/>
          </p:nvPr>
        </p:nvSpPr>
        <p:spPr/>
        <p:txBody>
          <a:bodyPr/>
          <a:lstStyle/>
          <a:p>
            <a:fld id="{CF5EBCF4-26FC-4F76-8DA1-52FDDC328D44}" type="slidenum">
              <a:rPr lang="en-US" smtClean="0"/>
              <a:pPr/>
              <a:t>19</a:t>
            </a:fld>
            <a:endParaRPr lang="en-US"/>
          </a:p>
        </p:txBody>
      </p:sp>
    </p:spTree>
    <p:extLst>
      <p:ext uri="{BB962C8B-B14F-4D97-AF65-F5344CB8AC3E}">
        <p14:creationId xmlns:p14="http://schemas.microsoft.com/office/powerpoint/2010/main" val="1006119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526AF-182D-57E6-D300-3700C4A4D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93264-B097-3931-0885-3486EE73483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D9157E0-5AE1-550F-8678-132BCA2D64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5CFFA7-A2B9-D46A-389D-A89255DBBA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6114CC-49B1-1F4D-A34F-F92C2FFCA8E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0803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7634D-0266-F93E-C1D2-CF4C6CF2E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97486-D5D3-3728-32F8-9C14134BA99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8BEC67D-5558-8FE3-F6E8-EEED1FBCC7FC}"/>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84F9F800-ADFD-12E5-33D0-FD1ECA3A30D2}"/>
              </a:ext>
            </a:extLst>
          </p:cNvPr>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a:extLst>
              <a:ext uri="{FF2B5EF4-FFF2-40B4-BE49-F238E27FC236}">
                <a16:creationId xmlns:a16="http://schemas.microsoft.com/office/drawing/2014/main" id="{B23FF979-9AF2-D048-FFC8-5FF27629E1FD}"/>
              </a:ext>
            </a:extLst>
          </p:cNvPr>
          <p:cNvSpPr>
            <a:spLocks noGrp="1"/>
          </p:cNvSpPr>
          <p:nvPr>
            <p:ph type="sldNum" sz="quarter" idx="5"/>
          </p:nvPr>
        </p:nvSpPr>
        <p:spPr/>
        <p:txBody>
          <a:bodyPr/>
          <a:lstStyle/>
          <a:p>
            <a:fld id="{CF5EBCF4-26FC-4F76-8DA1-52FDDC328D44}" type="slidenum">
              <a:rPr lang="en-US" smtClean="0"/>
              <a:pPr/>
              <a:t>29</a:t>
            </a:fld>
            <a:endParaRPr lang="en-US"/>
          </a:p>
        </p:txBody>
      </p:sp>
    </p:spTree>
    <p:extLst>
      <p:ext uri="{BB962C8B-B14F-4D97-AF65-F5344CB8AC3E}">
        <p14:creationId xmlns:p14="http://schemas.microsoft.com/office/powerpoint/2010/main" val="1725135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30</a:t>
            </a:fld>
            <a:endParaRPr lang="en-US"/>
          </a:p>
        </p:txBody>
      </p:sp>
    </p:spTree>
    <p:extLst>
      <p:ext uri="{BB962C8B-B14F-4D97-AF65-F5344CB8AC3E}">
        <p14:creationId xmlns:p14="http://schemas.microsoft.com/office/powerpoint/2010/main" val="162893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txBody>
          <a:bodyPr/>
          <a:lstStyle/>
          <a:p>
            <a:endParaRPr lang="en-GB"/>
          </a:p>
        </p:txBody>
      </p:sp>
      <p:sp>
        <p:nvSpPr>
          <p:cNvPr id="3" name="Notes Placeholder 2"/>
          <p:cNvSpPr>
            <a:spLocks noGrp="1"/>
          </p:cNvSpPr>
          <p:nvPr>
            <p:ph type="body" idx="1"/>
          </p:nvPr>
        </p:nvSpPr>
        <p:spPr>
          <a:xfrm>
            <a:off x="735012" y="4518025"/>
            <a:ext cx="5632450" cy="169277"/>
          </a:xfrm>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rPr>
              <a:pPr marL="0" marR="0" lvl="0" indent="0" algn="r" defTabSz="914400" rtl="0" eaLnBrk="1" fontAlgn="auto" latinLnBrk="0" hangingPunct="1">
                <a:lnSpc>
                  <a:spcPct val="100000"/>
                </a:lnSpc>
                <a:spcBef>
                  <a:spcPts val="0"/>
                </a:spcBef>
                <a:spcAft>
                  <a:spcPts val="0"/>
                </a:spcAft>
                <a:buClrTx/>
                <a:buSzTx/>
                <a:buFontTx/>
                <a:buNone/>
                <a:tabLst/>
                <a:defRPr/>
              </a:pPr>
              <a:t>4 October 2026</a:t>
            </a:fld>
            <a:endParaRPr kumimoji="0" lang="en-US" sz="900" b="0" i="0" u="none" strike="noStrike" kern="1200" cap="none" spc="0" normalizeH="0" baseline="0" noProof="0">
              <a:ln>
                <a:noFill/>
              </a:ln>
              <a:solidFill>
                <a:srgbClr val="000000"/>
              </a:solidFill>
              <a:effectLst/>
              <a:uLnTx/>
              <a:uFillTx/>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3551609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5013" y="563563"/>
            <a:ext cx="5632450" cy="3168650"/>
          </a:xfrm>
        </p:spPr>
        <p:txBody>
          <a:bodyPr/>
          <a:lstStyle/>
          <a:p>
            <a:endParaRPr lang="en-GB"/>
          </a:p>
        </p:txBody>
      </p:sp>
      <p:sp>
        <p:nvSpPr>
          <p:cNvPr id="3" name="Notes Placeholder 2"/>
          <p:cNvSpPr>
            <a:spLocks noGrp="1"/>
          </p:cNvSpPr>
          <p:nvPr>
            <p:ph type="body" idx="1"/>
          </p:nvPr>
        </p:nvSpPr>
        <p:spPr>
          <a:xfrm>
            <a:off x="735012" y="4518025"/>
            <a:ext cx="5632450" cy="169277"/>
          </a:xfrm>
        </p:spPr>
        <p:txBody>
          <a:bodyPr/>
          <a:lstStyle/>
          <a:p>
            <a:r>
              <a:rPr lang="en-US"/>
              <a:t>https://enrichneo.com/customer-stories/video-podcast-scaling-wealth-platforms-to-accelerate-digitization-for-banks-post-pandemic</a:t>
            </a:r>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 October 2026</a:t>
            </a:fld>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081416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33</a:t>
            </a:fld>
            <a:endParaRPr lang="en-US"/>
          </a:p>
        </p:txBody>
      </p:sp>
    </p:spTree>
    <p:extLst>
      <p:ext uri="{BB962C8B-B14F-4D97-AF65-F5344CB8AC3E}">
        <p14:creationId xmlns:p14="http://schemas.microsoft.com/office/powerpoint/2010/main" val="179215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1296-AC41-FDBA-8324-8E04C6A1A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9BCD7-536C-84A4-F311-2408987E8A1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CDC337A-D025-E521-ED96-44DB5930AD40}"/>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D6877D27-0356-CE01-1072-F8BEAE1BAF8A}"/>
              </a:ext>
            </a:extLst>
          </p:cNvPr>
          <p:cNvSpPr>
            <a:spLocks noGrp="1"/>
          </p:cNvSpPr>
          <p:nvPr>
            <p:ph type="dt" idx="1"/>
          </p:nvPr>
        </p:nvSpPr>
        <p:spPr/>
        <p:txBody>
          <a:bodyPr/>
          <a:lstStyle/>
          <a:p>
            <a:fld id="{1DF34805-1F01-4BDA-A8CA-FCEA2B4BC8D0}" type="datetime3">
              <a:rPr lang="en-US" smtClean="0"/>
              <a:pPr/>
              <a:t>4 October 2026</a:t>
            </a:fld>
            <a:endParaRPr lang="en-US"/>
          </a:p>
        </p:txBody>
      </p:sp>
      <p:sp>
        <p:nvSpPr>
          <p:cNvPr id="5" name="Slide Number Placeholder 4">
            <a:extLst>
              <a:ext uri="{FF2B5EF4-FFF2-40B4-BE49-F238E27FC236}">
                <a16:creationId xmlns:a16="http://schemas.microsoft.com/office/drawing/2014/main" id="{AAC5C23B-C386-21CA-F986-F356A7445AB9}"/>
              </a:ext>
            </a:extLst>
          </p:cNvPr>
          <p:cNvSpPr>
            <a:spLocks noGrp="1"/>
          </p:cNvSpPr>
          <p:nvPr>
            <p:ph type="sldNum" sz="quarter" idx="5"/>
          </p:nvPr>
        </p:nvSpPr>
        <p:spPr/>
        <p:txBody>
          <a:bodyPr/>
          <a:lstStyle/>
          <a:p>
            <a:fld id="{CF5EBCF4-26FC-4F76-8DA1-52FDDC328D44}" type="slidenum">
              <a:rPr lang="en-US" smtClean="0"/>
              <a:pPr/>
              <a:t>34</a:t>
            </a:fld>
            <a:endParaRPr lang="en-US"/>
          </a:p>
        </p:txBody>
      </p:sp>
    </p:spTree>
    <p:extLst>
      <p:ext uri="{BB962C8B-B14F-4D97-AF65-F5344CB8AC3E}">
        <p14:creationId xmlns:p14="http://schemas.microsoft.com/office/powerpoint/2010/main" val="30247849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25.xml"/><Relationship Id="rId7" Type="http://schemas.openxmlformats.org/officeDocument/2006/relationships/oleObject" Target="../embeddings/oleObject2.bin"/><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Master" Target="../slideMasters/slideMaster1.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4.sv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media/image1.emf"/><Relationship Id="rId5" Type="http://schemas.openxmlformats.org/officeDocument/2006/relationships/tags" Target="../tags/tag32.xml"/><Relationship Id="rId10" Type="http://schemas.openxmlformats.org/officeDocument/2006/relationships/oleObject" Target="../embeddings/oleObject3.bin"/><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38.xml"/><Relationship Id="rId7" Type="http://schemas.openxmlformats.org/officeDocument/2006/relationships/slideMaster" Target="../slideMasters/slideMaster1.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10" Type="http://schemas.openxmlformats.org/officeDocument/2006/relationships/image" Target="../media/image3.svg"/><Relationship Id="rId4" Type="http://schemas.openxmlformats.org/officeDocument/2006/relationships/tags" Target="../tags/tag39.xml"/><Relationship Id="rId9"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44.xml"/><Relationship Id="rId7" Type="http://schemas.openxmlformats.org/officeDocument/2006/relationships/slideMaster" Target="../slideMasters/slideMaster1.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10" Type="http://schemas.openxmlformats.org/officeDocument/2006/relationships/image" Target="../media/image3.svg"/><Relationship Id="rId4" Type="http://schemas.openxmlformats.org/officeDocument/2006/relationships/tags" Target="../tags/tag45.xml"/><Relationship Id="rId9"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5.xml"/><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image" Target="../media/image4.sv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image" Target="../media/image2.emf"/><Relationship Id="rId5" Type="http://schemas.openxmlformats.org/officeDocument/2006/relationships/tags" Target="../tags/tag52.xml"/><Relationship Id="rId10" Type="http://schemas.openxmlformats.org/officeDocument/2006/relationships/oleObject" Target="../embeddings/oleObject6.bin"/><Relationship Id="rId4" Type="http://schemas.openxmlformats.org/officeDocument/2006/relationships/tags" Target="../tags/tag5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image" Target="../media/image4.svg"/><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image" Target="../media/image1.emf"/><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oleObject" Target="../embeddings/oleObject7.bin"/><Relationship Id="rId5" Type="http://schemas.openxmlformats.org/officeDocument/2006/relationships/tags" Target="../tags/tag60.xml"/><Relationship Id="rId10" Type="http://schemas.openxmlformats.org/officeDocument/2006/relationships/slideMaster" Target="../slideMasters/slideMaster1.xml"/><Relationship Id="rId4" Type="http://schemas.openxmlformats.org/officeDocument/2006/relationships/tags" Target="../tags/tag59.xml"/><Relationship Id="rId9" Type="http://schemas.openxmlformats.org/officeDocument/2006/relationships/tags" Target="../tags/tag64.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image" Target="../media/image4.svg"/><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image" Target="../media/image1.emf"/><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oleObject" Target="../embeddings/oleObject8.bin"/><Relationship Id="rId5" Type="http://schemas.openxmlformats.org/officeDocument/2006/relationships/tags" Target="../tags/tag69.xml"/><Relationship Id="rId10" Type="http://schemas.openxmlformats.org/officeDocument/2006/relationships/slideMaster" Target="../slideMasters/slideMaster1.xml"/><Relationship Id="rId4" Type="http://schemas.openxmlformats.org/officeDocument/2006/relationships/tags" Target="../tags/tag68.xml"/><Relationship Id="rId9" Type="http://schemas.openxmlformats.org/officeDocument/2006/relationships/tags" Target="../tags/tag73.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image" Target="../media/image4.svg"/><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image" Target="../media/image1.emf"/><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oleObject" Target="../embeddings/oleObject9.bin"/><Relationship Id="rId5" Type="http://schemas.openxmlformats.org/officeDocument/2006/relationships/tags" Target="../tags/tag78.xml"/><Relationship Id="rId10" Type="http://schemas.openxmlformats.org/officeDocument/2006/relationships/slideMaster" Target="../slideMasters/slideMaster1.xml"/><Relationship Id="rId4" Type="http://schemas.openxmlformats.org/officeDocument/2006/relationships/tags" Target="../tags/tag77.xml"/><Relationship Id="rId9" Type="http://schemas.openxmlformats.org/officeDocument/2006/relationships/tags" Target="../tags/tag8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image" Target="../media/image4.svg"/><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5.emf"/><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oleObject" Target="../embeddings/oleObject10.bin"/><Relationship Id="rId5" Type="http://schemas.openxmlformats.org/officeDocument/2006/relationships/tags" Target="../tags/tag87.xml"/><Relationship Id="rId10" Type="http://schemas.openxmlformats.org/officeDocument/2006/relationships/slideMaster" Target="../slideMasters/slideMaster1.xml"/><Relationship Id="rId4" Type="http://schemas.openxmlformats.org/officeDocument/2006/relationships/tags" Target="../tags/tag86.xml"/><Relationship Id="rId9" Type="http://schemas.openxmlformats.org/officeDocument/2006/relationships/tags" Target="../tags/tag9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image" Target="../media/image4.svg"/><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image" Target="../media/image1.emf"/><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oleObject" Target="../embeddings/oleObject11.bin"/><Relationship Id="rId5" Type="http://schemas.openxmlformats.org/officeDocument/2006/relationships/tags" Target="../tags/tag96.xml"/><Relationship Id="rId10" Type="http://schemas.openxmlformats.org/officeDocument/2006/relationships/slideMaster" Target="../slideMasters/slideMaster1.xml"/><Relationship Id="rId4" Type="http://schemas.openxmlformats.org/officeDocument/2006/relationships/tags" Target="../tags/tag95.xml"/><Relationship Id="rId9" Type="http://schemas.openxmlformats.org/officeDocument/2006/relationships/tags" Target="../tags/tag100.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103.xml"/><Relationship Id="rId7" Type="http://schemas.openxmlformats.org/officeDocument/2006/relationships/image" Target="../media/image6.svg"/><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image" Target="../media/image2.emf"/><Relationship Id="rId5" Type="http://schemas.openxmlformats.org/officeDocument/2006/relationships/oleObject" Target="../embeddings/oleObject12.bin"/><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04.xml"/><Relationship Id="rId4"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image" Target="../media/image4.svg"/><Relationship Id="rId3" Type="http://schemas.openxmlformats.org/officeDocument/2006/relationships/tags" Target="../tags/tag107.xml"/><Relationship Id="rId7" Type="http://schemas.openxmlformats.org/officeDocument/2006/relationships/tags" Target="../tags/tag111.xml"/><Relationship Id="rId12" Type="http://schemas.openxmlformats.org/officeDocument/2006/relationships/image" Target="../media/image1.emf"/><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oleObject" Target="../embeddings/oleObject11.bin"/><Relationship Id="rId5" Type="http://schemas.openxmlformats.org/officeDocument/2006/relationships/tags" Target="../tags/tag109.xml"/><Relationship Id="rId10" Type="http://schemas.openxmlformats.org/officeDocument/2006/relationships/slideMaster" Target="../slideMasters/slideMaster1.xml"/><Relationship Id="rId4" Type="http://schemas.openxmlformats.org/officeDocument/2006/relationships/tags" Target="../tags/tag108.xml"/><Relationship Id="rId9" Type="http://schemas.openxmlformats.org/officeDocument/2006/relationships/tags" Target="../tags/tag113.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slideMaster" Target="../slideMasters/slideMaster1.xml"/><Relationship Id="rId5" Type="http://schemas.openxmlformats.org/officeDocument/2006/relationships/tags" Target="../tags/tag118.xml"/><Relationship Id="rId4" Type="http://schemas.openxmlformats.org/officeDocument/2006/relationships/tags" Target="../tags/tag11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1"/>
            </p:custDataLst>
            <p:extLst>
              <p:ext uri="{D42A27DB-BD31-4B8C-83A1-F6EECF244321}">
                <p14:modId xmlns:p14="http://schemas.microsoft.com/office/powerpoint/2010/main" val="3105818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42428D-965F-410A-AAB0-2F4E028AF07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4000" b="1" i="0" baseline="0">
              <a:solidFill>
                <a:schemeClr val="bg1"/>
              </a:solidFill>
              <a:latin typeface="Georgia" panose="02040502050405020303" pitchFamily="18" charset="0"/>
              <a:ea typeface="Cambria" panose="02040503050406030204" pitchFamily="18" charset="0"/>
              <a:cs typeface="Times New Roman" panose="02020603050405020304" pitchFamily="18" charset="0"/>
              <a:sym typeface="Georgia" panose="02040502050405020303" pitchFamily="18" charset="0"/>
            </a:endParaRPr>
          </a:p>
        </p:txBody>
      </p:sp>
      <p:sp>
        <p:nvSpPr>
          <p:cNvPr id="32" name="Background">
            <a:extLst>
              <a:ext uri="{FF2B5EF4-FFF2-40B4-BE49-F238E27FC236}">
                <a16:creationId xmlns:a16="http://schemas.microsoft.com/office/drawing/2014/main" id="{1D980268-7BA9-4779-810B-9A371BD3036C}"/>
              </a:ext>
            </a:extLst>
          </p:cNvPr>
          <p:cNvSpPr/>
          <p:nvPr userDrawn="1"/>
        </p:nvSpPr>
        <p:spPr>
          <a:xfrm>
            <a:off x="0" y="1587"/>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mn-lt"/>
            </a:endParaRPr>
          </a:p>
        </p:txBody>
      </p:sp>
      <p:grpSp>
        <p:nvGrpSpPr>
          <p:cNvPr id="104" name="Group 103">
            <a:extLst>
              <a:ext uri="{FF2B5EF4-FFF2-40B4-BE49-F238E27FC236}">
                <a16:creationId xmlns:a16="http://schemas.microsoft.com/office/drawing/2014/main" id="{E0307DC1-89A8-4F19-831F-D7727709D848}"/>
              </a:ext>
            </a:extLst>
          </p:cNvPr>
          <p:cNvGrpSpPr/>
          <p:nvPr userDrawn="1"/>
        </p:nvGrpSpPr>
        <p:grpSpPr>
          <a:xfrm>
            <a:off x="0" y="3305867"/>
            <a:ext cx="6648374" cy="3337021"/>
            <a:chOff x="0" y="0"/>
            <a:chExt cx="6648374" cy="3337021"/>
          </a:xfrm>
        </p:grpSpPr>
        <p:pic>
          <p:nvPicPr>
            <p:cNvPr id="105" name="Graphic 104">
              <a:extLst>
                <a:ext uri="{FF2B5EF4-FFF2-40B4-BE49-F238E27FC236}">
                  <a16:creationId xmlns:a16="http://schemas.microsoft.com/office/drawing/2014/main" id="{21BADBE0-EF9D-4335-AF16-0F5531396DC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0" y="0"/>
              <a:ext cx="3337021" cy="3337021"/>
            </a:xfrm>
            <a:prstGeom prst="rect">
              <a:avLst/>
            </a:prstGeom>
          </p:spPr>
        </p:pic>
        <p:pic>
          <p:nvPicPr>
            <p:cNvPr id="106" name="Graphic 105">
              <a:extLst>
                <a:ext uri="{FF2B5EF4-FFF2-40B4-BE49-F238E27FC236}">
                  <a16:creationId xmlns:a16="http://schemas.microsoft.com/office/drawing/2014/main" id="{FE9D55BB-E0CB-44EB-987D-AAEB678C205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311353" y="0"/>
              <a:ext cx="3337021" cy="3337021"/>
            </a:xfrm>
            <a:prstGeom prst="rect">
              <a:avLst/>
            </a:prstGeom>
          </p:spPr>
        </p:pic>
      </p:grpSp>
      <p:pic>
        <p:nvPicPr>
          <p:cNvPr id="107" name="Graphic 106">
            <a:extLst>
              <a:ext uri="{FF2B5EF4-FFF2-40B4-BE49-F238E27FC236}">
                <a16:creationId xmlns:a16="http://schemas.microsoft.com/office/drawing/2014/main" id="{24BBA23F-C71E-46C1-96BF-AB67B8254A0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6605762" y="3305867"/>
            <a:ext cx="3337021" cy="3337021"/>
          </a:xfrm>
          <a:prstGeom prst="rect">
            <a:avLst/>
          </a:prstGeom>
        </p:spPr>
      </p:pic>
      <p:pic>
        <p:nvPicPr>
          <p:cNvPr id="108" name="Graphic 107">
            <a:extLst>
              <a:ext uri="{FF2B5EF4-FFF2-40B4-BE49-F238E27FC236}">
                <a16:creationId xmlns:a16="http://schemas.microsoft.com/office/drawing/2014/main" id="{86098EE8-AB18-4F28-AC02-491CA6F90929}"/>
              </a:ext>
            </a:extLst>
          </p:cNvPr>
          <p:cNvPicPr>
            <a:picLocks noChangeAspect="1"/>
          </p:cNvPicPr>
          <p:nvPr userDrawn="1"/>
        </p:nvPicPr>
        <p:blipFill>
          <a:blip>
            <a:extLst>
              <a:ext uri="{96DAC541-7B7A-43D3-8B79-37D633B846F1}">
                <asvg:svgBlip xmlns:asvg="http://schemas.microsoft.com/office/drawing/2016/SVG/main" r:embed="rId9"/>
              </a:ext>
            </a:extLst>
          </a:blip>
          <a:srcRect r="31829"/>
          <a:stretch>
            <a:fillRect/>
          </a:stretch>
        </p:blipFill>
        <p:spPr>
          <a:xfrm>
            <a:off x="9917115" y="3305867"/>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120" name="Graphic 119">
            <a:extLst>
              <a:ext uri="{FF2B5EF4-FFF2-40B4-BE49-F238E27FC236}">
                <a16:creationId xmlns:a16="http://schemas.microsoft.com/office/drawing/2014/main" id="{2A9E46F3-7EEF-45EC-B7C9-FAFF412582BF}"/>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118" name="Graphic 117">
            <a:extLst>
              <a:ext uri="{FF2B5EF4-FFF2-40B4-BE49-F238E27FC236}">
                <a16:creationId xmlns:a16="http://schemas.microsoft.com/office/drawing/2014/main" id="{F0B558E2-8155-4161-A0C3-8A3F8D9B29CF}"/>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3311353" y="6604027"/>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117" name="Graphic 116">
            <a:extLst>
              <a:ext uri="{FF2B5EF4-FFF2-40B4-BE49-F238E27FC236}">
                <a16:creationId xmlns:a16="http://schemas.microsoft.com/office/drawing/2014/main" id="{7F35D97E-A39C-4F02-8745-F5C3640709F8}"/>
              </a:ext>
            </a:extLst>
          </p:cNvPr>
          <p:cNvPicPr>
            <a:picLocks noChangeAspect="1"/>
          </p:cNvPicPr>
          <p:nvPr userDrawn="1"/>
        </p:nvPicPr>
        <p:blipFill>
          <a:blip>
            <a:extLst>
              <a:ext uri="{96DAC541-7B7A-43D3-8B79-37D633B846F1}">
                <asvg:svgBlip xmlns:asvg="http://schemas.microsoft.com/office/drawing/2016/SVG/main" r:embed="rId9"/>
              </a:ext>
            </a:extLst>
          </a:blip>
          <a:srcRect b="92389"/>
          <a:stretch>
            <a:fillRect/>
          </a:stretch>
        </p:blipFill>
        <p:spPr>
          <a:xfrm>
            <a:off x="6605762" y="6604027"/>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116" name="Graphic 115">
            <a:extLst>
              <a:ext uri="{FF2B5EF4-FFF2-40B4-BE49-F238E27FC236}">
                <a16:creationId xmlns:a16="http://schemas.microsoft.com/office/drawing/2014/main" id="{F5B3FA40-9DF6-443D-B910-DB34568AAA8C}"/>
              </a:ext>
            </a:extLst>
          </p:cNvPr>
          <p:cNvPicPr>
            <a:picLocks noChangeAspect="1"/>
          </p:cNvPicPr>
          <p:nvPr userDrawn="1"/>
        </p:nvPicPr>
        <p:blipFill>
          <a:blip>
            <a:extLst>
              <a:ext uri="{96DAC541-7B7A-43D3-8B79-37D633B846F1}">
                <asvg:svgBlip xmlns:asvg="http://schemas.microsoft.com/office/drawing/2016/SVG/main" r:embed="rId9"/>
              </a:ext>
            </a:extLst>
          </a:blip>
          <a:srcRect r="31829" b="92389"/>
          <a:stretch>
            <a:fillRect/>
          </a:stretch>
        </p:blipFill>
        <p:spPr>
          <a:xfrm>
            <a:off x="9917115" y="6604027"/>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14" name="Rectangle 1">
            <a:extLst>
              <a:ext uri="{FF2B5EF4-FFF2-40B4-BE49-F238E27FC236}">
                <a16:creationId xmlns:a16="http://schemas.microsoft.com/office/drawing/2014/main" id="{74DBAC4F-5C86-458F-88E1-115AA10C0759}"/>
              </a:ext>
            </a:extLst>
          </p:cNvPr>
          <p:cNvGrpSpPr/>
          <p:nvPr userDrawn="1"/>
        </p:nvGrpSpPr>
        <p:grpSpPr>
          <a:xfrm>
            <a:off x="0" y="0"/>
            <a:ext cx="6648374" cy="3337021"/>
            <a:chOff x="0" y="0"/>
            <a:chExt cx="6648374" cy="3337021"/>
          </a:xfrm>
        </p:grpSpPr>
        <p:pic>
          <p:nvPicPr>
            <p:cNvPr id="12" name="Graphic 11">
              <a:extLst>
                <a:ext uri="{FF2B5EF4-FFF2-40B4-BE49-F238E27FC236}">
                  <a16:creationId xmlns:a16="http://schemas.microsoft.com/office/drawing/2014/main" id="{C03C966D-E0F6-499D-B964-1BBA7BCCCE2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0" y="0"/>
              <a:ext cx="3337021" cy="3337021"/>
            </a:xfrm>
            <a:prstGeom prst="rect">
              <a:avLst/>
            </a:prstGeom>
          </p:spPr>
        </p:pic>
        <p:pic>
          <p:nvPicPr>
            <p:cNvPr id="98" name="Graphic 97">
              <a:extLst>
                <a:ext uri="{FF2B5EF4-FFF2-40B4-BE49-F238E27FC236}">
                  <a16:creationId xmlns:a16="http://schemas.microsoft.com/office/drawing/2014/main" id="{363F64DD-88CA-4D07-A7DC-636636F8D2D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3311353" y="0"/>
              <a:ext cx="3337021" cy="3337021"/>
            </a:xfrm>
            <a:prstGeom prst="rect">
              <a:avLst/>
            </a:prstGeom>
          </p:spPr>
        </p:pic>
      </p:grpSp>
      <p:sp>
        <p:nvSpPr>
          <p:cNvPr id="63" name="Background">
            <a:extLst>
              <a:ext uri="{FF2B5EF4-FFF2-40B4-BE49-F238E27FC236}">
                <a16:creationId xmlns:a16="http://schemas.microsoft.com/office/drawing/2014/main" id="{425469C0-55E0-44DD-A565-3DED7D7E7D79}"/>
              </a:ext>
            </a:extLst>
          </p:cNvPr>
          <p:cNvSpPr/>
          <p:nvPr userDrawn="1"/>
        </p:nvSpPr>
        <p:spPr bwMode="ltGray">
          <a:xfrm rot="10800000">
            <a:off x="-2115" y="0"/>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endParaRPr>
          </a:p>
        </p:txBody>
      </p:sp>
      <p:sp>
        <p:nvSpPr>
          <p:cNvPr id="31" name="Background">
            <a:extLst>
              <a:ext uri="{FF2B5EF4-FFF2-40B4-BE49-F238E27FC236}">
                <a16:creationId xmlns:a16="http://schemas.microsoft.com/office/drawing/2014/main" id="{0E2068AF-9C8C-490E-B5B3-460EC8A03D94}"/>
              </a:ext>
            </a:extLst>
          </p:cNvPr>
          <p:cNvSpPr/>
          <p:nvPr userDrawn="1"/>
        </p:nvSpPr>
        <p:spPr bwMode="ltGray">
          <a:xfrm>
            <a:off x="0" y="207233"/>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endParaRPr>
          </a:p>
        </p:txBody>
      </p:sp>
      <p:grpSp>
        <p:nvGrpSpPr>
          <p:cNvPr id="35" name="Group 34">
            <a:extLst>
              <a:ext uri="{FF2B5EF4-FFF2-40B4-BE49-F238E27FC236}">
                <a16:creationId xmlns:a16="http://schemas.microsoft.com/office/drawing/2014/main" id="{1A210679-AAFE-4A37-B347-17F73F4FE03C}"/>
              </a:ext>
            </a:extLst>
          </p:cNvPr>
          <p:cNvGrpSpPr/>
          <p:nvPr userDrawn="1"/>
        </p:nvGrpSpPr>
        <p:grpSpPr>
          <a:xfrm>
            <a:off x="558977" y="509609"/>
            <a:ext cx="1550169" cy="633391"/>
            <a:chOff x="1568450" y="-1222375"/>
            <a:chExt cx="2327275" cy="950912"/>
          </a:xfrm>
          <a:solidFill>
            <a:schemeClr val="bg1"/>
          </a:solidFill>
        </p:grpSpPr>
        <p:sp>
          <p:nvSpPr>
            <p:cNvPr id="36" name="Freeform 568">
              <a:extLst>
                <a:ext uri="{FF2B5EF4-FFF2-40B4-BE49-F238E27FC236}">
                  <a16:creationId xmlns:a16="http://schemas.microsoft.com/office/drawing/2014/main" id="{3C220D7C-BB8A-448D-B566-ED3009C0941B}"/>
                </a:ext>
              </a:extLst>
            </p:cNvPr>
            <p:cNvSpPr>
              <a:spLocks noEditPoints="1"/>
            </p:cNvSpPr>
            <p:nvPr userDrawn="1"/>
          </p:nvSpPr>
          <p:spPr bwMode="auto">
            <a:xfrm>
              <a:off x="2643188" y="-682625"/>
              <a:ext cx="215900" cy="269875"/>
            </a:xfrm>
            <a:custGeom>
              <a:avLst/>
              <a:gdLst>
                <a:gd name="T0" fmla="*/ 0 w 77"/>
                <a:gd name="T1" fmla="*/ 0 h 96"/>
                <a:gd name="T2" fmla="*/ 34 w 77"/>
                <a:gd name="T3" fmla="*/ 0 h 96"/>
                <a:gd name="T4" fmla="*/ 70 w 77"/>
                <a:gd name="T5" fmla="*/ 27 h 96"/>
                <a:gd name="T6" fmla="*/ 60 w 77"/>
                <a:gd name="T7" fmla="*/ 44 h 96"/>
                <a:gd name="T8" fmla="*/ 60 w 77"/>
                <a:gd name="T9" fmla="*/ 44 h 96"/>
                <a:gd name="T10" fmla="*/ 77 w 77"/>
                <a:gd name="T11" fmla="*/ 67 h 96"/>
                <a:gd name="T12" fmla="*/ 38 w 77"/>
                <a:gd name="T13" fmla="*/ 96 h 96"/>
                <a:gd name="T14" fmla="*/ 0 w 77"/>
                <a:gd name="T15" fmla="*/ 96 h 96"/>
                <a:gd name="T16" fmla="*/ 0 w 77"/>
                <a:gd name="T17" fmla="*/ 0 h 96"/>
                <a:gd name="T18" fmla="*/ 32 w 77"/>
                <a:gd name="T19" fmla="*/ 40 h 96"/>
                <a:gd name="T20" fmla="*/ 47 w 77"/>
                <a:gd name="T21" fmla="*/ 29 h 96"/>
                <a:gd name="T22" fmla="*/ 30 w 77"/>
                <a:gd name="T23" fmla="*/ 18 h 96"/>
                <a:gd name="T24" fmla="*/ 23 w 77"/>
                <a:gd name="T25" fmla="*/ 18 h 96"/>
                <a:gd name="T26" fmla="*/ 23 w 77"/>
                <a:gd name="T27" fmla="*/ 40 h 96"/>
                <a:gd name="T28" fmla="*/ 32 w 77"/>
                <a:gd name="T29" fmla="*/ 40 h 96"/>
                <a:gd name="T30" fmla="*/ 35 w 77"/>
                <a:gd name="T31" fmla="*/ 78 h 96"/>
                <a:gd name="T32" fmla="*/ 53 w 77"/>
                <a:gd name="T33" fmla="*/ 67 h 96"/>
                <a:gd name="T34" fmla="*/ 33 w 77"/>
                <a:gd name="T35" fmla="*/ 55 h 96"/>
                <a:gd name="T36" fmla="*/ 23 w 77"/>
                <a:gd name="T37" fmla="*/ 55 h 96"/>
                <a:gd name="T38" fmla="*/ 23 w 77"/>
                <a:gd name="T39" fmla="*/ 78 h 96"/>
                <a:gd name="T40" fmla="*/ 35 w 77"/>
                <a:gd name="T41"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 h="96">
                  <a:moveTo>
                    <a:pt x="0" y="0"/>
                  </a:moveTo>
                  <a:cubicBezTo>
                    <a:pt x="34" y="0"/>
                    <a:pt x="34" y="0"/>
                    <a:pt x="34" y="0"/>
                  </a:cubicBezTo>
                  <a:cubicBezTo>
                    <a:pt x="57" y="0"/>
                    <a:pt x="70" y="9"/>
                    <a:pt x="70" y="27"/>
                  </a:cubicBezTo>
                  <a:cubicBezTo>
                    <a:pt x="70" y="35"/>
                    <a:pt x="65" y="41"/>
                    <a:pt x="60" y="44"/>
                  </a:cubicBezTo>
                  <a:cubicBezTo>
                    <a:pt x="60" y="44"/>
                    <a:pt x="60" y="44"/>
                    <a:pt x="60" y="44"/>
                  </a:cubicBezTo>
                  <a:cubicBezTo>
                    <a:pt x="66" y="46"/>
                    <a:pt x="77" y="54"/>
                    <a:pt x="77" y="67"/>
                  </a:cubicBezTo>
                  <a:cubicBezTo>
                    <a:pt x="77" y="84"/>
                    <a:pt x="66" y="96"/>
                    <a:pt x="38" y="96"/>
                  </a:cubicBezTo>
                  <a:cubicBezTo>
                    <a:pt x="0" y="96"/>
                    <a:pt x="0" y="96"/>
                    <a:pt x="0" y="96"/>
                  </a:cubicBezTo>
                  <a:lnTo>
                    <a:pt x="0" y="0"/>
                  </a:lnTo>
                  <a:close/>
                  <a:moveTo>
                    <a:pt x="32" y="40"/>
                  </a:moveTo>
                  <a:cubicBezTo>
                    <a:pt x="42" y="40"/>
                    <a:pt x="47" y="38"/>
                    <a:pt x="47" y="29"/>
                  </a:cubicBezTo>
                  <a:cubicBezTo>
                    <a:pt x="47" y="21"/>
                    <a:pt x="41" y="18"/>
                    <a:pt x="30" y="18"/>
                  </a:cubicBezTo>
                  <a:cubicBezTo>
                    <a:pt x="23" y="18"/>
                    <a:pt x="23" y="18"/>
                    <a:pt x="23" y="18"/>
                  </a:cubicBezTo>
                  <a:cubicBezTo>
                    <a:pt x="23" y="40"/>
                    <a:pt x="23" y="40"/>
                    <a:pt x="23" y="40"/>
                  </a:cubicBezTo>
                  <a:lnTo>
                    <a:pt x="32" y="40"/>
                  </a:lnTo>
                  <a:close/>
                  <a:moveTo>
                    <a:pt x="35" y="78"/>
                  </a:moveTo>
                  <a:cubicBezTo>
                    <a:pt x="47" y="78"/>
                    <a:pt x="53" y="75"/>
                    <a:pt x="53" y="67"/>
                  </a:cubicBezTo>
                  <a:cubicBezTo>
                    <a:pt x="53" y="59"/>
                    <a:pt x="47" y="55"/>
                    <a:pt x="33" y="55"/>
                  </a:cubicBezTo>
                  <a:cubicBezTo>
                    <a:pt x="23" y="55"/>
                    <a:pt x="23" y="55"/>
                    <a:pt x="23" y="55"/>
                  </a:cubicBezTo>
                  <a:cubicBezTo>
                    <a:pt x="23" y="78"/>
                    <a:pt x="23" y="78"/>
                    <a:pt x="23" y="78"/>
                  </a:cubicBezTo>
                  <a:lnTo>
                    <a:pt x="35"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7" name="Freeform 569">
              <a:extLst>
                <a:ext uri="{FF2B5EF4-FFF2-40B4-BE49-F238E27FC236}">
                  <a16:creationId xmlns:a16="http://schemas.microsoft.com/office/drawing/2014/main" id="{56955F2B-3B04-43A0-ABB2-69888FCB71B8}"/>
                </a:ext>
              </a:extLst>
            </p:cNvPr>
            <p:cNvSpPr>
              <a:spLocks noEditPoints="1"/>
            </p:cNvSpPr>
            <p:nvPr userDrawn="1"/>
          </p:nvSpPr>
          <p:spPr bwMode="auto">
            <a:xfrm>
              <a:off x="2879725" y="-627063"/>
              <a:ext cx="204788" cy="220662"/>
            </a:xfrm>
            <a:custGeom>
              <a:avLst/>
              <a:gdLst>
                <a:gd name="T0" fmla="*/ 0 w 73"/>
                <a:gd name="T1" fmla="*/ 55 h 78"/>
                <a:gd name="T2" fmla="*/ 32 w 73"/>
                <a:gd name="T3" fmla="*/ 33 h 78"/>
                <a:gd name="T4" fmla="*/ 45 w 73"/>
                <a:gd name="T5" fmla="*/ 33 h 78"/>
                <a:gd name="T6" fmla="*/ 45 w 73"/>
                <a:gd name="T7" fmla="*/ 28 h 78"/>
                <a:gd name="T8" fmla="*/ 31 w 73"/>
                <a:gd name="T9" fmla="*/ 20 h 78"/>
                <a:gd name="T10" fmla="*/ 9 w 73"/>
                <a:gd name="T11" fmla="*/ 23 h 78"/>
                <a:gd name="T12" fmla="*/ 4 w 73"/>
                <a:gd name="T13" fmla="*/ 6 h 78"/>
                <a:gd name="T14" fmla="*/ 35 w 73"/>
                <a:gd name="T15" fmla="*/ 0 h 78"/>
                <a:gd name="T16" fmla="*/ 67 w 73"/>
                <a:gd name="T17" fmla="*/ 24 h 78"/>
                <a:gd name="T18" fmla="*/ 67 w 73"/>
                <a:gd name="T19" fmla="*/ 57 h 78"/>
                <a:gd name="T20" fmla="*/ 73 w 73"/>
                <a:gd name="T21" fmla="*/ 60 h 78"/>
                <a:gd name="T22" fmla="*/ 73 w 73"/>
                <a:gd name="T23" fmla="*/ 77 h 78"/>
                <a:gd name="T24" fmla="*/ 67 w 73"/>
                <a:gd name="T25" fmla="*/ 77 h 78"/>
                <a:gd name="T26" fmla="*/ 47 w 73"/>
                <a:gd name="T27" fmla="*/ 69 h 78"/>
                <a:gd name="T28" fmla="*/ 25 w 73"/>
                <a:gd name="T29" fmla="*/ 78 h 78"/>
                <a:gd name="T30" fmla="*/ 0 w 73"/>
                <a:gd name="T31" fmla="*/ 55 h 78"/>
                <a:gd name="T32" fmla="*/ 45 w 73"/>
                <a:gd name="T33" fmla="*/ 58 h 78"/>
                <a:gd name="T34" fmla="*/ 45 w 73"/>
                <a:gd name="T35" fmla="*/ 46 h 78"/>
                <a:gd name="T36" fmla="*/ 33 w 73"/>
                <a:gd name="T37" fmla="*/ 46 h 78"/>
                <a:gd name="T38" fmla="*/ 22 w 73"/>
                <a:gd name="T39" fmla="*/ 54 h 78"/>
                <a:gd name="T40" fmla="*/ 30 w 73"/>
                <a:gd name="T41" fmla="*/ 60 h 78"/>
                <a:gd name="T42" fmla="*/ 45 w 73"/>
                <a:gd name="T43"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3" h="78">
                  <a:moveTo>
                    <a:pt x="0" y="55"/>
                  </a:moveTo>
                  <a:cubicBezTo>
                    <a:pt x="0" y="36"/>
                    <a:pt x="17" y="33"/>
                    <a:pt x="32" y="33"/>
                  </a:cubicBezTo>
                  <a:cubicBezTo>
                    <a:pt x="45" y="33"/>
                    <a:pt x="45" y="33"/>
                    <a:pt x="45" y="33"/>
                  </a:cubicBezTo>
                  <a:cubicBezTo>
                    <a:pt x="45" y="28"/>
                    <a:pt x="45" y="28"/>
                    <a:pt x="45" y="28"/>
                  </a:cubicBezTo>
                  <a:cubicBezTo>
                    <a:pt x="45" y="21"/>
                    <a:pt x="40" y="20"/>
                    <a:pt x="31" y="20"/>
                  </a:cubicBezTo>
                  <a:cubicBezTo>
                    <a:pt x="24" y="20"/>
                    <a:pt x="16" y="21"/>
                    <a:pt x="9" y="23"/>
                  </a:cubicBezTo>
                  <a:cubicBezTo>
                    <a:pt x="4" y="6"/>
                    <a:pt x="4" y="6"/>
                    <a:pt x="4" y="6"/>
                  </a:cubicBezTo>
                  <a:cubicBezTo>
                    <a:pt x="13" y="3"/>
                    <a:pt x="23" y="0"/>
                    <a:pt x="35" y="0"/>
                  </a:cubicBezTo>
                  <a:cubicBezTo>
                    <a:pt x="58" y="0"/>
                    <a:pt x="67" y="7"/>
                    <a:pt x="67" y="24"/>
                  </a:cubicBezTo>
                  <a:cubicBezTo>
                    <a:pt x="67" y="57"/>
                    <a:pt x="67" y="57"/>
                    <a:pt x="67" y="57"/>
                  </a:cubicBezTo>
                  <a:cubicBezTo>
                    <a:pt x="67" y="59"/>
                    <a:pt x="69" y="60"/>
                    <a:pt x="73" y="60"/>
                  </a:cubicBezTo>
                  <a:cubicBezTo>
                    <a:pt x="73" y="77"/>
                    <a:pt x="73" y="77"/>
                    <a:pt x="73" y="77"/>
                  </a:cubicBezTo>
                  <a:cubicBezTo>
                    <a:pt x="71" y="77"/>
                    <a:pt x="69" y="77"/>
                    <a:pt x="67" y="77"/>
                  </a:cubicBezTo>
                  <a:cubicBezTo>
                    <a:pt x="58" y="77"/>
                    <a:pt x="49" y="76"/>
                    <a:pt x="47" y="69"/>
                  </a:cubicBezTo>
                  <a:cubicBezTo>
                    <a:pt x="41" y="73"/>
                    <a:pt x="34" y="78"/>
                    <a:pt x="25" y="78"/>
                  </a:cubicBezTo>
                  <a:cubicBezTo>
                    <a:pt x="9" y="78"/>
                    <a:pt x="0" y="70"/>
                    <a:pt x="0" y="55"/>
                  </a:cubicBezTo>
                  <a:moveTo>
                    <a:pt x="45" y="58"/>
                  </a:moveTo>
                  <a:cubicBezTo>
                    <a:pt x="45" y="46"/>
                    <a:pt x="45" y="46"/>
                    <a:pt x="45" y="46"/>
                  </a:cubicBezTo>
                  <a:cubicBezTo>
                    <a:pt x="33" y="46"/>
                    <a:pt x="33" y="46"/>
                    <a:pt x="33" y="46"/>
                  </a:cubicBezTo>
                  <a:cubicBezTo>
                    <a:pt x="27" y="46"/>
                    <a:pt x="22" y="48"/>
                    <a:pt x="22" y="54"/>
                  </a:cubicBezTo>
                  <a:cubicBezTo>
                    <a:pt x="22" y="58"/>
                    <a:pt x="26" y="60"/>
                    <a:pt x="30" y="60"/>
                  </a:cubicBezTo>
                  <a:cubicBezTo>
                    <a:pt x="35" y="60"/>
                    <a:pt x="40" y="59"/>
                    <a:pt x="45" y="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8" name="Freeform 570">
              <a:extLst>
                <a:ext uri="{FF2B5EF4-FFF2-40B4-BE49-F238E27FC236}">
                  <a16:creationId xmlns:a16="http://schemas.microsoft.com/office/drawing/2014/main" id="{AB576AAF-61A1-45F3-B605-3C184D4B1CCD}"/>
                </a:ext>
              </a:extLst>
            </p:cNvPr>
            <p:cNvSpPr>
              <a:spLocks/>
            </p:cNvSpPr>
            <p:nvPr userDrawn="1"/>
          </p:nvSpPr>
          <p:spPr bwMode="auto">
            <a:xfrm>
              <a:off x="3117850" y="-627063"/>
              <a:ext cx="200025" cy="214312"/>
            </a:xfrm>
            <a:custGeom>
              <a:avLst/>
              <a:gdLst>
                <a:gd name="T0" fmla="*/ 0 w 71"/>
                <a:gd name="T1" fmla="*/ 2 h 76"/>
                <a:gd name="T2" fmla="*/ 22 w 71"/>
                <a:gd name="T3" fmla="*/ 2 h 76"/>
                <a:gd name="T4" fmla="*/ 22 w 71"/>
                <a:gd name="T5" fmla="*/ 10 h 76"/>
                <a:gd name="T6" fmla="*/ 46 w 71"/>
                <a:gd name="T7" fmla="*/ 0 h 76"/>
                <a:gd name="T8" fmla="*/ 71 w 71"/>
                <a:gd name="T9" fmla="*/ 30 h 76"/>
                <a:gd name="T10" fmla="*/ 71 w 71"/>
                <a:gd name="T11" fmla="*/ 76 h 76"/>
                <a:gd name="T12" fmla="*/ 49 w 71"/>
                <a:gd name="T13" fmla="*/ 76 h 76"/>
                <a:gd name="T14" fmla="*/ 49 w 71"/>
                <a:gd name="T15" fmla="*/ 32 h 76"/>
                <a:gd name="T16" fmla="*/ 39 w 71"/>
                <a:gd name="T17" fmla="*/ 20 h 76"/>
                <a:gd name="T18" fmla="*/ 22 w 71"/>
                <a:gd name="T19" fmla="*/ 24 h 76"/>
                <a:gd name="T20" fmla="*/ 22 w 71"/>
                <a:gd name="T21" fmla="*/ 76 h 76"/>
                <a:gd name="T22" fmla="*/ 0 w 71"/>
                <a:gd name="T23" fmla="*/ 76 h 76"/>
                <a:gd name="T24" fmla="*/ 0 w 71"/>
                <a:gd name="T25" fmla="*/ 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76">
                  <a:moveTo>
                    <a:pt x="0" y="2"/>
                  </a:moveTo>
                  <a:cubicBezTo>
                    <a:pt x="22" y="2"/>
                    <a:pt x="22" y="2"/>
                    <a:pt x="22" y="2"/>
                  </a:cubicBezTo>
                  <a:cubicBezTo>
                    <a:pt x="22" y="10"/>
                    <a:pt x="22" y="10"/>
                    <a:pt x="22" y="10"/>
                  </a:cubicBezTo>
                  <a:cubicBezTo>
                    <a:pt x="27" y="6"/>
                    <a:pt x="37" y="0"/>
                    <a:pt x="46" y="0"/>
                  </a:cubicBezTo>
                  <a:cubicBezTo>
                    <a:pt x="70" y="0"/>
                    <a:pt x="71" y="13"/>
                    <a:pt x="71" y="30"/>
                  </a:cubicBezTo>
                  <a:cubicBezTo>
                    <a:pt x="71" y="76"/>
                    <a:pt x="71" y="76"/>
                    <a:pt x="71" y="76"/>
                  </a:cubicBezTo>
                  <a:cubicBezTo>
                    <a:pt x="49" y="76"/>
                    <a:pt x="49" y="76"/>
                    <a:pt x="49" y="76"/>
                  </a:cubicBezTo>
                  <a:cubicBezTo>
                    <a:pt x="49" y="32"/>
                    <a:pt x="49" y="32"/>
                    <a:pt x="49" y="32"/>
                  </a:cubicBezTo>
                  <a:cubicBezTo>
                    <a:pt x="49" y="22"/>
                    <a:pt x="46" y="20"/>
                    <a:pt x="39" y="20"/>
                  </a:cubicBezTo>
                  <a:cubicBezTo>
                    <a:pt x="32" y="20"/>
                    <a:pt x="26" y="22"/>
                    <a:pt x="22" y="24"/>
                  </a:cubicBezTo>
                  <a:cubicBezTo>
                    <a:pt x="22" y="76"/>
                    <a:pt x="22" y="76"/>
                    <a:pt x="22" y="76"/>
                  </a:cubicBezTo>
                  <a:cubicBezTo>
                    <a:pt x="0" y="76"/>
                    <a:pt x="0" y="76"/>
                    <a:pt x="0" y="76"/>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39" name="Freeform 571">
              <a:extLst>
                <a:ext uri="{FF2B5EF4-FFF2-40B4-BE49-F238E27FC236}">
                  <a16:creationId xmlns:a16="http://schemas.microsoft.com/office/drawing/2014/main" id="{3DF65FB0-FFED-471C-A0DF-2DDA327C3BFF}"/>
                </a:ext>
              </a:extLst>
            </p:cNvPr>
            <p:cNvSpPr>
              <a:spLocks/>
            </p:cNvSpPr>
            <p:nvPr userDrawn="1"/>
          </p:nvSpPr>
          <p:spPr bwMode="auto">
            <a:xfrm>
              <a:off x="3359150" y="-700088"/>
              <a:ext cx="203200" cy="287337"/>
            </a:xfrm>
            <a:custGeom>
              <a:avLst/>
              <a:gdLst>
                <a:gd name="T0" fmla="*/ 0 w 128"/>
                <a:gd name="T1" fmla="*/ 0 h 181"/>
                <a:gd name="T2" fmla="*/ 41 w 128"/>
                <a:gd name="T3" fmla="*/ 0 h 181"/>
                <a:gd name="T4" fmla="*/ 41 w 128"/>
                <a:gd name="T5" fmla="*/ 99 h 181"/>
                <a:gd name="T6" fmla="*/ 76 w 128"/>
                <a:gd name="T7" fmla="*/ 50 h 181"/>
                <a:gd name="T8" fmla="*/ 121 w 128"/>
                <a:gd name="T9" fmla="*/ 50 h 181"/>
                <a:gd name="T10" fmla="*/ 73 w 128"/>
                <a:gd name="T11" fmla="*/ 110 h 181"/>
                <a:gd name="T12" fmla="*/ 128 w 128"/>
                <a:gd name="T13" fmla="*/ 181 h 181"/>
                <a:gd name="T14" fmla="*/ 78 w 128"/>
                <a:gd name="T15" fmla="*/ 181 h 181"/>
                <a:gd name="T16" fmla="*/ 41 w 128"/>
                <a:gd name="T17" fmla="*/ 128 h 181"/>
                <a:gd name="T18" fmla="*/ 41 w 128"/>
                <a:gd name="T19" fmla="*/ 181 h 181"/>
                <a:gd name="T20" fmla="*/ 0 w 128"/>
                <a:gd name="T21" fmla="*/ 181 h 181"/>
                <a:gd name="T22" fmla="*/ 0 w 128"/>
                <a:gd name="T23"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8" h="181">
                  <a:moveTo>
                    <a:pt x="0" y="0"/>
                  </a:moveTo>
                  <a:lnTo>
                    <a:pt x="41" y="0"/>
                  </a:lnTo>
                  <a:lnTo>
                    <a:pt x="41" y="99"/>
                  </a:lnTo>
                  <a:lnTo>
                    <a:pt x="76" y="50"/>
                  </a:lnTo>
                  <a:lnTo>
                    <a:pt x="121" y="50"/>
                  </a:lnTo>
                  <a:lnTo>
                    <a:pt x="73" y="110"/>
                  </a:lnTo>
                  <a:lnTo>
                    <a:pt x="128" y="181"/>
                  </a:lnTo>
                  <a:lnTo>
                    <a:pt x="78" y="181"/>
                  </a:lnTo>
                  <a:lnTo>
                    <a:pt x="41" y="128"/>
                  </a:lnTo>
                  <a:lnTo>
                    <a:pt x="41" y="181"/>
                  </a:lnTo>
                  <a:lnTo>
                    <a:pt x="0" y="18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0" name="Freeform 572">
              <a:extLst>
                <a:ext uri="{FF2B5EF4-FFF2-40B4-BE49-F238E27FC236}">
                  <a16:creationId xmlns:a16="http://schemas.microsoft.com/office/drawing/2014/main" id="{4B9153B3-CE76-463A-840E-55087279F23A}"/>
                </a:ext>
              </a:extLst>
            </p:cNvPr>
            <p:cNvSpPr>
              <a:spLocks/>
            </p:cNvSpPr>
            <p:nvPr userDrawn="1"/>
          </p:nvSpPr>
          <p:spPr bwMode="auto">
            <a:xfrm>
              <a:off x="2105025" y="-1081088"/>
              <a:ext cx="268288" cy="269875"/>
            </a:xfrm>
            <a:custGeom>
              <a:avLst/>
              <a:gdLst>
                <a:gd name="T0" fmla="*/ 65 w 169"/>
                <a:gd name="T1" fmla="*/ 0 h 170"/>
                <a:gd name="T2" fmla="*/ 169 w 169"/>
                <a:gd name="T3" fmla="*/ 0 h 170"/>
                <a:gd name="T4" fmla="*/ 169 w 169"/>
                <a:gd name="T5" fmla="*/ 170 h 170"/>
                <a:gd name="T6" fmla="*/ 0 w 169"/>
                <a:gd name="T7" fmla="*/ 170 h 170"/>
                <a:gd name="T8" fmla="*/ 0 w 169"/>
                <a:gd name="T9" fmla="*/ 131 h 170"/>
                <a:gd name="T10" fmla="*/ 93 w 169"/>
                <a:gd name="T11" fmla="*/ 37 h 170"/>
                <a:gd name="T12" fmla="*/ 97 w 169"/>
                <a:gd name="T13" fmla="*/ 32 h 170"/>
                <a:gd name="T14" fmla="*/ 65 w 169"/>
                <a:gd name="T15" fmla="*/ 0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9" h="170">
                  <a:moveTo>
                    <a:pt x="65" y="0"/>
                  </a:moveTo>
                  <a:lnTo>
                    <a:pt x="169" y="0"/>
                  </a:lnTo>
                  <a:lnTo>
                    <a:pt x="169" y="170"/>
                  </a:lnTo>
                  <a:lnTo>
                    <a:pt x="0" y="170"/>
                  </a:lnTo>
                  <a:lnTo>
                    <a:pt x="0" y="131"/>
                  </a:lnTo>
                  <a:lnTo>
                    <a:pt x="93" y="37"/>
                  </a:lnTo>
                  <a:lnTo>
                    <a:pt x="97" y="32"/>
                  </a:lnTo>
                  <a:lnTo>
                    <a:pt x="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1" name="Freeform 573">
              <a:extLst>
                <a:ext uri="{FF2B5EF4-FFF2-40B4-BE49-F238E27FC236}">
                  <a16:creationId xmlns:a16="http://schemas.microsoft.com/office/drawing/2014/main" id="{D5E88290-50BA-4495-B221-8D6AC5095EDA}"/>
                </a:ext>
              </a:extLst>
            </p:cNvPr>
            <p:cNvSpPr>
              <a:spLocks/>
            </p:cNvSpPr>
            <p:nvPr userDrawn="1"/>
          </p:nvSpPr>
          <p:spPr bwMode="auto">
            <a:xfrm>
              <a:off x="1922463" y="-1222375"/>
              <a:ext cx="307975" cy="384175"/>
            </a:xfrm>
            <a:custGeom>
              <a:avLst/>
              <a:gdLst>
                <a:gd name="T0" fmla="*/ 74 w 194"/>
                <a:gd name="T1" fmla="*/ 0 h 242"/>
                <a:gd name="T2" fmla="*/ 194 w 194"/>
                <a:gd name="T3" fmla="*/ 121 h 242"/>
                <a:gd name="T4" fmla="*/ 74 w 194"/>
                <a:gd name="T5" fmla="*/ 242 h 242"/>
                <a:gd name="T6" fmla="*/ 47 w 194"/>
                <a:gd name="T7" fmla="*/ 215 h 242"/>
                <a:gd name="T8" fmla="*/ 47 w 194"/>
                <a:gd name="T9" fmla="*/ 74 h 242"/>
                <a:gd name="T10" fmla="*/ 0 w 194"/>
                <a:gd name="T11" fmla="*/ 74 h 242"/>
                <a:gd name="T12" fmla="*/ 74 w 194"/>
                <a:gd name="T13" fmla="*/ 0 h 242"/>
              </a:gdLst>
              <a:ahLst/>
              <a:cxnLst>
                <a:cxn ang="0">
                  <a:pos x="T0" y="T1"/>
                </a:cxn>
                <a:cxn ang="0">
                  <a:pos x="T2" y="T3"/>
                </a:cxn>
                <a:cxn ang="0">
                  <a:pos x="T4" y="T5"/>
                </a:cxn>
                <a:cxn ang="0">
                  <a:pos x="T6" y="T7"/>
                </a:cxn>
                <a:cxn ang="0">
                  <a:pos x="T8" y="T9"/>
                </a:cxn>
                <a:cxn ang="0">
                  <a:pos x="T10" y="T11"/>
                </a:cxn>
                <a:cxn ang="0">
                  <a:pos x="T12" y="T13"/>
                </a:cxn>
              </a:cxnLst>
              <a:rect l="0" t="0" r="r" b="b"/>
              <a:pathLst>
                <a:path w="194" h="242">
                  <a:moveTo>
                    <a:pt x="74" y="0"/>
                  </a:moveTo>
                  <a:lnTo>
                    <a:pt x="194" y="121"/>
                  </a:lnTo>
                  <a:lnTo>
                    <a:pt x="74" y="242"/>
                  </a:lnTo>
                  <a:lnTo>
                    <a:pt x="47" y="215"/>
                  </a:lnTo>
                  <a:lnTo>
                    <a:pt x="47" y="74"/>
                  </a:lnTo>
                  <a:lnTo>
                    <a:pt x="0" y="74"/>
                  </a:lnTo>
                  <a:lnTo>
                    <a:pt x="7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2" name="Freeform 574">
              <a:extLst>
                <a:ext uri="{FF2B5EF4-FFF2-40B4-BE49-F238E27FC236}">
                  <a16:creationId xmlns:a16="http://schemas.microsoft.com/office/drawing/2014/main" id="{6C993C06-AA95-4443-B724-8B34E551B56D}"/>
                </a:ext>
              </a:extLst>
            </p:cNvPr>
            <p:cNvSpPr>
              <a:spLocks/>
            </p:cNvSpPr>
            <p:nvPr userDrawn="1"/>
          </p:nvSpPr>
          <p:spPr bwMode="auto">
            <a:xfrm>
              <a:off x="1704975" y="-1081088"/>
              <a:ext cx="269875" cy="269875"/>
            </a:xfrm>
            <a:custGeom>
              <a:avLst/>
              <a:gdLst>
                <a:gd name="T0" fmla="*/ 0 w 170"/>
                <a:gd name="T1" fmla="*/ 0 h 170"/>
                <a:gd name="T2" fmla="*/ 0 w 170"/>
                <a:gd name="T3" fmla="*/ 105 h 170"/>
                <a:gd name="T4" fmla="*/ 29 w 170"/>
                <a:gd name="T5" fmla="*/ 76 h 170"/>
                <a:gd name="T6" fmla="*/ 34 w 170"/>
                <a:gd name="T7" fmla="*/ 71 h 170"/>
                <a:gd name="T8" fmla="*/ 133 w 170"/>
                <a:gd name="T9" fmla="*/ 170 h 170"/>
                <a:gd name="T10" fmla="*/ 170 w 170"/>
                <a:gd name="T11" fmla="*/ 170 h 170"/>
                <a:gd name="T12" fmla="*/ 170 w 170"/>
                <a:gd name="T13" fmla="*/ 0 h 170"/>
                <a:gd name="T14" fmla="*/ 0 w 170"/>
                <a:gd name="T15" fmla="*/ 0 h 1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170">
                  <a:moveTo>
                    <a:pt x="0" y="0"/>
                  </a:moveTo>
                  <a:lnTo>
                    <a:pt x="0" y="105"/>
                  </a:lnTo>
                  <a:lnTo>
                    <a:pt x="29" y="76"/>
                  </a:lnTo>
                  <a:lnTo>
                    <a:pt x="34" y="71"/>
                  </a:lnTo>
                  <a:lnTo>
                    <a:pt x="133" y="170"/>
                  </a:lnTo>
                  <a:lnTo>
                    <a:pt x="170" y="170"/>
                  </a:lnTo>
                  <a:lnTo>
                    <a:pt x="17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3" name="Freeform 575">
              <a:extLst>
                <a:ext uri="{FF2B5EF4-FFF2-40B4-BE49-F238E27FC236}">
                  <a16:creationId xmlns:a16="http://schemas.microsoft.com/office/drawing/2014/main" id="{87C29E33-DC8E-4D5E-9508-281A33404871}"/>
                </a:ext>
              </a:extLst>
            </p:cNvPr>
            <p:cNvSpPr>
              <a:spLocks/>
            </p:cNvSpPr>
            <p:nvPr userDrawn="1"/>
          </p:nvSpPr>
          <p:spPr bwMode="auto">
            <a:xfrm>
              <a:off x="1568450" y="-939800"/>
              <a:ext cx="381000" cy="309562"/>
            </a:xfrm>
            <a:custGeom>
              <a:avLst/>
              <a:gdLst>
                <a:gd name="T0" fmla="*/ 0 w 240"/>
                <a:gd name="T1" fmla="*/ 122 h 195"/>
                <a:gd name="T2" fmla="*/ 120 w 240"/>
                <a:gd name="T3" fmla="*/ 0 h 195"/>
                <a:gd name="T4" fmla="*/ 240 w 240"/>
                <a:gd name="T5" fmla="*/ 122 h 195"/>
                <a:gd name="T6" fmla="*/ 214 w 240"/>
                <a:gd name="T7" fmla="*/ 149 h 195"/>
                <a:gd name="T8" fmla="*/ 74 w 240"/>
                <a:gd name="T9" fmla="*/ 149 h 195"/>
                <a:gd name="T10" fmla="*/ 74 w 240"/>
                <a:gd name="T11" fmla="*/ 195 h 195"/>
                <a:gd name="T12" fmla="*/ 0 w 240"/>
                <a:gd name="T13" fmla="*/ 122 h 195"/>
              </a:gdLst>
              <a:ahLst/>
              <a:cxnLst>
                <a:cxn ang="0">
                  <a:pos x="T0" y="T1"/>
                </a:cxn>
                <a:cxn ang="0">
                  <a:pos x="T2" y="T3"/>
                </a:cxn>
                <a:cxn ang="0">
                  <a:pos x="T4" y="T5"/>
                </a:cxn>
                <a:cxn ang="0">
                  <a:pos x="T6" y="T7"/>
                </a:cxn>
                <a:cxn ang="0">
                  <a:pos x="T8" y="T9"/>
                </a:cxn>
                <a:cxn ang="0">
                  <a:pos x="T10" y="T11"/>
                </a:cxn>
                <a:cxn ang="0">
                  <a:pos x="T12" y="T13"/>
                </a:cxn>
              </a:cxnLst>
              <a:rect l="0" t="0" r="r" b="b"/>
              <a:pathLst>
                <a:path w="240" h="195">
                  <a:moveTo>
                    <a:pt x="0" y="122"/>
                  </a:moveTo>
                  <a:lnTo>
                    <a:pt x="120" y="0"/>
                  </a:lnTo>
                  <a:lnTo>
                    <a:pt x="240" y="122"/>
                  </a:lnTo>
                  <a:lnTo>
                    <a:pt x="214" y="149"/>
                  </a:lnTo>
                  <a:lnTo>
                    <a:pt x="74" y="149"/>
                  </a:lnTo>
                  <a:lnTo>
                    <a:pt x="74" y="195"/>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4" name="Freeform 576">
              <a:extLst>
                <a:ext uri="{FF2B5EF4-FFF2-40B4-BE49-F238E27FC236}">
                  <a16:creationId xmlns:a16="http://schemas.microsoft.com/office/drawing/2014/main" id="{14508571-8E23-401B-9B85-0763784D45B5}"/>
                </a:ext>
              </a:extLst>
            </p:cNvPr>
            <p:cNvSpPr>
              <a:spLocks/>
            </p:cNvSpPr>
            <p:nvPr userDrawn="1"/>
          </p:nvSpPr>
          <p:spPr bwMode="auto">
            <a:xfrm>
              <a:off x="1704975" y="-682625"/>
              <a:ext cx="269875" cy="269875"/>
            </a:xfrm>
            <a:custGeom>
              <a:avLst/>
              <a:gdLst>
                <a:gd name="T0" fmla="*/ 0 w 170"/>
                <a:gd name="T1" fmla="*/ 170 h 170"/>
                <a:gd name="T2" fmla="*/ 0 w 170"/>
                <a:gd name="T3" fmla="*/ 0 h 170"/>
                <a:gd name="T4" fmla="*/ 170 w 170"/>
                <a:gd name="T5" fmla="*/ 0 h 170"/>
                <a:gd name="T6" fmla="*/ 170 w 170"/>
                <a:gd name="T7" fmla="*/ 39 h 170"/>
                <a:gd name="T8" fmla="*/ 76 w 170"/>
                <a:gd name="T9" fmla="*/ 133 h 170"/>
                <a:gd name="T10" fmla="*/ 73 w 170"/>
                <a:gd name="T11" fmla="*/ 138 h 170"/>
                <a:gd name="T12" fmla="*/ 76 w 170"/>
                <a:gd name="T13" fmla="*/ 142 h 170"/>
                <a:gd name="T14" fmla="*/ 105 w 170"/>
                <a:gd name="T15" fmla="*/ 170 h 170"/>
                <a:gd name="T16" fmla="*/ 0 w 170"/>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170">
                  <a:moveTo>
                    <a:pt x="0" y="170"/>
                  </a:moveTo>
                  <a:lnTo>
                    <a:pt x="0" y="0"/>
                  </a:lnTo>
                  <a:lnTo>
                    <a:pt x="170" y="0"/>
                  </a:lnTo>
                  <a:lnTo>
                    <a:pt x="170" y="39"/>
                  </a:lnTo>
                  <a:lnTo>
                    <a:pt x="76" y="133"/>
                  </a:lnTo>
                  <a:lnTo>
                    <a:pt x="73" y="138"/>
                  </a:lnTo>
                  <a:lnTo>
                    <a:pt x="76" y="142"/>
                  </a:lnTo>
                  <a:lnTo>
                    <a:pt x="105" y="170"/>
                  </a:lnTo>
                  <a:lnTo>
                    <a:pt x="0"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5" name="Freeform 577">
              <a:extLst>
                <a:ext uri="{FF2B5EF4-FFF2-40B4-BE49-F238E27FC236}">
                  <a16:creationId xmlns:a16="http://schemas.microsoft.com/office/drawing/2014/main" id="{D75DFA95-69BA-452A-B53B-93057F5ADF2A}"/>
                </a:ext>
              </a:extLst>
            </p:cNvPr>
            <p:cNvSpPr>
              <a:spLocks/>
            </p:cNvSpPr>
            <p:nvPr userDrawn="1"/>
          </p:nvSpPr>
          <p:spPr bwMode="auto">
            <a:xfrm>
              <a:off x="1849438" y="-655638"/>
              <a:ext cx="307975" cy="384175"/>
            </a:xfrm>
            <a:custGeom>
              <a:avLst/>
              <a:gdLst>
                <a:gd name="T0" fmla="*/ 120 w 194"/>
                <a:gd name="T1" fmla="*/ 242 h 242"/>
                <a:gd name="T2" fmla="*/ 0 w 194"/>
                <a:gd name="T3" fmla="*/ 121 h 242"/>
                <a:gd name="T4" fmla="*/ 120 w 194"/>
                <a:gd name="T5" fmla="*/ 0 h 242"/>
                <a:gd name="T6" fmla="*/ 146 w 194"/>
                <a:gd name="T7" fmla="*/ 27 h 242"/>
                <a:gd name="T8" fmla="*/ 146 w 194"/>
                <a:gd name="T9" fmla="*/ 168 h 242"/>
                <a:gd name="T10" fmla="*/ 194 w 194"/>
                <a:gd name="T11" fmla="*/ 168 h 242"/>
                <a:gd name="T12" fmla="*/ 120 w 194"/>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194" h="242">
                  <a:moveTo>
                    <a:pt x="120" y="242"/>
                  </a:moveTo>
                  <a:lnTo>
                    <a:pt x="0" y="121"/>
                  </a:lnTo>
                  <a:lnTo>
                    <a:pt x="120" y="0"/>
                  </a:lnTo>
                  <a:lnTo>
                    <a:pt x="146" y="27"/>
                  </a:lnTo>
                  <a:lnTo>
                    <a:pt x="146" y="168"/>
                  </a:lnTo>
                  <a:lnTo>
                    <a:pt x="194" y="168"/>
                  </a:lnTo>
                  <a:lnTo>
                    <a:pt x="120" y="2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6" name="Freeform 578">
              <a:extLst>
                <a:ext uri="{FF2B5EF4-FFF2-40B4-BE49-F238E27FC236}">
                  <a16:creationId xmlns:a16="http://schemas.microsoft.com/office/drawing/2014/main" id="{6291102D-0F2C-486C-ACE9-E05B63C55FCA}"/>
                </a:ext>
              </a:extLst>
            </p:cNvPr>
            <p:cNvSpPr>
              <a:spLocks/>
            </p:cNvSpPr>
            <p:nvPr userDrawn="1"/>
          </p:nvSpPr>
          <p:spPr bwMode="auto">
            <a:xfrm>
              <a:off x="2105025" y="-682625"/>
              <a:ext cx="268288" cy="269875"/>
            </a:xfrm>
            <a:custGeom>
              <a:avLst/>
              <a:gdLst>
                <a:gd name="T0" fmla="*/ 169 w 169"/>
                <a:gd name="T1" fmla="*/ 170 h 170"/>
                <a:gd name="T2" fmla="*/ 0 w 169"/>
                <a:gd name="T3" fmla="*/ 170 h 170"/>
                <a:gd name="T4" fmla="*/ 0 w 169"/>
                <a:gd name="T5" fmla="*/ 0 h 170"/>
                <a:gd name="T6" fmla="*/ 37 w 169"/>
                <a:gd name="T7" fmla="*/ 0 h 170"/>
                <a:gd name="T8" fmla="*/ 130 w 169"/>
                <a:gd name="T9" fmla="*/ 94 h 170"/>
                <a:gd name="T10" fmla="*/ 136 w 169"/>
                <a:gd name="T11" fmla="*/ 99 h 170"/>
                <a:gd name="T12" fmla="*/ 141 w 169"/>
                <a:gd name="T13" fmla="*/ 94 h 170"/>
                <a:gd name="T14" fmla="*/ 169 w 169"/>
                <a:gd name="T15" fmla="*/ 65 h 170"/>
                <a:gd name="T16" fmla="*/ 169 w 169"/>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170">
                  <a:moveTo>
                    <a:pt x="169" y="170"/>
                  </a:moveTo>
                  <a:lnTo>
                    <a:pt x="0" y="170"/>
                  </a:lnTo>
                  <a:lnTo>
                    <a:pt x="0" y="0"/>
                  </a:lnTo>
                  <a:lnTo>
                    <a:pt x="37" y="0"/>
                  </a:lnTo>
                  <a:lnTo>
                    <a:pt x="130" y="94"/>
                  </a:lnTo>
                  <a:lnTo>
                    <a:pt x="136" y="99"/>
                  </a:lnTo>
                  <a:lnTo>
                    <a:pt x="141" y="94"/>
                  </a:lnTo>
                  <a:lnTo>
                    <a:pt x="169" y="65"/>
                  </a:lnTo>
                  <a:lnTo>
                    <a:pt x="169"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7" name="Freeform 579">
              <a:extLst>
                <a:ext uri="{FF2B5EF4-FFF2-40B4-BE49-F238E27FC236}">
                  <a16:creationId xmlns:a16="http://schemas.microsoft.com/office/drawing/2014/main" id="{85BDF893-5B04-4A7A-9D6B-F541182B09F7}"/>
                </a:ext>
              </a:extLst>
            </p:cNvPr>
            <p:cNvSpPr>
              <a:spLocks/>
            </p:cNvSpPr>
            <p:nvPr userDrawn="1"/>
          </p:nvSpPr>
          <p:spPr bwMode="auto">
            <a:xfrm>
              <a:off x="2128838" y="-863600"/>
              <a:ext cx="382588" cy="309562"/>
            </a:xfrm>
            <a:custGeom>
              <a:avLst/>
              <a:gdLst>
                <a:gd name="T0" fmla="*/ 121 w 241"/>
                <a:gd name="T1" fmla="*/ 195 h 195"/>
                <a:gd name="T2" fmla="*/ 0 w 241"/>
                <a:gd name="T3" fmla="*/ 74 h 195"/>
                <a:gd name="T4" fmla="*/ 27 w 241"/>
                <a:gd name="T5" fmla="*/ 46 h 195"/>
                <a:gd name="T6" fmla="*/ 167 w 241"/>
                <a:gd name="T7" fmla="*/ 46 h 195"/>
                <a:gd name="T8" fmla="*/ 167 w 241"/>
                <a:gd name="T9" fmla="*/ 0 h 195"/>
                <a:gd name="T10" fmla="*/ 241 w 241"/>
                <a:gd name="T11" fmla="*/ 74 h 195"/>
                <a:gd name="T12" fmla="*/ 121 w 241"/>
                <a:gd name="T13" fmla="*/ 195 h 195"/>
              </a:gdLst>
              <a:ahLst/>
              <a:cxnLst>
                <a:cxn ang="0">
                  <a:pos x="T0" y="T1"/>
                </a:cxn>
                <a:cxn ang="0">
                  <a:pos x="T2" y="T3"/>
                </a:cxn>
                <a:cxn ang="0">
                  <a:pos x="T4" y="T5"/>
                </a:cxn>
                <a:cxn ang="0">
                  <a:pos x="T6" y="T7"/>
                </a:cxn>
                <a:cxn ang="0">
                  <a:pos x="T8" y="T9"/>
                </a:cxn>
                <a:cxn ang="0">
                  <a:pos x="T10" y="T11"/>
                </a:cxn>
                <a:cxn ang="0">
                  <a:pos x="T12" y="T13"/>
                </a:cxn>
              </a:cxnLst>
              <a:rect l="0" t="0" r="r" b="b"/>
              <a:pathLst>
                <a:path w="241" h="195">
                  <a:moveTo>
                    <a:pt x="121" y="195"/>
                  </a:moveTo>
                  <a:lnTo>
                    <a:pt x="0" y="74"/>
                  </a:lnTo>
                  <a:lnTo>
                    <a:pt x="27" y="46"/>
                  </a:lnTo>
                  <a:lnTo>
                    <a:pt x="167" y="46"/>
                  </a:lnTo>
                  <a:lnTo>
                    <a:pt x="167" y="0"/>
                  </a:lnTo>
                  <a:lnTo>
                    <a:pt x="241" y="74"/>
                  </a:lnTo>
                  <a:lnTo>
                    <a:pt x="121"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8" name="Freeform 580">
              <a:extLst>
                <a:ext uri="{FF2B5EF4-FFF2-40B4-BE49-F238E27FC236}">
                  <a16:creationId xmlns:a16="http://schemas.microsoft.com/office/drawing/2014/main" id="{3A7EEDE8-CD2A-4758-A390-91258C0A1469}"/>
                </a:ext>
              </a:extLst>
            </p:cNvPr>
            <p:cNvSpPr>
              <a:spLocks noEditPoints="1"/>
            </p:cNvSpPr>
            <p:nvPr userDrawn="1"/>
          </p:nvSpPr>
          <p:spPr bwMode="auto">
            <a:xfrm>
              <a:off x="2643188" y="-1081088"/>
              <a:ext cx="211138" cy="269875"/>
            </a:xfrm>
            <a:custGeom>
              <a:avLst/>
              <a:gdLst>
                <a:gd name="T0" fmla="*/ 0 w 75"/>
                <a:gd name="T1" fmla="*/ 0 h 96"/>
                <a:gd name="T2" fmla="*/ 38 w 75"/>
                <a:gd name="T3" fmla="*/ 0 h 96"/>
                <a:gd name="T4" fmla="*/ 75 w 75"/>
                <a:gd name="T5" fmla="*/ 34 h 96"/>
                <a:gd name="T6" fmla="*/ 30 w 75"/>
                <a:gd name="T7" fmla="*/ 69 h 96"/>
                <a:gd name="T8" fmla="*/ 23 w 75"/>
                <a:gd name="T9" fmla="*/ 69 h 96"/>
                <a:gd name="T10" fmla="*/ 23 w 75"/>
                <a:gd name="T11" fmla="*/ 96 h 96"/>
                <a:gd name="T12" fmla="*/ 0 w 75"/>
                <a:gd name="T13" fmla="*/ 96 h 96"/>
                <a:gd name="T14" fmla="*/ 0 w 75"/>
                <a:gd name="T15" fmla="*/ 0 h 96"/>
                <a:gd name="T16" fmla="*/ 31 w 75"/>
                <a:gd name="T17" fmla="*/ 51 h 96"/>
                <a:gd name="T18" fmla="*/ 51 w 75"/>
                <a:gd name="T19" fmla="*/ 34 h 96"/>
                <a:gd name="T20" fmla="*/ 34 w 75"/>
                <a:gd name="T21" fmla="*/ 18 h 96"/>
                <a:gd name="T22" fmla="*/ 23 w 75"/>
                <a:gd name="T23" fmla="*/ 18 h 96"/>
                <a:gd name="T24" fmla="*/ 23 w 75"/>
                <a:gd name="T25" fmla="*/ 51 h 96"/>
                <a:gd name="T26" fmla="*/ 31 w 75"/>
                <a:gd name="T27"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5" h="96">
                  <a:moveTo>
                    <a:pt x="0" y="0"/>
                  </a:moveTo>
                  <a:cubicBezTo>
                    <a:pt x="38" y="0"/>
                    <a:pt x="38" y="0"/>
                    <a:pt x="38" y="0"/>
                  </a:cubicBezTo>
                  <a:cubicBezTo>
                    <a:pt x="59" y="0"/>
                    <a:pt x="75" y="12"/>
                    <a:pt x="75" y="34"/>
                  </a:cubicBezTo>
                  <a:cubicBezTo>
                    <a:pt x="75" y="53"/>
                    <a:pt x="59" y="69"/>
                    <a:pt x="30" y="69"/>
                  </a:cubicBezTo>
                  <a:cubicBezTo>
                    <a:pt x="23" y="69"/>
                    <a:pt x="23" y="69"/>
                    <a:pt x="23" y="69"/>
                  </a:cubicBezTo>
                  <a:cubicBezTo>
                    <a:pt x="23" y="96"/>
                    <a:pt x="23" y="96"/>
                    <a:pt x="23" y="96"/>
                  </a:cubicBezTo>
                  <a:cubicBezTo>
                    <a:pt x="0" y="96"/>
                    <a:pt x="0" y="96"/>
                    <a:pt x="0" y="96"/>
                  </a:cubicBezTo>
                  <a:lnTo>
                    <a:pt x="0" y="0"/>
                  </a:lnTo>
                  <a:close/>
                  <a:moveTo>
                    <a:pt x="31" y="51"/>
                  </a:moveTo>
                  <a:cubicBezTo>
                    <a:pt x="46" y="51"/>
                    <a:pt x="51" y="43"/>
                    <a:pt x="51" y="34"/>
                  </a:cubicBezTo>
                  <a:cubicBezTo>
                    <a:pt x="51" y="25"/>
                    <a:pt x="47" y="18"/>
                    <a:pt x="34" y="18"/>
                  </a:cubicBezTo>
                  <a:cubicBezTo>
                    <a:pt x="23" y="18"/>
                    <a:pt x="23" y="18"/>
                    <a:pt x="23" y="18"/>
                  </a:cubicBezTo>
                  <a:cubicBezTo>
                    <a:pt x="23" y="51"/>
                    <a:pt x="23" y="51"/>
                    <a:pt x="23" y="51"/>
                  </a:cubicBezTo>
                  <a:lnTo>
                    <a:pt x="31" y="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49" name="Freeform 581">
              <a:extLst>
                <a:ext uri="{FF2B5EF4-FFF2-40B4-BE49-F238E27FC236}">
                  <a16:creationId xmlns:a16="http://schemas.microsoft.com/office/drawing/2014/main" id="{04E86433-E0D9-41BF-9B41-4EE805D5DDA0}"/>
                </a:ext>
              </a:extLst>
            </p:cNvPr>
            <p:cNvSpPr>
              <a:spLocks/>
            </p:cNvSpPr>
            <p:nvPr userDrawn="1"/>
          </p:nvSpPr>
          <p:spPr bwMode="auto">
            <a:xfrm>
              <a:off x="3128963" y="-1087438"/>
              <a:ext cx="203200" cy="279400"/>
            </a:xfrm>
            <a:custGeom>
              <a:avLst/>
              <a:gdLst>
                <a:gd name="T0" fmla="*/ 0 w 72"/>
                <a:gd name="T1" fmla="*/ 92 h 99"/>
                <a:gd name="T2" fmla="*/ 6 w 72"/>
                <a:gd name="T3" fmla="*/ 76 h 99"/>
                <a:gd name="T4" fmla="*/ 32 w 72"/>
                <a:gd name="T5" fmla="*/ 80 h 99"/>
                <a:gd name="T6" fmla="*/ 48 w 72"/>
                <a:gd name="T7" fmla="*/ 71 h 99"/>
                <a:gd name="T8" fmla="*/ 3 w 72"/>
                <a:gd name="T9" fmla="*/ 27 h 99"/>
                <a:gd name="T10" fmla="*/ 37 w 72"/>
                <a:gd name="T11" fmla="*/ 0 h 99"/>
                <a:gd name="T12" fmla="*/ 67 w 72"/>
                <a:gd name="T13" fmla="*/ 7 h 99"/>
                <a:gd name="T14" fmla="*/ 61 w 72"/>
                <a:gd name="T15" fmla="*/ 23 h 99"/>
                <a:gd name="T16" fmla="*/ 38 w 72"/>
                <a:gd name="T17" fmla="*/ 19 h 99"/>
                <a:gd name="T18" fmla="*/ 25 w 72"/>
                <a:gd name="T19" fmla="*/ 27 h 99"/>
                <a:gd name="T20" fmla="*/ 72 w 72"/>
                <a:gd name="T21" fmla="*/ 70 h 99"/>
                <a:gd name="T22" fmla="*/ 32 w 72"/>
                <a:gd name="T23" fmla="*/ 99 h 99"/>
                <a:gd name="T24" fmla="*/ 0 w 72"/>
                <a:gd name="T25" fmla="*/ 9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2" h="99">
                  <a:moveTo>
                    <a:pt x="0" y="92"/>
                  </a:moveTo>
                  <a:cubicBezTo>
                    <a:pt x="6" y="76"/>
                    <a:pt x="6" y="76"/>
                    <a:pt x="6" y="76"/>
                  </a:cubicBezTo>
                  <a:cubicBezTo>
                    <a:pt x="15" y="79"/>
                    <a:pt x="21" y="80"/>
                    <a:pt x="32" y="80"/>
                  </a:cubicBezTo>
                  <a:cubicBezTo>
                    <a:pt x="43" y="80"/>
                    <a:pt x="48" y="77"/>
                    <a:pt x="48" y="71"/>
                  </a:cubicBezTo>
                  <a:cubicBezTo>
                    <a:pt x="48" y="55"/>
                    <a:pt x="3" y="59"/>
                    <a:pt x="3" y="27"/>
                  </a:cubicBezTo>
                  <a:cubicBezTo>
                    <a:pt x="3" y="8"/>
                    <a:pt x="20" y="0"/>
                    <a:pt x="37" y="0"/>
                  </a:cubicBezTo>
                  <a:cubicBezTo>
                    <a:pt x="52" y="0"/>
                    <a:pt x="60" y="3"/>
                    <a:pt x="67" y="7"/>
                  </a:cubicBezTo>
                  <a:cubicBezTo>
                    <a:pt x="61" y="23"/>
                    <a:pt x="61" y="23"/>
                    <a:pt x="61" y="23"/>
                  </a:cubicBezTo>
                  <a:cubicBezTo>
                    <a:pt x="54" y="21"/>
                    <a:pt x="48" y="19"/>
                    <a:pt x="38" y="19"/>
                  </a:cubicBezTo>
                  <a:cubicBezTo>
                    <a:pt x="28" y="19"/>
                    <a:pt x="25" y="22"/>
                    <a:pt x="25" y="27"/>
                  </a:cubicBezTo>
                  <a:cubicBezTo>
                    <a:pt x="25" y="39"/>
                    <a:pt x="72" y="39"/>
                    <a:pt x="72" y="70"/>
                  </a:cubicBezTo>
                  <a:cubicBezTo>
                    <a:pt x="72" y="91"/>
                    <a:pt x="52" y="99"/>
                    <a:pt x="32" y="99"/>
                  </a:cubicBezTo>
                  <a:cubicBezTo>
                    <a:pt x="16" y="99"/>
                    <a:pt x="7" y="96"/>
                    <a:pt x="0" y="9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0" name="Freeform 582">
              <a:extLst>
                <a:ext uri="{FF2B5EF4-FFF2-40B4-BE49-F238E27FC236}">
                  <a16:creationId xmlns:a16="http://schemas.microsoft.com/office/drawing/2014/main" id="{1AB69417-2FD1-4742-8DCA-CD3E13C707B7}"/>
                </a:ext>
              </a:extLst>
            </p:cNvPr>
            <p:cNvSpPr>
              <a:spLocks/>
            </p:cNvSpPr>
            <p:nvPr userDrawn="1"/>
          </p:nvSpPr>
          <p:spPr bwMode="auto">
            <a:xfrm>
              <a:off x="3365500" y="-1081088"/>
              <a:ext cx="234950" cy="269875"/>
            </a:xfrm>
            <a:custGeom>
              <a:avLst/>
              <a:gdLst>
                <a:gd name="T0" fmla="*/ 0 w 148"/>
                <a:gd name="T1" fmla="*/ 0 h 170"/>
                <a:gd name="T2" fmla="*/ 41 w 148"/>
                <a:gd name="T3" fmla="*/ 0 h 170"/>
                <a:gd name="T4" fmla="*/ 41 w 148"/>
                <a:gd name="T5" fmla="*/ 69 h 170"/>
                <a:gd name="T6" fmla="*/ 108 w 148"/>
                <a:gd name="T7" fmla="*/ 69 h 170"/>
                <a:gd name="T8" fmla="*/ 108 w 148"/>
                <a:gd name="T9" fmla="*/ 0 h 170"/>
                <a:gd name="T10" fmla="*/ 148 w 148"/>
                <a:gd name="T11" fmla="*/ 0 h 170"/>
                <a:gd name="T12" fmla="*/ 148 w 148"/>
                <a:gd name="T13" fmla="*/ 170 h 170"/>
                <a:gd name="T14" fmla="*/ 108 w 148"/>
                <a:gd name="T15" fmla="*/ 170 h 170"/>
                <a:gd name="T16" fmla="*/ 108 w 148"/>
                <a:gd name="T17" fmla="*/ 99 h 170"/>
                <a:gd name="T18" fmla="*/ 41 w 148"/>
                <a:gd name="T19" fmla="*/ 99 h 170"/>
                <a:gd name="T20" fmla="*/ 41 w 148"/>
                <a:gd name="T21" fmla="*/ 170 h 170"/>
                <a:gd name="T22" fmla="*/ 0 w 148"/>
                <a:gd name="T23" fmla="*/ 170 h 170"/>
                <a:gd name="T24" fmla="*/ 0 w 148"/>
                <a:gd name="T2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8" h="170">
                  <a:moveTo>
                    <a:pt x="0" y="0"/>
                  </a:moveTo>
                  <a:lnTo>
                    <a:pt x="41" y="0"/>
                  </a:lnTo>
                  <a:lnTo>
                    <a:pt x="41" y="69"/>
                  </a:lnTo>
                  <a:lnTo>
                    <a:pt x="108" y="69"/>
                  </a:lnTo>
                  <a:lnTo>
                    <a:pt x="108" y="0"/>
                  </a:lnTo>
                  <a:lnTo>
                    <a:pt x="148" y="0"/>
                  </a:lnTo>
                  <a:lnTo>
                    <a:pt x="148" y="170"/>
                  </a:lnTo>
                  <a:lnTo>
                    <a:pt x="108" y="170"/>
                  </a:lnTo>
                  <a:lnTo>
                    <a:pt x="108" y="99"/>
                  </a:lnTo>
                  <a:lnTo>
                    <a:pt x="41" y="99"/>
                  </a:lnTo>
                  <a:lnTo>
                    <a:pt x="41" y="170"/>
                  </a:lnTo>
                  <a:lnTo>
                    <a:pt x="0" y="17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1" name="Freeform 583">
              <a:extLst>
                <a:ext uri="{FF2B5EF4-FFF2-40B4-BE49-F238E27FC236}">
                  <a16:creationId xmlns:a16="http://schemas.microsoft.com/office/drawing/2014/main" id="{D94CA590-82AB-49B3-B576-C780D59F8938}"/>
                </a:ext>
              </a:extLst>
            </p:cNvPr>
            <p:cNvSpPr>
              <a:spLocks noEditPoints="1"/>
            </p:cNvSpPr>
            <p:nvPr userDrawn="1"/>
          </p:nvSpPr>
          <p:spPr bwMode="auto">
            <a:xfrm>
              <a:off x="3625850" y="-1081088"/>
              <a:ext cx="269875" cy="269875"/>
            </a:xfrm>
            <a:custGeom>
              <a:avLst/>
              <a:gdLst>
                <a:gd name="T0" fmla="*/ 114 w 170"/>
                <a:gd name="T1" fmla="*/ 0 h 170"/>
                <a:gd name="T2" fmla="*/ 57 w 170"/>
                <a:gd name="T3" fmla="*/ 0 h 170"/>
                <a:gd name="T4" fmla="*/ 0 w 170"/>
                <a:gd name="T5" fmla="*/ 170 h 170"/>
                <a:gd name="T6" fmla="*/ 43 w 170"/>
                <a:gd name="T7" fmla="*/ 170 h 170"/>
                <a:gd name="T8" fmla="*/ 59 w 170"/>
                <a:gd name="T9" fmla="*/ 121 h 170"/>
                <a:gd name="T10" fmla="*/ 112 w 170"/>
                <a:gd name="T11" fmla="*/ 121 h 170"/>
                <a:gd name="T12" fmla="*/ 128 w 170"/>
                <a:gd name="T13" fmla="*/ 170 h 170"/>
                <a:gd name="T14" fmla="*/ 170 w 170"/>
                <a:gd name="T15" fmla="*/ 170 h 170"/>
                <a:gd name="T16" fmla="*/ 114 w 170"/>
                <a:gd name="T17" fmla="*/ 0 h 170"/>
                <a:gd name="T18" fmla="*/ 68 w 170"/>
                <a:gd name="T19" fmla="*/ 90 h 170"/>
                <a:gd name="T20" fmla="*/ 85 w 170"/>
                <a:gd name="T21" fmla="*/ 25 h 170"/>
                <a:gd name="T22" fmla="*/ 101 w 170"/>
                <a:gd name="T23" fmla="*/ 90 h 170"/>
                <a:gd name="T24" fmla="*/ 68 w 170"/>
                <a:gd name="T25" fmla="*/ 9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0">
                  <a:moveTo>
                    <a:pt x="114" y="0"/>
                  </a:moveTo>
                  <a:lnTo>
                    <a:pt x="57" y="0"/>
                  </a:lnTo>
                  <a:lnTo>
                    <a:pt x="0" y="170"/>
                  </a:lnTo>
                  <a:lnTo>
                    <a:pt x="43" y="170"/>
                  </a:lnTo>
                  <a:lnTo>
                    <a:pt x="59" y="121"/>
                  </a:lnTo>
                  <a:lnTo>
                    <a:pt x="112" y="121"/>
                  </a:lnTo>
                  <a:lnTo>
                    <a:pt x="128" y="170"/>
                  </a:lnTo>
                  <a:lnTo>
                    <a:pt x="170" y="170"/>
                  </a:lnTo>
                  <a:lnTo>
                    <a:pt x="114" y="0"/>
                  </a:lnTo>
                  <a:close/>
                  <a:moveTo>
                    <a:pt x="68" y="90"/>
                  </a:moveTo>
                  <a:lnTo>
                    <a:pt x="85" y="25"/>
                  </a:lnTo>
                  <a:lnTo>
                    <a:pt x="101" y="90"/>
                  </a:lnTo>
                  <a:lnTo>
                    <a:pt x="68"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sp>
          <p:nvSpPr>
            <p:cNvPr id="53" name="Freeform 584">
              <a:extLst>
                <a:ext uri="{FF2B5EF4-FFF2-40B4-BE49-F238E27FC236}">
                  <a16:creationId xmlns:a16="http://schemas.microsoft.com/office/drawing/2014/main" id="{655EE57A-4269-4A01-B46E-FA33432EFEC9}"/>
                </a:ext>
              </a:extLst>
            </p:cNvPr>
            <p:cNvSpPr>
              <a:spLocks noEditPoints="1"/>
            </p:cNvSpPr>
            <p:nvPr userDrawn="1"/>
          </p:nvSpPr>
          <p:spPr bwMode="auto">
            <a:xfrm>
              <a:off x="2843213" y="-1081088"/>
              <a:ext cx="271463" cy="269875"/>
            </a:xfrm>
            <a:custGeom>
              <a:avLst/>
              <a:gdLst>
                <a:gd name="T0" fmla="*/ 113 w 171"/>
                <a:gd name="T1" fmla="*/ 0 h 170"/>
                <a:gd name="T2" fmla="*/ 58 w 171"/>
                <a:gd name="T3" fmla="*/ 0 h 170"/>
                <a:gd name="T4" fmla="*/ 0 w 171"/>
                <a:gd name="T5" fmla="*/ 170 h 170"/>
                <a:gd name="T6" fmla="*/ 42 w 171"/>
                <a:gd name="T7" fmla="*/ 170 h 170"/>
                <a:gd name="T8" fmla="*/ 60 w 171"/>
                <a:gd name="T9" fmla="*/ 121 h 170"/>
                <a:gd name="T10" fmla="*/ 113 w 171"/>
                <a:gd name="T11" fmla="*/ 121 h 170"/>
                <a:gd name="T12" fmla="*/ 129 w 171"/>
                <a:gd name="T13" fmla="*/ 170 h 170"/>
                <a:gd name="T14" fmla="*/ 171 w 171"/>
                <a:gd name="T15" fmla="*/ 170 h 170"/>
                <a:gd name="T16" fmla="*/ 113 w 171"/>
                <a:gd name="T17" fmla="*/ 0 h 170"/>
                <a:gd name="T18" fmla="*/ 69 w 171"/>
                <a:gd name="T19" fmla="*/ 90 h 170"/>
                <a:gd name="T20" fmla="*/ 87 w 171"/>
                <a:gd name="T21" fmla="*/ 25 h 170"/>
                <a:gd name="T22" fmla="*/ 102 w 171"/>
                <a:gd name="T23" fmla="*/ 90 h 170"/>
                <a:gd name="T24" fmla="*/ 69 w 171"/>
                <a:gd name="T25" fmla="*/ 9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170">
                  <a:moveTo>
                    <a:pt x="113" y="0"/>
                  </a:moveTo>
                  <a:lnTo>
                    <a:pt x="58" y="0"/>
                  </a:lnTo>
                  <a:lnTo>
                    <a:pt x="0" y="170"/>
                  </a:lnTo>
                  <a:lnTo>
                    <a:pt x="42" y="170"/>
                  </a:lnTo>
                  <a:lnTo>
                    <a:pt x="60" y="121"/>
                  </a:lnTo>
                  <a:lnTo>
                    <a:pt x="113" y="121"/>
                  </a:lnTo>
                  <a:lnTo>
                    <a:pt x="129" y="170"/>
                  </a:lnTo>
                  <a:lnTo>
                    <a:pt x="171" y="170"/>
                  </a:lnTo>
                  <a:lnTo>
                    <a:pt x="113" y="0"/>
                  </a:lnTo>
                  <a:close/>
                  <a:moveTo>
                    <a:pt x="69" y="90"/>
                  </a:moveTo>
                  <a:lnTo>
                    <a:pt x="87" y="25"/>
                  </a:lnTo>
                  <a:lnTo>
                    <a:pt x="102" y="90"/>
                  </a:lnTo>
                  <a:lnTo>
                    <a:pt x="69"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rtl="0"/>
              <a:endParaRPr lang="en-US"/>
            </a:p>
          </p:txBody>
        </p:sp>
      </p:grpSp>
      <p:sp>
        <p:nvSpPr>
          <p:cNvPr id="16" name="Documenttype">
            <a:extLst>
              <a:ext uri="{FF2B5EF4-FFF2-40B4-BE49-F238E27FC236}">
                <a16:creationId xmlns:a16="http://schemas.microsoft.com/office/drawing/2014/main" id="{0CADA7EB-5C2E-4AD4-A32E-534A28817C8A}"/>
              </a:ext>
            </a:extLst>
          </p:cNvPr>
          <p:cNvSpPr>
            <a:spLocks noGrp="1"/>
          </p:cNvSpPr>
          <p:nvPr userDrawn="1">
            <p:ph type="body" sz="quarter" idx="13" hasCustomPrompt="1"/>
            <p:custDataLst>
              <p:tags r:id="rId3"/>
            </p:custDataLst>
          </p:nvPr>
        </p:nvSpPr>
        <p:spPr>
          <a:xfrm>
            <a:off x="558977" y="5658585"/>
            <a:ext cx="6578247"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400" kern="12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userDrawn="1">
            <p:ph type="subTitle" idx="1"/>
            <p:custDataLst>
              <p:tags r:id="rId4"/>
            </p:custDataLst>
          </p:nvPr>
        </p:nvSpPr>
        <p:spPr>
          <a:xfrm>
            <a:off x="558977" y="4141454"/>
            <a:ext cx="6578247"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ru-RU" sz="1800" kern="1200" spc="10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userDrawn="1">
            <p:ph type="title" hasCustomPrompt="1"/>
            <p:custDataLst>
              <p:tags r:id="rId5"/>
            </p:custDataLst>
          </p:nvPr>
        </p:nvSpPr>
        <p:spPr>
          <a:xfrm>
            <a:off x="558977" y="2180495"/>
            <a:ext cx="6578247" cy="184665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4000" b="1" i="0" kern="1200" spc="0" baseline="0" dirty="0">
                <a:ln w="6350" cap="flat">
                  <a:noFill/>
                  <a:miter lim="800000"/>
                </a:ln>
                <a:solidFill>
                  <a:schemeClr val="bg1"/>
                </a:solidFill>
                <a:latin typeface="Georgia" panose="02040502050405020303" pitchFamily="18" charset="0"/>
                <a:ea typeface="Cambria" panose="02040503050406030204" pitchFamily="18" charset="0"/>
                <a:cs typeface="Times New Roman" panose="02020603050405020304" pitchFamily="18" charset="0"/>
              </a:defRPr>
            </a:lvl1pPr>
          </a:lstStyle>
          <a:p>
            <a:pPr lvl="0"/>
            <a:r>
              <a:rPr lang="en-US"/>
              <a:t>Click to edit </a:t>
            </a:r>
            <a:br>
              <a:rPr lang="en-US"/>
            </a:br>
            <a:r>
              <a:rPr lang="en-US"/>
              <a:t>Master title </a:t>
            </a:r>
            <a:br>
              <a:rPr lang="en-US"/>
            </a:br>
            <a:r>
              <a:rPr lang="en-US"/>
              <a:t>style</a:t>
            </a:r>
          </a:p>
        </p:txBody>
      </p:sp>
      <p:grpSp>
        <p:nvGrpSpPr>
          <p:cNvPr id="6" name="Group 5">
            <a:extLst>
              <a:ext uri="{FF2B5EF4-FFF2-40B4-BE49-F238E27FC236}">
                <a16:creationId xmlns:a16="http://schemas.microsoft.com/office/drawing/2014/main" id="{93821A55-32CA-4C20-978C-9EE939DF1502}"/>
              </a:ext>
            </a:extLst>
          </p:cNvPr>
          <p:cNvGrpSpPr>
            <a:grpSpLocks/>
          </p:cNvGrpSpPr>
          <p:nvPr userDrawn="1"/>
        </p:nvGrpSpPr>
        <p:grpSpPr>
          <a:xfrm>
            <a:off x="6383063" y="595"/>
            <a:ext cx="5808938" cy="4147677"/>
            <a:chOff x="6383063" y="595"/>
            <a:chExt cx="5808938" cy="4147677"/>
          </a:xfrm>
        </p:grpSpPr>
        <p:sp>
          <p:nvSpPr>
            <p:cNvPr id="85" name="Freeform: Shape 84">
              <a:extLst>
                <a:ext uri="{FF2B5EF4-FFF2-40B4-BE49-F238E27FC236}">
                  <a16:creationId xmlns:a16="http://schemas.microsoft.com/office/drawing/2014/main" id="{222AA9FA-C878-45A7-B15B-AFD7E7204710}"/>
                </a:ext>
              </a:extLst>
            </p:cNvPr>
            <p:cNvSpPr/>
            <p:nvPr userDrawn="1"/>
          </p:nvSpPr>
          <p:spPr>
            <a:xfrm>
              <a:off x="6383063" y="595"/>
              <a:ext cx="3383879" cy="2929447"/>
            </a:xfrm>
            <a:custGeom>
              <a:avLst/>
              <a:gdLst>
                <a:gd name="connsiteX0" fmla="*/ 1237514 w 3383879"/>
                <a:gd name="connsiteY0" fmla="*/ 0 h 2929447"/>
                <a:gd name="connsiteX1" fmla="*/ 2146365 w 3383879"/>
                <a:gd name="connsiteY1" fmla="*/ 0 h 2929447"/>
                <a:gd name="connsiteX2" fmla="*/ 3383879 w 3383879"/>
                <a:gd name="connsiteY2" fmla="*/ 1237512 h 2929447"/>
                <a:gd name="connsiteX3" fmla="*/ 1691939 w 3383879"/>
                <a:gd name="connsiteY3" fmla="*/ 2929447 h 2929447"/>
                <a:gd name="connsiteX4" fmla="*/ 0 w 3383879"/>
                <a:gd name="connsiteY4" fmla="*/ 1237512 h 2929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3879" h="2929447">
                  <a:moveTo>
                    <a:pt x="1237514" y="0"/>
                  </a:moveTo>
                  <a:lnTo>
                    <a:pt x="2146365" y="0"/>
                  </a:lnTo>
                  <a:lnTo>
                    <a:pt x="3383879" y="1237512"/>
                  </a:lnTo>
                  <a:lnTo>
                    <a:pt x="1691939" y="2929447"/>
                  </a:lnTo>
                  <a:lnTo>
                    <a:pt x="0" y="1237512"/>
                  </a:lnTo>
                  <a:close/>
                </a:path>
              </a:pathLst>
            </a:custGeom>
            <a:solidFill>
              <a:schemeClr val="bg1">
                <a:alpha val="0"/>
              </a:schemeClr>
            </a:solidFill>
            <a:ln w="9525" cap="rnd">
              <a:gradFill>
                <a:gsLst>
                  <a:gs pos="0">
                    <a:schemeClr val="bg2"/>
                  </a:gs>
                  <a:gs pos="22000">
                    <a:schemeClr val="accent6"/>
                  </a:gs>
                  <a:gs pos="100000">
                    <a:schemeClr val="accent6">
                      <a:lumMod val="50000"/>
                      <a:alpha val="0"/>
                    </a:schemeClr>
                  </a:gs>
                </a:gsLst>
                <a:lin ang="204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2" name="Freeform: Shape 111">
              <a:extLst>
                <a:ext uri="{FF2B5EF4-FFF2-40B4-BE49-F238E27FC236}">
                  <a16:creationId xmlns:a16="http://schemas.microsoft.com/office/drawing/2014/main" id="{61EF6E9D-72F5-4D05-90E5-E3BF873CC096}"/>
                </a:ext>
              </a:extLst>
            </p:cNvPr>
            <p:cNvSpPr/>
            <p:nvPr userDrawn="1"/>
          </p:nvSpPr>
          <p:spPr>
            <a:xfrm>
              <a:off x="11016064" y="1755490"/>
              <a:ext cx="1175937" cy="2392782"/>
            </a:xfrm>
            <a:custGeom>
              <a:avLst/>
              <a:gdLst>
                <a:gd name="connsiteX0" fmla="*/ 0 w 1175937"/>
                <a:gd name="connsiteY0" fmla="*/ 0 h 2392782"/>
                <a:gd name="connsiteX1" fmla="*/ 1175937 w 1175937"/>
                <a:gd name="connsiteY1" fmla="*/ 0 h 2392782"/>
                <a:gd name="connsiteX2" fmla="*/ 1175937 w 1175937"/>
                <a:gd name="connsiteY2" fmla="*/ 2392782 h 2392782"/>
                <a:gd name="connsiteX3" fmla="*/ 0 w 1175937"/>
                <a:gd name="connsiteY3" fmla="*/ 2392782 h 2392782"/>
              </a:gdLst>
              <a:ahLst/>
              <a:cxnLst>
                <a:cxn ang="0">
                  <a:pos x="connsiteX0" y="connsiteY0"/>
                </a:cxn>
                <a:cxn ang="0">
                  <a:pos x="connsiteX1" y="connsiteY1"/>
                </a:cxn>
                <a:cxn ang="0">
                  <a:pos x="connsiteX2" y="connsiteY2"/>
                </a:cxn>
                <a:cxn ang="0">
                  <a:pos x="connsiteX3" y="connsiteY3"/>
                </a:cxn>
              </a:cxnLst>
              <a:rect l="l" t="t" r="r" b="b"/>
              <a:pathLst>
                <a:path w="1175937" h="2392782">
                  <a:moveTo>
                    <a:pt x="0" y="0"/>
                  </a:moveTo>
                  <a:lnTo>
                    <a:pt x="1175937" y="0"/>
                  </a:lnTo>
                  <a:lnTo>
                    <a:pt x="1175937" y="2392782"/>
                  </a:lnTo>
                  <a:lnTo>
                    <a:pt x="0" y="2392782"/>
                  </a:lnTo>
                  <a:close/>
                </a:path>
              </a:pathLst>
            </a:custGeom>
            <a:solidFill>
              <a:schemeClr val="bg1">
                <a:alpha val="0"/>
              </a:schemeClr>
            </a:solidFill>
            <a:ln w="9525" cap="rnd">
              <a:gradFill>
                <a:gsLst>
                  <a:gs pos="0">
                    <a:schemeClr val="bg2"/>
                  </a:gs>
                  <a:gs pos="0">
                    <a:schemeClr val="accent6"/>
                  </a:gs>
                  <a:gs pos="100000">
                    <a:schemeClr val="accent6">
                      <a:lumMod val="50000"/>
                      <a:alpha val="0"/>
                    </a:schemeClr>
                  </a:gs>
                </a:gsLst>
                <a:lin ang="13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grpSp>
      <p:sp>
        <p:nvSpPr>
          <p:cNvPr id="5" name="Rectangle 4">
            <a:extLst>
              <a:ext uri="{FF2B5EF4-FFF2-40B4-BE49-F238E27FC236}">
                <a16:creationId xmlns:a16="http://schemas.microsoft.com/office/drawing/2014/main" id="{ED83665C-3679-4CF4-98E8-0A000EBB1A04}"/>
              </a:ext>
            </a:extLst>
          </p:cNvPr>
          <p:cNvSpPr>
            <a:spLocks/>
          </p:cNvSpPr>
          <p:nvPr userDrawn="1"/>
        </p:nvSpPr>
        <p:spPr>
          <a:xfrm>
            <a:off x="0" y="595"/>
            <a:ext cx="12184169" cy="3600"/>
          </a:xfrm>
          <a:prstGeom prst="rect">
            <a:avLst/>
          </a:prstGeom>
          <a:solidFill>
            <a:srgbClr val="0F181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pic>
        <p:nvPicPr>
          <p:cNvPr id="100" name="Graphic 99">
            <a:extLst>
              <a:ext uri="{FF2B5EF4-FFF2-40B4-BE49-F238E27FC236}">
                <a16:creationId xmlns:a16="http://schemas.microsoft.com/office/drawing/2014/main" id="{B0B766AD-28CA-43A5-845C-88234056238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6605762" y="0"/>
            <a:ext cx="3337021" cy="3337021"/>
          </a:xfrm>
          <a:prstGeom prst="rect">
            <a:avLst/>
          </a:prstGeom>
        </p:spPr>
      </p:pic>
      <p:pic>
        <p:nvPicPr>
          <p:cNvPr id="103" name="Graphic 102">
            <a:extLst>
              <a:ext uri="{FF2B5EF4-FFF2-40B4-BE49-F238E27FC236}">
                <a16:creationId xmlns:a16="http://schemas.microsoft.com/office/drawing/2014/main" id="{69B32686-5A0E-4496-BA51-B4D54B9B2474}"/>
              </a:ext>
            </a:extLst>
          </p:cNvPr>
          <p:cNvPicPr>
            <a:picLocks noChangeAspect="1"/>
          </p:cNvPicPr>
          <p:nvPr userDrawn="1"/>
        </p:nvPicPr>
        <p:blipFill>
          <a:blip>
            <a:extLst>
              <a:ext uri="{96DAC541-7B7A-43D3-8B79-37D633B846F1}">
                <asvg:svgBlip xmlns:asvg="http://schemas.microsoft.com/office/drawing/2016/SVG/main" r:embed="rId9"/>
              </a:ext>
            </a:extLst>
          </a:blip>
          <a:srcRect r="31829"/>
          <a:stretch>
            <a:fillRect/>
          </a:stretch>
        </p:blipFill>
        <p:spPr>
          <a:xfrm>
            <a:off x="9917115" y="0"/>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88" name="Freeform 87">
            <a:extLst>
              <a:ext uri="{FF2B5EF4-FFF2-40B4-BE49-F238E27FC236}">
                <a16:creationId xmlns:a16="http://schemas.microsoft.com/office/drawing/2014/main" id="{0869DF9D-C777-4747-8F7B-5731962C8D4F}"/>
              </a:ext>
            </a:extLst>
          </p:cNvPr>
          <p:cNvSpPr/>
          <p:nvPr userDrawn="1"/>
        </p:nvSpPr>
        <p:spPr>
          <a:xfrm>
            <a:off x="9993161" y="595"/>
            <a:ext cx="1011396" cy="505697"/>
          </a:xfrm>
          <a:custGeom>
            <a:avLst/>
            <a:gdLst>
              <a:gd name="connsiteX0" fmla="*/ 0 w 1011396"/>
              <a:gd name="connsiteY0" fmla="*/ 0 h 505697"/>
              <a:gd name="connsiteX1" fmla="*/ 1011396 w 1011396"/>
              <a:gd name="connsiteY1" fmla="*/ 0 h 505697"/>
              <a:gd name="connsiteX2" fmla="*/ 505698 w 1011396"/>
              <a:gd name="connsiteY2" fmla="*/ 505697 h 505697"/>
            </a:gdLst>
            <a:ahLst/>
            <a:cxnLst>
              <a:cxn ang="0">
                <a:pos x="connsiteX0" y="connsiteY0"/>
              </a:cxn>
              <a:cxn ang="0">
                <a:pos x="connsiteX1" y="connsiteY1"/>
              </a:cxn>
              <a:cxn ang="0">
                <a:pos x="connsiteX2" y="connsiteY2"/>
              </a:cxn>
            </a:cxnLst>
            <a:rect l="l" t="t" r="r" b="b"/>
            <a:pathLst>
              <a:path w="1011396" h="505697">
                <a:moveTo>
                  <a:pt x="0" y="0"/>
                </a:moveTo>
                <a:lnTo>
                  <a:pt x="1011396" y="0"/>
                </a:lnTo>
                <a:lnTo>
                  <a:pt x="505698" y="505697"/>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1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75" name="Freeform 74">
            <a:extLst>
              <a:ext uri="{FF2B5EF4-FFF2-40B4-BE49-F238E27FC236}">
                <a16:creationId xmlns:a16="http://schemas.microsoft.com/office/drawing/2014/main" id="{80D45143-5DB5-4CA9-8522-A078B2EB170C}"/>
              </a:ext>
            </a:extLst>
          </p:cNvPr>
          <p:cNvSpPr/>
          <p:nvPr userDrawn="1"/>
        </p:nvSpPr>
        <p:spPr>
          <a:xfrm>
            <a:off x="7588332" y="1755491"/>
            <a:ext cx="2350014" cy="2350011"/>
          </a:xfrm>
          <a:custGeom>
            <a:avLst/>
            <a:gdLst>
              <a:gd name="connsiteX0" fmla="*/ 0 w 1960608"/>
              <a:gd name="connsiteY0" fmla="*/ 0 h 1960606"/>
              <a:gd name="connsiteX1" fmla="*/ 1996292 w 1960608"/>
              <a:gd name="connsiteY1" fmla="*/ 0 h 1960606"/>
              <a:gd name="connsiteX2" fmla="*/ 1996292 w 1960608"/>
              <a:gd name="connsiteY2" fmla="*/ 1996290 h 1960606"/>
              <a:gd name="connsiteX3" fmla="*/ 0 w 1960608"/>
              <a:gd name="connsiteY3" fmla="*/ 1996290 h 1960606"/>
            </a:gdLst>
            <a:ahLst/>
            <a:cxnLst>
              <a:cxn ang="0">
                <a:pos x="connsiteX0" y="connsiteY0"/>
              </a:cxn>
              <a:cxn ang="0">
                <a:pos x="connsiteX1" y="connsiteY1"/>
              </a:cxn>
              <a:cxn ang="0">
                <a:pos x="connsiteX2" y="connsiteY2"/>
              </a:cxn>
              <a:cxn ang="0">
                <a:pos x="connsiteX3" y="connsiteY3"/>
              </a:cxn>
            </a:cxnLst>
            <a:rect l="l" t="t" r="r" b="b"/>
            <a:pathLst>
              <a:path w="1960608" h="1960606">
                <a:moveTo>
                  <a:pt x="0" y="0"/>
                </a:moveTo>
                <a:lnTo>
                  <a:pt x="1996292" y="0"/>
                </a:lnTo>
                <a:lnTo>
                  <a:pt x="1996292" y="1996290"/>
                </a:lnTo>
                <a:lnTo>
                  <a:pt x="0" y="1996290"/>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18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76" name="Freeform 75">
            <a:extLst>
              <a:ext uri="{FF2B5EF4-FFF2-40B4-BE49-F238E27FC236}">
                <a16:creationId xmlns:a16="http://schemas.microsoft.com/office/drawing/2014/main" id="{5A97CE16-259C-40C1-953B-BEE803A3F8DC}"/>
              </a:ext>
            </a:extLst>
          </p:cNvPr>
          <p:cNvSpPr/>
          <p:nvPr userDrawn="1"/>
        </p:nvSpPr>
        <p:spPr>
          <a:xfrm>
            <a:off x="8806817" y="1970017"/>
            <a:ext cx="3337021" cy="3337016"/>
          </a:xfrm>
          <a:custGeom>
            <a:avLst/>
            <a:gdLst>
              <a:gd name="connsiteX0" fmla="*/ 0 w 2784064"/>
              <a:gd name="connsiteY0" fmla="*/ 1411576 h 2784061"/>
              <a:gd name="connsiteX1" fmla="*/ 1411578 w 2784064"/>
              <a:gd name="connsiteY1" fmla="*/ 0 h 2784061"/>
              <a:gd name="connsiteX2" fmla="*/ 2823157 w 2784064"/>
              <a:gd name="connsiteY2" fmla="*/ 1411576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6"/>
                </a:moveTo>
                <a:lnTo>
                  <a:pt x="1411578" y="0"/>
                </a:lnTo>
                <a:lnTo>
                  <a:pt x="2823157" y="1411576"/>
                </a:lnTo>
                <a:lnTo>
                  <a:pt x="1411578" y="2823153"/>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01" name="Freeform 100">
            <a:extLst>
              <a:ext uri="{FF2B5EF4-FFF2-40B4-BE49-F238E27FC236}">
                <a16:creationId xmlns:a16="http://schemas.microsoft.com/office/drawing/2014/main" id="{CB47A23C-2784-4882-9742-4461F7DED76A}"/>
              </a:ext>
            </a:extLst>
          </p:cNvPr>
          <p:cNvSpPr/>
          <p:nvPr userDrawn="1"/>
        </p:nvSpPr>
        <p:spPr>
          <a:xfrm>
            <a:off x="11016063" y="593"/>
            <a:ext cx="1175937" cy="719952"/>
          </a:xfrm>
          <a:custGeom>
            <a:avLst/>
            <a:gdLst>
              <a:gd name="connsiteX0" fmla="*/ 0 w 1175937"/>
              <a:gd name="connsiteY0" fmla="*/ 0 h 719952"/>
              <a:gd name="connsiteX1" fmla="*/ 1175937 w 1175937"/>
              <a:gd name="connsiteY1" fmla="*/ 0 h 719952"/>
              <a:gd name="connsiteX2" fmla="*/ 1175937 w 1175937"/>
              <a:gd name="connsiteY2" fmla="*/ 719952 h 719952"/>
              <a:gd name="connsiteX3" fmla="*/ 0 w 1175937"/>
              <a:gd name="connsiteY3" fmla="*/ 719952 h 719952"/>
            </a:gdLst>
            <a:ahLst/>
            <a:cxnLst>
              <a:cxn ang="0">
                <a:pos x="connsiteX0" y="connsiteY0"/>
              </a:cxn>
              <a:cxn ang="0">
                <a:pos x="connsiteX1" y="connsiteY1"/>
              </a:cxn>
              <a:cxn ang="0">
                <a:pos x="connsiteX2" y="connsiteY2"/>
              </a:cxn>
              <a:cxn ang="0">
                <a:pos x="connsiteX3" y="connsiteY3"/>
              </a:cxn>
            </a:cxnLst>
            <a:rect l="l" t="t" r="r" b="b"/>
            <a:pathLst>
              <a:path w="1175937" h="719952">
                <a:moveTo>
                  <a:pt x="0" y="0"/>
                </a:moveTo>
                <a:lnTo>
                  <a:pt x="1175937" y="0"/>
                </a:lnTo>
                <a:lnTo>
                  <a:pt x="1175937" y="719952"/>
                </a:lnTo>
                <a:lnTo>
                  <a:pt x="0" y="719952"/>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42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81" name="Freeform 80">
            <a:extLst>
              <a:ext uri="{FF2B5EF4-FFF2-40B4-BE49-F238E27FC236}">
                <a16:creationId xmlns:a16="http://schemas.microsoft.com/office/drawing/2014/main" id="{2FF91D16-63FA-4B04-A413-1294490DB2ED}"/>
              </a:ext>
            </a:extLst>
          </p:cNvPr>
          <p:cNvSpPr>
            <a:spLocks/>
          </p:cNvSpPr>
          <p:nvPr userDrawn="1"/>
        </p:nvSpPr>
        <p:spPr>
          <a:xfrm>
            <a:off x="6854020" y="17126"/>
            <a:ext cx="2395107" cy="2395103"/>
          </a:xfrm>
          <a:custGeom>
            <a:avLst/>
            <a:gdLst>
              <a:gd name="connsiteX0" fmla="*/ 0 w 2784064"/>
              <a:gd name="connsiteY0" fmla="*/ 1411577 h 2784061"/>
              <a:gd name="connsiteX1" fmla="*/ 1411578 w 2784064"/>
              <a:gd name="connsiteY1" fmla="*/ 0 h 2784061"/>
              <a:gd name="connsiteX2" fmla="*/ 2823157 w 2784064"/>
              <a:gd name="connsiteY2" fmla="*/ 1411577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7"/>
                </a:moveTo>
                <a:lnTo>
                  <a:pt x="1411578" y="0"/>
                </a:lnTo>
                <a:lnTo>
                  <a:pt x="2823157" y="1411577"/>
                </a:lnTo>
                <a:lnTo>
                  <a:pt x="1411578" y="2823153"/>
                </a:lnTo>
                <a:close/>
              </a:path>
            </a:pathLst>
          </a:custGeom>
          <a:solidFill>
            <a:schemeClr val="bg1">
              <a:alpha val="0"/>
            </a:schemeClr>
          </a:solidFill>
          <a:ln w="9525" cap="rnd">
            <a:gradFill>
              <a:gsLst>
                <a:gs pos="0">
                  <a:schemeClr val="bg2"/>
                </a:gs>
                <a:gs pos="22000">
                  <a:schemeClr val="accent6"/>
                </a:gs>
                <a:gs pos="100000">
                  <a:schemeClr val="accent6">
                    <a:lumMod val="50000"/>
                    <a:alpha val="0"/>
                  </a:schemeClr>
                </a:gs>
              </a:gsLst>
              <a:lin ang="204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82" name="Freeform 81">
            <a:extLst>
              <a:ext uri="{FF2B5EF4-FFF2-40B4-BE49-F238E27FC236}">
                <a16:creationId xmlns:a16="http://schemas.microsoft.com/office/drawing/2014/main" id="{D862D366-97BF-48E7-A11D-16DF2A6B953C}"/>
              </a:ext>
            </a:extLst>
          </p:cNvPr>
          <p:cNvSpPr>
            <a:spLocks/>
          </p:cNvSpPr>
          <p:nvPr userDrawn="1"/>
        </p:nvSpPr>
        <p:spPr>
          <a:xfrm>
            <a:off x="9277774" y="2440973"/>
            <a:ext cx="2395107" cy="2395103"/>
          </a:xfrm>
          <a:custGeom>
            <a:avLst/>
            <a:gdLst>
              <a:gd name="connsiteX0" fmla="*/ 0 w 2784064"/>
              <a:gd name="connsiteY0" fmla="*/ 1411576 h 2784061"/>
              <a:gd name="connsiteX1" fmla="*/ 1411578 w 2784064"/>
              <a:gd name="connsiteY1" fmla="*/ 0 h 2784061"/>
              <a:gd name="connsiteX2" fmla="*/ 2823157 w 2784064"/>
              <a:gd name="connsiteY2" fmla="*/ 1411576 h 2784061"/>
              <a:gd name="connsiteX3" fmla="*/ 1411578 w 2784064"/>
              <a:gd name="connsiteY3" fmla="*/ 2823153 h 2784061"/>
            </a:gdLst>
            <a:ahLst/>
            <a:cxnLst>
              <a:cxn ang="0">
                <a:pos x="connsiteX0" y="connsiteY0"/>
              </a:cxn>
              <a:cxn ang="0">
                <a:pos x="connsiteX1" y="connsiteY1"/>
              </a:cxn>
              <a:cxn ang="0">
                <a:pos x="connsiteX2" y="connsiteY2"/>
              </a:cxn>
              <a:cxn ang="0">
                <a:pos x="connsiteX3" y="connsiteY3"/>
              </a:cxn>
            </a:cxnLst>
            <a:rect l="l" t="t" r="r" b="b"/>
            <a:pathLst>
              <a:path w="2784064" h="2784061">
                <a:moveTo>
                  <a:pt x="0" y="1411576"/>
                </a:moveTo>
                <a:lnTo>
                  <a:pt x="1411578" y="0"/>
                </a:lnTo>
                <a:lnTo>
                  <a:pt x="2823157" y="1411576"/>
                </a:lnTo>
                <a:lnTo>
                  <a:pt x="1411578" y="2823153"/>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3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1" name="Freeform 110">
            <a:extLst>
              <a:ext uri="{FF2B5EF4-FFF2-40B4-BE49-F238E27FC236}">
                <a16:creationId xmlns:a16="http://schemas.microsoft.com/office/drawing/2014/main" id="{CB510C81-EEA5-4E58-9BAF-398F91BB5EE8}"/>
              </a:ext>
            </a:extLst>
          </p:cNvPr>
          <p:cNvSpPr>
            <a:spLocks/>
          </p:cNvSpPr>
          <p:nvPr userDrawn="1"/>
        </p:nvSpPr>
        <p:spPr>
          <a:xfrm>
            <a:off x="11701624" y="741214"/>
            <a:ext cx="490377" cy="980752"/>
          </a:xfrm>
          <a:custGeom>
            <a:avLst/>
            <a:gdLst>
              <a:gd name="connsiteX0" fmla="*/ 490377 w 490377"/>
              <a:gd name="connsiteY0" fmla="*/ 0 h 980752"/>
              <a:gd name="connsiteX1" fmla="*/ 490377 w 490377"/>
              <a:gd name="connsiteY1" fmla="*/ 980752 h 980752"/>
              <a:gd name="connsiteX2" fmla="*/ 0 w 490377"/>
              <a:gd name="connsiteY2" fmla="*/ 490376 h 980752"/>
            </a:gdLst>
            <a:ahLst/>
            <a:cxnLst>
              <a:cxn ang="0">
                <a:pos x="connsiteX0" y="connsiteY0"/>
              </a:cxn>
              <a:cxn ang="0">
                <a:pos x="connsiteX1" y="connsiteY1"/>
              </a:cxn>
              <a:cxn ang="0">
                <a:pos x="connsiteX2" y="connsiteY2"/>
              </a:cxn>
            </a:cxnLst>
            <a:rect l="l" t="t" r="r" b="b"/>
            <a:pathLst>
              <a:path w="490377" h="980752">
                <a:moveTo>
                  <a:pt x="490377" y="0"/>
                </a:moveTo>
                <a:lnTo>
                  <a:pt x="490377" y="980752"/>
                </a:lnTo>
                <a:lnTo>
                  <a:pt x="0" y="490376"/>
                </a:lnTo>
                <a:close/>
              </a:path>
            </a:pathLst>
          </a:custGeom>
          <a:solidFill>
            <a:schemeClr val="bg1">
              <a:alpha val="0"/>
            </a:schemeClr>
          </a:solidFill>
          <a:ln w="9525" cap="rnd">
            <a:gradFill>
              <a:gsLst>
                <a:gs pos="0">
                  <a:schemeClr val="bg2"/>
                </a:gs>
                <a:gs pos="4000">
                  <a:schemeClr val="accent6"/>
                </a:gs>
                <a:gs pos="100000">
                  <a:schemeClr val="accent6">
                    <a:lumMod val="50000"/>
                    <a:alpha val="0"/>
                  </a:schemeClr>
                </a:gs>
              </a:gsLst>
              <a:lin ang="3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93" name="Freeform 92">
            <a:extLst>
              <a:ext uri="{FF2B5EF4-FFF2-40B4-BE49-F238E27FC236}">
                <a16:creationId xmlns:a16="http://schemas.microsoft.com/office/drawing/2014/main" id="{1C75C64A-41E2-4F29-B489-3CE0F2E545A3}"/>
              </a:ext>
            </a:extLst>
          </p:cNvPr>
          <p:cNvSpPr>
            <a:spLocks/>
          </p:cNvSpPr>
          <p:nvPr userDrawn="1"/>
        </p:nvSpPr>
        <p:spPr>
          <a:xfrm>
            <a:off x="10470731" y="594"/>
            <a:ext cx="43029" cy="21514"/>
          </a:xfrm>
          <a:custGeom>
            <a:avLst/>
            <a:gdLst>
              <a:gd name="connsiteX0" fmla="*/ 0 w 43029"/>
              <a:gd name="connsiteY0" fmla="*/ 0 h 21514"/>
              <a:gd name="connsiteX1" fmla="*/ 43029 w 43029"/>
              <a:gd name="connsiteY1" fmla="*/ 0 h 21514"/>
              <a:gd name="connsiteX2" fmla="*/ 21514 w 43029"/>
              <a:gd name="connsiteY2" fmla="*/ 21514 h 21514"/>
            </a:gdLst>
            <a:ahLst/>
            <a:cxnLst>
              <a:cxn ang="0">
                <a:pos x="connsiteX0" y="connsiteY0"/>
              </a:cxn>
              <a:cxn ang="0">
                <a:pos x="connsiteX1" y="connsiteY1"/>
              </a:cxn>
              <a:cxn ang="0">
                <a:pos x="connsiteX2" y="connsiteY2"/>
              </a:cxn>
            </a:cxnLst>
            <a:rect l="l" t="t" r="r" b="b"/>
            <a:pathLst>
              <a:path w="43029" h="21514">
                <a:moveTo>
                  <a:pt x="0" y="0"/>
                </a:moveTo>
                <a:lnTo>
                  <a:pt x="43029" y="0"/>
                </a:lnTo>
                <a:lnTo>
                  <a:pt x="21514" y="21514"/>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grpSp>
        <p:nvGrpSpPr>
          <p:cNvPr id="13" name="Freeform 74">
            <a:extLst>
              <a:ext uri="{FF2B5EF4-FFF2-40B4-BE49-F238E27FC236}">
                <a16:creationId xmlns:a16="http://schemas.microsoft.com/office/drawing/2014/main" id="{379FA29E-5FD1-4A79-9B2B-F27D4B5F1CB8}"/>
              </a:ext>
            </a:extLst>
          </p:cNvPr>
          <p:cNvGrpSpPr/>
          <p:nvPr userDrawn="1"/>
        </p:nvGrpSpPr>
        <p:grpSpPr>
          <a:xfrm>
            <a:off x="7588332" y="1755491"/>
            <a:ext cx="1079419" cy="1079419"/>
            <a:chOff x="7588332" y="1755491"/>
            <a:chExt cx="1079419" cy="1079419"/>
          </a:xfrm>
        </p:grpSpPr>
        <p:cxnSp>
          <p:nvCxnSpPr>
            <p:cNvPr id="10" name="Straight Connector 9">
              <a:extLst>
                <a:ext uri="{FF2B5EF4-FFF2-40B4-BE49-F238E27FC236}">
                  <a16:creationId xmlns:a16="http://schemas.microsoft.com/office/drawing/2014/main" id="{2A6D5936-19AC-48F7-A3C9-243FA2865A9E}"/>
                </a:ext>
              </a:extLst>
            </p:cNvPr>
            <p:cNvCxnSpPr>
              <a:cxnSpLocks/>
            </p:cNvCxnSpPr>
            <p:nvPr userDrawn="1"/>
          </p:nvCxnSpPr>
          <p:spPr>
            <a:xfrm>
              <a:off x="7588332" y="1755491"/>
              <a:ext cx="1079419" cy="0"/>
            </a:xfrm>
            <a:prstGeom prst="line">
              <a:avLst/>
            </a:prstGeom>
            <a:ln w="88900" cap="rnd">
              <a:gradFill>
                <a:gsLst>
                  <a:gs pos="0">
                    <a:schemeClr val="accent1">
                      <a:lumMod val="5000"/>
                      <a:lumOff val="95000"/>
                    </a:schemeClr>
                  </a:gs>
                  <a:gs pos="87611">
                    <a:schemeClr val="accent6">
                      <a:lumMod val="75000"/>
                      <a:alpha val="0"/>
                    </a:schemeClr>
                  </a:gs>
                  <a:gs pos="30000">
                    <a:schemeClr val="accent6"/>
                  </a:gs>
                </a:gsLst>
                <a:lin ang="0" scaled="0"/>
              </a:gradFill>
              <a:round/>
              <a:tailEnd type="none"/>
            </a:ln>
            <a:effectLst>
              <a:softEdge rad="38100"/>
            </a:effectLst>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B2909F8-2DFE-4EF1-8BE3-09232BDD17DF}"/>
                </a:ext>
              </a:extLst>
            </p:cNvPr>
            <p:cNvCxnSpPr>
              <a:cxnSpLocks/>
            </p:cNvCxnSpPr>
            <p:nvPr userDrawn="1"/>
          </p:nvCxnSpPr>
          <p:spPr>
            <a:xfrm rot="5400000">
              <a:off x="7052898" y="2295201"/>
              <a:ext cx="1079419" cy="0"/>
            </a:xfrm>
            <a:prstGeom prst="line">
              <a:avLst/>
            </a:prstGeom>
            <a:ln w="88900" cap="rnd">
              <a:gradFill>
                <a:gsLst>
                  <a:gs pos="0">
                    <a:schemeClr val="accent1">
                      <a:lumMod val="5000"/>
                      <a:lumOff val="95000"/>
                    </a:schemeClr>
                  </a:gs>
                  <a:gs pos="87611">
                    <a:schemeClr val="accent6">
                      <a:lumMod val="75000"/>
                      <a:alpha val="0"/>
                    </a:schemeClr>
                  </a:gs>
                  <a:gs pos="30000">
                    <a:schemeClr val="accent6"/>
                  </a:gs>
                </a:gsLst>
                <a:lin ang="0" scaled="0"/>
              </a:gradFill>
              <a:round/>
              <a:tailEnd type="none"/>
            </a:ln>
            <a:effectLst>
              <a:softEdge rad="38100"/>
            </a:effectLst>
          </p:spPr>
          <p:style>
            <a:lnRef idx="1">
              <a:schemeClr val="accent1"/>
            </a:lnRef>
            <a:fillRef idx="0">
              <a:schemeClr val="accent1"/>
            </a:fillRef>
            <a:effectRef idx="0">
              <a:schemeClr val="accent1"/>
            </a:effectRef>
            <a:fontRef idx="minor">
              <a:schemeClr val="tx1"/>
            </a:fontRef>
          </p:style>
        </p:cxnSp>
      </p:grpSp>
      <p:sp>
        <p:nvSpPr>
          <p:cNvPr id="91" name="Freeform 90">
            <a:extLst>
              <a:ext uri="{FF2B5EF4-FFF2-40B4-BE49-F238E27FC236}">
                <a16:creationId xmlns:a16="http://schemas.microsoft.com/office/drawing/2014/main" id="{5CCDDB3F-BABD-4B05-BE47-410F0C40904A}"/>
              </a:ext>
            </a:extLst>
          </p:cNvPr>
          <p:cNvSpPr/>
          <p:nvPr userDrawn="1"/>
        </p:nvSpPr>
        <p:spPr>
          <a:xfrm>
            <a:off x="7588332" y="594"/>
            <a:ext cx="2392785" cy="719952"/>
          </a:xfrm>
          <a:custGeom>
            <a:avLst/>
            <a:gdLst>
              <a:gd name="connsiteX0" fmla="*/ 0 w 2392785"/>
              <a:gd name="connsiteY0" fmla="*/ 0 h 719952"/>
              <a:gd name="connsiteX1" fmla="*/ 2392785 w 2392785"/>
              <a:gd name="connsiteY1" fmla="*/ 0 h 719952"/>
              <a:gd name="connsiteX2" fmla="*/ 2392785 w 2392785"/>
              <a:gd name="connsiteY2" fmla="*/ 719952 h 719952"/>
              <a:gd name="connsiteX3" fmla="*/ 0 w 2392785"/>
              <a:gd name="connsiteY3" fmla="*/ 719952 h 719952"/>
            </a:gdLst>
            <a:ahLst/>
            <a:cxnLst>
              <a:cxn ang="0">
                <a:pos x="connsiteX0" y="connsiteY0"/>
              </a:cxn>
              <a:cxn ang="0">
                <a:pos x="connsiteX1" y="connsiteY1"/>
              </a:cxn>
              <a:cxn ang="0">
                <a:pos x="connsiteX2" y="connsiteY2"/>
              </a:cxn>
              <a:cxn ang="0">
                <a:pos x="connsiteX3" y="connsiteY3"/>
              </a:cxn>
            </a:cxnLst>
            <a:rect l="l" t="t" r="r" b="b"/>
            <a:pathLst>
              <a:path w="2392785" h="719952">
                <a:moveTo>
                  <a:pt x="0" y="0"/>
                </a:moveTo>
                <a:lnTo>
                  <a:pt x="2392785" y="0"/>
                </a:lnTo>
                <a:lnTo>
                  <a:pt x="2392785" y="719952"/>
                </a:lnTo>
                <a:lnTo>
                  <a:pt x="0" y="719952"/>
                </a:lnTo>
                <a:close/>
              </a:path>
            </a:pathLst>
          </a:custGeom>
          <a:solidFill>
            <a:schemeClr val="bg1">
              <a:alpha val="0"/>
            </a:schemeClr>
          </a:solidFill>
          <a:ln w="9525" cap="rnd">
            <a:gradFill>
              <a:gsLst>
                <a:gs pos="0">
                  <a:schemeClr val="bg2"/>
                </a:gs>
                <a:gs pos="6000">
                  <a:schemeClr val="accent6"/>
                </a:gs>
                <a:gs pos="100000">
                  <a:schemeClr val="accent6">
                    <a:lumMod val="50000"/>
                    <a:alpha val="0"/>
                  </a:schemeClr>
                </a:gs>
              </a:gsLst>
              <a:lin ang="600000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61" name="Freeform 60">
            <a:extLst>
              <a:ext uri="{FF2B5EF4-FFF2-40B4-BE49-F238E27FC236}">
                <a16:creationId xmlns:a16="http://schemas.microsoft.com/office/drawing/2014/main" id="{6C657967-D890-4A42-A129-E8E05E2AD57E}"/>
              </a:ext>
            </a:extLst>
          </p:cNvPr>
          <p:cNvSpPr/>
          <p:nvPr userDrawn="1"/>
        </p:nvSpPr>
        <p:spPr>
          <a:xfrm>
            <a:off x="11230667" y="276874"/>
            <a:ext cx="961333" cy="1922662"/>
          </a:xfrm>
          <a:custGeom>
            <a:avLst/>
            <a:gdLst>
              <a:gd name="connsiteX0" fmla="*/ 961333 w 961333"/>
              <a:gd name="connsiteY0" fmla="*/ 0 h 1922662"/>
              <a:gd name="connsiteX1" fmla="*/ 961333 w 961333"/>
              <a:gd name="connsiteY1" fmla="*/ 1922662 h 1922662"/>
              <a:gd name="connsiteX2" fmla="*/ 0 w 961333"/>
              <a:gd name="connsiteY2" fmla="*/ 961331 h 1922662"/>
            </a:gdLst>
            <a:ahLst/>
            <a:cxnLst>
              <a:cxn ang="0">
                <a:pos x="connsiteX0" y="connsiteY0"/>
              </a:cxn>
              <a:cxn ang="0">
                <a:pos x="connsiteX1" y="connsiteY1"/>
              </a:cxn>
              <a:cxn ang="0">
                <a:pos x="connsiteX2" y="connsiteY2"/>
              </a:cxn>
            </a:cxnLst>
            <a:rect l="l" t="t" r="r" b="b"/>
            <a:pathLst>
              <a:path w="961333" h="1922662">
                <a:moveTo>
                  <a:pt x="961333" y="0"/>
                </a:moveTo>
                <a:lnTo>
                  <a:pt x="961333" y="1922662"/>
                </a:lnTo>
                <a:lnTo>
                  <a:pt x="0" y="961331"/>
                </a:lnTo>
                <a:close/>
              </a:path>
            </a:pathLst>
          </a:custGeom>
          <a:solidFill>
            <a:schemeClr val="bg1">
              <a:alpha val="0"/>
            </a:schemeClr>
          </a:solidFill>
          <a:ln w="9525" cap="rnd">
            <a:gradFill>
              <a:gsLst>
                <a:gs pos="0">
                  <a:schemeClr val="bg2"/>
                </a:gs>
                <a:gs pos="86000">
                  <a:schemeClr val="accent6"/>
                </a:gs>
                <a:gs pos="12000">
                  <a:schemeClr val="accent6"/>
                </a:gs>
                <a:gs pos="100000">
                  <a:schemeClr val="accent6">
                    <a:lumMod val="50000"/>
                    <a:alpha val="0"/>
                  </a:schemeClr>
                </a:gs>
              </a:gsLst>
              <a:lin ang="0" scaled="0"/>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a:endParaRPr lang="en-US"/>
          </a:p>
        </p:txBody>
      </p:sp>
      <p:sp>
        <p:nvSpPr>
          <p:cNvPr id="113" name="Rectangle 112">
            <a:extLst>
              <a:ext uri="{FF2B5EF4-FFF2-40B4-BE49-F238E27FC236}">
                <a16:creationId xmlns:a16="http://schemas.microsoft.com/office/drawing/2014/main" id="{EA1B3513-35DD-4D8B-9A5A-9597EFA1059D}"/>
              </a:ext>
            </a:extLst>
          </p:cNvPr>
          <p:cNvSpPr>
            <a:spLocks/>
          </p:cNvSpPr>
          <p:nvPr userDrawn="1"/>
        </p:nvSpPr>
        <p:spPr>
          <a:xfrm>
            <a:off x="12188400" y="595"/>
            <a:ext cx="3600" cy="6858000"/>
          </a:xfrm>
          <a:prstGeom prst="rect">
            <a:avLst/>
          </a:prstGeom>
          <a:solidFill>
            <a:srgbClr val="0F181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Tree>
    <p:extLst>
      <p:ext uri="{BB962C8B-B14F-4D97-AF65-F5344CB8AC3E}">
        <p14:creationId xmlns:p14="http://schemas.microsoft.com/office/powerpoint/2010/main" val="226254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3259189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26" name="Group 25">
            <a:extLst>
              <a:ext uri="{FF2B5EF4-FFF2-40B4-BE49-F238E27FC236}">
                <a16:creationId xmlns:a16="http://schemas.microsoft.com/office/drawing/2014/main" id="{E3C0F6DE-CB58-4EB8-9CE2-D6C7C844A111}"/>
              </a:ext>
            </a:extLst>
          </p:cNvPr>
          <p:cNvGrpSpPr/>
          <p:nvPr userDrawn="1"/>
        </p:nvGrpSpPr>
        <p:grpSpPr>
          <a:xfrm>
            <a:off x="0" y="-1"/>
            <a:ext cx="4544291" cy="6858001"/>
            <a:chOff x="0" y="-1"/>
            <a:chExt cx="4544291" cy="6858001"/>
          </a:xfrm>
        </p:grpSpPr>
        <p:grpSp>
          <p:nvGrpSpPr>
            <p:cNvPr id="27" name="Group 26">
              <a:extLst>
                <a:ext uri="{FF2B5EF4-FFF2-40B4-BE49-F238E27FC236}">
                  <a16:creationId xmlns:a16="http://schemas.microsoft.com/office/drawing/2014/main" id="{D756FF46-6269-4FBC-BA98-5EB2510B0CDE}"/>
                </a:ext>
              </a:extLst>
            </p:cNvPr>
            <p:cNvGrpSpPr/>
            <p:nvPr userDrawn="1"/>
          </p:nvGrpSpPr>
          <p:grpSpPr>
            <a:xfrm>
              <a:off x="0" y="0"/>
              <a:ext cx="3337021" cy="6858000"/>
              <a:chOff x="0" y="0"/>
              <a:chExt cx="3337021" cy="6858000"/>
            </a:xfrm>
          </p:grpSpPr>
          <p:pic>
            <p:nvPicPr>
              <p:cNvPr id="29" name="Graphic 28">
                <a:extLst>
                  <a:ext uri="{FF2B5EF4-FFF2-40B4-BE49-F238E27FC236}">
                    <a16:creationId xmlns:a16="http://schemas.microsoft.com/office/drawing/2014/main" id="{B3290A93-3F92-4568-AA97-00611B1FB97D}"/>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3305867"/>
                <a:ext cx="3337021" cy="3337021"/>
              </a:xfrm>
              <a:prstGeom prst="rect">
                <a:avLst/>
              </a:prstGeom>
            </p:spPr>
          </p:pic>
          <p:pic>
            <p:nvPicPr>
              <p:cNvPr id="30" name="Graphic 29">
                <a:extLst>
                  <a:ext uri="{FF2B5EF4-FFF2-40B4-BE49-F238E27FC236}">
                    <a16:creationId xmlns:a16="http://schemas.microsoft.com/office/drawing/2014/main" id="{5442ACBE-FD74-451C-8EEE-53CC5598D869}"/>
                  </a:ext>
                </a:extLst>
              </p:cNvPr>
              <p:cNvPicPr>
                <a:picLocks noChangeAspect="1"/>
              </p:cNvPicPr>
              <p:nvPr userDrawn="1"/>
            </p:nvPicPr>
            <p:blipFill>
              <a:blip>
                <a:extLst>
                  <a:ext uri="{96DAC541-7B7A-43D3-8B79-37D633B846F1}">
                    <asvg:svgBlip xmlns:asvg="http://schemas.microsoft.com/office/drawing/2016/SVG/main" r:embed="rId12"/>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31" name="Graphic 30">
                <a:extLst>
                  <a:ext uri="{FF2B5EF4-FFF2-40B4-BE49-F238E27FC236}">
                    <a16:creationId xmlns:a16="http://schemas.microsoft.com/office/drawing/2014/main" id="{4B3A9B0E-C966-4427-8CFB-8CA92F8B562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3337021" cy="3337021"/>
              </a:xfrm>
              <a:prstGeom prst="rect">
                <a:avLst/>
              </a:prstGeom>
            </p:spPr>
          </p:pic>
        </p:grpSp>
        <p:sp>
          <p:nvSpPr>
            <p:cNvPr id="28" name="Rectangle 27">
              <a:extLst>
                <a:ext uri="{FF2B5EF4-FFF2-40B4-BE49-F238E27FC236}">
                  <a16:creationId xmlns:a16="http://schemas.microsoft.com/office/drawing/2014/main" id="{DE38EDFA-08D4-4421-A20C-723724CEA01F}"/>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grpSp>
      <p:sp>
        <p:nvSpPr>
          <p:cNvPr id="15" name="2. Slide Title">
            <a:extLst>
              <a:ext uri="{FF2B5EF4-FFF2-40B4-BE49-F238E27FC236}">
                <a16:creationId xmlns:a16="http://schemas.microsoft.com/office/drawing/2014/main" id="{699FD2C4-82B5-475E-9235-DB128978B618}"/>
              </a:ext>
            </a:extLst>
          </p:cNvPr>
          <p:cNvSpPr>
            <a:spLocks noGrp="1"/>
          </p:cNvSpPr>
          <p:nvPr userDrawn="1">
            <p:ph type="title" hasCustomPrompt="1"/>
            <p:custDataLst>
              <p:tags r:id="rId3"/>
            </p:custDataLst>
          </p:nvPr>
        </p:nvSpPr>
        <p:spPr>
          <a:xfrm>
            <a:off x="554734" y="165068"/>
            <a:ext cx="11082528" cy="738664"/>
          </a:xfrm>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userDrawn="1">
            <p:ph type="subTitle" idx="1"/>
            <p:custDataLst>
              <p:tags r:id="rId4"/>
            </p:custDataLst>
          </p:nvPr>
        </p:nvSpPr>
        <p:spPr>
          <a:xfrm>
            <a:off x="554736" y="958596"/>
            <a:ext cx="11082528" cy="246221"/>
          </a:xfrm>
          <a:prstGeom prst="rect">
            <a:avLst/>
          </a:prstGeom>
        </p:spPr>
        <p:txBody>
          <a:bodyPr vert="horz" wrap="square" lIns="0" tIns="0" rIns="0" bIns="0" rtlCol="0">
            <a:spAutoFit/>
          </a:bodyPr>
          <a:lstStyle>
            <a:lvl1pPr rtl="0">
              <a:defRPr lang="ru-RU" sz="1600" b="0" dirty="0">
                <a:solidFill>
                  <a:srgbClr val="191C1E"/>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subtitle style</a:t>
            </a:r>
          </a:p>
        </p:txBody>
      </p:sp>
      <p:sp>
        <p:nvSpPr>
          <p:cNvPr id="8" name="5. Source" hidden="1">
            <a:extLst>
              <a:ext uri="{FF2B5EF4-FFF2-40B4-BE49-F238E27FC236}">
                <a16:creationId xmlns:a16="http://schemas.microsoft.com/office/drawing/2014/main" id="{9238B1D6-2095-4826-AA45-9A4E6F7D1A16}"/>
              </a:ext>
            </a:extLst>
          </p:cNvPr>
          <p:cNvSpPr txBox="1">
            <a:spLocks/>
          </p:cNvSpPr>
          <p:nvPr userDrawn="1">
            <p:custDataLst>
              <p:tags r:id="rId5"/>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userDrawn="1">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kern="1200" dirty="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32" name="Slide Number">
            <a:extLst>
              <a:ext uri="{FF2B5EF4-FFF2-40B4-BE49-F238E27FC236}">
                <a16:creationId xmlns:a16="http://schemas.microsoft.com/office/drawing/2014/main" id="{B038539D-CC41-458B-A32A-66FDEFBA8E62}"/>
              </a:ext>
            </a:extLst>
          </p:cNvPr>
          <p:cNvSpPr>
            <a:spLocks noChangeArrowheads="1"/>
          </p:cNvSpPr>
          <p:nvPr userDrawn="1">
            <p:custDataLst>
              <p:tags r:id="rId7"/>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solidFill>
                  <a:srgbClr val="191C1E"/>
                </a:solidFill>
                <a:latin typeface="Tahoma" panose="020B0604030504040204" pitchFamily="34" charset="0"/>
                <a:ea typeface="Tahoma" panose="020B0604030504040204" pitchFamily="34" charset="0"/>
                <a:cs typeface="Tahoma" panose="020B0604030504040204" pitchFamily="34" charset="0"/>
              </a:rPr>
              <a:pPr lvl="0" algn="r" defTabSz="610744" rtl="0" fontAlgn="auto">
                <a:spcBef>
                  <a:spcPts val="0"/>
                </a:spcBef>
                <a:spcAft>
                  <a:spcPts val="0"/>
                </a:spcAft>
              </a:pPr>
              <a:t>‹#›</a:t>
            </a:fld>
            <a:endParaRPr lang="en-US" sz="800" b="0">
              <a:solidFill>
                <a:srgbClr val="191C1E"/>
              </a:solidFill>
              <a:latin typeface="Tahoma" panose="020B0604030504040204" pitchFamily="34" charset="0"/>
              <a:ea typeface="Tahoma" panose="020B0604030504040204" pitchFamily="34" charset="0"/>
              <a:cs typeface="Tahoma" panose="020B0604030504040204" pitchFamily="34" charset="0"/>
            </a:endParaRPr>
          </a:p>
        </p:txBody>
      </p:sp>
      <p:sp>
        <p:nvSpPr>
          <p:cNvPr id="16" name="4. Footnote" hidden="1">
            <a:extLst>
              <a:ext uri="{FF2B5EF4-FFF2-40B4-BE49-F238E27FC236}">
                <a16:creationId xmlns:a16="http://schemas.microsoft.com/office/drawing/2014/main" id="{6CFFA600-7FF4-49E7-B3E6-79A4ECF5D01F}"/>
              </a:ext>
            </a:extLst>
          </p:cNvPr>
          <p:cNvSpPr txBox="1">
            <a:spLocks/>
          </p:cNvSpPr>
          <p:nvPr userDrawn="1">
            <p:custDataLst>
              <p:tags r:id="rId8"/>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Tree>
    <p:extLst>
      <p:ext uri="{BB962C8B-B14F-4D97-AF65-F5344CB8AC3E}">
        <p14:creationId xmlns:p14="http://schemas.microsoft.com/office/powerpoint/2010/main" val="2101357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2689162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6"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5" name="Background">
            <a:extLst>
              <a:ext uri="{FF2B5EF4-FFF2-40B4-BE49-F238E27FC236}">
                <a16:creationId xmlns:a16="http://schemas.microsoft.com/office/drawing/2014/main" id="{C12F2EBF-CB29-4245-9709-8A3AB25C1082}"/>
              </a:ext>
            </a:extLst>
          </p:cNvPr>
          <p:cNvGrpSpPr/>
          <p:nvPr userDrawn="1"/>
        </p:nvGrpSpPr>
        <p:grpSpPr>
          <a:xfrm>
            <a:off x="-2115" y="0"/>
            <a:ext cx="12194115" cy="6858000"/>
            <a:chOff x="-2115" y="8376119"/>
            <a:chExt cx="12194115" cy="6858000"/>
          </a:xfrm>
        </p:grpSpPr>
        <p:sp>
          <p:nvSpPr>
            <p:cNvPr id="50" name="Background">
              <a:extLst>
                <a:ext uri="{FF2B5EF4-FFF2-40B4-BE49-F238E27FC236}">
                  <a16:creationId xmlns:a16="http://schemas.microsoft.com/office/drawing/2014/main" id="{9CCA7045-39CE-4B45-993E-9D65996656C6}"/>
                </a:ext>
              </a:extLst>
            </p:cNvPr>
            <p:cNvSpPr/>
            <p:nvPr userDrawn="1"/>
          </p:nvSpPr>
          <p:spPr>
            <a:xfrm>
              <a:off x="0" y="8377706"/>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Century Gothic" panose="020B0502020202020204" pitchFamily="34" charset="0"/>
              </a:endParaRPr>
            </a:p>
          </p:txBody>
        </p:sp>
        <p:grpSp>
          <p:nvGrpSpPr>
            <p:cNvPr id="51" name="Group 50">
              <a:extLst>
                <a:ext uri="{FF2B5EF4-FFF2-40B4-BE49-F238E27FC236}">
                  <a16:creationId xmlns:a16="http://schemas.microsoft.com/office/drawing/2014/main" id="{ABA55F93-7B0A-4279-B19A-B63AB5BF2EB9}"/>
                </a:ext>
              </a:extLst>
            </p:cNvPr>
            <p:cNvGrpSpPr/>
            <p:nvPr userDrawn="1"/>
          </p:nvGrpSpPr>
          <p:grpSpPr>
            <a:xfrm>
              <a:off x="0" y="11681986"/>
              <a:ext cx="6648374" cy="3337021"/>
              <a:chOff x="0" y="0"/>
              <a:chExt cx="6648374" cy="3337021"/>
            </a:xfrm>
          </p:grpSpPr>
          <p:pic>
            <p:nvPicPr>
              <p:cNvPr id="52" name="Graphic 51">
                <a:extLst>
                  <a:ext uri="{FF2B5EF4-FFF2-40B4-BE49-F238E27FC236}">
                    <a16:creationId xmlns:a16="http://schemas.microsoft.com/office/drawing/2014/main" id="{9008B0E7-80F2-46F6-B605-37A23B9225F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53" name="Graphic 52">
                <a:extLst>
                  <a:ext uri="{FF2B5EF4-FFF2-40B4-BE49-F238E27FC236}">
                    <a16:creationId xmlns:a16="http://schemas.microsoft.com/office/drawing/2014/main" id="{260C2D05-7D30-4E7B-A98E-9261BFC608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54" name="Graphic 53">
              <a:extLst>
                <a:ext uri="{FF2B5EF4-FFF2-40B4-BE49-F238E27FC236}">
                  <a16:creationId xmlns:a16="http://schemas.microsoft.com/office/drawing/2014/main" id="{24F2E44F-03F7-449F-B901-28539A23A0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11681986"/>
              <a:ext cx="3337021" cy="3337021"/>
            </a:xfrm>
            <a:prstGeom prst="rect">
              <a:avLst/>
            </a:prstGeom>
          </p:spPr>
        </p:pic>
        <p:pic>
          <p:nvPicPr>
            <p:cNvPr id="55" name="Graphic 54">
              <a:extLst>
                <a:ext uri="{FF2B5EF4-FFF2-40B4-BE49-F238E27FC236}">
                  <a16:creationId xmlns:a16="http://schemas.microsoft.com/office/drawing/2014/main" id="{0165378C-FEC8-4F51-B2F7-CDE495215471}"/>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1168198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56" name="Graphic 55">
              <a:extLst>
                <a:ext uri="{FF2B5EF4-FFF2-40B4-BE49-F238E27FC236}">
                  <a16:creationId xmlns:a16="http://schemas.microsoft.com/office/drawing/2014/main" id="{F31DBB21-9605-40A3-B9D4-30B8AC9316FF}"/>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0" y="1498014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7" name="Graphic 56">
              <a:extLst>
                <a:ext uri="{FF2B5EF4-FFF2-40B4-BE49-F238E27FC236}">
                  <a16:creationId xmlns:a16="http://schemas.microsoft.com/office/drawing/2014/main" id="{6DBFD3E3-0C4E-4AD0-8362-200C740659F1}"/>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3311353"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8" name="Graphic 57">
              <a:extLst>
                <a:ext uri="{FF2B5EF4-FFF2-40B4-BE49-F238E27FC236}">
                  <a16:creationId xmlns:a16="http://schemas.microsoft.com/office/drawing/2014/main" id="{F0BE1516-5EB6-49CE-AE5F-FCB53BEC0174}"/>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6605762"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9" name="Graphic 58">
              <a:extLst>
                <a:ext uri="{FF2B5EF4-FFF2-40B4-BE49-F238E27FC236}">
                  <a16:creationId xmlns:a16="http://schemas.microsoft.com/office/drawing/2014/main" id="{907C4F19-E1B8-4F28-89A9-11EEBA277E53}"/>
                </a:ext>
              </a:extLst>
            </p:cNvPr>
            <p:cNvPicPr>
              <a:picLocks noChangeAspect="1"/>
            </p:cNvPicPr>
            <p:nvPr userDrawn="1"/>
          </p:nvPicPr>
          <p:blipFill>
            <a:blip>
              <a:extLst>
                <a:ext uri="{96DAC541-7B7A-43D3-8B79-37D633B846F1}">
                  <asvg:svgBlip xmlns:asvg="http://schemas.microsoft.com/office/drawing/2016/SVG/main" r:embed="rId10"/>
                </a:ext>
              </a:extLst>
            </a:blip>
            <a:srcRect r="31829" b="92389"/>
            <a:stretch>
              <a:fillRect/>
            </a:stretch>
          </p:blipFill>
          <p:spPr>
            <a:xfrm>
              <a:off x="9917115" y="1498014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60" name="Rectangle 1">
              <a:extLst>
                <a:ext uri="{FF2B5EF4-FFF2-40B4-BE49-F238E27FC236}">
                  <a16:creationId xmlns:a16="http://schemas.microsoft.com/office/drawing/2014/main" id="{A2A7EC7E-B8B2-48A9-93A4-7970F7C25785}"/>
                </a:ext>
              </a:extLst>
            </p:cNvPr>
            <p:cNvGrpSpPr/>
            <p:nvPr userDrawn="1"/>
          </p:nvGrpSpPr>
          <p:grpSpPr>
            <a:xfrm>
              <a:off x="0" y="8376119"/>
              <a:ext cx="6648374" cy="3337021"/>
              <a:chOff x="0" y="0"/>
              <a:chExt cx="6648374" cy="3337021"/>
            </a:xfrm>
          </p:grpSpPr>
          <p:pic>
            <p:nvPicPr>
              <p:cNvPr id="61" name="Graphic 60">
                <a:extLst>
                  <a:ext uri="{FF2B5EF4-FFF2-40B4-BE49-F238E27FC236}">
                    <a16:creationId xmlns:a16="http://schemas.microsoft.com/office/drawing/2014/main" id="{8B57CEC4-C30D-441D-B82D-9234340D8C4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AF16816F-7163-4101-BD16-93CE6C9331D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63" name="Graphic 62">
              <a:extLst>
                <a:ext uri="{FF2B5EF4-FFF2-40B4-BE49-F238E27FC236}">
                  <a16:creationId xmlns:a16="http://schemas.microsoft.com/office/drawing/2014/main" id="{762D2C4C-8A4E-4D86-9AD3-CBEFE20A57F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8376119"/>
              <a:ext cx="3337021" cy="3337021"/>
            </a:xfrm>
            <a:prstGeom prst="rect">
              <a:avLst/>
            </a:prstGeom>
          </p:spPr>
        </p:pic>
        <p:pic>
          <p:nvPicPr>
            <p:cNvPr id="64" name="Graphic 63">
              <a:extLst>
                <a:ext uri="{FF2B5EF4-FFF2-40B4-BE49-F238E27FC236}">
                  <a16:creationId xmlns:a16="http://schemas.microsoft.com/office/drawing/2014/main" id="{881C5693-D00A-4724-8F31-B2CD98BC7D48}"/>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837611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65" name="Background">
              <a:extLst>
                <a:ext uri="{FF2B5EF4-FFF2-40B4-BE49-F238E27FC236}">
                  <a16:creationId xmlns:a16="http://schemas.microsoft.com/office/drawing/2014/main" id="{A352F5A7-04C8-478F-B363-7A29EFBAF466}"/>
                </a:ext>
              </a:extLst>
            </p:cNvPr>
            <p:cNvSpPr/>
            <p:nvPr userDrawn="1"/>
          </p:nvSpPr>
          <p:spPr bwMode="ltGray">
            <a:xfrm rot="10800000">
              <a:off x="-2115" y="8376119"/>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sp>
          <p:nvSpPr>
            <p:cNvPr id="66" name="Background">
              <a:extLst>
                <a:ext uri="{FF2B5EF4-FFF2-40B4-BE49-F238E27FC236}">
                  <a16:creationId xmlns:a16="http://schemas.microsoft.com/office/drawing/2014/main" id="{B59FE6DA-33AA-41AD-91AB-0B245F5AD233}"/>
                </a:ext>
              </a:extLst>
            </p:cNvPr>
            <p:cNvSpPr/>
            <p:nvPr userDrawn="1"/>
          </p:nvSpPr>
          <p:spPr bwMode="ltGray">
            <a:xfrm>
              <a:off x="0" y="8583352"/>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7" name="2. Slide Title">
            <a:extLst>
              <a:ext uri="{FF2B5EF4-FFF2-40B4-BE49-F238E27FC236}">
                <a16:creationId xmlns:a16="http://schemas.microsoft.com/office/drawing/2014/main" id="{99495DFD-8D6A-4DD8-AE3A-47FA42AA0A4F}"/>
              </a:ext>
            </a:extLst>
          </p:cNvPr>
          <p:cNvSpPr>
            <a:spLocks noGrp="1"/>
          </p:cNvSpPr>
          <p:nvPr userDrawn="1">
            <p:ph type="title" hasCustomPrompt="1"/>
            <p:custDataLst>
              <p:tags r:id="rId3"/>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wrap="square" lIns="0" tIns="0" rIns="64800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chemeClr val="bg1"/>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userDrawn="1">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solidFill>
                  <a:schemeClr val="bg1"/>
                </a:solidFill>
              </a:rPr>
              <a:t>Source: …</a:t>
            </a:r>
          </a:p>
        </p:txBody>
      </p:sp>
      <p:sp>
        <p:nvSpPr>
          <p:cNvPr id="25" name="4. Footnote" hidden="1">
            <a:extLst>
              <a:ext uri="{FF2B5EF4-FFF2-40B4-BE49-F238E27FC236}">
                <a16:creationId xmlns:a16="http://schemas.microsoft.com/office/drawing/2014/main" id="{B1C8A38F-E18D-4209-BB91-D82556C25DD0}"/>
              </a:ext>
            </a:extLst>
          </p:cNvPr>
          <p:cNvSpPr txBox="1">
            <a:spLocks/>
          </p:cNvSpPr>
          <p:nvPr userDrawn="1">
            <p:custDataLst>
              <p:tags r:id="rId6"/>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solidFill>
                  <a:schemeClr val="bg1"/>
                </a:solidFill>
              </a:rPr>
              <a:t>Footnotes</a:t>
            </a:r>
          </a:p>
        </p:txBody>
      </p:sp>
    </p:spTree>
    <p:extLst>
      <p:ext uri="{BB962C8B-B14F-4D97-AF65-F5344CB8AC3E}">
        <p14:creationId xmlns:p14="http://schemas.microsoft.com/office/powerpoint/2010/main" val="1713766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1500684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3" name="Object 6" hidden="1">
                        <a:extLst>
                          <a:ext uri="{FF2B5EF4-FFF2-40B4-BE49-F238E27FC236}">
                            <a16:creationId xmlns:a16="http://schemas.microsoft.com/office/drawing/2014/main" id="{305B6D76-6B4B-4ED5-B8F1-5D1D0983125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5" name="Background">
            <a:extLst>
              <a:ext uri="{FF2B5EF4-FFF2-40B4-BE49-F238E27FC236}">
                <a16:creationId xmlns:a16="http://schemas.microsoft.com/office/drawing/2014/main" id="{C12F2EBF-CB29-4245-9709-8A3AB25C1082}"/>
              </a:ext>
            </a:extLst>
          </p:cNvPr>
          <p:cNvGrpSpPr/>
          <p:nvPr userDrawn="1"/>
        </p:nvGrpSpPr>
        <p:grpSpPr>
          <a:xfrm>
            <a:off x="-2115" y="0"/>
            <a:ext cx="12194115" cy="6858000"/>
            <a:chOff x="-2115" y="8376119"/>
            <a:chExt cx="12194115" cy="6858000"/>
          </a:xfrm>
        </p:grpSpPr>
        <p:sp>
          <p:nvSpPr>
            <p:cNvPr id="50" name="Background">
              <a:extLst>
                <a:ext uri="{FF2B5EF4-FFF2-40B4-BE49-F238E27FC236}">
                  <a16:creationId xmlns:a16="http://schemas.microsoft.com/office/drawing/2014/main" id="{9CCA7045-39CE-4B45-993E-9D65996656C6}"/>
                </a:ext>
              </a:extLst>
            </p:cNvPr>
            <p:cNvSpPr/>
            <p:nvPr userDrawn="1"/>
          </p:nvSpPr>
          <p:spPr>
            <a:xfrm>
              <a:off x="0" y="8377706"/>
              <a:ext cx="12192000" cy="6856413"/>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224">
                <a:solidFill>
                  <a:schemeClr val="tx1"/>
                </a:solidFill>
                <a:latin typeface="Century Gothic" panose="020B0502020202020204" pitchFamily="34" charset="0"/>
              </a:endParaRPr>
            </a:p>
          </p:txBody>
        </p:sp>
        <p:grpSp>
          <p:nvGrpSpPr>
            <p:cNvPr id="51" name="Group 50">
              <a:extLst>
                <a:ext uri="{FF2B5EF4-FFF2-40B4-BE49-F238E27FC236}">
                  <a16:creationId xmlns:a16="http://schemas.microsoft.com/office/drawing/2014/main" id="{ABA55F93-7B0A-4279-B19A-B63AB5BF2EB9}"/>
                </a:ext>
              </a:extLst>
            </p:cNvPr>
            <p:cNvGrpSpPr/>
            <p:nvPr userDrawn="1"/>
          </p:nvGrpSpPr>
          <p:grpSpPr>
            <a:xfrm>
              <a:off x="0" y="11681986"/>
              <a:ext cx="6648374" cy="3337021"/>
              <a:chOff x="0" y="0"/>
              <a:chExt cx="6648374" cy="3337021"/>
            </a:xfrm>
          </p:grpSpPr>
          <p:pic>
            <p:nvPicPr>
              <p:cNvPr id="52" name="Graphic 51">
                <a:extLst>
                  <a:ext uri="{FF2B5EF4-FFF2-40B4-BE49-F238E27FC236}">
                    <a16:creationId xmlns:a16="http://schemas.microsoft.com/office/drawing/2014/main" id="{9008B0E7-80F2-46F6-B605-37A23B9225FE}"/>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53" name="Graphic 52">
                <a:extLst>
                  <a:ext uri="{FF2B5EF4-FFF2-40B4-BE49-F238E27FC236}">
                    <a16:creationId xmlns:a16="http://schemas.microsoft.com/office/drawing/2014/main" id="{260C2D05-7D30-4E7B-A98E-9261BFC60852}"/>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54" name="Graphic 53">
              <a:extLst>
                <a:ext uri="{FF2B5EF4-FFF2-40B4-BE49-F238E27FC236}">
                  <a16:creationId xmlns:a16="http://schemas.microsoft.com/office/drawing/2014/main" id="{24F2E44F-03F7-449F-B901-28539A23A05F}"/>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11681986"/>
              <a:ext cx="3337021" cy="3337021"/>
            </a:xfrm>
            <a:prstGeom prst="rect">
              <a:avLst/>
            </a:prstGeom>
          </p:spPr>
        </p:pic>
        <p:pic>
          <p:nvPicPr>
            <p:cNvPr id="55" name="Graphic 54">
              <a:extLst>
                <a:ext uri="{FF2B5EF4-FFF2-40B4-BE49-F238E27FC236}">
                  <a16:creationId xmlns:a16="http://schemas.microsoft.com/office/drawing/2014/main" id="{0165378C-FEC8-4F51-B2F7-CDE495215471}"/>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1168198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pic>
          <p:nvPicPr>
            <p:cNvPr id="56" name="Graphic 55">
              <a:extLst>
                <a:ext uri="{FF2B5EF4-FFF2-40B4-BE49-F238E27FC236}">
                  <a16:creationId xmlns:a16="http://schemas.microsoft.com/office/drawing/2014/main" id="{F31DBB21-9605-40A3-B9D4-30B8AC9316FF}"/>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0" y="1498014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7" name="Graphic 56">
              <a:extLst>
                <a:ext uri="{FF2B5EF4-FFF2-40B4-BE49-F238E27FC236}">
                  <a16:creationId xmlns:a16="http://schemas.microsoft.com/office/drawing/2014/main" id="{6DBFD3E3-0C4E-4AD0-8362-200C740659F1}"/>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3311353"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8" name="Graphic 57">
              <a:extLst>
                <a:ext uri="{FF2B5EF4-FFF2-40B4-BE49-F238E27FC236}">
                  <a16:creationId xmlns:a16="http://schemas.microsoft.com/office/drawing/2014/main" id="{F0BE1516-5EB6-49CE-AE5F-FCB53BEC0174}"/>
                </a:ext>
              </a:extLst>
            </p:cNvPr>
            <p:cNvPicPr>
              <a:picLocks noChangeAspect="1"/>
            </p:cNvPicPr>
            <p:nvPr userDrawn="1"/>
          </p:nvPicPr>
          <p:blipFill>
            <a:blip>
              <a:extLst>
                <a:ext uri="{96DAC541-7B7A-43D3-8B79-37D633B846F1}">
                  <asvg:svgBlip xmlns:asvg="http://schemas.microsoft.com/office/drawing/2016/SVG/main" r:embed="rId10"/>
                </a:ext>
              </a:extLst>
            </a:blip>
            <a:srcRect b="92389"/>
            <a:stretch>
              <a:fillRect/>
            </a:stretch>
          </p:blipFill>
          <p:spPr>
            <a:xfrm>
              <a:off x="6605762" y="1498014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9" name="Graphic 58">
              <a:extLst>
                <a:ext uri="{FF2B5EF4-FFF2-40B4-BE49-F238E27FC236}">
                  <a16:creationId xmlns:a16="http://schemas.microsoft.com/office/drawing/2014/main" id="{907C4F19-E1B8-4F28-89A9-11EEBA277E53}"/>
                </a:ext>
              </a:extLst>
            </p:cNvPr>
            <p:cNvPicPr>
              <a:picLocks noChangeAspect="1"/>
            </p:cNvPicPr>
            <p:nvPr userDrawn="1"/>
          </p:nvPicPr>
          <p:blipFill>
            <a:blip>
              <a:extLst>
                <a:ext uri="{96DAC541-7B7A-43D3-8B79-37D633B846F1}">
                  <asvg:svgBlip xmlns:asvg="http://schemas.microsoft.com/office/drawing/2016/SVG/main" r:embed="rId10"/>
                </a:ext>
              </a:extLst>
            </a:blip>
            <a:srcRect r="31829" b="92389"/>
            <a:stretch>
              <a:fillRect/>
            </a:stretch>
          </p:blipFill>
          <p:spPr>
            <a:xfrm>
              <a:off x="9917115" y="1498014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60" name="Rectangle 1">
              <a:extLst>
                <a:ext uri="{FF2B5EF4-FFF2-40B4-BE49-F238E27FC236}">
                  <a16:creationId xmlns:a16="http://schemas.microsoft.com/office/drawing/2014/main" id="{A2A7EC7E-B8B2-48A9-93A4-7970F7C25785}"/>
                </a:ext>
              </a:extLst>
            </p:cNvPr>
            <p:cNvGrpSpPr/>
            <p:nvPr userDrawn="1"/>
          </p:nvGrpSpPr>
          <p:grpSpPr>
            <a:xfrm>
              <a:off x="0" y="8376119"/>
              <a:ext cx="6648374" cy="3337021"/>
              <a:chOff x="0" y="0"/>
              <a:chExt cx="6648374" cy="3337021"/>
            </a:xfrm>
          </p:grpSpPr>
          <p:pic>
            <p:nvPicPr>
              <p:cNvPr id="61" name="Graphic 60">
                <a:extLst>
                  <a:ext uri="{FF2B5EF4-FFF2-40B4-BE49-F238E27FC236}">
                    <a16:creationId xmlns:a16="http://schemas.microsoft.com/office/drawing/2014/main" id="{8B57CEC4-C30D-441D-B82D-9234340D8C4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AF16816F-7163-4101-BD16-93CE6C9331D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3311353" y="0"/>
                <a:ext cx="3337021" cy="3337021"/>
              </a:xfrm>
              <a:prstGeom prst="rect">
                <a:avLst/>
              </a:prstGeom>
            </p:spPr>
          </p:pic>
        </p:grpSp>
        <p:pic>
          <p:nvPicPr>
            <p:cNvPr id="63" name="Graphic 62">
              <a:extLst>
                <a:ext uri="{FF2B5EF4-FFF2-40B4-BE49-F238E27FC236}">
                  <a16:creationId xmlns:a16="http://schemas.microsoft.com/office/drawing/2014/main" id="{762D2C4C-8A4E-4D86-9AD3-CBEFE20A57FB}"/>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6605762" y="8376119"/>
              <a:ext cx="3337021" cy="3337021"/>
            </a:xfrm>
            <a:prstGeom prst="rect">
              <a:avLst/>
            </a:prstGeom>
          </p:spPr>
        </p:pic>
        <p:pic>
          <p:nvPicPr>
            <p:cNvPr id="64" name="Graphic 63">
              <a:extLst>
                <a:ext uri="{FF2B5EF4-FFF2-40B4-BE49-F238E27FC236}">
                  <a16:creationId xmlns:a16="http://schemas.microsoft.com/office/drawing/2014/main" id="{881C5693-D00A-4724-8F31-B2CD98BC7D48}"/>
                </a:ext>
              </a:extLst>
            </p:cNvPr>
            <p:cNvPicPr>
              <a:picLocks noChangeAspect="1"/>
            </p:cNvPicPr>
            <p:nvPr userDrawn="1"/>
          </p:nvPicPr>
          <p:blipFill>
            <a:blip>
              <a:extLst>
                <a:ext uri="{96DAC541-7B7A-43D3-8B79-37D633B846F1}">
                  <asvg:svgBlip xmlns:asvg="http://schemas.microsoft.com/office/drawing/2016/SVG/main" r:embed="rId10"/>
                </a:ext>
              </a:extLst>
            </a:blip>
            <a:srcRect r="31829"/>
            <a:stretch>
              <a:fillRect/>
            </a:stretch>
          </p:blipFill>
          <p:spPr>
            <a:xfrm>
              <a:off x="9917115" y="837611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sp>
          <p:nvSpPr>
            <p:cNvPr id="65" name="Background">
              <a:extLst>
                <a:ext uri="{FF2B5EF4-FFF2-40B4-BE49-F238E27FC236}">
                  <a16:creationId xmlns:a16="http://schemas.microsoft.com/office/drawing/2014/main" id="{A352F5A7-04C8-478F-B363-7A29EFBAF466}"/>
                </a:ext>
              </a:extLst>
            </p:cNvPr>
            <p:cNvSpPr/>
            <p:nvPr userDrawn="1"/>
          </p:nvSpPr>
          <p:spPr bwMode="ltGray">
            <a:xfrm rot="10800000">
              <a:off x="-2115" y="8376119"/>
              <a:ext cx="12189884" cy="6650767"/>
            </a:xfrm>
            <a:prstGeom prst="rect">
              <a:avLst/>
            </a:prstGeom>
            <a:gradFill>
              <a:gsLst>
                <a:gs pos="77000">
                  <a:srgbClr val="0D1514">
                    <a:alpha val="0"/>
                  </a:srgbClr>
                </a:gs>
                <a:gs pos="0">
                  <a:srgbClr val="0D1514"/>
                </a:gs>
              </a:gsLst>
              <a:lin ang="192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sp>
          <p:nvSpPr>
            <p:cNvPr id="66" name="Background">
              <a:extLst>
                <a:ext uri="{FF2B5EF4-FFF2-40B4-BE49-F238E27FC236}">
                  <a16:creationId xmlns:a16="http://schemas.microsoft.com/office/drawing/2014/main" id="{B59FE6DA-33AA-41AD-91AB-0B245F5AD233}"/>
                </a:ext>
              </a:extLst>
            </p:cNvPr>
            <p:cNvSpPr/>
            <p:nvPr userDrawn="1"/>
          </p:nvSpPr>
          <p:spPr bwMode="ltGray">
            <a:xfrm>
              <a:off x="0" y="8583352"/>
              <a:ext cx="12189884" cy="6650767"/>
            </a:xfrm>
            <a:prstGeom prst="rect">
              <a:avLst/>
            </a:prstGeom>
            <a:gradFill>
              <a:gsLst>
                <a:gs pos="8000">
                  <a:schemeClr val="accent4">
                    <a:alpha val="28000"/>
                  </a:schemeClr>
                </a:gs>
                <a:gs pos="31000">
                  <a:schemeClr val="tx2">
                    <a:alpha val="0"/>
                  </a:schemeClr>
                </a:gs>
                <a:gs pos="0">
                  <a:schemeClr val="accent4">
                    <a:alpha val="58000"/>
                  </a:schemeClr>
                </a:gs>
              </a:gsLst>
              <a:lin ang="16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7" name="2. Slide Title">
            <a:extLst>
              <a:ext uri="{FF2B5EF4-FFF2-40B4-BE49-F238E27FC236}">
                <a16:creationId xmlns:a16="http://schemas.microsoft.com/office/drawing/2014/main" id="{99495DFD-8D6A-4DD8-AE3A-47FA42AA0A4F}"/>
              </a:ext>
            </a:extLst>
          </p:cNvPr>
          <p:cNvSpPr>
            <a:spLocks noGrp="1"/>
          </p:cNvSpPr>
          <p:nvPr userDrawn="1">
            <p:ph type="title" hasCustomPrompt="1"/>
            <p:custDataLst>
              <p:tags r:id="rId3"/>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wrap="square" lIns="0" tIns="0" rIns="648000" bIns="0" rtlCol="0" anchor="b" anchorCtr="0">
            <a:sp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chemeClr val="bg1"/>
                </a:solidFill>
                <a:latin typeface="Georgia" panose="02040502050405020303" pitchFamily="18" charset="0"/>
                <a:ea typeface="Tahoma" panose="020B0604030504040204" pitchFamily="34" charset="0"/>
                <a:cs typeface="Tahoma" panose="020B0604030504040204" pitchFamily="34" charset="0"/>
              </a:defRPr>
            </a:lvl1pPr>
          </a:lstStyle>
          <a:p>
            <a:pPr lvl="0"/>
            <a:r>
              <a:rPr lang="en-US"/>
              <a:t>Click to edit </a:t>
            </a:r>
            <a:br>
              <a:rPr lang="en-US"/>
            </a:br>
            <a:r>
              <a:rPr lang="en-US"/>
              <a:t>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userDrawn="1">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solidFill>
                  <a:schemeClr val="bg1"/>
                </a:solidFill>
              </a:rPr>
              <a:t>Source: …</a:t>
            </a:r>
          </a:p>
        </p:txBody>
      </p:sp>
      <p:sp>
        <p:nvSpPr>
          <p:cNvPr id="25" name="4. Footnote" hidden="1">
            <a:extLst>
              <a:ext uri="{FF2B5EF4-FFF2-40B4-BE49-F238E27FC236}">
                <a16:creationId xmlns:a16="http://schemas.microsoft.com/office/drawing/2014/main" id="{B1C8A38F-E18D-4209-BB91-D82556C25DD0}"/>
              </a:ext>
            </a:extLst>
          </p:cNvPr>
          <p:cNvSpPr txBox="1">
            <a:spLocks/>
          </p:cNvSpPr>
          <p:nvPr userDrawn="1">
            <p:custDataLst>
              <p:tags r:id="rId6"/>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solidFill>
                  <a:schemeClr val="bg1"/>
                </a:solidFill>
              </a:rPr>
              <a:t>Footnotes</a:t>
            </a:r>
          </a:p>
        </p:txBody>
      </p:sp>
      <p:sp>
        <p:nvSpPr>
          <p:cNvPr id="4" name="TextBox 3">
            <a:extLst>
              <a:ext uri="{FF2B5EF4-FFF2-40B4-BE49-F238E27FC236}">
                <a16:creationId xmlns:a16="http://schemas.microsoft.com/office/drawing/2014/main" id="{5F23056B-DBE0-D752-3AC0-D7AAA3AF1AC4}"/>
              </a:ext>
            </a:extLst>
          </p:cNvPr>
          <p:cNvSpPr txBox="1"/>
          <p:nvPr userDrawn="1"/>
        </p:nvSpPr>
        <p:spPr>
          <a:xfrm>
            <a:off x="8545514" y="6435725"/>
            <a:ext cx="208756" cy="152400"/>
          </a:xfrm>
          <a:prstGeom prst="rect">
            <a:avLst/>
          </a:prstGeom>
          <a:ln w="6350">
            <a:noFill/>
            <a:miter lim="800000"/>
          </a:ln>
        </p:spPr>
        <p:txBody>
          <a:bodyPr vert="horz" wrap="none" lIns="0" tIns="0" rIns="0" bIns="0" rtlCol="0">
            <a:noAutofit/>
          </a:bodyPr>
          <a:lstStyle/>
          <a:p>
            <a:pPr algn="l" rtl="0">
              <a:spcBef>
                <a:spcPts val="300"/>
              </a:spcBef>
              <a:spcAft>
                <a:spcPts val="300"/>
              </a:spcAft>
              <a:buNone/>
            </a:pPr>
            <a:fld id="{5965CEB5-1DD1-49A1-A595-403D2BB5701F}" type="slidenum">
              <a:rPr lang="en-US" sz="1000" b="0" i="0" baseline="0" smtClean="0"/>
              <a:pPr algn="l" rtl="0">
                <a:spcBef>
                  <a:spcPts val="300"/>
                </a:spcBef>
                <a:spcAft>
                  <a:spcPts val="300"/>
                </a:spcAft>
                <a:buNone/>
              </a:pPr>
              <a:t>‹#›</a:t>
            </a:fld>
            <a:endParaRPr lang="en-US" sz="1000" b="0" i="0" baseline="0"/>
          </a:p>
        </p:txBody>
      </p:sp>
    </p:spTree>
    <p:extLst>
      <p:ext uri="{BB962C8B-B14F-4D97-AF65-F5344CB8AC3E}">
        <p14:creationId xmlns:p14="http://schemas.microsoft.com/office/powerpoint/2010/main" val="4011873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1"/>
            </p:custDataLst>
            <p:extLst>
              <p:ext uri="{D42A27DB-BD31-4B8C-83A1-F6EECF244321}">
                <p14:modId xmlns:p14="http://schemas.microsoft.com/office/powerpoint/2010/main" val="3844467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3" name="Object 6" hidden="1">
                        <a:extLst>
                          <a:ext uri="{FF2B5EF4-FFF2-40B4-BE49-F238E27FC236}">
                            <a16:creationId xmlns:a16="http://schemas.microsoft.com/office/drawing/2014/main" id="{EC6EE29E-F64A-419F-BFB0-EEDEB71953F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3600" b="1" i="0" baseline="0">
              <a:solidFill>
                <a:schemeClr val="bg1"/>
              </a:solidFill>
              <a:latin typeface="Georgia" panose="02040502050405020303" pitchFamily="18" charset="0"/>
              <a:ea typeface="Tahoma" panose="020B0604030504040204" pitchFamily="34" charset="0"/>
              <a:cs typeface="Tahoma" panose="020B0604030504040204" pitchFamily="34" charset="0"/>
              <a:sym typeface="Georgia" panose="02040502050405020303" pitchFamily="18" charset="0"/>
            </a:endParaRPr>
          </a:p>
        </p:txBody>
      </p:sp>
      <p:grpSp>
        <p:nvGrpSpPr>
          <p:cNvPr id="21" name="Group 20">
            <a:extLst>
              <a:ext uri="{FF2B5EF4-FFF2-40B4-BE49-F238E27FC236}">
                <a16:creationId xmlns:a16="http://schemas.microsoft.com/office/drawing/2014/main" id="{F60F539A-BC4E-41ED-B165-07BB7C76FD2A}"/>
              </a:ext>
            </a:extLst>
          </p:cNvPr>
          <p:cNvGrpSpPr/>
          <p:nvPr userDrawn="1"/>
        </p:nvGrpSpPr>
        <p:grpSpPr>
          <a:xfrm>
            <a:off x="0" y="-1"/>
            <a:ext cx="4544291" cy="6858001"/>
            <a:chOff x="0" y="-1"/>
            <a:chExt cx="4544291" cy="6858001"/>
          </a:xfrm>
        </p:grpSpPr>
        <p:grpSp>
          <p:nvGrpSpPr>
            <p:cNvPr id="22" name="Group 21">
              <a:extLst>
                <a:ext uri="{FF2B5EF4-FFF2-40B4-BE49-F238E27FC236}">
                  <a16:creationId xmlns:a16="http://schemas.microsoft.com/office/drawing/2014/main" id="{E05B1C71-372E-4CC9-A7BE-C99679981502}"/>
                </a:ext>
              </a:extLst>
            </p:cNvPr>
            <p:cNvGrpSpPr/>
            <p:nvPr userDrawn="1"/>
          </p:nvGrpSpPr>
          <p:grpSpPr>
            <a:xfrm>
              <a:off x="0" y="0"/>
              <a:ext cx="3337021" cy="6858000"/>
              <a:chOff x="0" y="0"/>
              <a:chExt cx="3337021" cy="6858000"/>
            </a:xfrm>
          </p:grpSpPr>
          <p:pic>
            <p:nvPicPr>
              <p:cNvPr id="24" name="Graphic 23">
                <a:extLst>
                  <a:ext uri="{FF2B5EF4-FFF2-40B4-BE49-F238E27FC236}">
                    <a16:creationId xmlns:a16="http://schemas.microsoft.com/office/drawing/2014/main" id="{E5F8B074-1072-48FC-974F-E70879C6D2F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3305867"/>
                <a:ext cx="3337021" cy="3337021"/>
              </a:xfrm>
              <a:prstGeom prst="rect">
                <a:avLst/>
              </a:prstGeom>
            </p:spPr>
          </p:pic>
          <p:pic>
            <p:nvPicPr>
              <p:cNvPr id="25" name="Graphic 24">
                <a:extLst>
                  <a:ext uri="{FF2B5EF4-FFF2-40B4-BE49-F238E27FC236}">
                    <a16:creationId xmlns:a16="http://schemas.microsoft.com/office/drawing/2014/main" id="{4D195B11-AB6C-4D1A-A364-CC5CEE26D667}"/>
                  </a:ext>
                </a:extLst>
              </p:cNvPr>
              <p:cNvPicPr>
                <a:picLocks noChangeAspect="1"/>
              </p:cNvPicPr>
              <p:nvPr userDrawn="1"/>
            </p:nvPicPr>
            <p:blipFill>
              <a:blip>
                <a:extLst>
                  <a:ext uri="{96DAC541-7B7A-43D3-8B79-37D633B846F1}">
                    <asvg:svgBlip xmlns:asvg="http://schemas.microsoft.com/office/drawing/2016/SVG/main" r:embed="rId12"/>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6" name="Graphic 25">
                <a:extLst>
                  <a:ext uri="{FF2B5EF4-FFF2-40B4-BE49-F238E27FC236}">
                    <a16:creationId xmlns:a16="http://schemas.microsoft.com/office/drawing/2014/main" id="{E60F1F0A-C640-429C-8573-545387747246}"/>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3337021" cy="3337021"/>
              </a:xfrm>
              <a:prstGeom prst="rect">
                <a:avLst/>
              </a:prstGeom>
            </p:spPr>
          </p:pic>
        </p:grpSp>
        <p:sp>
          <p:nvSpPr>
            <p:cNvPr id="23" name="Rectangle 22">
              <a:extLst>
                <a:ext uri="{FF2B5EF4-FFF2-40B4-BE49-F238E27FC236}">
                  <a16:creationId xmlns:a16="http://schemas.microsoft.com/office/drawing/2014/main" id="{8EC3B9AE-9069-4C4B-9F60-384885192A38}"/>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Century Gothic" panose="020B0502020202020204" pitchFamily="34" charset="0"/>
              </a:endParaRPr>
            </a:p>
          </p:txBody>
        </p:sp>
      </p:gr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25451"/>
            <a:ext cx="10131552" cy="553998"/>
          </a:xfrm>
          <a:prstGeom prst="rect">
            <a:avLst/>
          </a:prstGeom>
        </p:spPr>
        <p:txBody>
          <a:bodyPr vert="horz" wrap="square" lIns="0" tIns="0" rIns="0" bIns="0" rtlCol="0" anchor="b" anchorCtr="0">
            <a:spAutoFit/>
          </a:bodyPr>
          <a:lstStyle>
            <a:lvl1pPr algn="l" defTabSz="914400" rtl="0" eaLnBrk="1" latinLnBrk="0" hangingPunct="1">
              <a:lnSpc>
                <a:spcPct val="100000"/>
              </a:lnSpc>
              <a:spcBef>
                <a:spcPct val="0"/>
              </a:spcBef>
              <a:buNone/>
              <a:defRPr lang="ru-RU" sz="3600" b="1" kern="1200" spc="0" baseline="0" dirty="0">
                <a:ln w="6350" cap="flat">
                  <a:noFill/>
                  <a:miter lim="800000"/>
                </a:ln>
                <a:solidFill>
                  <a:srgbClr val="191C1E"/>
                </a:solidFill>
                <a:latin typeface="Georgia" panose="02040502050405020303" pitchFamily="18" charset="0"/>
                <a:ea typeface="Tahoma" panose="020B0604030504040204" pitchFamily="34" charset="0"/>
                <a:cs typeface="Tahoma" panose="020B0604030504040204" pitchFamily="34" charset="0"/>
              </a:defRPr>
            </a:lvl1pPr>
          </a:lstStyle>
          <a:p>
            <a:pPr lvl="0" algn="l" defTabSz="914400" rtl="0" eaLnBrk="1" latinLnBrk="0" hangingPunct="1">
              <a:lnSpc>
                <a:spcPct val="100000"/>
              </a:lnSpc>
              <a:spcBef>
                <a:spcPct val="0"/>
              </a:spcBef>
              <a:buNone/>
            </a:pPr>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130249"/>
            <a:ext cx="10131552" cy="246221"/>
          </a:xfrm>
          <a:prstGeom prst="rect">
            <a:avLst/>
          </a:prstGeom>
        </p:spPr>
        <p:txBody>
          <a:bodyPr vert="horz" wrap="square" lIns="0" tIns="0" rIns="0" bIns="0" rtlCol="0">
            <a:noAutofit/>
          </a:bodyPr>
          <a:lstStyle>
            <a:lvl1pPr rtl="0">
              <a:defRPr lang="ru-RU" sz="1600" b="0" dirty="0">
                <a:solidFill>
                  <a:srgbClr val="191C1E"/>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solidFill>
                  <a:srgbClr val="191C1E"/>
                </a:solidFill>
                <a:latin typeface="Tahoma" panose="020B0604030504040204" pitchFamily="34" charset="0"/>
                <a:ea typeface="Tahoma" panose="020B0604030504040204" pitchFamily="34" charset="0"/>
                <a:cs typeface="Tahoma" panose="020B0604030504040204" pitchFamily="34" charset="0"/>
              </a:rPr>
              <a:pPr lvl="0" algn="r" defTabSz="610744" rtl="0" fontAlgn="auto">
                <a:spcBef>
                  <a:spcPts val="0"/>
                </a:spcBef>
                <a:spcAft>
                  <a:spcPts val="0"/>
                </a:spcAft>
              </a:pPr>
              <a:t>‹#›</a:t>
            </a:fld>
            <a:endParaRPr lang="en-US" sz="800" b="0">
              <a:solidFill>
                <a:srgbClr val="191C1E"/>
              </a:solidFill>
              <a:latin typeface="Tahoma" panose="020B0604030504040204" pitchFamily="34" charset="0"/>
              <a:ea typeface="Tahoma" panose="020B0604030504040204" pitchFamily="34" charset="0"/>
              <a:cs typeface="Tahoma" panose="020B0604030504040204" pitchFamily="34" charset="0"/>
            </a:endParaRP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6"/>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lvl="0">
              <a:buNone/>
            </a:pPr>
            <a:r>
              <a:rPr lang="en-US"/>
              <a:t>Add tracker</a:t>
            </a:r>
          </a:p>
        </p:txBody>
      </p:sp>
      <p:sp>
        <p:nvSpPr>
          <p:cNvPr id="13" name="4. Footnote" hidden="1">
            <a:extLst>
              <a:ext uri="{FF2B5EF4-FFF2-40B4-BE49-F238E27FC236}">
                <a16:creationId xmlns:a16="http://schemas.microsoft.com/office/drawing/2014/main" id="{AA02EE99-53A8-4C7C-8962-0D63EC734C69}"/>
              </a:ext>
            </a:extLst>
          </p:cNvPr>
          <p:cNvSpPr txBox="1">
            <a:spLocks/>
          </p:cNvSpPr>
          <p:nvPr userDrawn="1">
            <p:custDataLst>
              <p:tags r:id="rId7"/>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4" name="5. Source" hidden="1">
            <a:extLst>
              <a:ext uri="{FF2B5EF4-FFF2-40B4-BE49-F238E27FC236}">
                <a16:creationId xmlns:a16="http://schemas.microsoft.com/office/drawing/2014/main" id="{815E207E-5E76-49DE-8198-0BF5F72E95D4}"/>
              </a:ext>
            </a:extLst>
          </p:cNvPr>
          <p:cNvSpPr txBox="1">
            <a:spLocks/>
          </p:cNvSpPr>
          <p:nvPr userDrawn="1">
            <p:custDataLst>
              <p:tags r:id="rId8"/>
            </p:custDataLst>
          </p:nvPr>
        </p:nvSpPr>
        <p:spPr>
          <a:xfrm>
            <a:off x="554736"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err="1"/>
              <a:t>Источник</a:t>
            </a:r>
            <a:r>
              <a:rPr lang="en-US" sz="800"/>
              <a:t>: …</a:t>
            </a:r>
          </a:p>
        </p:txBody>
      </p:sp>
    </p:spTree>
    <p:extLst>
      <p:ext uri="{BB962C8B-B14F-4D97-AF65-F5344CB8AC3E}">
        <p14:creationId xmlns:p14="http://schemas.microsoft.com/office/powerpoint/2010/main" val="289230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86576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2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1" name="Group 10">
            <a:extLst>
              <a:ext uri="{FF2B5EF4-FFF2-40B4-BE49-F238E27FC236}">
                <a16:creationId xmlns:a16="http://schemas.microsoft.com/office/drawing/2014/main" id="{B7385429-219C-4D13-B18E-6E819E960DE4}"/>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BE0D1115-28CB-4F26-8A3F-D87F0295C698}"/>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353078DF-55C7-45AB-9FA8-C0B2564A2E59}"/>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EBD2B1E4-5FBB-40D4-BD3A-048F6192B390}"/>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076C6520-DADB-4D33-9B8F-41CE6ABE4BDF}"/>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75397C38-99B9-4557-B2A5-EC4D3F9E331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5"/>
            </p:custDataLst>
          </p:nvPr>
        </p:nvSpPr>
        <p:spPr>
          <a:xfrm>
            <a:off x="554736" y="2836702"/>
            <a:ext cx="2514600" cy="677108"/>
          </a:xfrm>
        </p:spPr>
        <p:txBody>
          <a:bodyPr vert="horz" wrap="square" lIns="0" tIns="0" rIns="0" bIns="0" rtlCol="0" anchor="b" anchorCtr="0">
            <a:noAutofit/>
          </a:bodyPr>
          <a:lstStyle>
            <a:lvl1pPr rtl="0">
              <a:defRPr lang="ru-RU" sz="2200" dirty="0"/>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6"/>
            </p:custDataLst>
          </p:nvPr>
        </p:nvSpPr>
        <p:spPr>
          <a:xfrm>
            <a:off x="554736" y="3564610"/>
            <a:ext cx="2514600" cy="492443"/>
          </a:xfrm>
          <a:prstGeom prst="rect">
            <a:avLst/>
          </a:prstGeom>
        </p:spPr>
        <p:txBody>
          <a:bodyPr vert="horz" wrap="square" lIns="0" tIns="0" rIns="0" bIns="0" rtlCol="0">
            <a:no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7"/>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2" name="4. Footnote" hidden="1">
            <a:extLst>
              <a:ext uri="{FF2B5EF4-FFF2-40B4-BE49-F238E27FC236}">
                <a16:creationId xmlns:a16="http://schemas.microsoft.com/office/drawing/2014/main" id="{E91B258C-2CE3-47AD-91B7-5D22A691D520}"/>
              </a:ext>
            </a:extLst>
          </p:cNvPr>
          <p:cNvSpPr txBox="1">
            <a:spLocks/>
          </p:cNvSpPr>
          <p:nvPr userDrawn="1">
            <p:custDataLst>
              <p:tags r:id="rId8"/>
            </p:custDataLst>
          </p:nvPr>
        </p:nvSpPr>
        <p:spPr>
          <a:xfrm>
            <a:off x="554736" y="6330793"/>
            <a:ext cx="2514600"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3" name="5. Source" hidden="1">
            <a:extLst>
              <a:ext uri="{FF2B5EF4-FFF2-40B4-BE49-F238E27FC236}">
                <a16:creationId xmlns:a16="http://schemas.microsoft.com/office/drawing/2014/main" id="{9E0E9C24-A775-45BA-A2B2-E9A468FB0E1D}"/>
              </a:ext>
            </a:extLst>
          </p:cNvPr>
          <p:cNvSpPr txBox="1">
            <a:spLocks/>
          </p:cNvSpPr>
          <p:nvPr userDrawn="1">
            <p:custDataLst>
              <p:tags r:id="rId9"/>
            </p:custDataLst>
          </p:nvPr>
        </p:nvSpPr>
        <p:spPr>
          <a:xfrm>
            <a:off x="554736" y="6514142"/>
            <a:ext cx="2514600"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3454938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31629909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29D2CA90-0144-4292-9526-98A508F5317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2CED74A0-59B0-4A64-8367-F678F9212088}"/>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72DC4787-100B-4D10-AFDD-81C509730CDE}"/>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83A31D9D-3D16-459C-A978-4E188F572AD7}"/>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4436E28E-192C-4128-8C07-8E2244890C23}"/>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958ADED3-1240-4CAC-85D6-6E46237FD2B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82A39CEA-7672-470D-90B7-74EF0D8C9630}"/>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5"/>
            </p:custDataLst>
          </p:nvPr>
        </p:nvSpPr>
        <p:spPr>
          <a:xfrm>
            <a:off x="554736" y="2775146"/>
            <a:ext cx="3465576" cy="738664"/>
          </a:xfrm>
          <a:prstGeom prst="rect">
            <a:avLst/>
          </a:prstGeom>
        </p:spPr>
        <p:txBody>
          <a:bodyPr vert="horz" wrap="square" lIns="0" tIns="0" rIns="0" bIns="0" rtlCol="0" anchor="b" anchorCtr="0">
            <a:spAutoFit/>
          </a:bodyPr>
          <a:lstStyle>
            <a:lvl1pPr rtl="0">
              <a:defRPr lang="ru-RU" dirty="0"/>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6"/>
            </p:custDataLst>
          </p:nvPr>
        </p:nvSpPr>
        <p:spPr>
          <a:xfrm>
            <a:off x="554735" y="3564610"/>
            <a:ext cx="3465575" cy="246221"/>
          </a:xfrm>
          <a:prstGeom prst="rect">
            <a:avLst/>
          </a:prstGeom>
        </p:spPr>
        <p:txBody>
          <a:bodyPr vert="horz" wrap="square" lIns="0" tIns="0" rIns="0" bIns="0" rtlCol="0">
            <a:no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7"/>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1FBE24E8-31AF-4C3E-A5B5-E9DFC553F274}"/>
              </a:ext>
            </a:extLst>
          </p:cNvPr>
          <p:cNvSpPr txBox="1">
            <a:spLocks/>
          </p:cNvSpPr>
          <p:nvPr userDrawn="1">
            <p:custDataLst>
              <p:tags r:id="rId8"/>
            </p:custDataLst>
          </p:nvPr>
        </p:nvSpPr>
        <p:spPr>
          <a:xfrm>
            <a:off x="554737" y="6330793"/>
            <a:ext cx="3465575"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3791DA78-DD6B-4CB7-9030-81E41768DCBD}"/>
              </a:ext>
            </a:extLst>
          </p:cNvPr>
          <p:cNvSpPr txBox="1">
            <a:spLocks/>
          </p:cNvSpPr>
          <p:nvPr userDrawn="1">
            <p:custDataLst>
              <p:tags r:id="rId9"/>
            </p:custDataLst>
          </p:nvPr>
        </p:nvSpPr>
        <p:spPr>
          <a:xfrm>
            <a:off x="554736" y="6514142"/>
            <a:ext cx="3465575"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3525484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01355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1725BD87-3C3D-45F6-BBCF-F06FD867659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B748AAEC-DB11-4FDE-8B23-9F9DBCC6C2B3}"/>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A27F1B22-A681-4273-AE0B-1C49DDE84D4C}"/>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6CC197B9-DD53-418B-A4DC-BA8FCD0160EB}"/>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7" name="Graphic 16">
                <a:extLst>
                  <a:ext uri="{FF2B5EF4-FFF2-40B4-BE49-F238E27FC236}">
                    <a16:creationId xmlns:a16="http://schemas.microsoft.com/office/drawing/2014/main" id="{1DE6CBB0-24E3-4A8B-9658-6B30F0E706F6}"/>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9D972D20-461D-45BA-A52C-06399F8A5A47}"/>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99CF8767-9735-473B-B437-BB5E2C87581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hasCustomPrompt="1"/>
            <p:custDataLst>
              <p:tags r:id="rId5"/>
            </p:custDataLst>
          </p:nvPr>
        </p:nvSpPr>
        <p:spPr>
          <a:xfrm>
            <a:off x="554736" y="226624"/>
            <a:ext cx="5065776"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58596"/>
            <a:ext cx="5065776"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597DC5CB-D54D-4340-AB36-B256B0AC9176}"/>
              </a:ext>
            </a:extLst>
          </p:cNvPr>
          <p:cNvSpPr txBox="1">
            <a:spLocks/>
          </p:cNvSpPr>
          <p:nvPr userDrawn="1">
            <p:custDataLst>
              <p:tags r:id="rId8"/>
            </p:custDataLst>
          </p:nvPr>
        </p:nvSpPr>
        <p:spPr>
          <a:xfrm>
            <a:off x="554736" y="6330793"/>
            <a:ext cx="5065776"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A87378B9-4AD0-4D5D-A5DA-1170C3F12797}"/>
              </a:ext>
            </a:extLst>
          </p:cNvPr>
          <p:cNvSpPr txBox="1">
            <a:spLocks/>
          </p:cNvSpPr>
          <p:nvPr userDrawn="1">
            <p:custDataLst>
              <p:tags r:id="rId9"/>
            </p:custDataLst>
          </p:nvPr>
        </p:nvSpPr>
        <p:spPr>
          <a:xfrm>
            <a:off x="554736" y="6514142"/>
            <a:ext cx="5065776"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2351535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3341908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6"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2D668F04-7049-40BA-8D63-D8BBB692131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668BC3A1-8E69-4011-AD76-54DE1B7346E6}"/>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470A8405-C924-41D3-8FD1-29DC2F8BF589}"/>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4DA33A9A-0F33-4B38-92FE-4D649E49BEE3}"/>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8" name="Graphic 17">
                <a:extLst>
                  <a:ext uri="{FF2B5EF4-FFF2-40B4-BE49-F238E27FC236}">
                    <a16:creationId xmlns:a16="http://schemas.microsoft.com/office/drawing/2014/main" id="{C3EE0E3B-7D0D-4AB3-8E07-7C1C6D41350D}"/>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FEE1EFED-7EA3-4879-8F99-CE87B2ECA19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7153F629-ABF4-4B12-96F8-27E2AA136AD5}"/>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19" name="2. Slide Title">
            <a:extLst>
              <a:ext uri="{FF2B5EF4-FFF2-40B4-BE49-F238E27FC236}">
                <a16:creationId xmlns:a16="http://schemas.microsoft.com/office/drawing/2014/main" id="{0415F114-7B0E-43F2-8881-F0D9FB2A643B}"/>
              </a:ext>
            </a:extLst>
          </p:cNvPr>
          <p:cNvSpPr>
            <a:spLocks noGrp="1"/>
          </p:cNvSpPr>
          <p:nvPr>
            <p:ph type="title" hasCustomPrompt="1"/>
            <p:custDataLst>
              <p:tags r:id="rId3"/>
            </p:custDataLst>
          </p:nvPr>
        </p:nvSpPr>
        <p:spPr>
          <a:xfrm>
            <a:off x="554736" y="226624"/>
            <a:ext cx="6967728"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7830312" y="0"/>
            <a:ext cx="4361688"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rtl="0"/>
            <a:endParaRPr lang="en-US">
              <a:solidFill>
                <a:srgbClr val="F0F0F0"/>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smtClean="0">
                <a:cs typeface="Arial" panose="020B0604020202020204" pitchFamily="34" charset="0"/>
              </a:rPr>
              <a:pPr lvl="0" algn="r" defTabSz="610744" rtl="0" fontAlgn="auto">
                <a:spcBef>
                  <a:spcPts val="0"/>
                </a:spcBef>
                <a:spcAft>
                  <a:spcPts val="0"/>
                </a:spcAft>
              </a:pPr>
              <a:t>‹#›</a:t>
            </a:fld>
            <a:endParaRPr lang="en-US" sz="800" b="0">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6"/>
            </p:custDataLst>
          </p:nvPr>
        </p:nvSpPr>
        <p:spPr>
          <a:xfrm>
            <a:off x="554736" y="958596"/>
            <a:ext cx="6967728"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8759C0DC-CA42-4D58-8D3F-AD4C6CAE3A1B}"/>
              </a:ext>
            </a:extLst>
          </p:cNvPr>
          <p:cNvSpPr txBox="1">
            <a:spLocks/>
          </p:cNvSpPr>
          <p:nvPr userDrawn="1">
            <p:custDataLst>
              <p:tags r:id="rId8"/>
            </p:custDataLst>
          </p:nvPr>
        </p:nvSpPr>
        <p:spPr>
          <a:xfrm>
            <a:off x="554736" y="6330793"/>
            <a:ext cx="6967728"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3AC3100F-5CEB-4A91-9B1F-8F2834961E6C}"/>
              </a:ext>
            </a:extLst>
          </p:cNvPr>
          <p:cNvSpPr txBox="1">
            <a:spLocks/>
          </p:cNvSpPr>
          <p:nvPr userDrawn="1">
            <p:custDataLst>
              <p:tags r:id="rId9"/>
            </p:custDataLst>
          </p:nvPr>
        </p:nvSpPr>
        <p:spPr>
          <a:xfrm>
            <a:off x="554736" y="6514142"/>
            <a:ext cx="6967728"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1953901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935929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782B402C-4E9A-4C49-95BC-08C80D9394EC}"/>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EBB4B49C-0BF5-4E59-AAEE-224340421E20}"/>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C379868A-9A32-49DD-B088-849ADB13330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7" name="Graphic 16">
                <a:extLst>
                  <a:ext uri="{FF2B5EF4-FFF2-40B4-BE49-F238E27FC236}">
                    <a16:creationId xmlns:a16="http://schemas.microsoft.com/office/drawing/2014/main" id="{F860B71F-73D2-4140-9B7E-E84C1ED64357}"/>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F12D97A6-D75E-470D-8B68-12AF6900B0E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EB62E48F-039F-4A8A-AA4A-7E4B0A2100D4}"/>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noProof="0" smtClean="0">
                <a:cs typeface="Arial" panose="020B0604020202020204" pitchFamily="34" charset="0"/>
              </a:rPr>
              <a:pPr lvl="0" algn="r" defTabSz="610744" rtl="0" fontAlgn="auto">
                <a:spcBef>
                  <a:spcPts val="0"/>
                </a:spcBef>
                <a:spcAft>
                  <a:spcPts val="0"/>
                </a:spcAft>
              </a:pPr>
              <a:t>‹#›</a:t>
            </a:fld>
            <a:endParaRPr lang="en-US" sz="800" b="0" noProof="0">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hasCustomPrompt="1"/>
            <p:custDataLst>
              <p:tags r:id="rId5"/>
            </p:custDataLst>
          </p:nvPr>
        </p:nvSpPr>
        <p:spPr>
          <a:xfrm>
            <a:off x="554736" y="226624"/>
            <a:ext cx="7918704"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58596"/>
            <a:ext cx="7918704"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44C30949-359D-483D-8AB0-470F0738EC46}"/>
              </a:ext>
            </a:extLst>
          </p:cNvPr>
          <p:cNvSpPr txBox="1">
            <a:spLocks/>
          </p:cNvSpPr>
          <p:nvPr userDrawn="1">
            <p:custDataLst>
              <p:tags r:id="rId8"/>
            </p:custDataLst>
          </p:nvPr>
        </p:nvSpPr>
        <p:spPr>
          <a:xfrm>
            <a:off x="554736" y="6330793"/>
            <a:ext cx="791870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0C638687-9D2C-4819-8EA7-89C77797F3C6}"/>
              </a:ext>
            </a:extLst>
          </p:cNvPr>
          <p:cNvSpPr txBox="1">
            <a:spLocks/>
          </p:cNvSpPr>
          <p:nvPr userDrawn="1">
            <p:custDataLst>
              <p:tags r:id="rId9"/>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1773717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6"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1"/>
            </p:custDataLst>
            <p:extLst>
              <p:ext uri="{D42A27DB-BD31-4B8C-83A1-F6EECF244321}">
                <p14:modId xmlns:p14="http://schemas.microsoft.com/office/powerpoint/2010/main" val="3497665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Object 6" hidden="1">
                        <a:extLst>
                          <a:ext uri="{FF2B5EF4-FFF2-40B4-BE49-F238E27FC236}">
                            <a16:creationId xmlns:a16="http://schemas.microsoft.com/office/drawing/2014/main" id="{A954CCC1-5027-4384-BFF6-B54153C697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21" name="Rectangle 1">
            <a:extLst>
              <a:ext uri="{FF2B5EF4-FFF2-40B4-BE49-F238E27FC236}">
                <a16:creationId xmlns:a16="http://schemas.microsoft.com/office/drawing/2014/main" id="{4C0CE1A6-9A27-4E62-A51D-D2E5F558BE1A}"/>
              </a:ext>
            </a:extLst>
          </p:cNvPr>
          <p:cNvGrpSpPr/>
          <p:nvPr userDrawn="1"/>
        </p:nvGrpSpPr>
        <p:grpSpPr>
          <a:xfrm>
            <a:off x="0" y="0"/>
            <a:ext cx="12192000" cy="6858000"/>
            <a:chOff x="0" y="7964129"/>
            <a:chExt cx="12192000" cy="6858000"/>
          </a:xfrm>
        </p:grpSpPr>
        <p:pic>
          <p:nvPicPr>
            <p:cNvPr id="51" name="Graphic 50">
              <a:extLst>
                <a:ext uri="{FF2B5EF4-FFF2-40B4-BE49-F238E27FC236}">
                  <a16:creationId xmlns:a16="http://schemas.microsoft.com/office/drawing/2014/main" id="{3B83D280-9CA5-45FB-9649-4AB81AB05C3D}"/>
                </a:ext>
              </a:extLst>
            </p:cNvPr>
            <p:cNvPicPr>
              <a:picLocks noChangeAspect="1"/>
            </p:cNvPicPr>
            <p:nvPr userDrawn="1"/>
          </p:nvPicPr>
          <p:blipFill>
            <a:blip>
              <a:extLst>
                <a:ext uri="{96DAC541-7B7A-43D3-8B79-37D633B846F1}">
                  <asvg:svgBlip xmlns:asvg="http://schemas.microsoft.com/office/drawing/2016/SVG/main" r:embed="rId7"/>
                </a:ext>
              </a:extLst>
            </a:blip>
            <a:srcRect r="31829"/>
            <a:stretch>
              <a:fillRect/>
            </a:stretch>
          </p:blipFill>
          <p:spPr>
            <a:xfrm>
              <a:off x="9917115" y="11269996"/>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grpSp>
          <p:nvGrpSpPr>
            <p:cNvPr id="49" name="Group 48">
              <a:extLst>
                <a:ext uri="{FF2B5EF4-FFF2-40B4-BE49-F238E27FC236}">
                  <a16:creationId xmlns:a16="http://schemas.microsoft.com/office/drawing/2014/main" id="{F78947C6-9C7B-4912-92C5-BE469863B9AC}"/>
                </a:ext>
              </a:extLst>
            </p:cNvPr>
            <p:cNvGrpSpPr/>
            <p:nvPr userDrawn="1"/>
          </p:nvGrpSpPr>
          <p:grpSpPr>
            <a:xfrm>
              <a:off x="0" y="11269996"/>
              <a:ext cx="6648374" cy="3337021"/>
              <a:chOff x="0" y="0"/>
              <a:chExt cx="6648374" cy="3337021"/>
            </a:xfrm>
          </p:grpSpPr>
          <p:pic>
            <p:nvPicPr>
              <p:cNvPr id="63" name="Graphic 62">
                <a:extLst>
                  <a:ext uri="{FF2B5EF4-FFF2-40B4-BE49-F238E27FC236}">
                    <a16:creationId xmlns:a16="http://schemas.microsoft.com/office/drawing/2014/main" id="{8ED31E17-35AF-4B55-9F4C-7C6311B62C7D}"/>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0" y="0"/>
                <a:ext cx="3337021" cy="3337021"/>
              </a:xfrm>
              <a:prstGeom prst="rect">
                <a:avLst/>
              </a:prstGeom>
            </p:spPr>
          </p:pic>
          <p:pic>
            <p:nvPicPr>
              <p:cNvPr id="64" name="Graphic 63">
                <a:extLst>
                  <a:ext uri="{FF2B5EF4-FFF2-40B4-BE49-F238E27FC236}">
                    <a16:creationId xmlns:a16="http://schemas.microsoft.com/office/drawing/2014/main" id="{80A4288B-B0B1-4C20-849D-DEFB7A770DD2}"/>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11353" y="0"/>
                <a:ext cx="3337021" cy="3337021"/>
              </a:xfrm>
              <a:prstGeom prst="rect">
                <a:avLst/>
              </a:prstGeom>
            </p:spPr>
          </p:pic>
        </p:grpSp>
        <p:pic>
          <p:nvPicPr>
            <p:cNvPr id="50" name="Graphic 49">
              <a:extLst>
                <a:ext uri="{FF2B5EF4-FFF2-40B4-BE49-F238E27FC236}">
                  <a16:creationId xmlns:a16="http://schemas.microsoft.com/office/drawing/2014/main" id="{7A8F4C7D-3B0D-4777-B8A4-13F6C65B2FD5}"/>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6605762" y="11269996"/>
              <a:ext cx="3337021" cy="3337021"/>
            </a:xfrm>
            <a:prstGeom prst="rect">
              <a:avLst/>
            </a:prstGeom>
          </p:spPr>
        </p:pic>
        <p:pic>
          <p:nvPicPr>
            <p:cNvPr id="52" name="Graphic 51">
              <a:extLst>
                <a:ext uri="{FF2B5EF4-FFF2-40B4-BE49-F238E27FC236}">
                  <a16:creationId xmlns:a16="http://schemas.microsoft.com/office/drawing/2014/main" id="{9A998010-F40B-4CA8-AE54-ED7D2A39771B}"/>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0" y="14568156"/>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53" name="Graphic 52">
              <a:extLst>
                <a:ext uri="{FF2B5EF4-FFF2-40B4-BE49-F238E27FC236}">
                  <a16:creationId xmlns:a16="http://schemas.microsoft.com/office/drawing/2014/main" id="{0DA76578-2678-4F33-88C5-48C38A18A7EA}"/>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3311353" y="1456815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4" name="Graphic 53">
              <a:extLst>
                <a:ext uri="{FF2B5EF4-FFF2-40B4-BE49-F238E27FC236}">
                  <a16:creationId xmlns:a16="http://schemas.microsoft.com/office/drawing/2014/main" id="{9567012B-4F69-43C5-91D6-81AD504F08CD}"/>
                </a:ext>
              </a:extLst>
            </p:cNvPr>
            <p:cNvPicPr>
              <a:picLocks noChangeAspect="1"/>
            </p:cNvPicPr>
            <p:nvPr userDrawn="1"/>
          </p:nvPicPr>
          <p:blipFill>
            <a:blip>
              <a:extLst>
                <a:ext uri="{96DAC541-7B7A-43D3-8B79-37D633B846F1}">
                  <asvg:svgBlip xmlns:asvg="http://schemas.microsoft.com/office/drawing/2016/SVG/main" r:embed="rId8"/>
                </a:ext>
              </a:extLst>
            </a:blip>
            <a:srcRect b="92389"/>
            <a:stretch>
              <a:fillRect/>
            </a:stretch>
          </p:blipFill>
          <p:spPr>
            <a:xfrm>
              <a:off x="6605762" y="14568156"/>
              <a:ext cx="3337021" cy="253972"/>
            </a:xfrm>
            <a:custGeom>
              <a:avLst/>
              <a:gdLst>
                <a:gd name="connsiteX0" fmla="*/ 0 w 3337021"/>
                <a:gd name="connsiteY0" fmla="*/ 0 h 253972"/>
                <a:gd name="connsiteX1" fmla="*/ 3337021 w 3337021"/>
                <a:gd name="connsiteY1" fmla="*/ 0 h 253972"/>
                <a:gd name="connsiteX2" fmla="*/ 3337021 w 3337021"/>
                <a:gd name="connsiteY2" fmla="*/ 253972 h 253972"/>
                <a:gd name="connsiteX3" fmla="*/ 0 w 3337021"/>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3337021" h="253972">
                  <a:moveTo>
                    <a:pt x="0" y="0"/>
                  </a:moveTo>
                  <a:lnTo>
                    <a:pt x="3337021" y="0"/>
                  </a:lnTo>
                  <a:lnTo>
                    <a:pt x="3337021" y="253972"/>
                  </a:lnTo>
                  <a:lnTo>
                    <a:pt x="0" y="253972"/>
                  </a:lnTo>
                  <a:close/>
                </a:path>
              </a:pathLst>
            </a:custGeom>
          </p:spPr>
        </p:pic>
        <p:pic>
          <p:nvPicPr>
            <p:cNvPr id="55" name="Graphic 54">
              <a:extLst>
                <a:ext uri="{FF2B5EF4-FFF2-40B4-BE49-F238E27FC236}">
                  <a16:creationId xmlns:a16="http://schemas.microsoft.com/office/drawing/2014/main" id="{303A7A82-1A6A-449B-B860-9AD729144CF5}"/>
                </a:ext>
              </a:extLst>
            </p:cNvPr>
            <p:cNvPicPr>
              <a:picLocks noChangeAspect="1"/>
            </p:cNvPicPr>
            <p:nvPr userDrawn="1"/>
          </p:nvPicPr>
          <p:blipFill>
            <a:blip>
              <a:extLst>
                <a:ext uri="{96DAC541-7B7A-43D3-8B79-37D633B846F1}">
                  <asvg:svgBlip xmlns:asvg="http://schemas.microsoft.com/office/drawing/2016/SVG/main" r:embed="rId7"/>
                </a:ext>
              </a:extLst>
            </a:blip>
            <a:srcRect r="31829" b="92389"/>
            <a:stretch>
              <a:fillRect/>
            </a:stretch>
          </p:blipFill>
          <p:spPr>
            <a:xfrm>
              <a:off x="9917115" y="14568156"/>
              <a:ext cx="2274885" cy="253972"/>
            </a:xfrm>
            <a:custGeom>
              <a:avLst/>
              <a:gdLst>
                <a:gd name="connsiteX0" fmla="*/ 0 w 2274885"/>
                <a:gd name="connsiteY0" fmla="*/ 0 h 253972"/>
                <a:gd name="connsiteX1" fmla="*/ 2274885 w 2274885"/>
                <a:gd name="connsiteY1" fmla="*/ 0 h 253972"/>
                <a:gd name="connsiteX2" fmla="*/ 2274885 w 2274885"/>
                <a:gd name="connsiteY2" fmla="*/ 253972 h 253972"/>
                <a:gd name="connsiteX3" fmla="*/ 0 w 2274885"/>
                <a:gd name="connsiteY3" fmla="*/ 253972 h 253972"/>
              </a:gdLst>
              <a:ahLst/>
              <a:cxnLst>
                <a:cxn ang="0">
                  <a:pos x="connsiteX0" y="connsiteY0"/>
                </a:cxn>
                <a:cxn ang="0">
                  <a:pos x="connsiteX1" y="connsiteY1"/>
                </a:cxn>
                <a:cxn ang="0">
                  <a:pos x="connsiteX2" y="connsiteY2"/>
                </a:cxn>
                <a:cxn ang="0">
                  <a:pos x="connsiteX3" y="connsiteY3"/>
                </a:cxn>
              </a:cxnLst>
              <a:rect l="l" t="t" r="r" b="b"/>
              <a:pathLst>
                <a:path w="2274885" h="253972">
                  <a:moveTo>
                    <a:pt x="0" y="0"/>
                  </a:moveTo>
                  <a:lnTo>
                    <a:pt x="2274885" y="0"/>
                  </a:lnTo>
                  <a:lnTo>
                    <a:pt x="2274885" y="253972"/>
                  </a:lnTo>
                  <a:lnTo>
                    <a:pt x="0" y="253972"/>
                  </a:lnTo>
                  <a:close/>
                </a:path>
              </a:pathLst>
            </a:custGeom>
          </p:spPr>
        </p:pic>
        <p:grpSp>
          <p:nvGrpSpPr>
            <p:cNvPr id="56" name="Rectangle 1">
              <a:extLst>
                <a:ext uri="{FF2B5EF4-FFF2-40B4-BE49-F238E27FC236}">
                  <a16:creationId xmlns:a16="http://schemas.microsoft.com/office/drawing/2014/main" id="{0111E63D-01DF-4B01-8324-4C758862C6DA}"/>
                </a:ext>
              </a:extLst>
            </p:cNvPr>
            <p:cNvGrpSpPr/>
            <p:nvPr userDrawn="1"/>
          </p:nvGrpSpPr>
          <p:grpSpPr>
            <a:xfrm>
              <a:off x="0" y="7964129"/>
              <a:ext cx="6648374" cy="3337021"/>
              <a:chOff x="0" y="0"/>
              <a:chExt cx="6648374" cy="3337021"/>
            </a:xfrm>
          </p:grpSpPr>
          <p:pic>
            <p:nvPicPr>
              <p:cNvPr id="61" name="Graphic 60">
                <a:extLst>
                  <a:ext uri="{FF2B5EF4-FFF2-40B4-BE49-F238E27FC236}">
                    <a16:creationId xmlns:a16="http://schemas.microsoft.com/office/drawing/2014/main" id="{418FB497-B95F-4B3C-A293-3D0D12BFC61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0" y="0"/>
                <a:ext cx="3337021" cy="3337021"/>
              </a:xfrm>
              <a:prstGeom prst="rect">
                <a:avLst/>
              </a:prstGeom>
            </p:spPr>
          </p:pic>
          <p:pic>
            <p:nvPicPr>
              <p:cNvPr id="62" name="Graphic 61">
                <a:extLst>
                  <a:ext uri="{FF2B5EF4-FFF2-40B4-BE49-F238E27FC236}">
                    <a16:creationId xmlns:a16="http://schemas.microsoft.com/office/drawing/2014/main" id="{703F74E5-A7A3-4EAB-AF61-2538630F6430}"/>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311353" y="0"/>
                <a:ext cx="3337021" cy="3337021"/>
              </a:xfrm>
              <a:prstGeom prst="rect">
                <a:avLst/>
              </a:prstGeom>
            </p:spPr>
          </p:pic>
        </p:grpSp>
        <p:pic>
          <p:nvPicPr>
            <p:cNvPr id="57" name="Graphic 56">
              <a:extLst>
                <a:ext uri="{FF2B5EF4-FFF2-40B4-BE49-F238E27FC236}">
                  <a16:creationId xmlns:a16="http://schemas.microsoft.com/office/drawing/2014/main" id="{8072EC3A-AD32-4D2A-8946-1F5C90EFD168}"/>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6605762" y="7964129"/>
              <a:ext cx="3337021" cy="3337021"/>
            </a:xfrm>
            <a:prstGeom prst="rect">
              <a:avLst/>
            </a:prstGeom>
          </p:spPr>
        </p:pic>
        <p:pic>
          <p:nvPicPr>
            <p:cNvPr id="58" name="Graphic 57">
              <a:extLst>
                <a:ext uri="{FF2B5EF4-FFF2-40B4-BE49-F238E27FC236}">
                  <a16:creationId xmlns:a16="http://schemas.microsoft.com/office/drawing/2014/main" id="{F9294B6B-7F7C-4738-A75D-96A67B441831}"/>
                </a:ext>
              </a:extLst>
            </p:cNvPr>
            <p:cNvPicPr>
              <a:picLocks noChangeAspect="1"/>
            </p:cNvPicPr>
            <p:nvPr userDrawn="1"/>
          </p:nvPicPr>
          <p:blipFill>
            <a:blip>
              <a:extLst>
                <a:ext uri="{96DAC541-7B7A-43D3-8B79-37D633B846F1}">
                  <asvg:svgBlip xmlns:asvg="http://schemas.microsoft.com/office/drawing/2016/SVG/main" r:embed="rId7"/>
                </a:ext>
              </a:extLst>
            </a:blip>
            <a:srcRect r="31829"/>
            <a:stretch>
              <a:fillRect/>
            </a:stretch>
          </p:blipFill>
          <p:spPr>
            <a:xfrm>
              <a:off x="9917115" y="7964129"/>
              <a:ext cx="2274885" cy="3337021"/>
            </a:xfrm>
            <a:custGeom>
              <a:avLst/>
              <a:gdLst>
                <a:gd name="connsiteX0" fmla="*/ 0 w 2274885"/>
                <a:gd name="connsiteY0" fmla="*/ 0 h 3337021"/>
                <a:gd name="connsiteX1" fmla="*/ 2274885 w 2274885"/>
                <a:gd name="connsiteY1" fmla="*/ 0 h 3337021"/>
                <a:gd name="connsiteX2" fmla="*/ 2274885 w 2274885"/>
                <a:gd name="connsiteY2" fmla="*/ 3337021 h 3337021"/>
                <a:gd name="connsiteX3" fmla="*/ 0 w 2274885"/>
                <a:gd name="connsiteY3" fmla="*/ 3337021 h 3337021"/>
              </a:gdLst>
              <a:ahLst/>
              <a:cxnLst>
                <a:cxn ang="0">
                  <a:pos x="connsiteX0" y="connsiteY0"/>
                </a:cxn>
                <a:cxn ang="0">
                  <a:pos x="connsiteX1" y="connsiteY1"/>
                </a:cxn>
                <a:cxn ang="0">
                  <a:pos x="connsiteX2" y="connsiteY2"/>
                </a:cxn>
                <a:cxn ang="0">
                  <a:pos x="connsiteX3" y="connsiteY3"/>
                </a:cxn>
              </a:cxnLst>
              <a:rect l="l" t="t" r="r" b="b"/>
              <a:pathLst>
                <a:path w="2274885" h="3337021">
                  <a:moveTo>
                    <a:pt x="0" y="0"/>
                  </a:moveTo>
                  <a:lnTo>
                    <a:pt x="2274885" y="0"/>
                  </a:lnTo>
                  <a:lnTo>
                    <a:pt x="2274885" y="3337021"/>
                  </a:lnTo>
                  <a:lnTo>
                    <a:pt x="0" y="3337021"/>
                  </a:lnTo>
                  <a:close/>
                </a:path>
              </a:pathLst>
            </a:custGeom>
          </p:spPr>
        </p:pic>
      </p:grpSp>
      <p:sp>
        <p:nvSpPr>
          <p:cNvPr id="10" name="Rectangle 9">
            <a:extLst>
              <a:ext uri="{FF2B5EF4-FFF2-40B4-BE49-F238E27FC236}">
                <a16:creationId xmlns:a16="http://schemas.microsoft.com/office/drawing/2014/main" id="{0B11B6E5-83C7-404D-82A6-610F43992FCF}"/>
              </a:ext>
            </a:extLst>
          </p:cNvPr>
          <p:cNvSpPr>
            <a:spLocks/>
          </p:cNvSpPr>
          <p:nvPr userDrawn="1"/>
        </p:nvSpPr>
        <p:spPr>
          <a:xfrm>
            <a:off x="0" y="1"/>
            <a:ext cx="12192000" cy="6857999"/>
          </a:xfrm>
          <a:prstGeom prst="rect">
            <a:avLst/>
          </a:prstGeom>
          <a:gradFill>
            <a:gsLst>
              <a:gs pos="0">
                <a:schemeClr val="bg2"/>
              </a:gs>
              <a:gs pos="100000">
                <a:schemeClr val="bg2">
                  <a:alpha val="68000"/>
                </a:schemeClr>
              </a:gs>
            </a:gsLst>
            <a:lin ang="138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4" name="TextBox 3">
            <a:extLst>
              <a:ext uri="{FF2B5EF4-FFF2-40B4-BE49-F238E27FC236}">
                <a16:creationId xmlns:a16="http://schemas.microsoft.com/office/drawing/2014/main" id="{7857F457-6247-44D4-BE3C-66B191EB78D5}"/>
              </a:ext>
            </a:extLst>
          </p:cNvPr>
          <p:cNvSpPr txBox="1"/>
          <p:nvPr userDrawn="1"/>
        </p:nvSpPr>
        <p:spPr>
          <a:xfrm>
            <a:off x="3860800" y="2367171"/>
            <a:ext cx="4470400" cy="212365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rtl="0"/>
            <a:r>
              <a:rPr lang="en-US" sz="13800" b="1">
                <a:solidFill>
                  <a:schemeClr val="accent4"/>
                </a:solidFill>
                <a:latin typeface="Georgia" panose="02040502050405020303" pitchFamily="18" charset="0"/>
              </a:rPr>
              <a:t>END</a:t>
            </a:r>
          </a:p>
        </p:txBody>
      </p:sp>
      <p:sp>
        <p:nvSpPr>
          <p:cNvPr id="5" name="4. Footnote" hidden="1">
            <a:extLst>
              <a:ext uri="{FF2B5EF4-FFF2-40B4-BE49-F238E27FC236}">
                <a16:creationId xmlns:a16="http://schemas.microsoft.com/office/drawing/2014/main" id="{59A60F0F-7511-49F0-BBCF-2DE6FB5D50AC}"/>
              </a:ext>
            </a:extLst>
          </p:cNvPr>
          <p:cNvSpPr txBox="1">
            <a:spLocks/>
          </p:cNvSpPr>
          <p:nvPr userDrawn="1">
            <p:custDataLst>
              <p:tags r:id="rId2"/>
            </p:custDataLst>
          </p:nvPr>
        </p:nvSpPr>
        <p:spPr>
          <a:xfrm>
            <a:off x="554736" y="6330793"/>
            <a:ext cx="11082528"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6" name="5. Source" hidden="1">
            <a:extLst>
              <a:ext uri="{FF2B5EF4-FFF2-40B4-BE49-F238E27FC236}">
                <a16:creationId xmlns:a16="http://schemas.microsoft.com/office/drawing/2014/main" id="{724864CF-8CD7-4C9B-9FD5-09CDA7EDF9DB}"/>
              </a:ext>
            </a:extLst>
          </p:cNvPr>
          <p:cNvSpPr txBox="1">
            <a:spLocks/>
          </p:cNvSpPr>
          <p:nvPr userDrawn="1">
            <p:custDataLst>
              <p:tags r:id="rId3"/>
            </p:custDataLst>
          </p:nvPr>
        </p:nvSpPr>
        <p:spPr>
          <a:xfrm>
            <a:off x="554735" y="6514142"/>
            <a:ext cx="11082528"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err="1"/>
              <a:t>Источник</a:t>
            </a:r>
            <a:r>
              <a:rPr lang="en-US" sz="800"/>
              <a:t>: …</a:t>
            </a:r>
          </a:p>
        </p:txBody>
      </p:sp>
    </p:spTree>
    <p:extLst>
      <p:ext uri="{BB962C8B-B14F-4D97-AF65-F5344CB8AC3E}">
        <p14:creationId xmlns:p14="http://schemas.microsoft.com/office/powerpoint/2010/main" val="37913744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7F5254C-849A-1E86-15C0-79D42D5C388F}"/>
              </a:ext>
            </a:extLst>
          </p:cNvPr>
          <p:cNvGraphicFramePr>
            <a:graphicFrameLocks noChangeAspect="1"/>
          </p:cNvGraphicFramePr>
          <p:nvPr userDrawn="1">
            <p:custDataLst>
              <p:tags r:id="rId1"/>
            </p:custDataLst>
            <p:extLst>
              <p:ext uri="{D42A27DB-BD31-4B8C-83A1-F6EECF244321}">
                <p14:modId xmlns:p14="http://schemas.microsoft.com/office/powerpoint/2010/main" val="34237199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7F5254C-849A-1E86-15C0-79D42D5C38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65D8DF-2F87-41A3-8853-1CB0E14AACB9}"/>
              </a:ext>
            </a:extLst>
          </p:cNvPr>
          <p:cNvSpPr>
            <a:spLocks noGrp="1"/>
          </p:cNvSpPr>
          <p:nvPr>
            <p:ph type="title"/>
          </p:nvPr>
        </p:nvSpPr>
        <p:spPr>
          <a:xfrm>
            <a:off x="554736" y="534400"/>
            <a:ext cx="11082528" cy="369332"/>
          </a:xfrm>
        </p:spPr>
        <p:txBody>
          <a:bodyPr vert="horz"/>
          <a:lstStyle>
            <a:lvl1pPr rtl="0">
              <a:defRPr/>
            </a:lvl1pPr>
          </a:lstStyle>
          <a:p>
            <a:r>
              <a:rPr lang="en-US"/>
              <a:t>Click to edit Master title style</a:t>
            </a:r>
          </a:p>
        </p:txBody>
      </p:sp>
      <p:sp>
        <p:nvSpPr>
          <p:cNvPr id="3" name="Content Placeholder 2">
            <a:extLst>
              <a:ext uri="{FF2B5EF4-FFF2-40B4-BE49-F238E27FC236}">
                <a16:creationId xmlns:a16="http://schemas.microsoft.com/office/drawing/2014/main" id="{078AF9B4-EBE0-4C8B-BF32-690CB74D8C7E}"/>
              </a:ext>
            </a:extLst>
          </p:cNvPr>
          <p:cNvSpPr>
            <a:spLocks noGrp="1"/>
          </p:cNvSpPr>
          <p:nvPr>
            <p:ph idx="1"/>
          </p:nvPr>
        </p:nvSpPr>
        <p:spPr/>
        <p:txBody>
          <a:bodyPr/>
          <a:lstStyle>
            <a:lvl1pPr rtl="0">
              <a:defRPr/>
            </a:lvl1pPr>
            <a:lvl2pPr rtl="0">
              <a:defRPr/>
            </a:lvl2pPr>
            <a:lvl3pPr rtl="0">
              <a:defRPr/>
            </a:lvl3pPr>
            <a:lvl4pPr rtl="0">
              <a:defRPr/>
            </a:lvl4pPr>
            <a:lvl5pPr rt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967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ustomLayouts 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2935929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0854476-2923-4515-A585-4477FF86118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grpSp>
        <p:nvGrpSpPr>
          <p:cNvPr id="13" name="Group 12">
            <a:extLst>
              <a:ext uri="{FF2B5EF4-FFF2-40B4-BE49-F238E27FC236}">
                <a16:creationId xmlns:a16="http://schemas.microsoft.com/office/drawing/2014/main" id="{782B402C-4E9A-4C49-95BC-08C80D9394EC}"/>
              </a:ext>
            </a:extLst>
          </p:cNvPr>
          <p:cNvGrpSpPr/>
          <p:nvPr userDrawn="1"/>
        </p:nvGrpSpPr>
        <p:grpSpPr>
          <a:xfrm>
            <a:off x="0" y="-1"/>
            <a:ext cx="4544291" cy="6858001"/>
            <a:chOff x="0" y="-1"/>
            <a:chExt cx="4544291" cy="6858001"/>
          </a:xfrm>
        </p:grpSpPr>
        <p:grpSp>
          <p:nvGrpSpPr>
            <p:cNvPr id="14" name="Group 13">
              <a:extLst>
                <a:ext uri="{FF2B5EF4-FFF2-40B4-BE49-F238E27FC236}">
                  <a16:creationId xmlns:a16="http://schemas.microsoft.com/office/drawing/2014/main" id="{EBB4B49C-0BF5-4E59-AAEE-224340421E20}"/>
                </a:ext>
              </a:extLst>
            </p:cNvPr>
            <p:cNvGrpSpPr/>
            <p:nvPr userDrawn="1"/>
          </p:nvGrpSpPr>
          <p:grpSpPr>
            <a:xfrm>
              <a:off x="0" y="0"/>
              <a:ext cx="3337021" cy="6858000"/>
              <a:chOff x="0" y="0"/>
              <a:chExt cx="3337021" cy="6858000"/>
            </a:xfrm>
          </p:grpSpPr>
          <p:pic>
            <p:nvPicPr>
              <p:cNvPr id="16" name="Graphic 15">
                <a:extLst>
                  <a:ext uri="{FF2B5EF4-FFF2-40B4-BE49-F238E27FC236}">
                    <a16:creationId xmlns:a16="http://schemas.microsoft.com/office/drawing/2014/main" id="{C379868A-9A32-49DD-B088-849ADB13330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3305867"/>
                <a:ext cx="3337021" cy="3337021"/>
              </a:xfrm>
              <a:prstGeom prst="rect">
                <a:avLst/>
              </a:prstGeom>
            </p:spPr>
          </p:pic>
          <p:pic>
            <p:nvPicPr>
              <p:cNvPr id="17" name="Graphic 16">
                <a:extLst>
                  <a:ext uri="{FF2B5EF4-FFF2-40B4-BE49-F238E27FC236}">
                    <a16:creationId xmlns:a16="http://schemas.microsoft.com/office/drawing/2014/main" id="{F860B71F-73D2-4140-9B7E-E84C1ED64357}"/>
                  </a:ext>
                </a:extLst>
              </p:cNvPr>
              <p:cNvPicPr>
                <a:picLocks noChangeAspect="1"/>
              </p:cNvPicPr>
              <p:nvPr userDrawn="1"/>
            </p:nvPicPr>
            <p:blipFill>
              <a:blip>
                <a:extLst>
                  <a:ext uri="{96DAC541-7B7A-43D3-8B79-37D633B846F1}">
                    <asvg:svgBlip xmlns:asvg="http://schemas.microsoft.com/office/drawing/2016/SVG/main" r:embed="rId13"/>
                  </a:ext>
                </a:extLst>
              </a:blip>
              <a:srcRect b="92389"/>
              <a:stretch>
                <a:fillRect/>
              </a:stretch>
            </p:blipFill>
            <p:spPr>
              <a:xfrm>
                <a:off x="0" y="6604027"/>
                <a:ext cx="3337021" cy="253973"/>
              </a:xfrm>
              <a:custGeom>
                <a:avLst/>
                <a:gdLst>
                  <a:gd name="connsiteX0" fmla="*/ 0 w 3337021"/>
                  <a:gd name="connsiteY0" fmla="*/ 0 h 253973"/>
                  <a:gd name="connsiteX1" fmla="*/ 3337021 w 3337021"/>
                  <a:gd name="connsiteY1" fmla="*/ 0 h 253973"/>
                  <a:gd name="connsiteX2" fmla="*/ 3337021 w 3337021"/>
                  <a:gd name="connsiteY2" fmla="*/ 253973 h 253973"/>
                  <a:gd name="connsiteX3" fmla="*/ 0 w 3337021"/>
                  <a:gd name="connsiteY3" fmla="*/ 253973 h 253973"/>
                </a:gdLst>
                <a:ahLst/>
                <a:cxnLst>
                  <a:cxn ang="0">
                    <a:pos x="connsiteX0" y="connsiteY0"/>
                  </a:cxn>
                  <a:cxn ang="0">
                    <a:pos x="connsiteX1" y="connsiteY1"/>
                  </a:cxn>
                  <a:cxn ang="0">
                    <a:pos x="connsiteX2" y="connsiteY2"/>
                  </a:cxn>
                  <a:cxn ang="0">
                    <a:pos x="connsiteX3" y="connsiteY3"/>
                  </a:cxn>
                </a:cxnLst>
                <a:rect l="l" t="t" r="r" b="b"/>
                <a:pathLst>
                  <a:path w="3337021" h="253973">
                    <a:moveTo>
                      <a:pt x="0" y="0"/>
                    </a:moveTo>
                    <a:lnTo>
                      <a:pt x="3337021" y="0"/>
                    </a:lnTo>
                    <a:lnTo>
                      <a:pt x="3337021" y="253973"/>
                    </a:lnTo>
                    <a:lnTo>
                      <a:pt x="0" y="253973"/>
                    </a:lnTo>
                    <a:close/>
                  </a:path>
                </a:pathLst>
              </a:custGeom>
            </p:spPr>
          </p:pic>
          <p:pic>
            <p:nvPicPr>
              <p:cNvPr id="21" name="Graphic 20">
                <a:extLst>
                  <a:ext uri="{FF2B5EF4-FFF2-40B4-BE49-F238E27FC236}">
                    <a16:creationId xmlns:a16="http://schemas.microsoft.com/office/drawing/2014/main" id="{F12D97A6-D75E-470D-8B68-12AF6900B0E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0" y="0"/>
                <a:ext cx="3337021" cy="3337021"/>
              </a:xfrm>
              <a:prstGeom prst="rect">
                <a:avLst/>
              </a:prstGeom>
            </p:spPr>
          </p:pic>
        </p:grpSp>
        <p:sp>
          <p:nvSpPr>
            <p:cNvPr id="15" name="Rectangle 14">
              <a:extLst>
                <a:ext uri="{FF2B5EF4-FFF2-40B4-BE49-F238E27FC236}">
                  <a16:creationId xmlns:a16="http://schemas.microsoft.com/office/drawing/2014/main" id="{EB62E48F-039F-4A8A-AA4A-7E4B0A2100D4}"/>
                </a:ext>
              </a:extLst>
            </p:cNvPr>
            <p:cNvSpPr>
              <a:spLocks/>
            </p:cNvSpPr>
            <p:nvPr userDrawn="1"/>
          </p:nvSpPr>
          <p:spPr>
            <a:xfrm>
              <a:off x="0" y="-1"/>
              <a:ext cx="4544291" cy="6857999"/>
            </a:xfrm>
            <a:prstGeom prst="rect">
              <a:avLst/>
            </a:prstGeom>
            <a:gradFill>
              <a:gsLst>
                <a:gs pos="85000">
                  <a:schemeClr val="bg2">
                    <a:alpha val="78000"/>
                  </a:schemeClr>
                </a:gs>
                <a:gs pos="11000">
                  <a:schemeClr val="bg2"/>
                </a:gs>
                <a:gs pos="100000">
                  <a:schemeClr val="bg2">
                    <a:alpha val="48000"/>
                  </a:schemeClr>
                </a:gs>
              </a:gsLst>
              <a:lin ang="11400000" scaled="0"/>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chemeClr val="accent5"/>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1763" y="6514142"/>
            <a:ext cx="325501" cy="123111"/>
          </a:xfrm>
          <a:prstGeom prst="rect">
            <a:avLst/>
          </a:prstGeom>
          <a:noFill/>
          <a:ln w="9525" algn="ctr">
            <a:noFill/>
            <a:miter lim="800000"/>
            <a:headEnd/>
            <a:tailEnd/>
          </a:ln>
          <a:effectLst/>
        </p:spPr>
        <p:txBody>
          <a:bodyPr wrap="square" lIns="0" tIns="0" rIns="0" bIns="0" anchor="b">
            <a:spAutoFit/>
          </a:bodyPr>
          <a:lstStyle/>
          <a:p>
            <a:pPr lvl="0" algn="r" defTabSz="610744" rtl="0" fontAlgn="auto">
              <a:spcBef>
                <a:spcPts val="0"/>
              </a:spcBef>
              <a:spcAft>
                <a:spcPts val="0"/>
              </a:spcAft>
            </a:pPr>
            <a:fld id="{4ABDCABE-3F10-B64C-92F1-862014417034}" type="slidenum">
              <a:rPr lang="en-US" sz="800" b="0" noProof="0" smtClean="0">
                <a:cs typeface="Arial" panose="020B0604020202020204" pitchFamily="34" charset="0"/>
              </a:rPr>
              <a:pPr lvl="0" algn="r" defTabSz="610744" rtl="0" fontAlgn="auto">
                <a:spcBef>
                  <a:spcPts val="0"/>
                </a:spcBef>
                <a:spcAft>
                  <a:spcPts val="0"/>
                </a:spcAft>
              </a:pPr>
              <a:t>‹#›</a:t>
            </a:fld>
            <a:endParaRPr lang="en-US" sz="800" b="0" noProof="0">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hasCustomPrompt="1"/>
            <p:custDataLst>
              <p:tags r:id="rId5"/>
            </p:custDataLst>
          </p:nvPr>
        </p:nvSpPr>
        <p:spPr>
          <a:xfrm>
            <a:off x="554736" y="226624"/>
            <a:ext cx="7918704" cy="677108"/>
          </a:xfrm>
        </p:spPr>
        <p:txBody>
          <a:bodyPr vert="horz" wrap="square" lIns="0" tIns="0" rIns="0" bIns="0" rtlCol="0" anchor="b" anchorCtr="0">
            <a:noAutofit/>
          </a:bodyPr>
          <a:lstStyle>
            <a:lvl1pPr rtl="0">
              <a:defRPr lang="ru-RU" dirty="0"/>
            </a:lvl1pPr>
          </a:lstStyle>
          <a:p>
            <a:pPr lvl="0"/>
            <a:r>
              <a:rPr lang="en-US"/>
              <a:t>Click to edit </a:t>
            </a:r>
            <a:br>
              <a:rPr lang="en-US"/>
            </a:br>
            <a:r>
              <a:rPr lang="en-US"/>
              <a:t>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6"/>
            </p:custDataLst>
          </p:nvPr>
        </p:nvSpPr>
        <p:spPr>
          <a:xfrm>
            <a:off x="554736" y="958596"/>
            <a:ext cx="7918704" cy="246221"/>
          </a:xfrm>
          <a:prstGeom prst="rect">
            <a:avLst/>
          </a:prstGeom>
        </p:spPr>
        <p:txBody>
          <a:bodyPr vert="horz" wrap="square" lIns="0" tIns="0" rIns="0" bIns="0" rtlCol="0">
            <a:spAutoFit/>
          </a:bodyPr>
          <a:lstStyle>
            <a:lvl1pPr rtl="0">
              <a:defRPr lang="ru-RU" sz="1600" b="0" dirty="0"/>
            </a:lvl1pPr>
          </a:lstStyle>
          <a:p>
            <a:pPr lvl="0"/>
            <a:r>
              <a:rPr lang="en-US"/>
              <a:t>Click to edit Master subtitle style</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ru-RU" sz="800" b="0" dirty="0">
                <a:cs typeface="+mn-cs"/>
              </a:defRPr>
            </a:lvl1pPr>
          </a:lstStyle>
          <a:p>
            <a:pPr lvl="0">
              <a:buNone/>
            </a:pPr>
            <a:r>
              <a:rPr lang="en-US"/>
              <a:t>Add tracker</a:t>
            </a:r>
          </a:p>
        </p:txBody>
      </p:sp>
      <p:sp>
        <p:nvSpPr>
          <p:cNvPr id="11" name="4. Footnote" hidden="1">
            <a:extLst>
              <a:ext uri="{FF2B5EF4-FFF2-40B4-BE49-F238E27FC236}">
                <a16:creationId xmlns:a16="http://schemas.microsoft.com/office/drawing/2014/main" id="{44C30949-359D-483D-8AB0-470F0738EC46}"/>
              </a:ext>
            </a:extLst>
          </p:cNvPr>
          <p:cNvSpPr txBox="1">
            <a:spLocks/>
          </p:cNvSpPr>
          <p:nvPr userDrawn="1">
            <p:custDataLst>
              <p:tags r:id="rId8"/>
            </p:custDataLst>
          </p:nvPr>
        </p:nvSpPr>
        <p:spPr>
          <a:xfrm>
            <a:off x="554736" y="6330793"/>
            <a:ext cx="791870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12" name="5. Source" hidden="1">
            <a:extLst>
              <a:ext uri="{FF2B5EF4-FFF2-40B4-BE49-F238E27FC236}">
                <a16:creationId xmlns:a16="http://schemas.microsoft.com/office/drawing/2014/main" id="{0C638687-9D2C-4819-8EA7-89C77797F3C6}"/>
              </a:ext>
            </a:extLst>
          </p:cNvPr>
          <p:cNvSpPr txBox="1">
            <a:spLocks/>
          </p:cNvSpPr>
          <p:nvPr userDrawn="1">
            <p:custDataLst>
              <p:tags r:id="rId9"/>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spTree>
    <p:extLst>
      <p:ext uri="{BB962C8B-B14F-4D97-AF65-F5344CB8AC3E}">
        <p14:creationId xmlns:p14="http://schemas.microsoft.com/office/powerpoint/2010/main" val="4164288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9752"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13270605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4.xml"/><Relationship Id="rId26" Type="http://schemas.openxmlformats.org/officeDocument/2006/relationships/tags" Target="../tags/tag12.xml"/><Relationship Id="rId21" Type="http://schemas.openxmlformats.org/officeDocument/2006/relationships/tags" Target="../tags/tag7.xml"/><Relationship Id="rId34" Type="http://schemas.openxmlformats.org/officeDocument/2006/relationships/tags" Target="../tags/tag2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5" Type="http://schemas.openxmlformats.org/officeDocument/2006/relationships/tags" Target="../tags/tag11.xml"/><Relationship Id="rId33" Type="http://schemas.openxmlformats.org/officeDocument/2006/relationships/tags" Target="../tags/tag19.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29" Type="http://schemas.openxmlformats.org/officeDocument/2006/relationships/tags" Target="../tags/tag1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0.xml"/><Relationship Id="rId32" Type="http://schemas.openxmlformats.org/officeDocument/2006/relationships/tags" Target="../tags/tag18.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theme" Target="../theme/theme1.xml"/><Relationship Id="rId23" Type="http://schemas.openxmlformats.org/officeDocument/2006/relationships/tags" Target="../tags/tag9.xml"/><Relationship Id="rId28" Type="http://schemas.openxmlformats.org/officeDocument/2006/relationships/tags" Target="../tags/tag14.xml"/><Relationship Id="rId36" Type="http://schemas.openxmlformats.org/officeDocument/2006/relationships/tags" Target="../tags/tag22.xml"/><Relationship Id="rId10" Type="http://schemas.openxmlformats.org/officeDocument/2006/relationships/slideLayout" Target="../slideLayouts/slideLayout10.xml"/><Relationship Id="rId19" Type="http://schemas.openxmlformats.org/officeDocument/2006/relationships/tags" Target="../tags/tag5.xml"/><Relationship Id="rId31" Type="http://schemas.openxmlformats.org/officeDocument/2006/relationships/tags" Target="../tags/tag1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8.xml"/><Relationship Id="rId27" Type="http://schemas.openxmlformats.org/officeDocument/2006/relationships/tags" Target="../tags/tag13.xml"/><Relationship Id="rId30" Type="http://schemas.openxmlformats.org/officeDocument/2006/relationships/tags" Target="../tags/tag16.xml"/><Relationship Id="rId35" Type="http://schemas.openxmlformats.org/officeDocument/2006/relationships/tags" Target="../tags/tag2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6"/>
            </p:custDataLst>
            <p:extLst>
              <p:ext uri="{D42A27DB-BD31-4B8C-83A1-F6EECF244321}">
                <p14:modId xmlns:p14="http://schemas.microsoft.com/office/powerpoint/2010/main" val="434572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13" imgH="416" progId="TCLayout.ActiveDocument.1">
                  <p:embed/>
                </p:oleObj>
              </mc:Choice>
              <mc:Fallback>
                <p:oleObj name="think-cell Slide" r:id="rId37"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1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4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16" name="4. Footnote" hidden="1">
            <a:extLst>
              <a:ext uri="{FF2B5EF4-FFF2-40B4-BE49-F238E27FC236}">
                <a16:creationId xmlns:a16="http://schemas.microsoft.com/office/drawing/2014/main" id="{772E4927-517C-4D61-9929-9FFDE5F31A03}"/>
              </a:ext>
            </a:extLst>
          </p:cNvPr>
          <p:cNvSpPr txBox="1">
            <a:spLocks/>
          </p:cNvSpPr>
          <p:nvPr userDrawn="1">
            <p:custDataLst>
              <p:tags r:id="rId18"/>
            </p:custDataLst>
          </p:nvPr>
        </p:nvSpPr>
        <p:spPr>
          <a:xfrm>
            <a:off x="554736" y="6330793"/>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19"/>
            </p:custDataLst>
          </p:nvPr>
        </p:nvSpPr>
        <p:spPr>
          <a:xfrm>
            <a:off x="554736" y="165068"/>
            <a:ext cx="11082528" cy="738664"/>
          </a:xfrm>
          <a:prstGeom prst="rect">
            <a:avLst/>
          </a:prstGeom>
        </p:spPr>
        <p:txBody>
          <a:bodyPr vert="horz" wrap="square" lIns="0" tIns="0" rIns="0" bIns="0" rtlCol="0" anchor="b" anchorCtr="0">
            <a:spAutoFit/>
          </a:bodyPr>
          <a:lstStyle/>
          <a:p>
            <a:pPr lvl="0" algn="l" defTabSz="914400" rtl="0" eaLnBrk="1" latinLnBrk="0" hangingPunct="1">
              <a:lnSpc>
                <a:spcPct val="100000"/>
              </a:lnSpc>
              <a:spcBef>
                <a:spcPct val="0"/>
              </a:spcBef>
              <a:buNone/>
            </a:pPr>
            <a:r>
              <a:rPr lang="en-US"/>
              <a:t>Click to edit </a:t>
            </a:r>
            <a:br>
              <a:rPr lang="en-US"/>
            </a:br>
            <a:r>
              <a:rPr lang="en-US"/>
              <a:t>Master title style</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0"/>
            </p:custDataLst>
          </p:nvPr>
        </p:nvSpPr>
        <p:spPr>
          <a:xfrm>
            <a:off x="3754105" y="2171700"/>
            <a:ext cx="3049253" cy="492443"/>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a:t>Above Chart Exhibit Title</a:t>
            </a:r>
            <a:br>
              <a:rPr lang="en-US"/>
            </a:br>
            <a:r>
              <a:rPr lang="en-US" b="0"/>
              <a:t>Units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856297" cy="1231106"/>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0" name="5. Source" hidden="1">
            <a:extLst>
              <a:ext uri="{FF2B5EF4-FFF2-40B4-BE49-F238E27FC236}">
                <a16:creationId xmlns:a16="http://schemas.microsoft.com/office/drawing/2014/main" id="{1B5DE5A7-2D1D-4A40-BE7D-BB40C3D416B3}"/>
              </a:ext>
            </a:extLst>
          </p:cNvPr>
          <p:cNvSpPr txBox="1">
            <a:spLocks/>
          </p:cNvSpPr>
          <p:nvPr userDrawn="1">
            <p:custDataLst>
              <p:tags r:id="rId21"/>
            </p:custDataLst>
          </p:nvPr>
        </p:nvSpPr>
        <p:spPr>
          <a:xfrm>
            <a:off x="554736"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no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a:t>
            </a:r>
            <a:r>
              <a:rPr lang="en-US" sz="800"/>
              <a:t>: …</a:t>
            </a:r>
          </a:p>
        </p:txBody>
      </p:sp>
      <p:grpSp>
        <p:nvGrpSpPr>
          <p:cNvPr id="151" name="MoonEmpty" hidden="1">
            <a:extLst>
              <a:ext uri="{FF2B5EF4-FFF2-40B4-BE49-F238E27FC236}">
                <a16:creationId xmlns:a16="http://schemas.microsoft.com/office/drawing/2014/main" id="{2F753080-3BFC-45F3-88AB-4A3B00E033C4}"/>
              </a:ext>
            </a:extLst>
          </p:cNvPr>
          <p:cNvGrpSpPr>
            <a:grpSpLocks/>
          </p:cNvGrpSpPr>
          <p:nvPr userDrawn="1">
            <p:custDataLst>
              <p:tags r:id="rId22"/>
            </p:custDataLst>
          </p:nvPr>
        </p:nvGrpSpPr>
        <p:grpSpPr>
          <a:xfrm>
            <a:off x="4624301" y="4029356"/>
            <a:ext cx="252000" cy="252000"/>
            <a:chOff x="762000" y="1270000"/>
            <a:chExt cx="254000" cy="254000"/>
          </a:xfrm>
          <a:solidFill>
            <a:schemeClr val="tx2">
              <a:lumMod val="20000"/>
              <a:lumOff val="80000"/>
            </a:schemeClr>
          </a:solidFill>
        </p:grpSpPr>
        <p:sp>
          <p:nvSpPr>
            <p:cNvPr id="152" name="Oval 151">
              <a:extLst>
                <a:ext uri="{FF2B5EF4-FFF2-40B4-BE49-F238E27FC236}">
                  <a16:creationId xmlns:a16="http://schemas.microsoft.com/office/drawing/2014/main" id="{0D06ABC0-BED2-49D7-B91B-3BD1CCF4D8BE}"/>
                </a:ext>
              </a:extLst>
            </p:cNvPr>
            <p:cNvSpPr/>
            <p:nvPr>
              <p:custDataLst>
                <p:tags r:id="rId3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53" name="Arc 152" hidden="1">
              <a:extLst>
                <a:ext uri="{FF2B5EF4-FFF2-40B4-BE49-F238E27FC236}">
                  <a16:creationId xmlns:a16="http://schemas.microsoft.com/office/drawing/2014/main" id="{C470DE01-97F6-453C-BD86-07C2B3D33B2E}"/>
                </a:ext>
              </a:extLst>
            </p:cNvPr>
            <p:cNvSpPr/>
            <p:nvPr>
              <p:custDataLst>
                <p:tags r:id="rId36"/>
              </p:custDataLst>
            </p:nvPr>
          </p:nvSpPr>
          <p:spPr>
            <a:xfrm>
              <a:off x="762000" y="1270000"/>
              <a:ext cx="254000" cy="254000"/>
            </a:xfrm>
            <a:prstGeom prst="arc">
              <a:avLst>
                <a:gd name="adj1" fmla="val 16200000"/>
                <a:gd name="adj2" fmla="val 5400000"/>
              </a:avLst>
            </a:prstGeom>
            <a:grp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0" name="MoonQuater" hidden="1">
            <a:extLst>
              <a:ext uri="{FF2B5EF4-FFF2-40B4-BE49-F238E27FC236}">
                <a16:creationId xmlns:a16="http://schemas.microsoft.com/office/drawing/2014/main" id="{79C4F1A7-3BA6-4DE9-990D-56F7568AF3D5}"/>
              </a:ext>
            </a:extLst>
          </p:cNvPr>
          <p:cNvGrpSpPr>
            <a:grpSpLocks/>
          </p:cNvGrpSpPr>
          <p:nvPr userDrawn="1">
            <p:custDataLst>
              <p:tags r:id="rId23"/>
            </p:custDataLst>
          </p:nvPr>
        </p:nvGrpSpPr>
        <p:grpSpPr>
          <a:xfrm>
            <a:off x="5026732" y="4029356"/>
            <a:ext cx="252000" cy="252000"/>
            <a:chOff x="762000" y="1270000"/>
            <a:chExt cx="254000" cy="254000"/>
          </a:xfrm>
        </p:grpSpPr>
        <p:sp>
          <p:nvSpPr>
            <p:cNvPr id="171" name="Oval 170">
              <a:extLst>
                <a:ext uri="{FF2B5EF4-FFF2-40B4-BE49-F238E27FC236}">
                  <a16:creationId xmlns:a16="http://schemas.microsoft.com/office/drawing/2014/main" id="{59E630A5-DC56-4165-A400-FABB4C8F2657}"/>
                </a:ext>
              </a:extLst>
            </p:cNvPr>
            <p:cNvSpPr/>
            <p:nvPr>
              <p:custDataLst>
                <p:tags r:id="rId3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2" name="Arc 171">
              <a:extLst>
                <a:ext uri="{FF2B5EF4-FFF2-40B4-BE49-F238E27FC236}">
                  <a16:creationId xmlns:a16="http://schemas.microsoft.com/office/drawing/2014/main" id="{C98134F9-A949-43AC-8CDC-EAE921C7808C}"/>
                </a:ext>
              </a:extLst>
            </p:cNvPr>
            <p:cNvSpPr/>
            <p:nvPr>
              <p:custDataLst>
                <p:tags r:id="rId34"/>
              </p:custDataLst>
            </p:nvPr>
          </p:nvSpPr>
          <p:spPr>
            <a:xfrm>
              <a:off x="762000" y="1270000"/>
              <a:ext cx="254000" cy="254000"/>
            </a:xfrm>
            <a:prstGeom prst="arc">
              <a:avLst>
                <a:gd name="adj1" fmla="val 16200000"/>
                <a:gd name="adj2" fmla="val 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3" name="MoonHalf" hidden="1">
            <a:extLst>
              <a:ext uri="{FF2B5EF4-FFF2-40B4-BE49-F238E27FC236}">
                <a16:creationId xmlns:a16="http://schemas.microsoft.com/office/drawing/2014/main" id="{2714B939-F474-44D5-8B49-B47A0217F09E}"/>
              </a:ext>
            </a:extLst>
          </p:cNvPr>
          <p:cNvGrpSpPr>
            <a:grpSpLocks/>
          </p:cNvGrpSpPr>
          <p:nvPr userDrawn="1">
            <p:custDataLst>
              <p:tags r:id="rId24"/>
            </p:custDataLst>
          </p:nvPr>
        </p:nvGrpSpPr>
        <p:grpSpPr>
          <a:xfrm>
            <a:off x="5429163" y="4029356"/>
            <a:ext cx="252000" cy="252000"/>
            <a:chOff x="762000" y="1270000"/>
            <a:chExt cx="254000" cy="254000"/>
          </a:xfrm>
        </p:grpSpPr>
        <p:sp>
          <p:nvSpPr>
            <p:cNvPr id="174" name="Oval 173">
              <a:extLst>
                <a:ext uri="{FF2B5EF4-FFF2-40B4-BE49-F238E27FC236}">
                  <a16:creationId xmlns:a16="http://schemas.microsoft.com/office/drawing/2014/main" id="{22EC967B-B647-4BCF-9C0C-A8D545E4C817}"/>
                </a:ext>
              </a:extLst>
            </p:cNvPr>
            <p:cNvSpPr/>
            <p:nvPr>
              <p:custDataLst>
                <p:tags r:id="rId3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5" name="Arc 174">
              <a:extLst>
                <a:ext uri="{FF2B5EF4-FFF2-40B4-BE49-F238E27FC236}">
                  <a16:creationId xmlns:a16="http://schemas.microsoft.com/office/drawing/2014/main" id="{FA00262A-FCFD-4DB6-B921-E9B02991FF8A}"/>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76" name="Moon3Quater" hidden="1">
            <a:extLst>
              <a:ext uri="{FF2B5EF4-FFF2-40B4-BE49-F238E27FC236}">
                <a16:creationId xmlns:a16="http://schemas.microsoft.com/office/drawing/2014/main" id="{B81E11B2-1A34-4631-BD81-A79E13BAA4F8}"/>
              </a:ext>
            </a:extLst>
          </p:cNvPr>
          <p:cNvGrpSpPr>
            <a:grpSpLocks/>
          </p:cNvGrpSpPr>
          <p:nvPr userDrawn="1">
            <p:custDataLst>
              <p:tags r:id="rId25"/>
            </p:custDataLst>
          </p:nvPr>
        </p:nvGrpSpPr>
        <p:grpSpPr>
          <a:xfrm>
            <a:off x="5831594" y="4029356"/>
            <a:ext cx="252000" cy="252000"/>
            <a:chOff x="762000" y="1270000"/>
            <a:chExt cx="254000" cy="254000"/>
          </a:xfrm>
        </p:grpSpPr>
        <p:sp>
          <p:nvSpPr>
            <p:cNvPr id="177" name="Oval 176">
              <a:extLst>
                <a:ext uri="{FF2B5EF4-FFF2-40B4-BE49-F238E27FC236}">
                  <a16:creationId xmlns:a16="http://schemas.microsoft.com/office/drawing/2014/main" id="{5D5E5590-A897-419C-85F3-C5E6B6BADDA1}"/>
                </a:ext>
              </a:extLst>
            </p:cNvPr>
            <p:cNvSpPr/>
            <p:nvPr>
              <p:custDataLst>
                <p:tags r:id="rId29"/>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78" name="Arc 177">
              <a:extLst>
                <a:ext uri="{FF2B5EF4-FFF2-40B4-BE49-F238E27FC236}">
                  <a16:creationId xmlns:a16="http://schemas.microsoft.com/office/drawing/2014/main" id="{2DA30F73-36DC-49E0-87B5-F183D3E9231F}"/>
                </a:ext>
              </a:extLst>
            </p:cNvPr>
            <p:cNvSpPr/>
            <p:nvPr>
              <p:custDataLst>
                <p:tags r:id="rId30"/>
              </p:custDataLst>
            </p:nvPr>
          </p:nvSpPr>
          <p:spPr>
            <a:xfrm>
              <a:off x="762000" y="1270000"/>
              <a:ext cx="254000" cy="254000"/>
            </a:xfrm>
            <a:prstGeom prst="arc">
              <a:avLst>
                <a:gd name="adj1" fmla="val 16200000"/>
                <a:gd name="adj2" fmla="val 108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186" name="MoonFull" hidden="1">
            <a:extLst>
              <a:ext uri="{FF2B5EF4-FFF2-40B4-BE49-F238E27FC236}">
                <a16:creationId xmlns:a16="http://schemas.microsoft.com/office/drawing/2014/main" id="{9C646595-AAE9-4CF9-8065-5D333DB4AA3D}"/>
              </a:ext>
            </a:extLst>
          </p:cNvPr>
          <p:cNvGrpSpPr>
            <a:grpSpLocks/>
          </p:cNvGrpSpPr>
          <p:nvPr userDrawn="1">
            <p:custDataLst>
              <p:tags r:id="rId26"/>
            </p:custDataLst>
          </p:nvPr>
        </p:nvGrpSpPr>
        <p:grpSpPr>
          <a:xfrm>
            <a:off x="6234026" y="4029356"/>
            <a:ext cx="252000" cy="252000"/>
            <a:chOff x="762000" y="1270000"/>
            <a:chExt cx="254000" cy="254000"/>
          </a:xfrm>
          <a:solidFill>
            <a:schemeClr val="accent5"/>
          </a:solidFill>
        </p:grpSpPr>
        <p:sp>
          <p:nvSpPr>
            <p:cNvPr id="198" name="Oval 197">
              <a:extLst>
                <a:ext uri="{FF2B5EF4-FFF2-40B4-BE49-F238E27FC236}">
                  <a16:creationId xmlns:a16="http://schemas.microsoft.com/office/drawing/2014/main" id="{45B76197-6D16-4092-B902-DE7FD857CAF0}"/>
                </a:ext>
              </a:extLst>
            </p:cNvPr>
            <p:cNvSpPr/>
            <p:nvPr>
              <p:custDataLst>
                <p:tags r:id="rId27"/>
              </p:custDataLst>
            </p:nvPr>
          </p:nvSpPr>
          <p:spPr>
            <a:xfrm>
              <a:off x="762000" y="1270000"/>
              <a:ext cx="254000" cy="25400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199" name="Arc 198">
              <a:extLst>
                <a:ext uri="{FF2B5EF4-FFF2-40B4-BE49-F238E27FC236}">
                  <a16:creationId xmlns:a16="http://schemas.microsoft.com/office/drawing/2014/main" id="{5125949A-3C65-48C8-BF1F-12C78DE93858}"/>
                </a:ext>
              </a:extLst>
            </p:cNvPr>
            <p:cNvSpPr/>
            <p:nvPr>
              <p:custDataLst>
                <p:tags r:id="rId28"/>
              </p:custDataLst>
            </p:nvPr>
          </p:nvSpPr>
          <p:spPr>
            <a:xfrm>
              <a:off x="762000" y="1270000"/>
              <a:ext cx="254000" cy="254000"/>
            </a:xfrm>
            <a:prstGeom prst="arc">
              <a:avLst>
                <a:gd name="adj1" fmla="val 16200000"/>
                <a:gd name="adj2" fmla="val 16200000"/>
              </a:avLst>
            </a:prstGeom>
            <a:grp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6" name="Grid" hidden="1">
            <a:extLst>
              <a:ext uri="{FF2B5EF4-FFF2-40B4-BE49-F238E27FC236}">
                <a16:creationId xmlns:a16="http://schemas.microsoft.com/office/drawing/2014/main" id="{1D9F4D12-1DFF-41B1-B819-B21105F3C5FD}"/>
              </a:ext>
            </a:extLst>
          </p:cNvPr>
          <p:cNvGrpSpPr/>
          <p:nvPr userDrawn="1"/>
        </p:nvGrpSpPr>
        <p:grpSpPr>
          <a:xfrm>
            <a:off x="-497642" y="-473349"/>
            <a:ext cx="12134906" cy="6740642"/>
            <a:chOff x="-497642" y="-473349"/>
            <a:chExt cx="12134906" cy="6740642"/>
          </a:xfrm>
        </p:grpSpPr>
        <p:sp>
          <p:nvSpPr>
            <p:cNvPr id="206" name="Rectangle 205">
              <a:extLst>
                <a:ext uri="{FF2B5EF4-FFF2-40B4-BE49-F238E27FC236}">
                  <a16:creationId xmlns:a16="http://schemas.microsoft.com/office/drawing/2014/main" id="{9DD1189C-DDE8-45B3-ABD7-88E0E80AC195}"/>
                </a:ext>
              </a:extLst>
            </p:cNvPr>
            <p:cNvSpPr>
              <a:spLocks/>
            </p:cNvSpPr>
            <p:nvPr userDrawn="1"/>
          </p:nvSpPr>
          <p:spPr>
            <a:xfrm>
              <a:off x="-497642" y="1265979"/>
              <a:ext cx="364936" cy="5001314"/>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rtl="0">
                <a:spcBef>
                  <a:spcPts val="300"/>
                </a:spcBef>
                <a:spcAft>
                  <a:spcPts val="300"/>
                </a:spcAft>
              </a:pPr>
              <a:r>
                <a:rPr lang="en-US" sz="1600" b="1">
                  <a:solidFill>
                    <a:schemeClr val="bg1"/>
                  </a:solidFill>
                </a:rPr>
                <a:t>Work area</a:t>
              </a:r>
            </a:p>
          </p:txBody>
        </p:sp>
        <p:sp>
          <p:nvSpPr>
            <p:cNvPr id="207" name="Rectangle 206">
              <a:extLst>
                <a:ext uri="{FF2B5EF4-FFF2-40B4-BE49-F238E27FC236}">
                  <a16:creationId xmlns:a16="http://schemas.microsoft.com/office/drawing/2014/main" id="{03050732-7AD1-4473-B4C9-3C5B1492E16F}"/>
                </a:ext>
              </a:extLst>
            </p:cNvPr>
            <p:cNvSpPr>
              <a:spLocks/>
            </p:cNvSpPr>
            <p:nvPr userDrawn="1"/>
          </p:nvSpPr>
          <p:spPr>
            <a:xfrm>
              <a:off x="554736" y="-473349"/>
              <a:ext cx="11082528" cy="338554"/>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rtl="0">
                <a:spcBef>
                  <a:spcPts val="300"/>
                </a:spcBef>
                <a:spcAft>
                  <a:spcPts val="300"/>
                </a:spcAft>
              </a:pPr>
              <a:r>
                <a:rPr lang="en-US" sz="1600" b="1">
                  <a:solidFill>
                    <a:schemeClr val="bg1"/>
                  </a:solidFill>
                </a:rPr>
                <a:t>Work area</a:t>
              </a:r>
            </a:p>
          </p:txBody>
        </p:sp>
      </p:grpSp>
      <p:sp>
        <p:nvSpPr>
          <p:cNvPr id="38" name="Sticker" hidden="1">
            <a:extLst>
              <a:ext uri="{FF2B5EF4-FFF2-40B4-BE49-F238E27FC236}">
                <a16:creationId xmlns:a16="http://schemas.microsoft.com/office/drawing/2014/main" id="{1A105216-11F0-454B-81B3-42715382498C}"/>
              </a:ext>
            </a:extLst>
          </p:cNvPr>
          <p:cNvSpPr txBox="1"/>
          <p:nvPr userDrawn="1"/>
        </p:nvSpPr>
        <p:spPr>
          <a:xfrm>
            <a:off x="7793929" y="0"/>
            <a:ext cx="4398071" cy="216513"/>
          </a:xfrm>
          <a:prstGeom prst="rect">
            <a:avLst/>
          </a:prstGeom>
          <a:gradFill>
            <a:gsLst>
              <a:gs pos="75000">
                <a:schemeClr val="accent5"/>
              </a:gs>
              <a:gs pos="25000">
                <a:schemeClr val="bg2">
                  <a:alpha val="0"/>
                </a:schemeClr>
              </a:gs>
            </a:gsLst>
            <a:lin ang="19200000" scaled="0"/>
          </a:gradFill>
          <a:ln w="6350">
            <a:noFill/>
            <a:miter lim="800000"/>
          </a:ln>
        </p:spPr>
        <p:txBody>
          <a:bodyPr vert="horz" wrap="square" lIns="0" tIns="0" rIns="540000" bIns="0" rtlCol="0" anchor="ctr" anchorCtr="0">
            <a:noAutofit/>
          </a:bodyPr>
          <a:lstStyle>
            <a:defPPr>
              <a:defRPr lang="en-US"/>
            </a:defPPr>
            <a:lvl1pPr>
              <a:spcBef>
                <a:spcPts val="300"/>
              </a:spcBef>
              <a:spcAft>
                <a:spcPts val="300"/>
              </a:spcAft>
              <a:buNone/>
              <a:defRPr sz="800" b="1" cap="all"/>
            </a:lvl1pPr>
          </a:lstStyle>
          <a:p>
            <a:pPr algn="r" rtl="0"/>
            <a:r>
              <a:rPr lang="en-US" b="0">
                <a:latin typeface="+mn-lt"/>
              </a:rPr>
              <a:t>Draft</a:t>
            </a:r>
          </a:p>
        </p:txBody>
      </p:sp>
    </p:spTree>
    <p:extLst>
      <p:ext uri="{BB962C8B-B14F-4D97-AF65-F5344CB8AC3E}">
        <p14:creationId xmlns:p14="http://schemas.microsoft.com/office/powerpoint/2010/main" val="3158285564"/>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4" r:id="rId12"/>
    <p:sldLayoutId id="2147483935" r:id="rId13"/>
    <p:sldLayoutId id="2147483936" r:id="rId14"/>
  </p:sldLayoutIdLst>
  <p:txStyles>
    <p:title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21.xml"/><Relationship Id="rId7" Type="http://schemas.openxmlformats.org/officeDocument/2006/relationships/image" Target="../media/image8.emf"/><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oleObject" Target="../embeddings/oleObject14.bin"/><Relationship Id="rId5" Type="http://schemas.openxmlformats.org/officeDocument/2006/relationships/slideLayout" Target="../slideLayouts/slideLayout1.xml"/><Relationship Id="rId4" Type="http://schemas.openxmlformats.org/officeDocument/2006/relationships/tags" Target="../tags/tag122.xml"/></Relationships>
</file>

<file path=ppt/slides/_rels/slide2.xml.rels><?xml version="1.0" encoding="UTF-8" standalone="yes"?>
<Relationships xmlns="http://schemas.openxmlformats.org/package/2006/relationships"><Relationship Id="rId3" Type="http://schemas.openxmlformats.org/officeDocument/2006/relationships/tags" Target="../tags/tag125.xml"/><Relationship Id="rId7" Type="http://schemas.openxmlformats.org/officeDocument/2006/relationships/slide" Target="slide10.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7.emf"/><Relationship Id="rId5" Type="http://schemas.openxmlformats.org/officeDocument/2006/relationships/oleObject" Target="../embeddings/oleObject15.bin"/><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3" Type="http://schemas.openxmlformats.org/officeDocument/2006/relationships/tags" Target="../tags/tag138.xml"/><Relationship Id="rId18" Type="http://schemas.openxmlformats.org/officeDocument/2006/relationships/tags" Target="../tags/tag143.xml"/><Relationship Id="rId26" Type="http://schemas.openxmlformats.org/officeDocument/2006/relationships/tags" Target="../tags/tag151.xml"/><Relationship Id="rId39" Type="http://schemas.openxmlformats.org/officeDocument/2006/relationships/image" Target="../media/image9.emf"/><Relationship Id="rId21" Type="http://schemas.openxmlformats.org/officeDocument/2006/relationships/tags" Target="../tags/tag146.xml"/><Relationship Id="rId34" Type="http://schemas.openxmlformats.org/officeDocument/2006/relationships/tags" Target="../tags/tag159.xml"/><Relationship Id="rId42" Type="http://schemas.openxmlformats.org/officeDocument/2006/relationships/image" Target="../media/image12.svg"/><Relationship Id="rId47" Type="http://schemas.openxmlformats.org/officeDocument/2006/relationships/image" Target="../media/image17.png"/><Relationship Id="rId50" Type="http://schemas.openxmlformats.org/officeDocument/2006/relationships/image" Target="../media/image20.png"/><Relationship Id="rId7" Type="http://schemas.openxmlformats.org/officeDocument/2006/relationships/tags" Target="../tags/tag132.xml"/><Relationship Id="rId2" Type="http://schemas.openxmlformats.org/officeDocument/2006/relationships/tags" Target="../tags/tag127.xml"/><Relationship Id="rId16" Type="http://schemas.openxmlformats.org/officeDocument/2006/relationships/tags" Target="../tags/tag141.xml"/><Relationship Id="rId29" Type="http://schemas.openxmlformats.org/officeDocument/2006/relationships/tags" Target="../tags/tag154.xml"/><Relationship Id="rId11" Type="http://schemas.openxmlformats.org/officeDocument/2006/relationships/tags" Target="../tags/tag136.xml"/><Relationship Id="rId24" Type="http://schemas.openxmlformats.org/officeDocument/2006/relationships/tags" Target="../tags/tag149.xml"/><Relationship Id="rId32" Type="http://schemas.openxmlformats.org/officeDocument/2006/relationships/tags" Target="../tags/tag157.xml"/><Relationship Id="rId37" Type="http://schemas.openxmlformats.org/officeDocument/2006/relationships/notesSlide" Target="../notesSlides/notesSlide1.xml"/><Relationship Id="rId40" Type="http://schemas.openxmlformats.org/officeDocument/2006/relationships/image" Target="../media/image10.svg"/><Relationship Id="rId45" Type="http://schemas.openxmlformats.org/officeDocument/2006/relationships/image" Target="../media/image15.png"/><Relationship Id="rId5" Type="http://schemas.openxmlformats.org/officeDocument/2006/relationships/tags" Target="../tags/tag130.xml"/><Relationship Id="rId15" Type="http://schemas.openxmlformats.org/officeDocument/2006/relationships/tags" Target="../tags/tag140.xml"/><Relationship Id="rId23" Type="http://schemas.openxmlformats.org/officeDocument/2006/relationships/tags" Target="../tags/tag148.xml"/><Relationship Id="rId28" Type="http://schemas.openxmlformats.org/officeDocument/2006/relationships/tags" Target="../tags/tag153.xml"/><Relationship Id="rId36" Type="http://schemas.openxmlformats.org/officeDocument/2006/relationships/slideLayout" Target="../slideLayouts/slideLayout2.xml"/><Relationship Id="rId49" Type="http://schemas.openxmlformats.org/officeDocument/2006/relationships/image" Target="../media/image19.png"/><Relationship Id="rId10" Type="http://schemas.openxmlformats.org/officeDocument/2006/relationships/tags" Target="../tags/tag135.xml"/><Relationship Id="rId19" Type="http://schemas.openxmlformats.org/officeDocument/2006/relationships/tags" Target="../tags/tag144.xml"/><Relationship Id="rId31" Type="http://schemas.openxmlformats.org/officeDocument/2006/relationships/tags" Target="../tags/tag156.xml"/><Relationship Id="rId44" Type="http://schemas.openxmlformats.org/officeDocument/2006/relationships/image" Target="../media/image14.png"/><Relationship Id="rId52" Type="http://schemas.openxmlformats.org/officeDocument/2006/relationships/image" Target="../media/image22.png"/><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tags" Target="../tags/tag139.xml"/><Relationship Id="rId22" Type="http://schemas.openxmlformats.org/officeDocument/2006/relationships/tags" Target="../tags/tag147.xml"/><Relationship Id="rId27" Type="http://schemas.openxmlformats.org/officeDocument/2006/relationships/tags" Target="../tags/tag152.xml"/><Relationship Id="rId30" Type="http://schemas.openxmlformats.org/officeDocument/2006/relationships/tags" Target="../tags/tag155.xml"/><Relationship Id="rId35" Type="http://schemas.openxmlformats.org/officeDocument/2006/relationships/tags" Target="../tags/tag160.xml"/><Relationship Id="rId43" Type="http://schemas.openxmlformats.org/officeDocument/2006/relationships/image" Target="../media/image13.png"/><Relationship Id="rId48" Type="http://schemas.openxmlformats.org/officeDocument/2006/relationships/image" Target="../media/image18.png"/><Relationship Id="rId8" Type="http://schemas.openxmlformats.org/officeDocument/2006/relationships/tags" Target="../tags/tag133.xml"/><Relationship Id="rId51" Type="http://schemas.openxmlformats.org/officeDocument/2006/relationships/image" Target="../media/image21.png"/><Relationship Id="rId3" Type="http://schemas.openxmlformats.org/officeDocument/2006/relationships/tags" Target="../tags/tag128.xml"/><Relationship Id="rId12" Type="http://schemas.openxmlformats.org/officeDocument/2006/relationships/tags" Target="../tags/tag137.xml"/><Relationship Id="rId17" Type="http://schemas.openxmlformats.org/officeDocument/2006/relationships/tags" Target="../tags/tag142.xml"/><Relationship Id="rId25" Type="http://schemas.openxmlformats.org/officeDocument/2006/relationships/tags" Target="../tags/tag150.xml"/><Relationship Id="rId33" Type="http://schemas.openxmlformats.org/officeDocument/2006/relationships/tags" Target="../tags/tag158.xml"/><Relationship Id="rId38" Type="http://schemas.openxmlformats.org/officeDocument/2006/relationships/oleObject" Target="../embeddings/oleObject16.bin"/><Relationship Id="rId46" Type="http://schemas.openxmlformats.org/officeDocument/2006/relationships/image" Target="../media/image16.png"/><Relationship Id="rId20" Type="http://schemas.openxmlformats.org/officeDocument/2006/relationships/tags" Target="../tags/tag145.xml"/><Relationship Id="rId41" Type="http://schemas.openxmlformats.org/officeDocument/2006/relationships/image" Target="../media/image11.svg"/><Relationship Id="rId1" Type="http://schemas.openxmlformats.org/officeDocument/2006/relationships/tags" Target="../tags/tag126.xml"/><Relationship Id="rId6" Type="http://schemas.openxmlformats.org/officeDocument/2006/relationships/tags" Target="../tags/tag131.xml"/></Relationships>
</file>

<file path=ppt/slides/_rels/slide4.xml.rels><?xml version="1.0" encoding="UTF-8" standalone="yes"?>
<Relationships xmlns="http://schemas.openxmlformats.org/package/2006/relationships"><Relationship Id="rId13" Type="http://schemas.openxmlformats.org/officeDocument/2006/relationships/tags" Target="../tags/tag173.xml"/><Relationship Id="rId18" Type="http://schemas.openxmlformats.org/officeDocument/2006/relationships/tags" Target="../tags/tag178.xml"/><Relationship Id="rId26" Type="http://schemas.openxmlformats.org/officeDocument/2006/relationships/tags" Target="../tags/tag186.xml"/><Relationship Id="rId39" Type="http://schemas.openxmlformats.org/officeDocument/2006/relationships/tags" Target="../tags/tag199.xml"/><Relationship Id="rId21" Type="http://schemas.openxmlformats.org/officeDocument/2006/relationships/tags" Target="../tags/tag181.xml"/><Relationship Id="rId34" Type="http://schemas.openxmlformats.org/officeDocument/2006/relationships/tags" Target="../tags/tag194.xml"/><Relationship Id="rId42" Type="http://schemas.openxmlformats.org/officeDocument/2006/relationships/tags" Target="../tags/tag202.xml"/><Relationship Id="rId47" Type="http://schemas.openxmlformats.org/officeDocument/2006/relationships/image" Target="../media/image25.svg"/><Relationship Id="rId50" Type="http://schemas.openxmlformats.org/officeDocument/2006/relationships/image" Target="../media/image28.png"/><Relationship Id="rId55" Type="http://schemas.openxmlformats.org/officeDocument/2006/relationships/image" Target="../media/image33.png"/><Relationship Id="rId7" Type="http://schemas.openxmlformats.org/officeDocument/2006/relationships/tags" Target="../tags/tag167.xml"/><Relationship Id="rId2" Type="http://schemas.openxmlformats.org/officeDocument/2006/relationships/tags" Target="../tags/tag162.xml"/><Relationship Id="rId16" Type="http://schemas.openxmlformats.org/officeDocument/2006/relationships/tags" Target="../tags/tag176.xml"/><Relationship Id="rId29" Type="http://schemas.openxmlformats.org/officeDocument/2006/relationships/tags" Target="../tags/tag189.xml"/><Relationship Id="rId11" Type="http://schemas.openxmlformats.org/officeDocument/2006/relationships/tags" Target="../tags/tag171.xml"/><Relationship Id="rId24" Type="http://schemas.openxmlformats.org/officeDocument/2006/relationships/tags" Target="../tags/tag184.xml"/><Relationship Id="rId32" Type="http://schemas.openxmlformats.org/officeDocument/2006/relationships/tags" Target="../tags/tag192.xml"/><Relationship Id="rId37" Type="http://schemas.openxmlformats.org/officeDocument/2006/relationships/tags" Target="../tags/tag197.xml"/><Relationship Id="rId40" Type="http://schemas.openxmlformats.org/officeDocument/2006/relationships/tags" Target="../tags/tag200.xml"/><Relationship Id="rId45" Type="http://schemas.openxmlformats.org/officeDocument/2006/relationships/image" Target="../media/image23.emf"/><Relationship Id="rId53" Type="http://schemas.openxmlformats.org/officeDocument/2006/relationships/image" Target="../media/image31.png"/><Relationship Id="rId58" Type="http://schemas.openxmlformats.org/officeDocument/2006/relationships/image" Target="../media/image36.svg"/><Relationship Id="rId5" Type="http://schemas.openxmlformats.org/officeDocument/2006/relationships/tags" Target="../tags/tag165.xml"/><Relationship Id="rId19" Type="http://schemas.openxmlformats.org/officeDocument/2006/relationships/tags" Target="../tags/tag179.xml"/><Relationship Id="rId4" Type="http://schemas.openxmlformats.org/officeDocument/2006/relationships/tags" Target="../tags/tag164.xml"/><Relationship Id="rId9" Type="http://schemas.openxmlformats.org/officeDocument/2006/relationships/tags" Target="../tags/tag169.xml"/><Relationship Id="rId14" Type="http://schemas.openxmlformats.org/officeDocument/2006/relationships/tags" Target="../tags/tag174.xml"/><Relationship Id="rId22" Type="http://schemas.openxmlformats.org/officeDocument/2006/relationships/tags" Target="../tags/tag182.xml"/><Relationship Id="rId27" Type="http://schemas.openxmlformats.org/officeDocument/2006/relationships/tags" Target="../tags/tag187.xml"/><Relationship Id="rId30" Type="http://schemas.openxmlformats.org/officeDocument/2006/relationships/tags" Target="../tags/tag190.xml"/><Relationship Id="rId35" Type="http://schemas.openxmlformats.org/officeDocument/2006/relationships/tags" Target="../tags/tag195.xml"/><Relationship Id="rId43" Type="http://schemas.openxmlformats.org/officeDocument/2006/relationships/slideLayout" Target="../slideLayouts/slideLayout10.xml"/><Relationship Id="rId48" Type="http://schemas.openxmlformats.org/officeDocument/2006/relationships/image" Target="../media/image26.svg"/><Relationship Id="rId56" Type="http://schemas.openxmlformats.org/officeDocument/2006/relationships/image" Target="../media/image34.jpeg"/><Relationship Id="rId8" Type="http://schemas.openxmlformats.org/officeDocument/2006/relationships/tags" Target="../tags/tag168.xml"/><Relationship Id="rId51" Type="http://schemas.openxmlformats.org/officeDocument/2006/relationships/image" Target="../media/image29.png"/><Relationship Id="rId3" Type="http://schemas.openxmlformats.org/officeDocument/2006/relationships/tags" Target="../tags/tag163.xml"/><Relationship Id="rId12" Type="http://schemas.openxmlformats.org/officeDocument/2006/relationships/tags" Target="../tags/tag172.xml"/><Relationship Id="rId17" Type="http://schemas.openxmlformats.org/officeDocument/2006/relationships/tags" Target="../tags/tag177.xml"/><Relationship Id="rId25" Type="http://schemas.openxmlformats.org/officeDocument/2006/relationships/tags" Target="../tags/tag185.xml"/><Relationship Id="rId33" Type="http://schemas.openxmlformats.org/officeDocument/2006/relationships/tags" Target="../tags/tag193.xml"/><Relationship Id="rId38" Type="http://schemas.openxmlformats.org/officeDocument/2006/relationships/tags" Target="../tags/tag198.xml"/><Relationship Id="rId46" Type="http://schemas.openxmlformats.org/officeDocument/2006/relationships/image" Target="../media/image24.svg"/><Relationship Id="rId59" Type="http://schemas.openxmlformats.org/officeDocument/2006/relationships/image" Target="../media/image37.svg"/><Relationship Id="rId20" Type="http://schemas.openxmlformats.org/officeDocument/2006/relationships/tags" Target="../tags/tag180.xml"/><Relationship Id="rId41" Type="http://schemas.openxmlformats.org/officeDocument/2006/relationships/tags" Target="../tags/tag201.xml"/><Relationship Id="rId54" Type="http://schemas.openxmlformats.org/officeDocument/2006/relationships/image" Target="../media/image32.png"/><Relationship Id="rId1" Type="http://schemas.openxmlformats.org/officeDocument/2006/relationships/tags" Target="../tags/tag161.xml"/><Relationship Id="rId6" Type="http://schemas.openxmlformats.org/officeDocument/2006/relationships/tags" Target="../tags/tag166.xml"/><Relationship Id="rId15" Type="http://schemas.openxmlformats.org/officeDocument/2006/relationships/tags" Target="../tags/tag175.xml"/><Relationship Id="rId23" Type="http://schemas.openxmlformats.org/officeDocument/2006/relationships/tags" Target="../tags/tag183.xml"/><Relationship Id="rId28" Type="http://schemas.openxmlformats.org/officeDocument/2006/relationships/tags" Target="../tags/tag188.xml"/><Relationship Id="rId36" Type="http://schemas.openxmlformats.org/officeDocument/2006/relationships/tags" Target="../tags/tag196.xml"/><Relationship Id="rId49" Type="http://schemas.openxmlformats.org/officeDocument/2006/relationships/image" Target="../media/image27.png"/><Relationship Id="rId57" Type="http://schemas.openxmlformats.org/officeDocument/2006/relationships/image" Target="../media/image35.png"/><Relationship Id="rId10" Type="http://schemas.openxmlformats.org/officeDocument/2006/relationships/tags" Target="../tags/tag170.xml"/><Relationship Id="rId31" Type="http://schemas.openxmlformats.org/officeDocument/2006/relationships/tags" Target="../tags/tag191.xml"/><Relationship Id="rId44" Type="http://schemas.openxmlformats.org/officeDocument/2006/relationships/oleObject" Target="../embeddings/oleObject17.bin"/><Relationship Id="rId52" Type="http://schemas.openxmlformats.org/officeDocument/2006/relationships/image" Target="../media/image30.png"/></Relationships>
</file>

<file path=ppt/slides/_rels/slide5.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image" Target="../media/image39.svg"/><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38.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18.bin"/><Relationship Id="rId5" Type="http://schemas.openxmlformats.org/officeDocument/2006/relationships/tags" Target="../tags/tag207.xml"/><Relationship Id="rId15" Type="http://schemas.openxmlformats.org/officeDocument/2006/relationships/image" Target="../media/image41.svg"/><Relationship Id="rId10" Type="http://schemas.openxmlformats.org/officeDocument/2006/relationships/slideLayout" Target="../slideLayouts/slideLayout2.xml"/><Relationship Id="rId4" Type="http://schemas.openxmlformats.org/officeDocument/2006/relationships/tags" Target="../tags/tag206.xml"/><Relationship Id="rId9" Type="http://schemas.openxmlformats.org/officeDocument/2006/relationships/tags" Target="../tags/tag211.xml"/><Relationship Id="rId14" Type="http://schemas.openxmlformats.org/officeDocument/2006/relationships/image" Target="../media/image40.svg"/></Relationships>
</file>

<file path=ppt/slides/_rels/slide6.xml.rels><?xml version="1.0" encoding="UTF-8" standalone="yes"?>
<Relationships xmlns="http://schemas.openxmlformats.org/package/2006/relationships"><Relationship Id="rId8" Type="http://schemas.openxmlformats.org/officeDocument/2006/relationships/tags" Target="../tags/tag219.xml"/><Relationship Id="rId13" Type="http://schemas.openxmlformats.org/officeDocument/2006/relationships/tags" Target="../tags/tag224.xml"/><Relationship Id="rId18" Type="http://schemas.openxmlformats.org/officeDocument/2006/relationships/tags" Target="../tags/tag229.xml"/><Relationship Id="rId26" Type="http://schemas.openxmlformats.org/officeDocument/2006/relationships/notesSlide" Target="../notesSlides/notesSlide2.xml"/><Relationship Id="rId3" Type="http://schemas.openxmlformats.org/officeDocument/2006/relationships/tags" Target="../tags/tag214.xml"/><Relationship Id="rId21" Type="http://schemas.openxmlformats.org/officeDocument/2006/relationships/tags" Target="../tags/tag232.xml"/><Relationship Id="rId7" Type="http://schemas.openxmlformats.org/officeDocument/2006/relationships/tags" Target="../tags/tag218.xml"/><Relationship Id="rId12" Type="http://schemas.openxmlformats.org/officeDocument/2006/relationships/tags" Target="../tags/tag223.xml"/><Relationship Id="rId17" Type="http://schemas.openxmlformats.org/officeDocument/2006/relationships/tags" Target="../tags/tag228.xml"/><Relationship Id="rId25" Type="http://schemas.openxmlformats.org/officeDocument/2006/relationships/slideLayout" Target="../slideLayouts/slideLayout13.xml"/><Relationship Id="rId2" Type="http://schemas.openxmlformats.org/officeDocument/2006/relationships/tags" Target="../tags/tag213.xml"/><Relationship Id="rId16" Type="http://schemas.openxmlformats.org/officeDocument/2006/relationships/tags" Target="../tags/tag227.xml"/><Relationship Id="rId20" Type="http://schemas.openxmlformats.org/officeDocument/2006/relationships/tags" Target="../tags/tag231.xml"/><Relationship Id="rId29" Type="http://schemas.openxmlformats.org/officeDocument/2006/relationships/chart" Target="../charts/chart1.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tags" Target="../tags/tag222.xml"/><Relationship Id="rId24" Type="http://schemas.openxmlformats.org/officeDocument/2006/relationships/tags" Target="../tags/tag235.xml"/><Relationship Id="rId5" Type="http://schemas.openxmlformats.org/officeDocument/2006/relationships/tags" Target="../tags/tag216.xml"/><Relationship Id="rId15" Type="http://schemas.openxmlformats.org/officeDocument/2006/relationships/tags" Target="../tags/tag226.xml"/><Relationship Id="rId23" Type="http://schemas.openxmlformats.org/officeDocument/2006/relationships/tags" Target="../tags/tag234.xml"/><Relationship Id="rId28" Type="http://schemas.openxmlformats.org/officeDocument/2006/relationships/image" Target="../media/image8.emf"/><Relationship Id="rId10" Type="http://schemas.openxmlformats.org/officeDocument/2006/relationships/tags" Target="../tags/tag221.xml"/><Relationship Id="rId19" Type="http://schemas.openxmlformats.org/officeDocument/2006/relationships/tags" Target="../tags/tag230.xml"/><Relationship Id="rId31" Type="http://schemas.openxmlformats.org/officeDocument/2006/relationships/image" Target="../media/image43.svg"/><Relationship Id="rId4" Type="http://schemas.openxmlformats.org/officeDocument/2006/relationships/tags" Target="../tags/tag215.xml"/><Relationship Id="rId9" Type="http://schemas.openxmlformats.org/officeDocument/2006/relationships/tags" Target="../tags/tag220.xml"/><Relationship Id="rId14" Type="http://schemas.openxmlformats.org/officeDocument/2006/relationships/tags" Target="../tags/tag225.xml"/><Relationship Id="rId22" Type="http://schemas.openxmlformats.org/officeDocument/2006/relationships/tags" Target="../tags/tag233.xml"/><Relationship Id="rId27" Type="http://schemas.openxmlformats.org/officeDocument/2006/relationships/oleObject" Target="../embeddings/oleObject19.bin"/><Relationship Id="rId30" Type="http://schemas.openxmlformats.org/officeDocument/2006/relationships/image" Target="../media/image42.svg"/></Relationships>
</file>

<file path=ppt/slides/_rels/slide7.xml.rels><?xml version="1.0" encoding="UTF-8" standalone="yes"?>
<Relationships xmlns="http://schemas.openxmlformats.org/package/2006/relationships"><Relationship Id="rId117" Type="http://schemas.openxmlformats.org/officeDocument/2006/relationships/tags" Target="../tags/tag352.xml"/><Relationship Id="rId21" Type="http://schemas.openxmlformats.org/officeDocument/2006/relationships/tags" Target="../tags/tag256.xml"/><Relationship Id="rId42" Type="http://schemas.openxmlformats.org/officeDocument/2006/relationships/tags" Target="../tags/tag277.xml"/><Relationship Id="rId63" Type="http://schemas.openxmlformats.org/officeDocument/2006/relationships/tags" Target="../tags/tag298.xml"/><Relationship Id="rId84" Type="http://schemas.openxmlformats.org/officeDocument/2006/relationships/tags" Target="../tags/tag319.xml"/><Relationship Id="rId138" Type="http://schemas.openxmlformats.org/officeDocument/2006/relationships/tags" Target="../tags/tag373.xml"/><Relationship Id="rId107" Type="http://schemas.openxmlformats.org/officeDocument/2006/relationships/tags" Target="../tags/tag342.xml"/><Relationship Id="rId11" Type="http://schemas.openxmlformats.org/officeDocument/2006/relationships/tags" Target="../tags/tag246.xml"/><Relationship Id="rId32" Type="http://schemas.openxmlformats.org/officeDocument/2006/relationships/tags" Target="../tags/tag267.xml"/><Relationship Id="rId53" Type="http://schemas.openxmlformats.org/officeDocument/2006/relationships/tags" Target="../tags/tag288.xml"/><Relationship Id="rId74" Type="http://schemas.openxmlformats.org/officeDocument/2006/relationships/tags" Target="../tags/tag309.xml"/><Relationship Id="rId128" Type="http://schemas.openxmlformats.org/officeDocument/2006/relationships/tags" Target="../tags/tag363.xml"/><Relationship Id="rId149" Type="http://schemas.openxmlformats.org/officeDocument/2006/relationships/image" Target="../media/image38.emf"/><Relationship Id="rId5" Type="http://schemas.openxmlformats.org/officeDocument/2006/relationships/tags" Target="../tags/tag240.xml"/><Relationship Id="rId95" Type="http://schemas.openxmlformats.org/officeDocument/2006/relationships/tags" Target="../tags/tag330.xml"/><Relationship Id="rId22" Type="http://schemas.openxmlformats.org/officeDocument/2006/relationships/tags" Target="../tags/tag257.xml"/><Relationship Id="rId27" Type="http://schemas.openxmlformats.org/officeDocument/2006/relationships/tags" Target="../tags/tag262.xml"/><Relationship Id="rId43" Type="http://schemas.openxmlformats.org/officeDocument/2006/relationships/tags" Target="../tags/tag278.xml"/><Relationship Id="rId48" Type="http://schemas.openxmlformats.org/officeDocument/2006/relationships/tags" Target="../tags/tag283.xml"/><Relationship Id="rId64" Type="http://schemas.openxmlformats.org/officeDocument/2006/relationships/tags" Target="../tags/tag299.xml"/><Relationship Id="rId69" Type="http://schemas.openxmlformats.org/officeDocument/2006/relationships/tags" Target="../tags/tag304.xml"/><Relationship Id="rId113" Type="http://schemas.openxmlformats.org/officeDocument/2006/relationships/tags" Target="../tags/tag348.xml"/><Relationship Id="rId118" Type="http://schemas.openxmlformats.org/officeDocument/2006/relationships/tags" Target="../tags/tag353.xml"/><Relationship Id="rId134" Type="http://schemas.openxmlformats.org/officeDocument/2006/relationships/tags" Target="../tags/tag369.xml"/><Relationship Id="rId139" Type="http://schemas.openxmlformats.org/officeDocument/2006/relationships/tags" Target="../tags/tag374.xml"/><Relationship Id="rId80" Type="http://schemas.openxmlformats.org/officeDocument/2006/relationships/tags" Target="../tags/tag315.xml"/><Relationship Id="rId85" Type="http://schemas.openxmlformats.org/officeDocument/2006/relationships/tags" Target="../tags/tag320.xml"/><Relationship Id="rId150" Type="http://schemas.openxmlformats.org/officeDocument/2006/relationships/image" Target="../media/image44.svg"/><Relationship Id="rId155" Type="http://schemas.openxmlformats.org/officeDocument/2006/relationships/image" Target="../media/image48.png"/><Relationship Id="rId12" Type="http://schemas.openxmlformats.org/officeDocument/2006/relationships/tags" Target="../tags/tag247.xml"/><Relationship Id="rId17" Type="http://schemas.openxmlformats.org/officeDocument/2006/relationships/tags" Target="../tags/tag252.xml"/><Relationship Id="rId33" Type="http://schemas.openxmlformats.org/officeDocument/2006/relationships/tags" Target="../tags/tag268.xml"/><Relationship Id="rId38" Type="http://schemas.openxmlformats.org/officeDocument/2006/relationships/tags" Target="../tags/tag273.xml"/><Relationship Id="rId59" Type="http://schemas.openxmlformats.org/officeDocument/2006/relationships/tags" Target="../tags/tag294.xml"/><Relationship Id="rId103" Type="http://schemas.openxmlformats.org/officeDocument/2006/relationships/tags" Target="../tags/tag338.xml"/><Relationship Id="rId108" Type="http://schemas.openxmlformats.org/officeDocument/2006/relationships/tags" Target="../tags/tag343.xml"/><Relationship Id="rId124" Type="http://schemas.openxmlformats.org/officeDocument/2006/relationships/tags" Target="../tags/tag359.xml"/><Relationship Id="rId129" Type="http://schemas.openxmlformats.org/officeDocument/2006/relationships/tags" Target="../tags/tag364.xml"/><Relationship Id="rId54" Type="http://schemas.openxmlformats.org/officeDocument/2006/relationships/tags" Target="../tags/tag289.xml"/><Relationship Id="rId70" Type="http://schemas.openxmlformats.org/officeDocument/2006/relationships/tags" Target="../tags/tag305.xml"/><Relationship Id="rId75" Type="http://schemas.openxmlformats.org/officeDocument/2006/relationships/tags" Target="../tags/tag310.xml"/><Relationship Id="rId91" Type="http://schemas.openxmlformats.org/officeDocument/2006/relationships/tags" Target="../tags/tag326.xml"/><Relationship Id="rId96" Type="http://schemas.openxmlformats.org/officeDocument/2006/relationships/tags" Target="../tags/tag331.xml"/><Relationship Id="rId140" Type="http://schemas.openxmlformats.org/officeDocument/2006/relationships/tags" Target="../tags/tag375.xml"/><Relationship Id="rId145" Type="http://schemas.openxmlformats.org/officeDocument/2006/relationships/tags" Target="../tags/tag380.xml"/><Relationship Id="rId1" Type="http://schemas.openxmlformats.org/officeDocument/2006/relationships/tags" Target="../tags/tag236.xml"/><Relationship Id="rId6" Type="http://schemas.openxmlformats.org/officeDocument/2006/relationships/tags" Target="../tags/tag241.xml"/><Relationship Id="rId23" Type="http://schemas.openxmlformats.org/officeDocument/2006/relationships/tags" Target="../tags/tag258.xml"/><Relationship Id="rId28" Type="http://schemas.openxmlformats.org/officeDocument/2006/relationships/tags" Target="../tags/tag263.xml"/><Relationship Id="rId49" Type="http://schemas.openxmlformats.org/officeDocument/2006/relationships/tags" Target="../tags/tag284.xml"/><Relationship Id="rId114" Type="http://schemas.openxmlformats.org/officeDocument/2006/relationships/tags" Target="../tags/tag349.xml"/><Relationship Id="rId119" Type="http://schemas.openxmlformats.org/officeDocument/2006/relationships/tags" Target="../tags/tag354.xml"/><Relationship Id="rId44" Type="http://schemas.openxmlformats.org/officeDocument/2006/relationships/tags" Target="../tags/tag279.xml"/><Relationship Id="rId60" Type="http://schemas.openxmlformats.org/officeDocument/2006/relationships/tags" Target="../tags/tag295.xml"/><Relationship Id="rId65" Type="http://schemas.openxmlformats.org/officeDocument/2006/relationships/tags" Target="../tags/tag300.xml"/><Relationship Id="rId81" Type="http://schemas.openxmlformats.org/officeDocument/2006/relationships/tags" Target="../tags/tag316.xml"/><Relationship Id="rId86" Type="http://schemas.openxmlformats.org/officeDocument/2006/relationships/tags" Target="../tags/tag321.xml"/><Relationship Id="rId130" Type="http://schemas.openxmlformats.org/officeDocument/2006/relationships/tags" Target="../tags/tag365.xml"/><Relationship Id="rId135" Type="http://schemas.openxmlformats.org/officeDocument/2006/relationships/tags" Target="../tags/tag370.xml"/><Relationship Id="rId151" Type="http://schemas.openxmlformats.org/officeDocument/2006/relationships/image" Target="../media/image35.png"/><Relationship Id="rId13" Type="http://schemas.openxmlformats.org/officeDocument/2006/relationships/tags" Target="../tags/tag248.xml"/><Relationship Id="rId18" Type="http://schemas.openxmlformats.org/officeDocument/2006/relationships/tags" Target="../tags/tag253.xml"/><Relationship Id="rId39" Type="http://schemas.openxmlformats.org/officeDocument/2006/relationships/tags" Target="../tags/tag274.xml"/><Relationship Id="rId109" Type="http://schemas.openxmlformats.org/officeDocument/2006/relationships/tags" Target="../tags/tag344.xml"/><Relationship Id="rId34" Type="http://schemas.openxmlformats.org/officeDocument/2006/relationships/tags" Target="../tags/tag269.xml"/><Relationship Id="rId50" Type="http://schemas.openxmlformats.org/officeDocument/2006/relationships/tags" Target="../tags/tag285.xml"/><Relationship Id="rId55" Type="http://schemas.openxmlformats.org/officeDocument/2006/relationships/tags" Target="../tags/tag290.xml"/><Relationship Id="rId76" Type="http://schemas.openxmlformats.org/officeDocument/2006/relationships/tags" Target="../tags/tag311.xml"/><Relationship Id="rId97" Type="http://schemas.openxmlformats.org/officeDocument/2006/relationships/tags" Target="../tags/tag332.xml"/><Relationship Id="rId104" Type="http://schemas.openxmlformats.org/officeDocument/2006/relationships/tags" Target="../tags/tag339.xml"/><Relationship Id="rId120" Type="http://schemas.openxmlformats.org/officeDocument/2006/relationships/tags" Target="../tags/tag355.xml"/><Relationship Id="rId125" Type="http://schemas.openxmlformats.org/officeDocument/2006/relationships/tags" Target="../tags/tag360.xml"/><Relationship Id="rId141" Type="http://schemas.openxmlformats.org/officeDocument/2006/relationships/tags" Target="../tags/tag376.xml"/><Relationship Id="rId146" Type="http://schemas.openxmlformats.org/officeDocument/2006/relationships/tags" Target="../tags/tag381.xml"/><Relationship Id="rId7" Type="http://schemas.openxmlformats.org/officeDocument/2006/relationships/tags" Target="../tags/tag242.xml"/><Relationship Id="rId71" Type="http://schemas.openxmlformats.org/officeDocument/2006/relationships/tags" Target="../tags/tag306.xml"/><Relationship Id="rId92" Type="http://schemas.openxmlformats.org/officeDocument/2006/relationships/tags" Target="../tags/tag327.xml"/><Relationship Id="rId2" Type="http://schemas.openxmlformats.org/officeDocument/2006/relationships/tags" Target="../tags/tag237.xml"/><Relationship Id="rId29" Type="http://schemas.openxmlformats.org/officeDocument/2006/relationships/tags" Target="../tags/tag264.xml"/><Relationship Id="rId24" Type="http://schemas.openxmlformats.org/officeDocument/2006/relationships/tags" Target="../tags/tag259.xml"/><Relationship Id="rId40" Type="http://schemas.openxmlformats.org/officeDocument/2006/relationships/tags" Target="../tags/tag275.xml"/><Relationship Id="rId45" Type="http://schemas.openxmlformats.org/officeDocument/2006/relationships/tags" Target="../tags/tag280.xml"/><Relationship Id="rId66" Type="http://schemas.openxmlformats.org/officeDocument/2006/relationships/tags" Target="../tags/tag301.xml"/><Relationship Id="rId87" Type="http://schemas.openxmlformats.org/officeDocument/2006/relationships/tags" Target="../tags/tag322.xml"/><Relationship Id="rId110" Type="http://schemas.openxmlformats.org/officeDocument/2006/relationships/tags" Target="../tags/tag345.xml"/><Relationship Id="rId115" Type="http://schemas.openxmlformats.org/officeDocument/2006/relationships/tags" Target="../tags/tag350.xml"/><Relationship Id="rId131" Type="http://schemas.openxmlformats.org/officeDocument/2006/relationships/tags" Target="../tags/tag366.xml"/><Relationship Id="rId136" Type="http://schemas.openxmlformats.org/officeDocument/2006/relationships/tags" Target="../tags/tag371.xml"/><Relationship Id="rId61" Type="http://schemas.openxmlformats.org/officeDocument/2006/relationships/tags" Target="../tags/tag296.xml"/><Relationship Id="rId82" Type="http://schemas.openxmlformats.org/officeDocument/2006/relationships/tags" Target="../tags/tag317.xml"/><Relationship Id="rId152" Type="http://schemas.openxmlformats.org/officeDocument/2006/relationships/image" Target="../media/image45.png"/><Relationship Id="rId19" Type="http://schemas.openxmlformats.org/officeDocument/2006/relationships/tags" Target="../tags/tag254.xml"/><Relationship Id="rId14" Type="http://schemas.openxmlformats.org/officeDocument/2006/relationships/tags" Target="../tags/tag249.xml"/><Relationship Id="rId30" Type="http://schemas.openxmlformats.org/officeDocument/2006/relationships/tags" Target="../tags/tag265.xml"/><Relationship Id="rId35" Type="http://schemas.openxmlformats.org/officeDocument/2006/relationships/tags" Target="../tags/tag270.xml"/><Relationship Id="rId56" Type="http://schemas.openxmlformats.org/officeDocument/2006/relationships/tags" Target="../tags/tag291.xml"/><Relationship Id="rId77" Type="http://schemas.openxmlformats.org/officeDocument/2006/relationships/tags" Target="../tags/tag312.xml"/><Relationship Id="rId100" Type="http://schemas.openxmlformats.org/officeDocument/2006/relationships/tags" Target="../tags/tag335.xml"/><Relationship Id="rId105" Type="http://schemas.openxmlformats.org/officeDocument/2006/relationships/tags" Target="../tags/tag340.xml"/><Relationship Id="rId126" Type="http://schemas.openxmlformats.org/officeDocument/2006/relationships/tags" Target="../tags/tag361.xml"/><Relationship Id="rId147" Type="http://schemas.openxmlformats.org/officeDocument/2006/relationships/slideLayout" Target="../slideLayouts/slideLayout10.xml"/><Relationship Id="rId8" Type="http://schemas.openxmlformats.org/officeDocument/2006/relationships/tags" Target="../tags/tag243.xml"/><Relationship Id="rId51" Type="http://schemas.openxmlformats.org/officeDocument/2006/relationships/tags" Target="../tags/tag286.xml"/><Relationship Id="rId72" Type="http://schemas.openxmlformats.org/officeDocument/2006/relationships/tags" Target="../tags/tag307.xml"/><Relationship Id="rId93" Type="http://schemas.openxmlformats.org/officeDocument/2006/relationships/tags" Target="../tags/tag328.xml"/><Relationship Id="rId98" Type="http://schemas.openxmlformats.org/officeDocument/2006/relationships/tags" Target="../tags/tag333.xml"/><Relationship Id="rId121" Type="http://schemas.openxmlformats.org/officeDocument/2006/relationships/tags" Target="../tags/tag356.xml"/><Relationship Id="rId142" Type="http://schemas.openxmlformats.org/officeDocument/2006/relationships/tags" Target="../tags/tag377.xml"/><Relationship Id="rId3" Type="http://schemas.openxmlformats.org/officeDocument/2006/relationships/tags" Target="../tags/tag238.xml"/><Relationship Id="rId25" Type="http://schemas.openxmlformats.org/officeDocument/2006/relationships/tags" Target="../tags/tag260.xml"/><Relationship Id="rId46" Type="http://schemas.openxmlformats.org/officeDocument/2006/relationships/tags" Target="../tags/tag281.xml"/><Relationship Id="rId67" Type="http://schemas.openxmlformats.org/officeDocument/2006/relationships/tags" Target="../tags/tag302.xml"/><Relationship Id="rId116" Type="http://schemas.openxmlformats.org/officeDocument/2006/relationships/tags" Target="../tags/tag351.xml"/><Relationship Id="rId137" Type="http://schemas.openxmlformats.org/officeDocument/2006/relationships/tags" Target="../tags/tag372.xml"/><Relationship Id="rId20" Type="http://schemas.openxmlformats.org/officeDocument/2006/relationships/tags" Target="../tags/tag255.xml"/><Relationship Id="rId41" Type="http://schemas.openxmlformats.org/officeDocument/2006/relationships/tags" Target="../tags/tag276.xml"/><Relationship Id="rId62" Type="http://schemas.openxmlformats.org/officeDocument/2006/relationships/tags" Target="../tags/tag297.xml"/><Relationship Id="rId83" Type="http://schemas.openxmlformats.org/officeDocument/2006/relationships/tags" Target="../tags/tag318.xml"/><Relationship Id="rId88" Type="http://schemas.openxmlformats.org/officeDocument/2006/relationships/tags" Target="../tags/tag323.xml"/><Relationship Id="rId111" Type="http://schemas.openxmlformats.org/officeDocument/2006/relationships/tags" Target="../tags/tag346.xml"/><Relationship Id="rId132" Type="http://schemas.openxmlformats.org/officeDocument/2006/relationships/tags" Target="../tags/tag367.xml"/><Relationship Id="rId153" Type="http://schemas.openxmlformats.org/officeDocument/2006/relationships/image" Target="../media/image46.png"/><Relationship Id="rId15" Type="http://schemas.openxmlformats.org/officeDocument/2006/relationships/tags" Target="../tags/tag250.xml"/><Relationship Id="rId36" Type="http://schemas.openxmlformats.org/officeDocument/2006/relationships/tags" Target="../tags/tag271.xml"/><Relationship Id="rId57" Type="http://schemas.openxmlformats.org/officeDocument/2006/relationships/tags" Target="../tags/tag292.xml"/><Relationship Id="rId106" Type="http://schemas.openxmlformats.org/officeDocument/2006/relationships/tags" Target="../tags/tag341.xml"/><Relationship Id="rId127" Type="http://schemas.openxmlformats.org/officeDocument/2006/relationships/tags" Target="../tags/tag362.xml"/><Relationship Id="rId10" Type="http://schemas.openxmlformats.org/officeDocument/2006/relationships/tags" Target="../tags/tag245.xml"/><Relationship Id="rId31" Type="http://schemas.openxmlformats.org/officeDocument/2006/relationships/tags" Target="../tags/tag266.xml"/><Relationship Id="rId52" Type="http://schemas.openxmlformats.org/officeDocument/2006/relationships/tags" Target="../tags/tag287.xml"/><Relationship Id="rId73" Type="http://schemas.openxmlformats.org/officeDocument/2006/relationships/tags" Target="../tags/tag308.xml"/><Relationship Id="rId78" Type="http://schemas.openxmlformats.org/officeDocument/2006/relationships/tags" Target="../tags/tag313.xml"/><Relationship Id="rId94" Type="http://schemas.openxmlformats.org/officeDocument/2006/relationships/tags" Target="../tags/tag329.xml"/><Relationship Id="rId99" Type="http://schemas.openxmlformats.org/officeDocument/2006/relationships/tags" Target="../tags/tag334.xml"/><Relationship Id="rId101" Type="http://schemas.openxmlformats.org/officeDocument/2006/relationships/tags" Target="../tags/tag336.xml"/><Relationship Id="rId122" Type="http://schemas.openxmlformats.org/officeDocument/2006/relationships/tags" Target="../tags/tag357.xml"/><Relationship Id="rId143" Type="http://schemas.openxmlformats.org/officeDocument/2006/relationships/tags" Target="../tags/tag378.xml"/><Relationship Id="rId148" Type="http://schemas.openxmlformats.org/officeDocument/2006/relationships/oleObject" Target="../embeddings/oleObject20.bin"/><Relationship Id="rId4" Type="http://schemas.openxmlformats.org/officeDocument/2006/relationships/tags" Target="../tags/tag239.xml"/><Relationship Id="rId9" Type="http://schemas.openxmlformats.org/officeDocument/2006/relationships/tags" Target="../tags/tag244.xml"/><Relationship Id="rId26" Type="http://schemas.openxmlformats.org/officeDocument/2006/relationships/tags" Target="../tags/tag261.xml"/><Relationship Id="rId47" Type="http://schemas.openxmlformats.org/officeDocument/2006/relationships/tags" Target="../tags/tag282.xml"/><Relationship Id="rId68" Type="http://schemas.openxmlformats.org/officeDocument/2006/relationships/tags" Target="../tags/tag303.xml"/><Relationship Id="rId89" Type="http://schemas.openxmlformats.org/officeDocument/2006/relationships/tags" Target="../tags/tag324.xml"/><Relationship Id="rId112" Type="http://schemas.openxmlformats.org/officeDocument/2006/relationships/tags" Target="../tags/tag347.xml"/><Relationship Id="rId133" Type="http://schemas.openxmlformats.org/officeDocument/2006/relationships/tags" Target="../tags/tag368.xml"/><Relationship Id="rId154" Type="http://schemas.openxmlformats.org/officeDocument/2006/relationships/image" Target="../media/image47.png"/><Relationship Id="rId16" Type="http://schemas.openxmlformats.org/officeDocument/2006/relationships/tags" Target="../tags/tag251.xml"/><Relationship Id="rId37" Type="http://schemas.openxmlformats.org/officeDocument/2006/relationships/tags" Target="../tags/tag272.xml"/><Relationship Id="rId58" Type="http://schemas.openxmlformats.org/officeDocument/2006/relationships/tags" Target="../tags/tag293.xml"/><Relationship Id="rId79" Type="http://schemas.openxmlformats.org/officeDocument/2006/relationships/tags" Target="../tags/tag314.xml"/><Relationship Id="rId102" Type="http://schemas.openxmlformats.org/officeDocument/2006/relationships/tags" Target="../tags/tag337.xml"/><Relationship Id="rId123" Type="http://schemas.openxmlformats.org/officeDocument/2006/relationships/tags" Target="../tags/tag358.xml"/><Relationship Id="rId144" Type="http://schemas.openxmlformats.org/officeDocument/2006/relationships/tags" Target="../tags/tag379.xml"/><Relationship Id="rId90" Type="http://schemas.openxmlformats.org/officeDocument/2006/relationships/tags" Target="../tags/tag325.xml"/></Relationships>
</file>

<file path=ppt/slides/_rels/slide8.xml.rels><?xml version="1.0" encoding="UTF-8" standalone="yes"?>
<Relationships xmlns="http://schemas.openxmlformats.org/package/2006/relationships"><Relationship Id="rId13" Type="http://schemas.openxmlformats.org/officeDocument/2006/relationships/tags" Target="../tags/tag394.xml"/><Relationship Id="rId18" Type="http://schemas.openxmlformats.org/officeDocument/2006/relationships/oleObject" Target="../embeddings/oleObject21.bin"/><Relationship Id="rId26" Type="http://schemas.openxmlformats.org/officeDocument/2006/relationships/image" Target="../media/image52.png"/><Relationship Id="rId39" Type="http://schemas.openxmlformats.org/officeDocument/2006/relationships/image" Target="../media/image61.svg"/><Relationship Id="rId21" Type="http://schemas.microsoft.com/office/2007/relationships/hdphoto" Target="../media/hdphoto1.wdp"/><Relationship Id="rId34" Type="http://schemas.openxmlformats.org/officeDocument/2006/relationships/image" Target="../media/image56.png"/><Relationship Id="rId42" Type="http://schemas.openxmlformats.org/officeDocument/2006/relationships/image" Target="../media/image64.png"/><Relationship Id="rId47" Type="http://schemas.microsoft.com/office/2007/relationships/hdphoto" Target="../media/hdphoto9.wdp"/><Relationship Id="rId7" Type="http://schemas.openxmlformats.org/officeDocument/2006/relationships/tags" Target="../tags/tag388.xml"/><Relationship Id="rId2" Type="http://schemas.openxmlformats.org/officeDocument/2006/relationships/tags" Target="../tags/tag383.xml"/><Relationship Id="rId16" Type="http://schemas.openxmlformats.org/officeDocument/2006/relationships/tags" Target="../tags/tag397.xml"/><Relationship Id="rId29" Type="http://schemas.microsoft.com/office/2007/relationships/hdphoto" Target="../media/hdphoto5.wdp"/><Relationship Id="rId11" Type="http://schemas.openxmlformats.org/officeDocument/2006/relationships/tags" Target="../tags/tag392.xml"/><Relationship Id="rId24" Type="http://schemas.openxmlformats.org/officeDocument/2006/relationships/image" Target="../media/image51.png"/><Relationship Id="rId32" Type="http://schemas.openxmlformats.org/officeDocument/2006/relationships/image" Target="../media/image55.png"/><Relationship Id="rId37" Type="http://schemas.openxmlformats.org/officeDocument/2006/relationships/image" Target="../media/image59.png"/><Relationship Id="rId40" Type="http://schemas.openxmlformats.org/officeDocument/2006/relationships/image" Target="../media/image62.svg"/><Relationship Id="rId45" Type="http://schemas.microsoft.com/office/2007/relationships/hdphoto" Target="../media/hdphoto8.wdp"/><Relationship Id="rId5" Type="http://schemas.openxmlformats.org/officeDocument/2006/relationships/tags" Target="../tags/tag386.xml"/><Relationship Id="rId15" Type="http://schemas.openxmlformats.org/officeDocument/2006/relationships/tags" Target="../tags/tag396.xml"/><Relationship Id="rId23" Type="http://schemas.microsoft.com/office/2007/relationships/hdphoto" Target="../media/hdphoto2.wdp"/><Relationship Id="rId28" Type="http://schemas.openxmlformats.org/officeDocument/2006/relationships/image" Target="../media/image53.png"/><Relationship Id="rId36" Type="http://schemas.openxmlformats.org/officeDocument/2006/relationships/image" Target="../media/image58.png"/><Relationship Id="rId49" Type="http://schemas.openxmlformats.org/officeDocument/2006/relationships/image" Target="../media/image69.png"/><Relationship Id="rId10" Type="http://schemas.openxmlformats.org/officeDocument/2006/relationships/tags" Target="../tags/tag391.xml"/><Relationship Id="rId19" Type="http://schemas.openxmlformats.org/officeDocument/2006/relationships/image" Target="../media/image8.emf"/><Relationship Id="rId31" Type="http://schemas.microsoft.com/office/2007/relationships/hdphoto" Target="../media/hdphoto6.wdp"/><Relationship Id="rId44" Type="http://schemas.openxmlformats.org/officeDocument/2006/relationships/image" Target="../media/image66.png"/><Relationship Id="rId4" Type="http://schemas.openxmlformats.org/officeDocument/2006/relationships/tags" Target="../tags/tag385.xml"/><Relationship Id="rId9" Type="http://schemas.openxmlformats.org/officeDocument/2006/relationships/tags" Target="../tags/tag390.xml"/><Relationship Id="rId14" Type="http://schemas.openxmlformats.org/officeDocument/2006/relationships/tags" Target="../tags/tag395.xml"/><Relationship Id="rId22" Type="http://schemas.openxmlformats.org/officeDocument/2006/relationships/image" Target="../media/image50.png"/><Relationship Id="rId27" Type="http://schemas.microsoft.com/office/2007/relationships/hdphoto" Target="../media/hdphoto4.wdp"/><Relationship Id="rId30" Type="http://schemas.openxmlformats.org/officeDocument/2006/relationships/image" Target="../media/image54.png"/><Relationship Id="rId35" Type="http://schemas.openxmlformats.org/officeDocument/2006/relationships/image" Target="../media/image57.png"/><Relationship Id="rId43" Type="http://schemas.openxmlformats.org/officeDocument/2006/relationships/image" Target="../media/image65.gif"/><Relationship Id="rId48" Type="http://schemas.openxmlformats.org/officeDocument/2006/relationships/image" Target="../media/image68.png"/><Relationship Id="rId8" Type="http://schemas.openxmlformats.org/officeDocument/2006/relationships/tags" Target="../tags/tag389.xml"/><Relationship Id="rId3" Type="http://schemas.openxmlformats.org/officeDocument/2006/relationships/tags" Target="../tags/tag384.xml"/><Relationship Id="rId12" Type="http://schemas.openxmlformats.org/officeDocument/2006/relationships/tags" Target="../tags/tag393.xml"/><Relationship Id="rId17" Type="http://schemas.openxmlformats.org/officeDocument/2006/relationships/slideLayout" Target="../slideLayouts/slideLayout2.xml"/><Relationship Id="rId25" Type="http://schemas.microsoft.com/office/2007/relationships/hdphoto" Target="../media/hdphoto3.wdp"/><Relationship Id="rId33" Type="http://schemas.microsoft.com/office/2007/relationships/hdphoto" Target="../media/hdphoto7.wdp"/><Relationship Id="rId38" Type="http://schemas.openxmlformats.org/officeDocument/2006/relationships/image" Target="../media/image60.png"/><Relationship Id="rId46" Type="http://schemas.openxmlformats.org/officeDocument/2006/relationships/image" Target="../media/image67.png"/><Relationship Id="rId20" Type="http://schemas.openxmlformats.org/officeDocument/2006/relationships/image" Target="../media/image49.png"/><Relationship Id="rId41" Type="http://schemas.openxmlformats.org/officeDocument/2006/relationships/image" Target="../media/image63.svg"/><Relationship Id="rId1" Type="http://schemas.openxmlformats.org/officeDocument/2006/relationships/tags" Target="../tags/tag382.xml"/><Relationship Id="rId6" Type="http://schemas.openxmlformats.org/officeDocument/2006/relationships/tags" Target="../tags/tag387.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tags" Target="../tags/tag400.xml"/><Relationship Id="rId7" Type="http://schemas.openxmlformats.org/officeDocument/2006/relationships/tags" Target="../tags/tag404.xml"/><Relationship Id="rId2" Type="http://schemas.openxmlformats.org/officeDocument/2006/relationships/tags" Target="../tags/tag399.xml"/><Relationship Id="rId1" Type="http://schemas.openxmlformats.org/officeDocument/2006/relationships/tags" Target="../tags/tag398.xml"/><Relationship Id="rId6" Type="http://schemas.openxmlformats.org/officeDocument/2006/relationships/tags" Target="../tags/tag403.xml"/><Relationship Id="rId11" Type="http://schemas.openxmlformats.org/officeDocument/2006/relationships/image" Target="../media/image8.emf"/><Relationship Id="rId5" Type="http://schemas.openxmlformats.org/officeDocument/2006/relationships/tags" Target="../tags/tag402.xml"/><Relationship Id="rId10" Type="http://schemas.openxmlformats.org/officeDocument/2006/relationships/oleObject" Target="../embeddings/oleObject22.bin"/><Relationship Id="rId4" Type="http://schemas.openxmlformats.org/officeDocument/2006/relationships/tags" Target="../tags/tag401.xml"/><Relationship Id="rId9"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tags" Target="../tags/tag407.xml"/><Relationship Id="rId7" Type="http://schemas.openxmlformats.org/officeDocument/2006/relationships/image" Target="../media/image7.emf"/><Relationship Id="rId2" Type="http://schemas.openxmlformats.org/officeDocument/2006/relationships/tags" Target="../tags/tag406.xml"/><Relationship Id="rId1" Type="http://schemas.openxmlformats.org/officeDocument/2006/relationships/tags" Target="../tags/tag405.xml"/><Relationship Id="rId6" Type="http://schemas.openxmlformats.org/officeDocument/2006/relationships/oleObject" Target="../embeddings/oleObject23.bin"/><Relationship Id="rId5" Type="http://schemas.openxmlformats.org/officeDocument/2006/relationships/slideLayout" Target="../slideLayouts/slideLayout3.xml"/><Relationship Id="rId4" Type="http://schemas.openxmlformats.org/officeDocument/2006/relationships/tags" Target="../tags/tag408.xml"/></Relationships>
</file>

<file path=ppt/slides/_rels/slide11.xml.rels><?xml version="1.0" encoding="UTF-8" standalone="yes"?>
<Relationships xmlns="http://schemas.openxmlformats.org/package/2006/relationships"><Relationship Id="rId13" Type="http://schemas.openxmlformats.org/officeDocument/2006/relationships/tags" Target="../tags/tag421.xml"/><Relationship Id="rId18" Type="http://schemas.openxmlformats.org/officeDocument/2006/relationships/tags" Target="../tags/tag426.xml"/><Relationship Id="rId26" Type="http://schemas.openxmlformats.org/officeDocument/2006/relationships/image" Target="../media/image73.png"/><Relationship Id="rId39" Type="http://schemas.openxmlformats.org/officeDocument/2006/relationships/image" Target="../media/image86.jpeg"/><Relationship Id="rId21" Type="http://schemas.openxmlformats.org/officeDocument/2006/relationships/oleObject" Target="../embeddings/oleObject24.bin"/><Relationship Id="rId34" Type="http://schemas.openxmlformats.org/officeDocument/2006/relationships/image" Target="../media/image81.png"/><Relationship Id="rId7" Type="http://schemas.openxmlformats.org/officeDocument/2006/relationships/tags" Target="../tags/tag415.xml"/><Relationship Id="rId2" Type="http://schemas.openxmlformats.org/officeDocument/2006/relationships/tags" Target="../tags/tag410.xml"/><Relationship Id="rId16" Type="http://schemas.openxmlformats.org/officeDocument/2006/relationships/tags" Target="../tags/tag424.xml"/><Relationship Id="rId20" Type="http://schemas.openxmlformats.org/officeDocument/2006/relationships/notesSlide" Target="../notesSlides/notesSlide4.xml"/><Relationship Id="rId29" Type="http://schemas.openxmlformats.org/officeDocument/2006/relationships/image" Target="../media/image76.png"/><Relationship Id="rId41" Type="http://schemas.openxmlformats.org/officeDocument/2006/relationships/image" Target="../media/image88.png"/><Relationship Id="rId1" Type="http://schemas.openxmlformats.org/officeDocument/2006/relationships/tags" Target="../tags/tag409.xml"/><Relationship Id="rId6" Type="http://schemas.openxmlformats.org/officeDocument/2006/relationships/tags" Target="../tags/tag414.xml"/><Relationship Id="rId11" Type="http://schemas.openxmlformats.org/officeDocument/2006/relationships/tags" Target="../tags/tag419.xml"/><Relationship Id="rId24" Type="http://schemas.openxmlformats.org/officeDocument/2006/relationships/image" Target="../media/image71.svg"/><Relationship Id="rId32" Type="http://schemas.openxmlformats.org/officeDocument/2006/relationships/image" Target="../media/image79.png"/><Relationship Id="rId37" Type="http://schemas.openxmlformats.org/officeDocument/2006/relationships/image" Target="../media/image84.png"/><Relationship Id="rId40" Type="http://schemas.openxmlformats.org/officeDocument/2006/relationships/image" Target="../media/image87.png"/><Relationship Id="rId5" Type="http://schemas.openxmlformats.org/officeDocument/2006/relationships/tags" Target="../tags/tag413.xml"/><Relationship Id="rId15" Type="http://schemas.openxmlformats.org/officeDocument/2006/relationships/tags" Target="../tags/tag423.xml"/><Relationship Id="rId23" Type="http://schemas.openxmlformats.org/officeDocument/2006/relationships/image" Target="../media/image70.svg"/><Relationship Id="rId28" Type="http://schemas.openxmlformats.org/officeDocument/2006/relationships/image" Target="../media/image75.png"/><Relationship Id="rId36" Type="http://schemas.openxmlformats.org/officeDocument/2006/relationships/image" Target="../media/image83.png"/><Relationship Id="rId10" Type="http://schemas.openxmlformats.org/officeDocument/2006/relationships/tags" Target="../tags/tag418.xml"/><Relationship Id="rId19" Type="http://schemas.openxmlformats.org/officeDocument/2006/relationships/slideLayout" Target="../slideLayouts/slideLayout2.xml"/><Relationship Id="rId31" Type="http://schemas.openxmlformats.org/officeDocument/2006/relationships/image" Target="../media/image78.png"/><Relationship Id="rId4" Type="http://schemas.openxmlformats.org/officeDocument/2006/relationships/tags" Target="../tags/tag412.xml"/><Relationship Id="rId9" Type="http://schemas.openxmlformats.org/officeDocument/2006/relationships/tags" Target="../tags/tag417.xml"/><Relationship Id="rId14" Type="http://schemas.openxmlformats.org/officeDocument/2006/relationships/tags" Target="../tags/tag422.xml"/><Relationship Id="rId22" Type="http://schemas.openxmlformats.org/officeDocument/2006/relationships/image" Target="../media/image8.emf"/><Relationship Id="rId27" Type="http://schemas.openxmlformats.org/officeDocument/2006/relationships/image" Target="../media/image74.png"/><Relationship Id="rId30" Type="http://schemas.openxmlformats.org/officeDocument/2006/relationships/image" Target="../media/image77.png"/><Relationship Id="rId35" Type="http://schemas.openxmlformats.org/officeDocument/2006/relationships/image" Target="../media/image82.png"/><Relationship Id="rId8" Type="http://schemas.openxmlformats.org/officeDocument/2006/relationships/tags" Target="../tags/tag416.xml"/><Relationship Id="rId3" Type="http://schemas.openxmlformats.org/officeDocument/2006/relationships/tags" Target="../tags/tag411.xml"/><Relationship Id="rId12" Type="http://schemas.openxmlformats.org/officeDocument/2006/relationships/tags" Target="../tags/tag420.xml"/><Relationship Id="rId17" Type="http://schemas.openxmlformats.org/officeDocument/2006/relationships/tags" Target="../tags/tag425.xml"/><Relationship Id="rId25" Type="http://schemas.openxmlformats.org/officeDocument/2006/relationships/image" Target="../media/image72.svg"/><Relationship Id="rId33" Type="http://schemas.openxmlformats.org/officeDocument/2006/relationships/image" Target="../media/image80.png"/><Relationship Id="rId38" Type="http://schemas.openxmlformats.org/officeDocument/2006/relationships/image" Target="../media/image85.png"/></Relationships>
</file>

<file path=ppt/slides/_rels/slide12.xml.rels><?xml version="1.0" encoding="UTF-8" standalone="yes"?>
<Relationships xmlns="http://schemas.openxmlformats.org/package/2006/relationships"><Relationship Id="rId8" Type="http://schemas.openxmlformats.org/officeDocument/2006/relationships/tags" Target="../tags/tag434.xml"/><Relationship Id="rId13" Type="http://schemas.openxmlformats.org/officeDocument/2006/relationships/image" Target="../media/image90.png"/><Relationship Id="rId3" Type="http://schemas.openxmlformats.org/officeDocument/2006/relationships/tags" Target="../tags/tag429.xml"/><Relationship Id="rId7" Type="http://schemas.openxmlformats.org/officeDocument/2006/relationships/tags" Target="../tags/tag433.xml"/><Relationship Id="rId12" Type="http://schemas.openxmlformats.org/officeDocument/2006/relationships/image" Target="../media/image89.svg"/><Relationship Id="rId2" Type="http://schemas.openxmlformats.org/officeDocument/2006/relationships/tags" Target="../tags/tag428.xml"/><Relationship Id="rId16" Type="http://schemas.openxmlformats.org/officeDocument/2006/relationships/image" Target="../media/image93.png"/><Relationship Id="rId1" Type="http://schemas.openxmlformats.org/officeDocument/2006/relationships/tags" Target="../tags/tag427.xml"/><Relationship Id="rId6" Type="http://schemas.openxmlformats.org/officeDocument/2006/relationships/tags" Target="../tags/tag432.xml"/><Relationship Id="rId11" Type="http://schemas.openxmlformats.org/officeDocument/2006/relationships/image" Target="../media/image8.emf"/><Relationship Id="rId5" Type="http://schemas.openxmlformats.org/officeDocument/2006/relationships/tags" Target="../tags/tag431.xml"/><Relationship Id="rId15" Type="http://schemas.openxmlformats.org/officeDocument/2006/relationships/image" Target="../media/image92.png"/><Relationship Id="rId10" Type="http://schemas.openxmlformats.org/officeDocument/2006/relationships/oleObject" Target="../embeddings/oleObject25.bin"/><Relationship Id="rId4" Type="http://schemas.openxmlformats.org/officeDocument/2006/relationships/tags" Target="../tags/tag430.xml"/><Relationship Id="rId9" Type="http://schemas.openxmlformats.org/officeDocument/2006/relationships/slideLayout" Target="../slideLayouts/slideLayout10.xml"/><Relationship Id="rId14" Type="http://schemas.openxmlformats.org/officeDocument/2006/relationships/image" Target="../media/image91.png"/></Relationships>
</file>

<file path=ppt/slides/_rels/slide1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tags" Target="../tags/tag437.xml"/><Relationship Id="rId7" Type="http://schemas.openxmlformats.org/officeDocument/2006/relationships/oleObject" Target="../embeddings/oleObject26.bin"/><Relationship Id="rId2" Type="http://schemas.openxmlformats.org/officeDocument/2006/relationships/tags" Target="../tags/tag436.xml"/><Relationship Id="rId1" Type="http://schemas.openxmlformats.org/officeDocument/2006/relationships/tags" Target="../tags/tag435.xml"/><Relationship Id="rId6" Type="http://schemas.openxmlformats.org/officeDocument/2006/relationships/slideLayout" Target="../slideLayouts/slideLayout10.xml"/><Relationship Id="rId5" Type="http://schemas.openxmlformats.org/officeDocument/2006/relationships/tags" Target="../tags/tag439.xml"/><Relationship Id="rId4" Type="http://schemas.openxmlformats.org/officeDocument/2006/relationships/tags" Target="../tags/tag438.xml"/><Relationship Id="rId9" Type="http://schemas.openxmlformats.org/officeDocument/2006/relationships/image" Target="../media/image89.svg"/></Relationships>
</file>

<file path=ppt/slides/_rels/slide14.xml.rels><?xml version="1.0" encoding="UTF-8" standalone="yes"?>
<Relationships xmlns="http://schemas.openxmlformats.org/package/2006/relationships"><Relationship Id="rId13" Type="http://schemas.openxmlformats.org/officeDocument/2006/relationships/tags" Target="../tags/tag452.xml"/><Relationship Id="rId18" Type="http://schemas.openxmlformats.org/officeDocument/2006/relationships/tags" Target="../tags/tag457.xml"/><Relationship Id="rId26" Type="http://schemas.openxmlformats.org/officeDocument/2006/relationships/tags" Target="../tags/tag465.xml"/><Relationship Id="rId3" Type="http://schemas.openxmlformats.org/officeDocument/2006/relationships/tags" Target="../tags/tag442.xml"/><Relationship Id="rId21" Type="http://schemas.openxmlformats.org/officeDocument/2006/relationships/tags" Target="../tags/tag460.xml"/><Relationship Id="rId34" Type="http://schemas.openxmlformats.org/officeDocument/2006/relationships/chart" Target="../charts/chart3.xml"/><Relationship Id="rId7" Type="http://schemas.openxmlformats.org/officeDocument/2006/relationships/tags" Target="../tags/tag446.xml"/><Relationship Id="rId12" Type="http://schemas.openxmlformats.org/officeDocument/2006/relationships/tags" Target="../tags/tag451.xml"/><Relationship Id="rId17" Type="http://schemas.openxmlformats.org/officeDocument/2006/relationships/tags" Target="../tags/tag456.xml"/><Relationship Id="rId25" Type="http://schemas.openxmlformats.org/officeDocument/2006/relationships/tags" Target="../tags/tag464.xml"/><Relationship Id="rId33" Type="http://schemas.openxmlformats.org/officeDocument/2006/relationships/chart" Target="../charts/chart2.xml"/><Relationship Id="rId2" Type="http://schemas.openxmlformats.org/officeDocument/2006/relationships/tags" Target="../tags/tag441.xml"/><Relationship Id="rId16" Type="http://schemas.openxmlformats.org/officeDocument/2006/relationships/tags" Target="../tags/tag455.xml"/><Relationship Id="rId20" Type="http://schemas.openxmlformats.org/officeDocument/2006/relationships/tags" Target="../tags/tag459.xml"/><Relationship Id="rId29" Type="http://schemas.openxmlformats.org/officeDocument/2006/relationships/tags" Target="../tags/tag468.xml"/><Relationship Id="rId1" Type="http://schemas.openxmlformats.org/officeDocument/2006/relationships/tags" Target="../tags/tag440.xml"/><Relationship Id="rId6" Type="http://schemas.openxmlformats.org/officeDocument/2006/relationships/tags" Target="../tags/tag445.xml"/><Relationship Id="rId11" Type="http://schemas.openxmlformats.org/officeDocument/2006/relationships/tags" Target="../tags/tag450.xml"/><Relationship Id="rId24" Type="http://schemas.openxmlformats.org/officeDocument/2006/relationships/tags" Target="../tags/tag463.xml"/><Relationship Id="rId32" Type="http://schemas.openxmlformats.org/officeDocument/2006/relationships/image" Target="../media/image8.emf"/><Relationship Id="rId5" Type="http://schemas.openxmlformats.org/officeDocument/2006/relationships/tags" Target="../tags/tag444.xml"/><Relationship Id="rId15" Type="http://schemas.openxmlformats.org/officeDocument/2006/relationships/tags" Target="../tags/tag454.xml"/><Relationship Id="rId23" Type="http://schemas.openxmlformats.org/officeDocument/2006/relationships/tags" Target="../tags/tag462.xml"/><Relationship Id="rId28" Type="http://schemas.openxmlformats.org/officeDocument/2006/relationships/tags" Target="../tags/tag467.xml"/><Relationship Id="rId10" Type="http://schemas.openxmlformats.org/officeDocument/2006/relationships/tags" Target="../tags/tag449.xml"/><Relationship Id="rId19" Type="http://schemas.openxmlformats.org/officeDocument/2006/relationships/tags" Target="../tags/tag458.xml"/><Relationship Id="rId31" Type="http://schemas.openxmlformats.org/officeDocument/2006/relationships/oleObject" Target="../embeddings/oleObject27.bin"/><Relationship Id="rId4" Type="http://schemas.openxmlformats.org/officeDocument/2006/relationships/tags" Target="../tags/tag443.xml"/><Relationship Id="rId9" Type="http://schemas.openxmlformats.org/officeDocument/2006/relationships/tags" Target="../tags/tag448.xml"/><Relationship Id="rId14" Type="http://schemas.openxmlformats.org/officeDocument/2006/relationships/tags" Target="../tags/tag453.xml"/><Relationship Id="rId22" Type="http://schemas.openxmlformats.org/officeDocument/2006/relationships/tags" Target="../tags/tag461.xml"/><Relationship Id="rId27" Type="http://schemas.openxmlformats.org/officeDocument/2006/relationships/tags" Target="../tags/tag466.xml"/><Relationship Id="rId30" Type="http://schemas.openxmlformats.org/officeDocument/2006/relationships/slideLayout" Target="../slideLayouts/slideLayout10.xml"/><Relationship Id="rId8" Type="http://schemas.openxmlformats.org/officeDocument/2006/relationships/tags" Target="../tags/tag447.xml"/></Relationships>
</file>

<file path=ppt/slides/_rels/slide15.xml.rels><?xml version="1.0" encoding="UTF-8" standalone="yes"?>
<Relationships xmlns="http://schemas.openxmlformats.org/package/2006/relationships"><Relationship Id="rId13" Type="http://schemas.openxmlformats.org/officeDocument/2006/relationships/tags" Target="../tags/tag481.xml"/><Relationship Id="rId18" Type="http://schemas.openxmlformats.org/officeDocument/2006/relationships/tags" Target="../tags/tag486.xml"/><Relationship Id="rId26" Type="http://schemas.openxmlformats.org/officeDocument/2006/relationships/tags" Target="../tags/tag494.xml"/><Relationship Id="rId39" Type="http://schemas.openxmlformats.org/officeDocument/2006/relationships/chart" Target="../charts/chart4.xml"/><Relationship Id="rId21" Type="http://schemas.openxmlformats.org/officeDocument/2006/relationships/tags" Target="../tags/tag489.xml"/><Relationship Id="rId34" Type="http://schemas.openxmlformats.org/officeDocument/2006/relationships/tags" Target="../tags/tag502.xml"/><Relationship Id="rId7" Type="http://schemas.openxmlformats.org/officeDocument/2006/relationships/tags" Target="../tags/tag475.xml"/><Relationship Id="rId12" Type="http://schemas.openxmlformats.org/officeDocument/2006/relationships/tags" Target="../tags/tag480.xml"/><Relationship Id="rId17" Type="http://schemas.openxmlformats.org/officeDocument/2006/relationships/tags" Target="../tags/tag485.xml"/><Relationship Id="rId25" Type="http://schemas.openxmlformats.org/officeDocument/2006/relationships/tags" Target="../tags/tag493.xml"/><Relationship Id="rId33" Type="http://schemas.openxmlformats.org/officeDocument/2006/relationships/tags" Target="../tags/tag501.xml"/><Relationship Id="rId38" Type="http://schemas.openxmlformats.org/officeDocument/2006/relationships/image" Target="../media/image8.emf"/><Relationship Id="rId2" Type="http://schemas.openxmlformats.org/officeDocument/2006/relationships/tags" Target="../tags/tag470.xml"/><Relationship Id="rId16" Type="http://schemas.openxmlformats.org/officeDocument/2006/relationships/tags" Target="../tags/tag484.xml"/><Relationship Id="rId20" Type="http://schemas.openxmlformats.org/officeDocument/2006/relationships/tags" Target="../tags/tag488.xml"/><Relationship Id="rId29" Type="http://schemas.openxmlformats.org/officeDocument/2006/relationships/tags" Target="../tags/tag497.xml"/><Relationship Id="rId1" Type="http://schemas.openxmlformats.org/officeDocument/2006/relationships/tags" Target="../tags/tag469.xml"/><Relationship Id="rId6" Type="http://schemas.openxmlformats.org/officeDocument/2006/relationships/tags" Target="../tags/tag474.xml"/><Relationship Id="rId11" Type="http://schemas.openxmlformats.org/officeDocument/2006/relationships/tags" Target="../tags/tag479.xml"/><Relationship Id="rId24" Type="http://schemas.openxmlformats.org/officeDocument/2006/relationships/tags" Target="../tags/tag492.xml"/><Relationship Id="rId32" Type="http://schemas.openxmlformats.org/officeDocument/2006/relationships/tags" Target="../tags/tag500.xml"/><Relationship Id="rId37" Type="http://schemas.openxmlformats.org/officeDocument/2006/relationships/oleObject" Target="../embeddings/oleObject28.bin"/><Relationship Id="rId40" Type="http://schemas.openxmlformats.org/officeDocument/2006/relationships/chart" Target="../charts/chart5.xml"/><Relationship Id="rId5" Type="http://schemas.openxmlformats.org/officeDocument/2006/relationships/tags" Target="../tags/tag473.xml"/><Relationship Id="rId15" Type="http://schemas.openxmlformats.org/officeDocument/2006/relationships/tags" Target="../tags/tag483.xml"/><Relationship Id="rId23" Type="http://schemas.openxmlformats.org/officeDocument/2006/relationships/tags" Target="../tags/tag491.xml"/><Relationship Id="rId28" Type="http://schemas.openxmlformats.org/officeDocument/2006/relationships/tags" Target="../tags/tag496.xml"/><Relationship Id="rId36" Type="http://schemas.openxmlformats.org/officeDocument/2006/relationships/slideLayout" Target="../slideLayouts/slideLayout10.xml"/><Relationship Id="rId10" Type="http://schemas.openxmlformats.org/officeDocument/2006/relationships/tags" Target="../tags/tag478.xml"/><Relationship Id="rId19" Type="http://schemas.openxmlformats.org/officeDocument/2006/relationships/tags" Target="../tags/tag487.xml"/><Relationship Id="rId31" Type="http://schemas.openxmlformats.org/officeDocument/2006/relationships/tags" Target="../tags/tag499.xml"/><Relationship Id="rId4" Type="http://schemas.openxmlformats.org/officeDocument/2006/relationships/tags" Target="../tags/tag472.xml"/><Relationship Id="rId9" Type="http://schemas.openxmlformats.org/officeDocument/2006/relationships/tags" Target="../tags/tag477.xml"/><Relationship Id="rId14" Type="http://schemas.openxmlformats.org/officeDocument/2006/relationships/tags" Target="../tags/tag482.xml"/><Relationship Id="rId22" Type="http://schemas.openxmlformats.org/officeDocument/2006/relationships/tags" Target="../tags/tag490.xml"/><Relationship Id="rId27" Type="http://schemas.openxmlformats.org/officeDocument/2006/relationships/tags" Target="../tags/tag495.xml"/><Relationship Id="rId30" Type="http://schemas.openxmlformats.org/officeDocument/2006/relationships/tags" Target="../tags/tag498.xml"/><Relationship Id="rId35" Type="http://schemas.openxmlformats.org/officeDocument/2006/relationships/tags" Target="../tags/tag503.xml"/><Relationship Id="rId8" Type="http://schemas.openxmlformats.org/officeDocument/2006/relationships/tags" Target="../tags/tag476.xml"/><Relationship Id="rId3" Type="http://schemas.openxmlformats.org/officeDocument/2006/relationships/tags" Target="../tags/tag471.xml"/></Relationships>
</file>

<file path=ppt/slides/_rels/slide16.xml.rels><?xml version="1.0" encoding="UTF-8" standalone="yes"?>
<Relationships xmlns="http://schemas.openxmlformats.org/package/2006/relationships"><Relationship Id="rId13" Type="http://schemas.openxmlformats.org/officeDocument/2006/relationships/tags" Target="../tags/tag516.xml"/><Relationship Id="rId18" Type="http://schemas.openxmlformats.org/officeDocument/2006/relationships/tags" Target="../tags/tag521.xml"/><Relationship Id="rId26" Type="http://schemas.openxmlformats.org/officeDocument/2006/relationships/oleObject" Target="../embeddings/oleObject29.bin"/><Relationship Id="rId3" Type="http://schemas.openxmlformats.org/officeDocument/2006/relationships/tags" Target="../tags/tag506.xml"/><Relationship Id="rId21" Type="http://schemas.openxmlformats.org/officeDocument/2006/relationships/tags" Target="../tags/tag524.xml"/><Relationship Id="rId7" Type="http://schemas.openxmlformats.org/officeDocument/2006/relationships/tags" Target="../tags/tag510.xml"/><Relationship Id="rId12" Type="http://schemas.openxmlformats.org/officeDocument/2006/relationships/tags" Target="../tags/tag515.xml"/><Relationship Id="rId17" Type="http://schemas.openxmlformats.org/officeDocument/2006/relationships/tags" Target="../tags/tag520.xml"/><Relationship Id="rId25" Type="http://schemas.openxmlformats.org/officeDocument/2006/relationships/notesSlide" Target="../notesSlides/notesSlide5.xml"/><Relationship Id="rId33" Type="http://schemas.openxmlformats.org/officeDocument/2006/relationships/image" Target="../media/image99.png"/><Relationship Id="rId2" Type="http://schemas.openxmlformats.org/officeDocument/2006/relationships/tags" Target="../tags/tag505.xml"/><Relationship Id="rId16" Type="http://schemas.openxmlformats.org/officeDocument/2006/relationships/tags" Target="../tags/tag519.xml"/><Relationship Id="rId20" Type="http://schemas.openxmlformats.org/officeDocument/2006/relationships/tags" Target="../tags/tag523.xml"/><Relationship Id="rId29" Type="http://schemas.openxmlformats.org/officeDocument/2006/relationships/image" Target="../media/image95.png"/><Relationship Id="rId1" Type="http://schemas.openxmlformats.org/officeDocument/2006/relationships/tags" Target="../tags/tag504.xml"/><Relationship Id="rId6" Type="http://schemas.openxmlformats.org/officeDocument/2006/relationships/tags" Target="../tags/tag509.xml"/><Relationship Id="rId11" Type="http://schemas.openxmlformats.org/officeDocument/2006/relationships/tags" Target="../tags/tag514.xml"/><Relationship Id="rId24" Type="http://schemas.openxmlformats.org/officeDocument/2006/relationships/slideLayout" Target="../slideLayouts/slideLayout2.xml"/><Relationship Id="rId32" Type="http://schemas.openxmlformats.org/officeDocument/2006/relationships/image" Target="../media/image98.png"/><Relationship Id="rId5" Type="http://schemas.openxmlformats.org/officeDocument/2006/relationships/tags" Target="../tags/tag508.xml"/><Relationship Id="rId15" Type="http://schemas.openxmlformats.org/officeDocument/2006/relationships/tags" Target="../tags/tag518.xml"/><Relationship Id="rId23" Type="http://schemas.openxmlformats.org/officeDocument/2006/relationships/tags" Target="../tags/tag526.xml"/><Relationship Id="rId28" Type="http://schemas.openxmlformats.org/officeDocument/2006/relationships/image" Target="../media/image94.png"/><Relationship Id="rId10" Type="http://schemas.openxmlformats.org/officeDocument/2006/relationships/tags" Target="../tags/tag513.xml"/><Relationship Id="rId19" Type="http://schemas.openxmlformats.org/officeDocument/2006/relationships/tags" Target="../tags/tag522.xml"/><Relationship Id="rId31" Type="http://schemas.openxmlformats.org/officeDocument/2006/relationships/image" Target="../media/image97.png"/><Relationship Id="rId4" Type="http://schemas.openxmlformats.org/officeDocument/2006/relationships/tags" Target="../tags/tag507.xml"/><Relationship Id="rId9" Type="http://schemas.openxmlformats.org/officeDocument/2006/relationships/tags" Target="../tags/tag512.xml"/><Relationship Id="rId14" Type="http://schemas.openxmlformats.org/officeDocument/2006/relationships/tags" Target="../tags/tag517.xml"/><Relationship Id="rId22" Type="http://schemas.openxmlformats.org/officeDocument/2006/relationships/tags" Target="../tags/tag525.xml"/><Relationship Id="rId27" Type="http://schemas.openxmlformats.org/officeDocument/2006/relationships/image" Target="../media/image8.emf"/><Relationship Id="rId30" Type="http://schemas.openxmlformats.org/officeDocument/2006/relationships/image" Target="../media/image96.png"/><Relationship Id="rId8" Type="http://schemas.openxmlformats.org/officeDocument/2006/relationships/tags" Target="../tags/tag511.xml"/></Relationships>
</file>

<file path=ppt/slides/_rels/slide17.xml.rels><?xml version="1.0" encoding="UTF-8" standalone="yes"?>
<Relationships xmlns="http://schemas.openxmlformats.org/package/2006/relationships"><Relationship Id="rId8" Type="http://schemas.openxmlformats.org/officeDocument/2006/relationships/tags" Target="../tags/tag534.xml"/><Relationship Id="rId13" Type="http://schemas.openxmlformats.org/officeDocument/2006/relationships/tags" Target="../tags/tag539.xml"/><Relationship Id="rId18" Type="http://schemas.openxmlformats.org/officeDocument/2006/relationships/oleObject" Target="../embeddings/oleObject30.bin"/><Relationship Id="rId3" Type="http://schemas.openxmlformats.org/officeDocument/2006/relationships/tags" Target="../tags/tag529.xml"/><Relationship Id="rId21" Type="http://schemas.openxmlformats.org/officeDocument/2006/relationships/image" Target="../media/image100.png"/><Relationship Id="rId7" Type="http://schemas.openxmlformats.org/officeDocument/2006/relationships/tags" Target="../tags/tag533.xml"/><Relationship Id="rId12" Type="http://schemas.openxmlformats.org/officeDocument/2006/relationships/tags" Target="../tags/tag538.xml"/><Relationship Id="rId17" Type="http://schemas.openxmlformats.org/officeDocument/2006/relationships/notesSlide" Target="../notesSlides/notesSlide6.xml"/><Relationship Id="rId25" Type="http://schemas.openxmlformats.org/officeDocument/2006/relationships/image" Target="../media/image104.svg"/><Relationship Id="rId2" Type="http://schemas.openxmlformats.org/officeDocument/2006/relationships/tags" Target="../tags/tag528.xml"/><Relationship Id="rId16" Type="http://schemas.openxmlformats.org/officeDocument/2006/relationships/slideLayout" Target="../slideLayouts/slideLayout2.xml"/><Relationship Id="rId20" Type="http://schemas.openxmlformats.org/officeDocument/2006/relationships/image" Target="../media/image99.png"/><Relationship Id="rId1" Type="http://schemas.openxmlformats.org/officeDocument/2006/relationships/tags" Target="../tags/tag527.xml"/><Relationship Id="rId6" Type="http://schemas.openxmlformats.org/officeDocument/2006/relationships/tags" Target="../tags/tag532.xml"/><Relationship Id="rId11" Type="http://schemas.openxmlformats.org/officeDocument/2006/relationships/tags" Target="../tags/tag537.xml"/><Relationship Id="rId24" Type="http://schemas.openxmlformats.org/officeDocument/2006/relationships/image" Target="../media/image103.png"/><Relationship Id="rId5" Type="http://schemas.openxmlformats.org/officeDocument/2006/relationships/tags" Target="../tags/tag531.xml"/><Relationship Id="rId15" Type="http://schemas.openxmlformats.org/officeDocument/2006/relationships/tags" Target="../tags/tag541.xml"/><Relationship Id="rId23" Type="http://schemas.openxmlformats.org/officeDocument/2006/relationships/image" Target="../media/image102.png"/><Relationship Id="rId10" Type="http://schemas.openxmlformats.org/officeDocument/2006/relationships/tags" Target="../tags/tag536.xml"/><Relationship Id="rId19" Type="http://schemas.openxmlformats.org/officeDocument/2006/relationships/image" Target="../media/image8.emf"/><Relationship Id="rId4" Type="http://schemas.openxmlformats.org/officeDocument/2006/relationships/tags" Target="../tags/tag530.xml"/><Relationship Id="rId9" Type="http://schemas.openxmlformats.org/officeDocument/2006/relationships/tags" Target="../tags/tag535.xml"/><Relationship Id="rId14" Type="http://schemas.openxmlformats.org/officeDocument/2006/relationships/tags" Target="../tags/tag540.xml"/><Relationship Id="rId22" Type="http://schemas.openxmlformats.org/officeDocument/2006/relationships/image" Target="../media/image101.png"/></Relationships>
</file>

<file path=ppt/slides/_rels/slide18.xml.rels><?xml version="1.0" encoding="UTF-8" standalone="yes"?>
<Relationships xmlns="http://schemas.openxmlformats.org/package/2006/relationships"><Relationship Id="rId8" Type="http://schemas.openxmlformats.org/officeDocument/2006/relationships/tags" Target="../tags/tag549.xml"/><Relationship Id="rId13" Type="http://schemas.openxmlformats.org/officeDocument/2006/relationships/tags" Target="../tags/tag554.xml"/><Relationship Id="rId18" Type="http://schemas.openxmlformats.org/officeDocument/2006/relationships/oleObject" Target="../embeddings/oleObject31.bin"/><Relationship Id="rId26" Type="http://schemas.openxmlformats.org/officeDocument/2006/relationships/image" Target="../media/image107.png"/><Relationship Id="rId3" Type="http://schemas.openxmlformats.org/officeDocument/2006/relationships/tags" Target="../tags/tag544.xml"/><Relationship Id="rId21" Type="http://schemas.openxmlformats.org/officeDocument/2006/relationships/image" Target="../media/image106.svg"/><Relationship Id="rId7" Type="http://schemas.openxmlformats.org/officeDocument/2006/relationships/tags" Target="../tags/tag548.xml"/><Relationship Id="rId12" Type="http://schemas.openxmlformats.org/officeDocument/2006/relationships/tags" Target="../tags/tag553.xml"/><Relationship Id="rId17" Type="http://schemas.openxmlformats.org/officeDocument/2006/relationships/slideLayout" Target="../slideLayouts/slideLayout2.xml"/><Relationship Id="rId25" Type="http://schemas.openxmlformats.org/officeDocument/2006/relationships/image" Target="../media/image83.png"/><Relationship Id="rId2" Type="http://schemas.openxmlformats.org/officeDocument/2006/relationships/tags" Target="../tags/tag543.xml"/><Relationship Id="rId16" Type="http://schemas.openxmlformats.org/officeDocument/2006/relationships/tags" Target="../tags/tag557.xml"/><Relationship Id="rId20" Type="http://schemas.openxmlformats.org/officeDocument/2006/relationships/image" Target="../media/image105.svg"/><Relationship Id="rId29" Type="http://schemas.openxmlformats.org/officeDocument/2006/relationships/image" Target="../media/image108.jpeg"/><Relationship Id="rId1" Type="http://schemas.openxmlformats.org/officeDocument/2006/relationships/tags" Target="../tags/tag542.xml"/><Relationship Id="rId6" Type="http://schemas.openxmlformats.org/officeDocument/2006/relationships/tags" Target="../tags/tag547.xml"/><Relationship Id="rId11" Type="http://schemas.openxmlformats.org/officeDocument/2006/relationships/tags" Target="../tags/tag552.xml"/><Relationship Id="rId24" Type="http://schemas.openxmlformats.org/officeDocument/2006/relationships/image" Target="../media/image88.png"/><Relationship Id="rId5" Type="http://schemas.openxmlformats.org/officeDocument/2006/relationships/tags" Target="../tags/tag546.xml"/><Relationship Id="rId15" Type="http://schemas.openxmlformats.org/officeDocument/2006/relationships/tags" Target="../tags/tag556.xml"/><Relationship Id="rId23" Type="http://schemas.openxmlformats.org/officeDocument/2006/relationships/image" Target="../media/image98.png"/><Relationship Id="rId28" Type="http://schemas.openxmlformats.org/officeDocument/2006/relationships/image" Target="../media/image99.png"/><Relationship Id="rId10" Type="http://schemas.openxmlformats.org/officeDocument/2006/relationships/tags" Target="../tags/tag551.xml"/><Relationship Id="rId19" Type="http://schemas.openxmlformats.org/officeDocument/2006/relationships/image" Target="../media/image8.emf"/><Relationship Id="rId4" Type="http://schemas.openxmlformats.org/officeDocument/2006/relationships/tags" Target="../tags/tag545.xml"/><Relationship Id="rId9" Type="http://schemas.openxmlformats.org/officeDocument/2006/relationships/tags" Target="../tags/tag550.xml"/><Relationship Id="rId14" Type="http://schemas.openxmlformats.org/officeDocument/2006/relationships/tags" Target="../tags/tag555.xml"/><Relationship Id="rId22" Type="http://schemas.openxmlformats.org/officeDocument/2006/relationships/image" Target="../media/image94.png"/><Relationship Id="rId27" Type="http://schemas.openxmlformats.org/officeDocument/2006/relationships/image" Target="../media/image95.png"/><Relationship Id="rId30" Type="http://schemas.openxmlformats.org/officeDocument/2006/relationships/image" Target="../media/image101.png"/></Relationships>
</file>

<file path=ppt/slides/_rels/slide19.xml.rels><?xml version="1.0" encoding="UTF-8" standalone="yes"?>
<Relationships xmlns="http://schemas.openxmlformats.org/package/2006/relationships"><Relationship Id="rId13" Type="http://schemas.openxmlformats.org/officeDocument/2006/relationships/tags" Target="../tags/tag570.xml"/><Relationship Id="rId18" Type="http://schemas.openxmlformats.org/officeDocument/2006/relationships/tags" Target="../tags/tag575.xml"/><Relationship Id="rId26" Type="http://schemas.openxmlformats.org/officeDocument/2006/relationships/tags" Target="../tags/tag583.xml"/><Relationship Id="rId39" Type="http://schemas.openxmlformats.org/officeDocument/2006/relationships/chart" Target="../charts/chart9.xml"/><Relationship Id="rId21" Type="http://schemas.openxmlformats.org/officeDocument/2006/relationships/tags" Target="../tags/tag578.xml"/><Relationship Id="rId34" Type="http://schemas.openxmlformats.org/officeDocument/2006/relationships/oleObject" Target="../embeddings/oleObject32.bin"/><Relationship Id="rId7" Type="http://schemas.openxmlformats.org/officeDocument/2006/relationships/tags" Target="../tags/tag564.xml"/><Relationship Id="rId12" Type="http://schemas.openxmlformats.org/officeDocument/2006/relationships/tags" Target="../tags/tag569.xml"/><Relationship Id="rId17" Type="http://schemas.openxmlformats.org/officeDocument/2006/relationships/tags" Target="../tags/tag574.xml"/><Relationship Id="rId25" Type="http://schemas.openxmlformats.org/officeDocument/2006/relationships/tags" Target="../tags/tag582.xml"/><Relationship Id="rId33" Type="http://schemas.openxmlformats.org/officeDocument/2006/relationships/notesSlide" Target="../notesSlides/notesSlide7.xml"/><Relationship Id="rId38" Type="http://schemas.openxmlformats.org/officeDocument/2006/relationships/chart" Target="../charts/chart8.xml"/><Relationship Id="rId2" Type="http://schemas.openxmlformats.org/officeDocument/2006/relationships/tags" Target="../tags/tag559.xml"/><Relationship Id="rId16" Type="http://schemas.openxmlformats.org/officeDocument/2006/relationships/tags" Target="../tags/tag573.xml"/><Relationship Id="rId20" Type="http://schemas.openxmlformats.org/officeDocument/2006/relationships/tags" Target="../tags/tag577.xml"/><Relationship Id="rId29" Type="http://schemas.openxmlformats.org/officeDocument/2006/relationships/tags" Target="../tags/tag586.xml"/><Relationship Id="rId1" Type="http://schemas.openxmlformats.org/officeDocument/2006/relationships/tags" Target="../tags/tag558.xml"/><Relationship Id="rId6" Type="http://schemas.openxmlformats.org/officeDocument/2006/relationships/tags" Target="../tags/tag563.xml"/><Relationship Id="rId11" Type="http://schemas.openxmlformats.org/officeDocument/2006/relationships/tags" Target="../tags/tag568.xml"/><Relationship Id="rId24" Type="http://schemas.openxmlformats.org/officeDocument/2006/relationships/tags" Target="../tags/tag581.xml"/><Relationship Id="rId32" Type="http://schemas.openxmlformats.org/officeDocument/2006/relationships/slideLayout" Target="../slideLayouts/slideLayout10.xml"/><Relationship Id="rId37" Type="http://schemas.openxmlformats.org/officeDocument/2006/relationships/chart" Target="../charts/chart7.xml"/><Relationship Id="rId5" Type="http://schemas.openxmlformats.org/officeDocument/2006/relationships/tags" Target="../tags/tag562.xml"/><Relationship Id="rId15" Type="http://schemas.openxmlformats.org/officeDocument/2006/relationships/tags" Target="../tags/tag572.xml"/><Relationship Id="rId23" Type="http://schemas.openxmlformats.org/officeDocument/2006/relationships/tags" Target="../tags/tag580.xml"/><Relationship Id="rId28" Type="http://schemas.openxmlformats.org/officeDocument/2006/relationships/tags" Target="../tags/tag585.xml"/><Relationship Id="rId36" Type="http://schemas.openxmlformats.org/officeDocument/2006/relationships/chart" Target="../charts/chart6.xml"/><Relationship Id="rId10" Type="http://schemas.openxmlformats.org/officeDocument/2006/relationships/tags" Target="../tags/tag567.xml"/><Relationship Id="rId19" Type="http://schemas.openxmlformats.org/officeDocument/2006/relationships/tags" Target="../tags/tag576.xml"/><Relationship Id="rId31" Type="http://schemas.openxmlformats.org/officeDocument/2006/relationships/tags" Target="../tags/tag588.xml"/><Relationship Id="rId4" Type="http://schemas.openxmlformats.org/officeDocument/2006/relationships/tags" Target="../tags/tag561.xml"/><Relationship Id="rId9" Type="http://schemas.openxmlformats.org/officeDocument/2006/relationships/tags" Target="../tags/tag566.xml"/><Relationship Id="rId14" Type="http://schemas.openxmlformats.org/officeDocument/2006/relationships/tags" Target="../tags/tag571.xml"/><Relationship Id="rId22" Type="http://schemas.openxmlformats.org/officeDocument/2006/relationships/tags" Target="../tags/tag579.xml"/><Relationship Id="rId27" Type="http://schemas.openxmlformats.org/officeDocument/2006/relationships/tags" Target="../tags/tag584.xml"/><Relationship Id="rId30" Type="http://schemas.openxmlformats.org/officeDocument/2006/relationships/tags" Target="../tags/tag587.xml"/><Relationship Id="rId35" Type="http://schemas.openxmlformats.org/officeDocument/2006/relationships/image" Target="../media/image8.emf"/><Relationship Id="rId8" Type="http://schemas.openxmlformats.org/officeDocument/2006/relationships/tags" Target="../tags/tag565.xml"/><Relationship Id="rId3" Type="http://schemas.openxmlformats.org/officeDocument/2006/relationships/tags" Target="../tags/tag560.xml"/></Relationships>
</file>

<file path=ppt/slides/_rels/slide20.xml.rels><?xml version="1.0" encoding="UTF-8" standalone="yes"?>
<Relationships xmlns="http://schemas.openxmlformats.org/package/2006/relationships"><Relationship Id="rId8" Type="http://schemas.openxmlformats.org/officeDocument/2006/relationships/tags" Target="../tags/tag596.xml"/><Relationship Id="rId13" Type="http://schemas.openxmlformats.org/officeDocument/2006/relationships/image" Target="../media/image8.emf"/><Relationship Id="rId18" Type="http://schemas.openxmlformats.org/officeDocument/2006/relationships/image" Target="../media/image88.png"/><Relationship Id="rId3" Type="http://schemas.openxmlformats.org/officeDocument/2006/relationships/tags" Target="../tags/tag591.xml"/><Relationship Id="rId21" Type="http://schemas.openxmlformats.org/officeDocument/2006/relationships/image" Target="../media/image109.png"/><Relationship Id="rId7" Type="http://schemas.openxmlformats.org/officeDocument/2006/relationships/tags" Target="../tags/tag595.xml"/><Relationship Id="rId12" Type="http://schemas.openxmlformats.org/officeDocument/2006/relationships/oleObject" Target="../embeddings/oleObject33.bin"/><Relationship Id="rId17" Type="http://schemas.openxmlformats.org/officeDocument/2006/relationships/image" Target="../media/image94.png"/><Relationship Id="rId2" Type="http://schemas.openxmlformats.org/officeDocument/2006/relationships/tags" Target="../tags/tag590.xml"/><Relationship Id="rId16" Type="http://schemas.openxmlformats.org/officeDocument/2006/relationships/image" Target="../media/image90.png"/><Relationship Id="rId20" Type="http://schemas.openxmlformats.org/officeDocument/2006/relationships/image" Target="../media/image97.png"/><Relationship Id="rId1" Type="http://schemas.openxmlformats.org/officeDocument/2006/relationships/tags" Target="../tags/tag589.xml"/><Relationship Id="rId6" Type="http://schemas.openxmlformats.org/officeDocument/2006/relationships/tags" Target="../tags/tag594.xml"/><Relationship Id="rId11" Type="http://schemas.openxmlformats.org/officeDocument/2006/relationships/slideLayout" Target="../slideLayouts/slideLayout2.xml"/><Relationship Id="rId5" Type="http://schemas.openxmlformats.org/officeDocument/2006/relationships/tags" Target="../tags/tag593.xml"/><Relationship Id="rId15" Type="http://schemas.openxmlformats.org/officeDocument/2006/relationships/image" Target="../media/image91.png"/><Relationship Id="rId10" Type="http://schemas.openxmlformats.org/officeDocument/2006/relationships/tags" Target="../tags/tag598.xml"/><Relationship Id="rId19" Type="http://schemas.openxmlformats.org/officeDocument/2006/relationships/image" Target="../media/image95.png"/><Relationship Id="rId4" Type="http://schemas.openxmlformats.org/officeDocument/2006/relationships/tags" Target="../tags/tag592.xml"/><Relationship Id="rId9" Type="http://schemas.openxmlformats.org/officeDocument/2006/relationships/tags" Target="../tags/tag597.xml"/><Relationship Id="rId14" Type="http://schemas.openxmlformats.org/officeDocument/2006/relationships/image" Target="../media/image92.png"/></Relationships>
</file>

<file path=ppt/slides/_rels/slide21.xml.rels><?xml version="1.0" encoding="UTF-8" standalone="yes"?>
<Relationships xmlns="http://schemas.openxmlformats.org/package/2006/relationships"><Relationship Id="rId13" Type="http://schemas.openxmlformats.org/officeDocument/2006/relationships/tags" Target="../tags/tag611.xml"/><Relationship Id="rId18" Type="http://schemas.openxmlformats.org/officeDocument/2006/relationships/image" Target="../media/image110.jpeg"/><Relationship Id="rId26" Type="http://schemas.openxmlformats.org/officeDocument/2006/relationships/image" Target="../media/image118.png"/><Relationship Id="rId21" Type="http://schemas.openxmlformats.org/officeDocument/2006/relationships/image" Target="../media/image113.svg"/><Relationship Id="rId34" Type="http://schemas.openxmlformats.org/officeDocument/2006/relationships/image" Target="../media/image125.jpeg"/><Relationship Id="rId7" Type="http://schemas.openxmlformats.org/officeDocument/2006/relationships/tags" Target="../tags/tag605.xml"/><Relationship Id="rId12" Type="http://schemas.openxmlformats.org/officeDocument/2006/relationships/tags" Target="../tags/tag610.xml"/><Relationship Id="rId17" Type="http://schemas.openxmlformats.org/officeDocument/2006/relationships/image" Target="../media/image8.emf"/><Relationship Id="rId25" Type="http://schemas.openxmlformats.org/officeDocument/2006/relationships/image" Target="../media/image117.svg"/><Relationship Id="rId33" Type="http://schemas.openxmlformats.org/officeDocument/2006/relationships/image" Target="../media/image124.png"/><Relationship Id="rId2" Type="http://schemas.openxmlformats.org/officeDocument/2006/relationships/tags" Target="../tags/tag600.xml"/><Relationship Id="rId16" Type="http://schemas.openxmlformats.org/officeDocument/2006/relationships/oleObject" Target="../embeddings/oleObject34.bin"/><Relationship Id="rId20" Type="http://schemas.openxmlformats.org/officeDocument/2006/relationships/image" Target="../media/image112.svg"/><Relationship Id="rId29" Type="http://schemas.openxmlformats.org/officeDocument/2006/relationships/image" Target="../media/image120.png"/><Relationship Id="rId1" Type="http://schemas.openxmlformats.org/officeDocument/2006/relationships/tags" Target="../tags/tag599.xml"/><Relationship Id="rId6" Type="http://schemas.openxmlformats.org/officeDocument/2006/relationships/tags" Target="../tags/tag604.xml"/><Relationship Id="rId11" Type="http://schemas.openxmlformats.org/officeDocument/2006/relationships/tags" Target="../tags/tag609.xml"/><Relationship Id="rId24" Type="http://schemas.openxmlformats.org/officeDocument/2006/relationships/image" Target="../media/image116.svg"/><Relationship Id="rId32" Type="http://schemas.openxmlformats.org/officeDocument/2006/relationships/image" Target="../media/image123.png"/><Relationship Id="rId37" Type="http://schemas.openxmlformats.org/officeDocument/2006/relationships/image" Target="../media/image128.png"/><Relationship Id="rId5" Type="http://schemas.openxmlformats.org/officeDocument/2006/relationships/tags" Target="../tags/tag603.xml"/><Relationship Id="rId15" Type="http://schemas.openxmlformats.org/officeDocument/2006/relationships/slideLayout" Target="../slideLayouts/slideLayout2.xml"/><Relationship Id="rId23" Type="http://schemas.openxmlformats.org/officeDocument/2006/relationships/image" Target="../media/image115.svg"/><Relationship Id="rId28" Type="http://schemas.openxmlformats.org/officeDocument/2006/relationships/image" Target="../media/image73.png"/><Relationship Id="rId36" Type="http://schemas.openxmlformats.org/officeDocument/2006/relationships/image" Target="../media/image127.png"/><Relationship Id="rId10" Type="http://schemas.openxmlformats.org/officeDocument/2006/relationships/tags" Target="../tags/tag608.xml"/><Relationship Id="rId19" Type="http://schemas.openxmlformats.org/officeDocument/2006/relationships/image" Target="../media/image111.svg"/><Relationship Id="rId31" Type="http://schemas.openxmlformats.org/officeDocument/2006/relationships/image" Target="../media/image122.png"/><Relationship Id="rId4" Type="http://schemas.openxmlformats.org/officeDocument/2006/relationships/tags" Target="../tags/tag602.xml"/><Relationship Id="rId9" Type="http://schemas.openxmlformats.org/officeDocument/2006/relationships/tags" Target="../tags/tag607.xml"/><Relationship Id="rId14" Type="http://schemas.openxmlformats.org/officeDocument/2006/relationships/tags" Target="../tags/tag612.xml"/><Relationship Id="rId22" Type="http://schemas.openxmlformats.org/officeDocument/2006/relationships/image" Target="../media/image114.svg"/><Relationship Id="rId27" Type="http://schemas.openxmlformats.org/officeDocument/2006/relationships/image" Target="../media/image119.png"/><Relationship Id="rId30" Type="http://schemas.openxmlformats.org/officeDocument/2006/relationships/image" Target="../media/image121.png"/><Relationship Id="rId35" Type="http://schemas.openxmlformats.org/officeDocument/2006/relationships/image" Target="../media/image126.png"/><Relationship Id="rId8" Type="http://schemas.openxmlformats.org/officeDocument/2006/relationships/tags" Target="../tags/tag606.xml"/><Relationship Id="rId3" Type="http://schemas.openxmlformats.org/officeDocument/2006/relationships/tags" Target="../tags/tag601.xml"/></Relationships>
</file>

<file path=ppt/slides/_rels/slide22.xml.rels><?xml version="1.0" encoding="UTF-8" standalone="yes"?>
<Relationships xmlns="http://schemas.openxmlformats.org/package/2006/relationships"><Relationship Id="rId3" Type="http://schemas.openxmlformats.org/officeDocument/2006/relationships/tags" Target="../tags/tag615.xml"/><Relationship Id="rId7" Type="http://schemas.openxmlformats.org/officeDocument/2006/relationships/image" Target="../media/image8.emf"/><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oleObject" Target="../embeddings/oleObject35.bin"/><Relationship Id="rId5" Type="http://schemas.openxmlformats.org/officeDocument/2006/relationships/notesSlide" Target="../notesSlides/notesSlide8.xml"/><Relationship Id="rId4"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16.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3.xml"/><Relationship Id="rId1" Type="http://schemas.openxmlformats.org/officeDocument/2006/relationships/tags" Target="../tags/tag617.xml"/><Relationship Id="rId4" Type="http://schemas.openxmlformats.org/officeDocument/2006/relationships/image" Target="../media/image7.emf"/></Relationships>
</file>

<file path=ppt/slides/_rels/slide26.xml.rels><?xml version="1.0" encoding="UTF-8" standalone="yes"?>
<Relationships xmlns="http://schemas.openxmlformats.org/package/2006/relationships"><Relationship Id="rId13" Type="http://schemas.openxmlformats.org/officeDocument/2006/relationships/tags" Target="../tags/tag630.xml"/><Relationship Id="rId18" Type="http://schemas.openxmlformats.org/officeDocument/2006/relationships/tags" Target="../tags/tag635.xml"/><Relationship Id="rId26" Type="http://schemas.openxmlformats.org/officeDocument/2006/relationships/oleObject" Target="../embeddings/oleObject37.bin"/><Relationship Id="rId21" Type="http://schemas.openxmlformats.org/officeDocument/2006/relationships/tags" Target="../tags/tag638.xml"/><Relationship Id="rId34" Type="http://schemas.openxmlformats.org/officeDocument/2006/relationships/image" Target="../media/image133.png"/><Relationship Id="rId7" Type="http://schemas.openxmlformats.org/officeDocument/2006/relationships/tags" Target="../tags/tag624.xml"/><Relationship Id="rId12" Type="http://schemas.openxmlformats.org/officeDocument/2006/relationships/tags" Target="../tags/tag629.xml"/><Relationship Id="rId17" Type="http://schemas.openxmlformats.org/officeDocument/2006/relationships/tags" Target="../tags/tag634.xml"/><Relationship Id="rId25" Type="http://schemas.openxmlformats.org/officeDocument/2006/relationships/slideLayout" Target="../slideLayouts/slideLayout2.xml"/><Relationship Id="rId33" Type="http://schemas.openxmlformats.org/officeDocument/2006/relationships/image" Target="../media/image18.png"/><Relationship Id="rId38" Type="http://schemas.openxmlformats.org/officeDocument/2006/relationships/image" Target="../media/image136.png"/><Relationship Id="rId2" Type="http://schemas.openxmlformats.org/officeDocument/2006/relationships/tags" Target="../tags/tag619.xml"/><Relationship Id="rId16" Type="http://schemas.openxmlformats.org/officeDocument/2006/relationships/tags" Target="../tags/tag633.xml"/><Relationship Id="rId20" Type="http://schemas.openxmlformats.org/officeDocument/2006/relationships/tags" Target="../tags/tag637.xml"/><Relationship Id="rId29" Type="http://schemas.openxmlformats.org/officeDocument/2006/relationships/image" Target="../media/image130.png"/><Relationship Id="rId1" Type="http://schemas.openxmlformats.org/officeDocument/2006/relationships/tags" Target="../tags/tag618.xml"/><Relationship Id="rId6" Type="http://schemas.openxmlformats.org/officeDocument/2006/relationships/tags" Target="../tags/tag623.xml"/><Relationship Id="rId11" Type="http://schemas.openxmlformats.org/officeDocument/2006/relationships/tags" Target="../tags/tag628.xml"/><Relationship Id="rId24" Type="http://schemas.openxmlformats.org/officeDocument/2006/relationships/tags" Target="../tags/tag641.xml"/><Relationship Id="rId32" Type="http://schemas.openxmlformats.org/officeDocument/2006/relationships/image" Target="../media/image132.png"/><Relationship Id="rId37" Type="http://schemas.openxmlformats.org/officeDocument/2006/relationships/image" Target="../media/image135.png"/><Relationship Id="rId5" Type="http://schemas.openxmlformats.org/officeDocument/2006/relationships/tags" Target="../tags/tag622.xml"/><Relationship Id="rId15" Type="http://schemas.openxmlformats.org/officeDocument/2006/relationships/tags" Target="../tags/tag632.xml"/><Relationship Id="rId23" Type="http://schemas.openxmlformats.org/officeDocument/2006/relationships/tags" Target="../tags/tag640.xml"/><Relationship Id="rId28" Type="http://schemas.openxmlformats.org/officeDocument/2006/relationships/image" Target="../media/image129.svg"/><Relationship Id="rId36" Type="http://schemas.openxmlformats.org/officeDocument/2006/relationships/image" Target="../media/image134.png"/><Relationship Id="rId10" Type="http://schemas.openxmlformats.org/officeDocument/2006/relationships/tags" Target="../tags/tag627.xml"/><Relationship Id="rId19" Type="http://schemas.openxmlformats.org/officeDocument/2006/relationships/tags" Target="../tags/tag636.xml"/><Relationship Id="rId31" Type="http://schemas.openxmlformats.org/officeDocument/2006/relationships/image" Target="../media/image128.png"/><Relationship Id="rId4" Type="http://schemas.openxmlformats.org/officeDocument/2006/relationships/tags" Target="../tags/tag621.xml"/><Relationship Id="rId9" Type="http://schemas.openxmlformats.org/officeDocument/2006/relationships/tags" Target="../tags/tag626.xml"/><Relationship Id="rId14" Type="http://schemas.openxmlformats.org/officeDocument/2006/relationships/tags" Target="../tags/tag631.xml"/><Relationship Id="rId22" Type="http://schemas.openxmlformats.org/officeDocument/2006/relationships/tags" Target="../tags/tag639.xml"/><Relationship Id="rId27" Type="http://schemas.openxmlformats.org/officeDocument/2006/relationships/image" Target="../media/image8.emf"/><Relationship Id="rId30" Type="http://schemas.openxmlformats.org/officeDocument/2006/relationships/image" Target="../media/image131.png"/><Relationship Id="rId35" Type="http://schemas.openxmlformats.org/officeDocument/2006/relationships/image" Target="../media/image21.png"/><Relationship Id="rId8" Type="http://schemas.openxmlformats.org/officeDocument/2006/relationships/tags" Target="../tags/tag625.xml"/><Relationship Id="rId3" Type="http://schemas.openxmlformats.org/officeDocument/2006/relationships/tags" Target="../tags/tag620.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43.xml"/><Relationship Id="rId1" Type="http://schemas.openxmlformats.org/officeDocument/2006/relationships/tags" Target="../tags/tag642.xml"/><Relationship Id="rId5" Type="http://schemas.openxmlformats.org/officeDocument/2006/relationships/image" Target="../media/image7.emf"/><Relationship Id="rId4" Type="http://schemas.openxmlformats.org/officeDocument/2006/relationships/oleObject" Target="../embeddings/oleObject38.bin"/></Relationships>
</file>

<file path=ppt/slides/_rels/slide28.xml.rels><?xml version="1.0" encoding="UTF-8" standalone="yes"?>
<Relationships xmlns="http://schemas.openxmlformats.org/package/2006/relationships"><Relationship Id="rId8" Type="http://schemas.openxmlformats.org/officeDocument/2006/relationships/tags" Target="../tags/tag651.xml"/><Relationship Id="rId13" Type="http://schemas.openxmlformats.org/officeDocument/2006/relationships/tags" Target="../tags/tag656.xml"/><Relationship Id="rId18" Type="http://schemas.openxmlformats.org/officeDocument/2006/relationships/tags" Target="../tags/tag661.xml"/><Relationship Id="rId3" Type="http://schemas.openxmlformats.org/officeDocument/2006/relationships/tags" Target="../tags/tag646.xml"/><Relationship Id="rId21" Type="http://schemas.openxmlformats.org/officeDocument/2006/relationships/image" Target="../media/image8.emf"/><Relationship Id="rId7" Type="http://schemas.openxmlformats.org/officeDocument/2006/relationships/tags" Target="../tags/tag650.xml"/><Relationship Id="rId12" Type="http://schemas.openxmlformats.org/officeDocument/2006/relationships/tags" Target="../tags/tag655.xml"/><Relationship Id="rId17" Type="http://schemas.openxmlformats.org/officeDocument/2006/relationships/tags" Target="../tags/tag660.xml"/><Relationship Id="rId2" Type="http://schemas.openxmlformats.org/officeDocument/2006/relationships/tags" Target="../tags/tag645.xml"/><Relationship Id="rId16" Type="http://schemas.openxmlformats.org/officeDocument/2006/relationships/tags" Target="../tags/tag659.xml"/><Relationship Id="rId20" Type="http://schemas.openxmlformats.org/officeDocument/2006/relationships/oleObject" Target="../embeddings/oleObject39.bin"/><Relationship Id="rId1" Type="http://schemas.openxmlformats.org/officeDocument/2006/relationships/tags" Target="../tags/tag644.xml"/><Relationship Id="rId6" Type="http://schemas.openxmlformats.org/officeDocument/2006/relationships/tags" Target="../tags/tag649.xml"/><Relationship Id="rId11" Type="http://schemas.openxmlformats.org/officeDocument/2006/relationships/tags" Target="../tags/tag654.xml"/><Relationship Id="rId5" Type="http://schemas.openxmlformats.org/officeDocument/2006/relationships/tags" Target="../tags/tag648.xml"/><Relationship Id="rId15" Type="http://schemas.openxmlformats.org/officeDocument/2006/relationships/tags" Target="../tags/tag658.xml"/><Relationship Id="rId10" Type="http://schemas.openxmlformats.org/officeDocument/2006/relationships/tags" Target="../tags/tag653.xml"/><Relationship Id="rId19" Type="http://schemas.openxmlformats.org/officeDocument/2006/relationships/slideLayout" Target="../slideLayouts/slideLayout10.xml"/><Relationship Id="rId4" Type="http://schemas.openxmlformats.org/officeDocument/2006/relationships/tags" Target="../tags/tag647.xml"/><Relationship Id="rId9" Type="http://schemas.openxmlformats.org/officeDocument/2006/relationships/tags" Target="../tags/tag652.xml"/><Relationship Id="rId14" Type="http://schemas.openxmlformats.org/officeDocument/2006/relationships/tags" Target="../tags/tag657.xml"/><Relationship Id="rId22" Type="http://schemas.openxmlformats.org/officeDocument/2006/relationships/chart" Target="../charts/chart10.xml"/></Relationships>
</file>

<file path=ppt/slides/_rels/slide29.xml.rels><?xml version="1.0" encoding="UTF-8" standalone="yes"?>
<Relationships xmlns="http://schemas.openxmlformats.org/package/2006/relationships"><Relationship Id="rId13" Type="http://schemas.openxmlformats.org/officeDocument/2006/relationships/tags" Target="../tags/tag674.xml"/><Relationship Id="rId18" Type="http://schemas.openxmlformats.org/officeDocument/2006/relationships/oleObject" Target="../embeddings/oleObject40.bin"/><Relationship Id="rId26" Type="http://schemas.openxmlformats.org/officeDocument/2006/relationships/image" Target="../media/image139.png"/><Relationship Id="rId3" Type="http://schemas.openxmlformats.org/officeDocument/2006/relationships/tags" Target="../tags/tag664.xml"/><Relationship Id="rId21" Type="http://schemas.openxmlformats.org/officeDocument/2006/relationships/image" Target="../media/image83.png"/><Relationship Id="rId34" Type="http://schemas.openxmlformats.org/officeDocument/2006/relationships/image" Target="../media/image73.png"/><Relationship Id="rId7" Type="http://schemas.openxmlformats.org/officeDocument/2006/relationships/tags" Target="../tags/tag668.xml"/><Relationship Id="rId12" Type="http://schemas.openxmlformats.org/officeDocument/2006/relationships/tags" Target="../tags/tag673.xml"/><Relationship Id="rId17" Type="http://schemas.openxmlformats.org/officeDocument/2006/relationships/notesSlide" Target="../notesSlides/notesSlide9.xml"/><Relationship Id="rId25" Type="http://schemas.openxmlformats.org/officeDocument/2006/relationships/image" Target="../media/image138.png"/><Relationship Id="rId33" Type="http://schemas.openxmlformats.org/officeDocument/2006/relationships/image" Target="../media/image81.png"/><Relationship Id="rId2" Type="http://schemas.openxmlformats.org/officeDocument/2006/relationships/tags" Target="../tags/tag663.xml"/><Relationship Id="rId16" Type="http://schemas.openxmlformats.org/officeDocument/2006/relationships/slideLayout" Target="../slideLayouts/slideLayout9.xml"/><Relationship Id="rId20" Type="http://schemas.openxmlformats.org/officeDocument/2006/relationships/image" Target="../media/image88.png"/><Relationship Id="rId29" Type="http://schemas.openxmlformats.org/officeDocument/2006/relationships/image" Target="../media/image142.svg"/><Relationship Id="rId1" Type="http://schemas.openxmlformats.org/officeDocument/2006/relationships/tags" Target="../tags/tag662.xml"/><Relationship Id="rId6" Type="http://schemas.openxmlformats.org/officeDocument/2006/relationships/tags" Target="../tags/tag667.xml"/><Relationship Id="rId11" Type="http://schemas.openxmlformats.org/officeDocument/2006/relationships/tags" Target="../tags/tag672.xml"/><Relationship Id="rId24" Type="http://schemas.microsoft.com/office/2007/relationships/hdphoto" Target="../media/hdphoto10.wdp"/><Relationship Id="rId32" Type="http://schemas.openxmlformats.org/officeDocument/2006/relationships/image" Target="../media/image145.svg"/><Relationship Id="rId5" Type="http://schemas.openxmlformats.org/officeDocument/2006/relationships/tags" Target="../tags/tag666.xml"/><Relationship Id="rId15" Type="http://schemas.openxmlformats.org/officeDocument/2006/relationships/tags" Target="../tags/tag676.xml"/><Relationship Id="rId23" Type="http://schemas.openxmlformats.org/officeDocument/2006/relationships/image" Target="../media/image137.png"/><Relationship Id="rId28" Type="http://schemas.openxmlformats.org/officeDocument/2006/relationships/image" Target="../media/image141.svg"/><Relationship Id="rId10" Type="http://schemas.openxmlformats.org/officeDocument/2006/relationships/tags" Target="../tags/tag671.xml"/><Relationship Id="rId19" Type="http://schemas.openxmlformats.org/officeDocument/2006/relationships/image" Target="../media/image8.emf"/><Relationship Id="rId31" Type="http://schemas.openxmlformats.org/officeDocument/2006/relationships/image" Target="../media/image144.svg"/><Relationship Id="rId4" Type="http://schemas.openxmlformats.org/officeDocument/2006/relationships/tags" Target="../tags/tag665.xml"/><Relationship Id="rId9" Type="http://schemas.openxmlformats.org/officeDocument/2006/relationships/tags" Target="../tags/tag670.xml"/><Relationship Id="rId14" Type="http://schemas.openxmlformats.org/officeDocument/2006/relationships/tags" Target="../tags/tag675.xml"/><Relationship Id="rId22" Type="http://schemas.openxmlformats.org/officeDocument/2006/relationships/image" Target="../media/image82.png"/><Relationship Id="rId27" Type="http://schemas.openxmlformats.org/officeDocument/2006/relationships/image" Target="../media/image140.svg"/><Relationship Id="rId30" Type="http://schemas.openxmlformats.org/officeDocument/2006/relationships/image" Target="../media/image143.svg"/><Relationship Id="rId35" Type="http://schemas.openxmlformats.org/officeDocument/2006/relationships/image" Target="../media/image107.png"/><Relationship Id="rId8" Type="http://schemas.openxmlformats.org/officeDocument/2006/relationships/tags" Target="../tags/tag669.xml"/></Relationships>
</file>

<file path=ppt/slides/_rels/slide30.xml.rels><?xml version="1.0" encoding="UTF-8" standalone="yes"?>
<Relationships xmlns="http://schemas.openxmlformats.org/package/2006/relationships"><Relationship Id="rId26" Type="http://schemas.openxmlformats.org/officeDocument/2006/relationships/tags" Target="../tags/tag702.xml"/><Relationship Id="rId21" Type="http://schemas.openxmlformats.org/officeDocument/2006/relationships/tags" Target="../tags/tag697.xml"/><Relationship Id="rId42" Type="http://schemas.openxmlformats.org/officeDocument/2006/relationships/tags" Target="../tags/tag718.xml"/><Relationship Id="rId47" Type="http://schemas.openxmlformats.org/officeDocument/2006/relationships/tags" Target="../tags/tag723.xml"/><Relationship Id="rId63" Type="http://schemas.openxmlformats.org/officeDocument/2006/relationships/tags" Target="../tags/tag739.xml"/><Relationship Id="rId68" Type="http://schemas.openxmlformats.org/officeDocument/2006/relationships/slideLayout" Target="../slideLayouts/slideLayout2.xml"/><Relationship Id="rId16" Type="http://schemas.openxmlformats.org/officeDocument/2006/relationships/tags" Target="../tags/tag692.xml"/><Relationship Id="rId11" Type="http://schemas.openxmlformats.org/officeDocument/2006/relationships/tags" Target="../tags/tag687.xml"/><Relationship Id="rId24" Type="http://schemas.openxmlformats.org/officeDocument/2006/relationships/tags" Target="../tags/tag700.xml"/><Relationship Id="rId32" Type="http://schemas.openxmlformats.org/officeDocument/2006/relationships/tags" Target="../tags/tag708.xml"/><Relationship Id="rId37" Type="http://schemas.openxmlformats.org/officeDocument/2006/relationships/tags" Target="../tags/tag713.xml"/><Relationship Id="rId40" Type="http://schemas.openxmlformats.org/officeDocument/2006/relationships/tags" Target="../tags/tag716.xml"/><Relationship Id="rId45" Type="http://schemas.openxmlformats.org/officeDocument/2006/relationships/tags" Target="../tags/tag721.xml"/><Relationship Id="rId53" Type="http://schemas.openxmlformats.org/officeDocument/2006/relationships/tags" Target="../tags/tag729.xml"/><Relationship Id="rId58" Type="http://schemas.openxmlformats.org/officeDocument/2006/relationships/tags" Target="../tags/tag734.xml"/><Relationship Id="rId66" Type="http://schemas.openxmlformats.org/officeDocument/2006/relationships/tags" Target="../tags/tag742.xml"/><Relationship Id="rId74" Type="http://schemas.openxmlformats.org/officeDocument/2006/relationships/image" Target="../media/image147.svg"/><Relationship Id="rId5" Type="http://schemas.openxmlformats.org/officeDocument/2006/relationships/tags" Target="../tags/tag681.xml"/><Relationship Id="rId61" Type="http://schemas.openxmlformats.org/officeDocument/2006/relationships/tags" Target="../tags/tag737.xml"/><Relationship Id="rId19" Type="http://schemas.openxmlformats.org/officeDocument/2006/relationships/tags" Target="../tags/tag695.xml"/><Relationship Id="rId14" Type="http://schemas.openxmlformats.org/officeDocument/2006/relationships/tags" Target="../tags/tag690.xml"/><Relationship Id="rId22" Type="http://schemas.openxmlformats.org/officeDocument/2006/relationships/tags" Target="../tags/tag698.xml"/><Relationship Id="rId27" Type="http://schemas.openxmlformats.org/officeDocument/2006/relationships/tags" Target="../tags/tag703.xml"/><Relationship Id="rId30" Type="http://schemas.openxmlformats.org/officeDocument/2006/relationships/tags" Target="../tags/tag706.xml"/><Relationship Id="rId35" Type="http://schemas.openxmlformats.org/officeDocument/2006/relationships/tags" Target="../tags/tag711.xml"/><Relationship Id="rId43" Type="http://schemas.openxmlformats.org/officeDocument/2006/relationships/tags" Target="../tags/tag719.xml"/><Relationship Id="rId48" Type="http://schemas.openxmlformats.org/officeDocument/2006/relationships/tags" Target="../tags/tag724.xml"/><Relationship Id="rId56" Type="http://schemas.openxmlformats.org/officeDocument/2006/relationships/tags" Target="../tags/tag732.xml"/><Relationship Id="rId64" Type="http://schemas.openxmlformats.org/officeDocument/2006/relationships/tags" Target="../tags/tag740.xml"/><Relationship Id="rId69" Type="http://schemas.openxmlformats.org/officeDocument/2006/relationships/notesSlide" Target="../notesSlides/notesSlide10.xml"/><Relationship Id="rId77" Type="http://schemas.openxmlformats.org/officeDocument/2006/relationships/image" Target="../media/image150.svg"/><Relationship Id="rId8" Type="http://schemas.openxmlformats.org/officeDocument/2006/relationships/tags" Target="../tags/tag684.xml"/><Relationship Id="rId51" Type="http://schemas.openxmlformats.org/officeDocument/2006/relationships/tags" Target="../tags/tag727.xml"/><Relationship Id="rId72" Type="http://schemas.openxmlformats.org/officeDocument/2006/relationships/chart" Target="../charts/chart11.xml"/><Relationship Id="rId3" Type="http://schemas.openxmlformats.org/officeDocument/2006/relationships/tags" Target="../tags/tag679.xml"/><Relationship Id="rId12" Type="http://schemas.openxmlformats.org/officeDocument/2006/relationships/tags" Target="../tags/tag688.xml"/><Relationship Id="rId17" Type="http://schemas.openxmlformats.org/officeDocument/2006/relationships/tags" Target="../tags/tag693.xml"/><Relationship Id="rId25" Type="http://schemas.openxmlformats.org/officeDocument/2006/relationships/tags" Target="../tags/tag701.xml"/><Relationship Id="rId33" Type="http://schemas.openxmlformats.org/officeDocument/2006/relationships/tags" Target="../tags/tag709.xml"/><Relationship Id="rId38" Type="http://schemas.openxmlformats.org/officeDocument/2006/relationships/tags" Target="../tags/tag714.xml"/><Relationship Id="rId46" Type="http://schemas.openxmlformats.org/officeDocument/2006/relationships/tags" Target="../tags/tag722.xml"/><Relationship Id="rId59" Type="http://schemas.openxmlformats.org/officeDocument/2006/relationships/tags" Target="../tags/tag735.xml"/><Relationship Id="rId67" Type="http://schemas.openxmlformats.org/officeDocument/2006/relationships/tags" Target="../tags/tag743.xml"/><Relationship Id="rId20" Type="http://schemas.openxmlformats.org/officeDocument/2006/relationships/tags" Target="../tags/tag696.xml"/><Relationship Id="rId41" Type="http://schemas.openxmlformats.org/officeDocument/2006/relationships/tags" Target="../tags/tag717.xml"/><Relationship Id="rId54" Type="http://schemas.openxmlformats.org/officeDocument/2006/relationships/tags" Target="../tags/tag730.xml"/><Relationship Id="rId62" Type="http://schemas.openxmlformats.org/officeDocument/2006/relationships/tags" Target="../tags/tag738.xml"/><Relationship Id="rId70" Type="http://schemas.openxmlformats.org/officeDocument/2006/relationships/oleObject" Target="../embeddings/oleObject41.bin"/><Relationship Id="rId75" Type="http://schemas.openxmlformats.org/officeDocument/2006/relationships/image" Target="../media/image148.svg"/><Relationship Id="rId1" Type="http://schemas.openxmlformats.org/officeDocument/2006/relationships/tags" Target="../tags/tag677.xml"/><Relationship Id="rId6" Type="http://schemas.openxmlformats.org/officeDocument/2006/relationships/tags" Target="../tags/tag682.xml"/><Relationship Id="rId15" Type="http://schemas.openxmlformats.org/officeDocument/2006/relationships/tags" Target="../tags/tag691.xml"/><Relationship Id="rId23" Type="http://schemas.openxmlformats.org/officeDocument/2006/relationships/tags" Target="../tags/tag699.xml"/><Relationship Id="rId28" Type="http://schemas.openxmlformats.org/officeDocument/2006/relationships/tags" Target="../tags/tag704.xml"/><Relationship Id="rId36" Type="http://schemas.openxmlformats.org/officeDocument/2006/relationships/tags" Target="../tags/tag712.xml"/><Relationship Id="rId49" Type="http://schemas.openxmlformats.org/officeDocument/2006/relationships/tags" Target="../tags/tag725.xml"/><Relationship Id="rId57" Type="http://schemas.openxmlformats.org/officeDocument/2006/relationships/tags" Target="../tags/tag733.xml"/><Relationship Id="rId10" Type="http://schemas.openxmlformats.org/officeDocument/2006/relationships/tags" Target="../tags/tag686.xml"/><Relationship Id="rId31" Type="http://schemas.openxmlformats.org/officeDocument/2006/relationships/tags" Target="../tags/tag707.xml"/><Relationship Id="rId44" Type="http://schemas.openxmlformats.org/officeDocument/2006/relationships/tags" Target="../tags/tag720.xml"/><Relationship Id="rId52" Type="http://schemas.openxmlformats.org/officeDocument/2006/relationships/tags" Target="../tags/tag728.xml"/><Relationship Id="rId60" Type="http://schemas.openxmlformats.org/officeDocument/2006/relationships/tags" Target="../tags/tag736.xml"/><Relationship Id="rId65" Type="http://schemas.openxmlformats.org/officeDocument/2006/relationships/tags" Target="../tags/tag741.xml"/><Relationship Id="rId73" Type="http://schemas.openxmlformats.org/officeDocument/2006/relationships/image" Target="../media/image146.svg"/><Relationship Id="rId78" Type="http://schemas.openxmlformats.org/officeDocument/2006/relationships/image" Target="../media/image151.svg"/><Relationship Id="rId4" Type="http://schemas.openxmlformats.org/officeDocument/2006/relationships/tags" Target="../tags/tag680.xml"/><Relationship Id="rId9" Type="http://schemas.openxmlformats.org/officeDocument/2006/relationships/tags" Target="../tags/tag685.xml"/><Relationship Id="rId13" Type="http://schemas.openxmlformats.org/officeDocument/2006/relationships/tags" Target="../tags/tag689.xml"/><Relationship Id="rId18" Type="http://schemas.openxmlformats.org/officeDocument/2006/relationships/tags" Target="../tags/tag694.xml"/><Relationship Id="rId39" Type="http://schemas.openxmlformats.org/officeDocument/2006/relationships/tags" Target="../tags/tag715.xml"/><Relationship Id="rId34" Type="http://schemas.openxmlformats.org/officeDocument/2006/relationships/tags" Target="../tags/tag710.xml"/><Relationship Id="rId50" Type="http://schemas.openxmlformats.org/officeDocument/2006/relationships/tags" Target="../tags/tag726.xml"/><Relationship Id="rId55" Type="http://schemas.openxmlformats.org/officeDocument/2006/relationships/tags" Target="../tags/tag731.xml"/><Relationship Id="rId76" Type="http://schemas.openxmlformats.org/officeDocument/2006/relationships/image" Target="../media/image149.svg"/><Relationship Id="rId7" Type="http://schemas.openxmlformats.org/officeDocument/2006/relationships/tags" Target="../tags/tag683.xml"/><Relationship Id="rId71" Type="http://schemas.openxmlformats.org/officeDocument/2006/relationships/image" Target="../media/image8.emf"/><Relationship Id="rId2" Type="http://schemas.openxmlformats.org/officeDocument/2006/relationships/tags" Target="../tags/tag678.xml"/><Relationship Id="rId29" Type="http://schemas.openxmlformats.org/officeDocument/2006/relationships/tags" Target="../tags/tag705.xml"/></Relationships>
</file>

<file path=ppt/slides/_rels/slide31.xml.rels><?xml version="1.0" encoding="UTF-8" standalone="yes"?>
<Relationships xmlns="http://schemas.openxmlformats.org/package/2006/relationships"><Relationship Id="rId8" Type="http://schemas.openxmlformats.org/officeDocument/2006/relationships/tags" Target="../tags/tag751.xml"/><Relationship Id="rId13" Type="http://schemas.openxmlformats.org/officeDocument/2006/relationships/image" Target="../media/image152.emf"/><Relationship Id="rId18" Type="http://schemas.openxmlformats.org/officeDocument/2006/relationships/image" Target="../media/image157.svg"/><Relationship Id="rId26" Type="http://schemas.openxmlformats.org/officeDocument/2006/relationships/image" Target="../media/image165.png"/><Relationship Id="rId3" Type="http://schemas.openxmlformats.org/officeDocument/2006/relationships/tags" Target="../tags/tag746.xml"/><Relationship Id="rId21" Type="http://schemas.openxmlformats.org/officeDocument/2006/relationships/image" Target="../media/image160.png"/><Relationship Id="rId7" Type="http://schemas.openxmlformats.org/officeDocument/2006/relationships/tags" Target="../tags/tag750.xml"/><Relationship Id="rId12" Type="http://schemas.openxmlformats.org/officeDocument/2006/relationships/oleObject" Target="../embeddings/oleObject42.bin"/><Relationship Id="rId17" Type="http://schemas.openxmlformats.org/officeDocument/2006/relationships/image" Target="../media/image156.svg"/><Relationship Id="rId25" Type="http://schemas.openxmlformats.org/officeDocument/2006/relationships/image" Target="../media/image164.png"/><Relationship Id="rId2" Type="http://schemas.openxmlformats.org/officeDocument/2006/relationships/tags" Target="../tags/tag745.xml"/><Relationship Id="rId16" Type="http://schemas.openxmlformats.org/officeDocument/2006/relationships/image" Target="../media/image155.svg"/><Relationship Id="rId20" Type="http://schemas.openxmlformats.org/officeDocument/2006/relationships/image" Target="../media/image159.png"/><Relationship Id="rId29" Type="http://schemas.openxmlformats.org/officeDocument/2006/relationships/image" Target="../media/image167.png"/><Relationship Id="rId1" Type="http://schemas.openxmlformats.org/officeDocument/2006/relationships/tags" Target="../tags/tag744.xml"/><Relationship Id="rId6" Type="http://schemas.openxmlformats.org/officeDocument/2006/relationships/tags" Target="../tags/tag749.xml"/><Relationship Id="rId11" Type="http://schemas.openxmlformats.org/officeDocument/2006/relationships/notesSlide" Target="../notesSlides/notesSlide11.xml"/><Relationship Id="rId24" Type="http://schemas.openxmlformats.org/officeDocument/2006/relationships/image" Target="../media/image163.png"/><Relationship Id="rId5" Type="http://schemas.openxmlformats.org/officeDocument/2006/relationships/tags" Target="../tags/tag748.xml"/><Relationship Id="rId15" Type="http://schemas.openxmlformats.org/officeDocument/2006/relationships/image" Target="../media/image154.svg"/><Relationship Id="rId23" Type="http://schemas.openxmlformats.org/officeDocument/2006/relationships/image" Target="../media/image162.png"/><Relationship Id="rId28" Type="http://schemas.openxmlformats.org/officeDocument/2006/relationships/image" Target="../media/image65.gif"/><Relationship Id="rId10" Type="http://schemas.openxmlformats.org/officeDocument/2006/relationships/slideLayout" Target="../slideLayouts/slideLayout2.xml"/><Relationship Id="rId19" Type="http://schemas.openxmlformats.org/officeDocument/2006/relationships/image" Target="../media/image158.png"/><Relationship Id="rId4" Type="http://schemas.openxmlformats.org/officeDocument/2006/relationships/tags" Target="../tags/tag747.xml"/><Relationship Id="rId9" Type="http://schemas.openxmlformats.org/officeDocument/2006/relationships/tags" Target="../tags/tag752.xml"/><Relationship Id="rId14" Type="http://schemas.openxmlformats.org/officeDocument/2006/relationships/image" Target="../media/image153.svg"/><Relationship Id="rId22" Type="http://schemas.openxmlformats.org/officeDocument/2006/relationships/image" Target="../media/image161.jpeg"/><Relationship Id="rId27" Type="http://schemas.openxmlformats.org/officeDocument/2006/relationships/image" Target="../media/image166.png"/><Relationship Id="rId30" Type="http://schemas.openxmlformats.org/officeDocument/2006/relationships/image" Target="../media/image168.png"/></Relationships>
</file>

<file path=ppt/slides/_rels/slide32.xml.rels><?xml version="1.0" encoding="UTF-8" standalone="yes"?>
<Relationships xmlns="http://schemas.openxmlformats.org/package/2006/relationships"><Relationship Id="rId8" Type="http://schemas.openxmlformats.org/officeDocument/2006/relationships/tags" Target="../tags/tag760.xml"/><Relationship Id="rId13" Type="http://schemas.openxmlformats.org/officeDocument/2006/relationships/slideLayout" Target="../slideLayouts/slideLayout14.xml"/><Relationship Id="rId18" Type="http://schemas.openxmlformats.org/officeDocument/2006/relationships/image" Target="../media/image170.png"/><Relationship Id="rId26" Type="http://schemas.openxmlformats.org/officeDocument/2006/relationships/image" Target="../media/image178.jpeg"/><Relationship Id="rId3" Type="http://schemas.openxmlformats.org/officeDocument/2006/relationships/tags" Target="../tags/tag755.xml"/><Relationship Id="rId21" Type="http://schemas.openxmlformats.org/officeDocument/2006/relationships/image" Target="../media/image173.svg"/><Relationship Id="rId7" Type="http://schemas.openxmlformats.org/officeDocument/2006/relationships/tags" Target="../tags/tag759.xml"/><Relationship Id="rId12" Type="http://schemas.openxmlformats.org/officeDocument/2006/relationships/tags" Target="../tags/tag764.xml"/><Relationship Id="rId17" Type="http://schemas.openxmlformats.org/officeDocument/2006/relationships/image" Target="../media/image169.png"/><Relationship Id="rId25" Type="http://schemas.openxmlformats.org/officeDocument/2006/relationships/image" Target="../media/image177.svg"/><Relationship Id="rId2" Type="http://schemas.openxmlformats.org/officeDocument/2006/relationships/tags" Target="../tags/tag754.xml"/><Relationship Id="rId16" Type="http://schemas.openxmlformats.org/officeDocument/2006/relationships/image" Target="../media/image8.emf"/><Relationship Id="rId20" Type="http://schemas.openxmlformats.org/officeDocument/2006/relationships/image" Target="../media/image172.svg"/><Relationship Id="rId29" Type="http://schemas.openxmlformats.org/officeDocument/2006/relationships/image" Target="../media/image181.jpeg"/><Relationship Id="rId1" Type="http://schemas.openxmlformats.org/officeDocument/2006/relationships/tags" Target="../tags/tag753.xml"/><Relationship Id="rId6" Type="http://schemas.openxmlformats.org/officeDocument/2006/relationships/tags" Target="../tags/tag758.xml"/><Relationship Id="rId11" Type="http://schemas.openxmlformats.org/officeDocument/2006/relationships/tags" Target="../tags/tag763.xml"/><Relationship Id="rId24" Type="http://schemas.openxmlformats.org/officeDocument/2006/relationships/image" Target="../media/image176.svg"/><Relationship Id="rId5" Type="http://schemas.openxmlformats.org/officeDocument/2006/relationships/tags" Target="../tags/tag757.xml"/><Relationship Id="rId15" Type="http://schemas.openxmlformats.org/officeDocument/2006/relationships/oleObject" Target="../embeddings/oleObject43.bin"/><Relationship Id="rId23" Type="http://schemas.openxmlformats.org/officeDocument/2006/relationships/image" Target="../media/image175.svg"/><Relationship Id="rId28" Type="http://schemas.openxmlformats.org/officeDocument/2006/relationships/image" Target="../media/image180.jpeg"/><Relationship Id="rId10" Type="http://schemas.openxmlformats.org/officeDocument/2006/relationships/tags" Target="../tags/tag762.xml"/><Relationship Id="rId19" Type="http://schemas.openxmlformats.org/officeDocument/2006/relationships/image" Target="../media/image171.png"/><Relationship Id="rId31" Type="http://schemas.openxmlformats.org/officeDocument/2006/relationships/image" Target="../media/image183.png"/><Relationship Id="rId4" Type="http://schemas.openxmlformats.org/officeDocument/2006/relationships/tags" Target="../tags/tag756.xml"/><Relationship Id="rId9" Type="http://schemas.openxmlformats.org/officeDocument/2006/relationships/tags" Target="../tags/tag761.xml"/><Relationship Id="rId14" Type="http://schemas.openxmlformats.org/officeDocument/2006/relationships/notesSlide" Target="../notesSlides/notesSlide12.xml"/><Relationship Id="rId22" Type="http://schemas.openxmlformats.org/officeDocument/2006/relationships/image" Target="../media/image174.svg"/><Relationship Id="rId27" Type="http://schemas.openxmlformats.org/officeDocument/2006/relationships/image" Target="../media/image179.png"/><Relationship Id="rId30" Type="http://schemas.openxmlformats.org/officeDocument/2006/relationships/image" Target="../media/image182.png"/></Relationships>
</file>

<file path=ppt/slides/_rels/slide33.xml.rels><?xml version="1.0" encoding="UTF-8" standalone="yes"?>
<Relationships xmlns="http://schemas.openxmlformats.org/package/2006/relationships"><Relationship Id="rId8" Type="http://schemas.openxmlformats.org/officeDocument/2006/relationships/tags" Target="../tags/tag772.xml"/><Relationship Id="rId13" Type="http://schemas.openxmlformats.org/officeDocument/2006/relationships/notesSlide" Target="../notesSlides/notesSlide13.xml"/><Relationship Id="rId18" Type="http://schemas.openxmlformats.org/officeDocument/2006/relationships/image" Target="../media/image185.png"/><Relationship Id="rId26" Type="http://schemas.openxmlformats.org/officeDocument/2006/relationships/image" Target="../media/image190.png"/><Relationship Id="rId3" Type="http://schemas.openxmlformats.org/officeDocument/2006/relationships/tags" Target="../tags/tag767.xml"/><Relationship Id="rId21" Type="http://schemas.openxmlformats.org/officeDocument/2006/relationships/image" Target="../media/image187.png"/><Relationship Id="rId7" Type="http://schemas.openxmlformats.org/officeDocument/2006/relationships/tags" Target="../tags/tag771.xml"/><Relationship Id="rId12" Type="http://schemas.openxmlformats.org/officeDocument/2006/relationships/slideLayout" Target="../slideLayouts/slideLayout2.xml"/><Relationship Id="rId17" Type="http://schemas.openxmlformats.org/officeDocument/2006/relationships/image" Target="../media/image184.png"/><Relationship Id="rId25" Type="http://schemas.openxmlformats.org/officeDocument/2006/relationships/image" Target="../media/image107.png"/><Relationship Id="rId2" Type="http://schemas.openxmlformats.org/officeDocument/2006/relationships/tags" Target="../tags/tag766.xml"/><Relationship Id="rId16" Type="http://schemas.openxmlformats.org/officeDocument/2006/relationships/image" Target="../media/image76.png"/><Relationship Id="rId20" Type="http://schemas.openxmlformats.org/officeDocument/2006/relationships/image" Target="../media/image88.png"/><Relationship Id="rId29" Type="http://schemas.openxmlformats.org/officeDocument/2006/relationships/image" Target="../media/image193.png"/><Relationship Id="rId1" Type="http://schemas.openxmlformats.org/officeDocument/2006/relationships/tags" Target="../tags/tag765.xml"/><Relationship Id="rId6" Type="http://schemas.openxmlformats.org/officeDocument/2006/relationships/tags" Target="../tags/tag770.xml"/><Relationship Id="rId11" Type="http://schemas.openxmlformats.org/officeDocument/2006/relationships/tags" Target="../tags/tag775.xml"/><Relationship Id="rId24" Type="http://schemas.openxmlformats.org/officeDocument/2006/relationships/image" Target="../media/image189.png"/><Relationship Id="rId5" Type="http://schemas.openxmlformats.org/officeDocument/2006/relationships/tags" Target="../tags/tag769.xml"/><Relationship Id="rId15" Type="http://schemas.openxmlformats.org/officeDocument/2006/relationships/image" Target="../media/image7.emf"/><Relationship Id="rId23" Type="http://schemas.openxmlformats.org/officeDocument/2006/relationships/image" Target="../media/image188.png"/><Relationship Id="rId28" Type="http://schemas.openxmlformats.org/officeDocument/2006/relationships/image" Target="../media/image192.png"/><Relationship Id="rId10" Type="http://schemas.openxmlformats.org/officeDocument/2006/relationships/tags" Target="../tags/tag774.xml"/><Relationship Id="rId19" Type="http://schemas.openxmlformats.org/officeDocument/2006/relationships/image" Target="../media/image186.png"/><Relationship Id="rId4" Type="http://schemas.openxmlformats.org/officeDocument/2006/relationships/tags" Target="../tags/tag768.xml"/><Relationship Id="rId9" Type="http://schemas.openxmlformats.org/officeDocument/2006/relationships/tags" Target="../tags/tag773.xml"/><Relationship Id="rId14" Type="http://schemas.openxmlformats.org/officeDocument/2006/relationships/oleObject" Target="../embeddings/oleObject44.bin"/><Relationship Id="rId22" Type="http://schemas.openxmlformats.org/officeDocument/2006/relationships/image" Target="../media/image83.png"/><Relationship Id="rId27" Type="http://schemas.openxmlformats.org/officeDocument/2006/relationships/image" Target="../media/image191.png"/><Relationship Id="rId30" Type="http://schemas.openxmlformats.org/officeDocument/2006/relationships/image" Target="../media/image194.png"/></Relationships>
</file>

<file path=ppt/slides/_rels/slide34.xml.rels><?xml version="1.0" encoding="UTF-8" standalone="yes"?>
<Relationships xmlns="http://schemas.openxmlformats.org/package/2006/relationships"><Relationship Id="rId8" Type="http://schemas.openxmlformats.org/officeDocument/2006/relationships/tags" Target="../tags/tag783.xml"/><Relationship Id="rId13" Type="http://schemas.openxmlformats.org/officeDocument/2006/relationships/image" Target="../media/image8.emf"/><Relationship Id="rId18" Type="http://schemas.openxmlformats.org/officeDocument/2006/relationships/image" Target="../media/image198.png"/><Relationship Id="rId3" Type="http://schemas.openxmlformats.org/officeDocument/2006/relationships/tags" Target="../tags/tag778.xml"/><Relationship Id="rId7" Type="http://schemas.openxmlformats.org/officeDocument/2006/relationships/tags" Target="../tags/tag782.xml"/><Relationship Id="rId12" Type="http://schemas.openxmlformats.org/officeDocument/2006/relationships/oleObject" Target="../embeddings/oleObject45.bin"/><Relationship Id="rId17" Type="http://schemas.openxmlformats.org/officeDocument/2006/relationships/image" Target="../media/image197.svg"/><Relationship Id="rId2" Type="http://schemas.openxmlformats.org/officeDocument/2006/relationships/tags" Target="../tags/tag777.xml"/><Relationship Id="rId16" Type="http://schemas.openxmlformats.org/officeDocument/2006/relationships/image" Target="../media/image196.svg"/><Relationship Id="rId1" Type="http://schemas.openxmlformats.org/officeDocument/2006/relationships/tags" Target="../tags/tag776.xml"/><Relationship Id="rId6" Type="http://schemas.openxmlformats.org/officeDocument/2006/relationships/tags" Target="../tags/tag781.xml"/><Relationship Id="rId11" Type="http://schemas.openxmlformats.org/officeDocument/2006/relationships/notesSlide" Target="../notesSlides/notesSlide14.xml"/><Relationship Id="rId5" Type="http://schemas.openxmlformats.org/officeDocument/2006/relationships/tags" Target="../tags/tag780.xml"/><Relationship Id="rId15" Type="http://schemas.openxmlformats.org/officeDocument/2006/relationships/image" Target="../media/image195.svg"/><Relationship Id="rId10" Type="http://schemas.openxmlformats.org/officeDocument/2006/relationships/slideLayout" Target="../slideLayouts/slideLayout9.xml"/><Relationship Id="rId4" Type="http://schemas.openxmlformats.org/officeDocument/2006/relationships/tags" Target="../tags/tag779.xml"/><Relationship Id="rId9" Type="http://schemas.openxmlformats.org/officeDocument/2006/relationships/tags" Target="../tags/tag784.xml"/><Relationship Id="rId14" Type="http://schemas.openxmlformats.org/officeDocument/2006/relationships/image" Target="../media/image187.png"/></Relationships>
</file>

<file path=ppt/slides/_rels/slide35.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oleObject" Target="../embeddings/oleObject46.bin"/><Relationship Id="rId7" Type="http://schemas.openxmlformats.org/officeDocument/2006/relationships/image" Target="../media/image199.png"/><Relationship Id="rId2" Type="http://schemas.openxmlformats.org/officeDocument/2006/relationships/slideLayout" Target="../slideLayouts/slideLayout12.xml"/><Relationship Id="rId1" Type="http://schemas.openxmlformats.org/officeDocument/2006/relationships/tags" Target="../tags/tag785.xml"/><Relationship Id="rId6" Type="http://schemas.openxmlformats.org/officeDocument/2006/relationships/image" Target="../media/image190.png"/><Relationship Id="rId5" Type="http://schemas.openxmlformats.org/officeDocument/2006/relationships/image" Target="../media/image107.png"/><Relationship Id="rId4" Type="http://schemas.openxmlformats.org/officeDocument/2006/relationships/image" Target="../media/image7.emf"/><Relationship Id="rId9"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413FB0F1-3C1C-3C54-88C8-C3AF539EBAD4}"/>
              </a:ext>
            </a:extLst>
          </p:cNvPr>
          <p:cNvGraphicFramePr>
            <a:graphicFrameLocks noChangeAspect="1"/>
          </p:cNvGraphicFramePr>
          <p:nvPr>
            <p:custDataLst>
              <p:tags r:id="rId1"/>
            </p:custDataLst>
            <p:extLst>
              <p:ext uri="{D42A27DB-BD31-4B8C-83A1-F6EECF244321}">
                <p14:modId xmlns:p14="http://schemas.microsoft.com/office/powerpoint/2010/main" val="675353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5" name="Object 6" hidden="1">
                        <a:extLst>
                          <a:ext uri="{FF2B5EF4-FFF2-40B4-BE49-F238E27FC236}">
                            <a16:creationId xmlns:a16="http://schemas.microsoft.com/office/drawing/2014/main" id="{413FB0F1-3C1C-3C54-88C8-C3AF539EBAD4}"/>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Documenttype">
            <a:extLst>
              <a:ext uri="{FF2B5EF4-FFF2-40B4-BE49-F238E27FC236}">
                <a16:creationId xmlns:a16="http://schemas.microsoft.com/office/drawing/2014/main" id="{2443B47C-6B4B-D69E-E95C-6E5665C5D799}"/>
              </a:ext>
            </a:extLst>
          </p:cNvPr>
          <p:cNvSpPr>
            <a:spLocks noGrp="1"/>
          </p:cNvSpPr>
          <p:nvPr>
            <p:ph type="body" sz="quarter" idx="13"/>
            <p:custDataLst>
              <p:tags r:id="rId2"/>
            </p:custDataLst>
          </p:nvPr>
        </p:nvSpPr>
        <p:spPr/>
        <p:txBody>
          <a:bodyPr/>
          <a:lstStyle/>
          <a:p>
            <a:r>
              <a:rPr lang="en-US" dirty="0"/>
              <a:t>June 2026</a:t>
            </a:r>
          </a:p>
        </p:txBody>
      </p:sp>
      <p:sp>
        <p:nvSpPr>
          <p:cNvPr id="3" name="Subtitle">
            <a:extLst>
              <a:ext uri="{FF2B5EF4-FFF2-40B4-BE49-F238E27FC236}">
                <a16:creationId xmlns:a16="http://schemas.microsoft.com/office/drawing/2014/main" id="{4D6F0702-8EFA-CF6E-922E-9098D1D2FC7D}"/>
              </a:ext>
            </a:extLst>
          </p:cNvPr>
          <p:cNvSpPr>
            <a:spLocks noGrp="1"/>
          </p:cNvSpPr>
          <p:nvPr>
            <p:ph type="subTitle" idx="1"/>
            <p:custDataLst>
              <p:tags r:id="rId3"/>
            </p:custDataLst>
          </p:nvPr>
        </p:nvSpPr>
        <p:spPr/>
        <p:txBody>
          <a:bodyPr/>
          <a:lstStyle/>
          <a:p>
            <a:r>
              <a:rPr lang="en-US" dirty="0"/>
              <a:t>Summary document</a:t>
            </a:r>
          </a:p>
        </p:txBody>
      </p:sp>
      <p:sp>
        <p:nvSpPr>
          <p:cNvPr id="4" name="Title">
            <a:extLst>
              <a:ext uri="{FF2B5EF4-FFF2-40B4-BE49-F238E27FC236}">
                <a16:creationId xmlns:a16="http://schemas.microsoft.com/office/drawing/2014/main" id="{1148E6D1-BBB7-103C-4B16-E06A9E7A9830}"/>
              </a:ext>
            </a:extLst>
          </p:cNvPr>
          <p:cNvSpPr>
            <a:spLocks noGrp="1"/>
          </p:cNvSpPr>
          <p:nvPr>
            <p:ph type="title"/>
            <p:custDataLst>
              <p:tags r:id="rId4"/>
            </p:custDataLst>
          </p:nvPr>
        </p:nvSpPr>
        <p:spPr>
          <a:xfrm>
            <a:off x="558977" y="2365161"/>
            <a:ext cx="6578247" cy="1661993"/>
          </a:xfrm>
        </p:spPr>
        <p:txBody>
          <a:bodyPr vert="horz"/>
          <a:lstStyle/>
          <a:p>
            <a:r>
              <a:rPr lang="en-US" sz="5400" dirty="0"/>
              <a:t>Private &amp; Retail Segment</a:t>
            </a:r>
            <a:endParaRPr lang="en-US" dirty="0"/>
          </a:p>
        </p:txBody>
      </p:sp>
    </p:spTree>
    <p:extLst>
      <p:ext uri="{BB962C8B-B14F-4D97-AF65-F5344CB8AC3E}">
        <p14:creationId xmlns:p14="http://schemas.microsoft.com/office/powerpoint/2010/main" val="3010741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4" hidden="1">
            <a:extLst>
              <a:ext uri="{FF2B5EF4-FFF2-40B4-BE49-F238E27FC236}">
                <a16:creationId xmlns:a16="http://schemas.microsoft.com/office/drawing/2014/main" id="{7930E364-572E-B987-906D-1EE70F3148DE}"/>
              </a:ext>
            </a:extLst>
          </p:cNvPr>
          <p:cNvGraphicFramePr>
            <a:graphicFrameLocks noChangeAspect="1"/>
          </p:cNvGraphicFramePr>
          <p:nvPr>
            <p:custDataLst>
              <p:tags r:id="rId1"/>
            </p:custDataLst>
            <p:extLst>
              <p:ext uri="{D42A27DB-BD31-4B8C-83A1-F6EECF244321}">
                <p14:modId xmlns:p14="http://schemas.microsoft.com/office/powerpoint/2010/main" val="3978534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6" progId="TCLayout.ActiveDocument.1">
                  <p:embed/>
                </p:oleObj>
              </mc:Choice>
              <mc:Fallback>
                <p:oleObj name="think-cell Slide" r:id="rId5" imgW="473" imgH="476" progId="TCLayout.ActiveDocument.1">
                  <p:embed/>
                  <p:pic>
                    <p:nvPicPr>
                      <p:cNvPr id="6" name="Object 4" hidden="1">
                        <a:extLst>
                          <a:ext uri="{FF2B5EF4-FFF2-40B4-BE49-F238E27FC236}">
                            <a16:creationId xmlns:a16="http://schemas.microsoft.com/office/drawing/2014/main" id="{7930E364-572E-B987-906D-1EE70F3148D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9A1CD9D-1A07-0173-2139-67AFE6B308DB}"/>
              </a:ext>
            </a:extLst>
          </p:cNvPr>
          <p:cNvSpPr>
            <a:spLocks noGrp="1"/>
          </p:cNvSpPr>
          <p:nvPr>
            <p:ph type="title"/>
          </p:nvPr>
        </p:nvSpPr>
        <p:spPr>
          <a:xfrm>
            <a:off x="554734" y="534400"/>
            <a:ext cx="11082528" cy="369332"/>
          </a:xfrm>
        </p:spPr>
        <p:txBody>
          <a:bodyPr vert="horz"/>
          <a:lstStyle/>
          <a:p>
            <a:fld id="{8E951348-E747-4642-ACC0-D8CBAC6958F3}" type="datetime'Contents'">
              <a:rPr lang="en-US" altLang="en-US" smtClean="0">
                <a:effectLst/>
              </a:rPr>
              <a:pPr/>
              <a:t>Contents</a:t>
            </a:fld>
            <a:endParaRPr lang="en-US"/>
          </a:p>
        </p:txBody>
      </p:sp>
      <p:sp>
        <p:nvSpPr>
          <p:cNvPr id="8" name="Text Placeholder 7">
            <a:extLst>
              <a:ext uri="{FF2B5EF4-FFF2-40B4-BE49-F238E27FC236}">
                <a16:creationId xmlns:a16="http://schemas.microsoft.com/office/drawing/2014/main" id="{8EF5858F-F725-2F7B-2ED8-1E15E2D0F0EC}"/>
              </a:ext>
            </a:extLst>
          </p:cNvPr>
          <p:cNvSpPr>
            <a:spLocks noGrp="1"/>
          </p:cNvSpPr>
          <p:nvPr>
            <p:ph type="body" sz="quarter" idx="10"/>
          </p:nvPr>
        </p:nvSpPr>
        <p:spPr/>
        <p:txBody>
          <a:bodyPr/>
          <a:lstStyle/>
          <a:p>
            <a:endParaRPr lang="en-US"/>
          </a:p>
        </p:txBody>
      </p:sp>
      <p:sp>
        <p:nvSpPr>
          <p:cNvPr id="17" name="Text Placeholder 4">
            <a:extLst>
              <a:ext uri="{FF2B5EF4-FFF2-40B4-BE49-F238E27FC236}">
                <a16:creationId xmlns:a16="http://schemas.microsoft.com/office/drawing/2014/main" id="{F666D408-2DBE-BDD5-2C2B-50C00CAB03BE}"/>
              </a:ext>
            </a:extLst>
          </p:cNvPr>
          <p:cNvSpPr>
            <a:spLocks noGrp="1"/>
          </p:cNvSpPr>
          <p:nvPr>
            <p:custDataLst>
              <p:tags r:id="rId2"/>
            </p:custDataLst>
          </p:nvPr>
        </p:nvSpPr>
        <p:spPr bwMode="auto">
          <a:xfrm>
            <a:off x="5313363" y="3073400"/>
            <a:ext cx="1565275" cy="355600"/>
          </a:xfrm>
          <a:prstGeom prst="rect">
            <a:avLst/>
          </a:prstGeom>
          <a:solidFill>
            <a:schemeClr val="accent6"/>
          </a:solidFill>
          <a:ln>
            <a:noFill/>
          </a:ln>
          <a:effectLst/>
        </p:spPr>
        <p:txBody>
          <a:bodyPr vert="horz" wrap="none" lIns="71438" tIns="71438" rIns="0" bIns="714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b="1" dirty="0">
                <a:solidFill>
                  <a:schemeClr val="tx1"/>
                </a:solidFill>
                <a:effectLst/>
                <a:latin typeface="+mn-lt"/>
              </a:rPr>
              <a:t>Private banking</a:t>
            </a:r>
            <a:endParaRPr lang="en-US" b="1" dirty="0">
              <a:solidFill>
                <a:schemeClr val="tx1"/>
              </a:solidFill>
              <a:latin typeface="+mn-lt"/>
            </a:endParaRPr>
          </a:p>
        </p:txBody>
      </p:sp>
      <p:sp>
        <p:nvSpPr>
          <p:cNvPr id="15" name="Text Placeholder 4">
            <a:hlinkClick r:id="rId7" action="ppaction://hlinksldjump"/>
            <a:extLst>
              <a:ext uri="{FF2B5EF4-FFF2-40B4-BE49-F238E27FC236}">
                <a16:creationId xmlns:a16="http://schemas.microsoft.com/office/drawing/2014/main" id="{6E91CA88-25CD-C416-9DB6-E48DB46F5A8A}"/>
              </a:ext>
            </a:extLst>
          </p:cNvPr>
          <p:cNvSpPr>
            <a:spLocks noGrp="1"/>
          </p:cNvSpPr>
          <p:nvPr>
            <p:custDataLst>
              <p:tags r:id="rId3"/>
            </p:custDataLst>
          </p:nvPr>
        </p:nvSpPr>
        <p:spPr bwMode="auto">
          <a:xfrm>
            <a:off x="5313363" y="3429000"/>
            <a:ext cx="1565275" cy="3556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71438" tIns="71438" rIns="0" bIns="714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a:solidFill>
                  <a:schemeClr val="bg1"/>
                </a:solidFill>
                <a:effectLst/>
                <a:latin typeface="+mn-lt"/>
              </a:rPr>
              <a:t>Retail </a:t>
            </a:r>
            <a:r>
              <a:rPr lang="en-US" altLang="en-US" dirty="0">
                <a:solidFill>
                  <a:schemeClr val="bg1"/>
                </a:solidFill>
                <a:effectLst/>
                <a:latin typeface="+mn-lt"/>
              </a:rPr>
              <a:t>banking</a:t>
            </a:r>
            <a:endParaRPr lang="en-US" dirty="0">
              <a:solidFill>
                <a:schemeClr val="bg1"/>
              </a:solidFill>
              <a:latin typeface="+mn-lt"/>
            </a:endParaRPr>
          </a:p>
        </p:txBody>
      </p:sp>
    </p:spTree>
    <p:extLst>
      <p:ext uri="{BB962C8B-B14F-4D97-AF65-F5344CB8AC3E}">
        <p14:creationId xmlns:p14="http://schemas.microsoft.com/office/powerpoint/2010/main" val="120765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C206C-87FC-8042-7FB5-B6B7E1624628}"/>
            </a:ext>
          </a:extLst>
        </p:cNvPr>
        <p:cNvGrpSpPr/>
        <p:nvPr/>
      </p:nvGrpSpPr>
      <p:grpSpPr>
        <a:xfrm>
          <a:off x="0" y="0"/>
          <a:ext cx="0" cy="0"/>
          <a:chOff x="0" y="0"/>
          <a:chExt cx="0" cy="0"/>
        </a:xfrm>
      </p:grpSpPr>
      <p:graphicFrame>
        <p:nvGraphicFramePr>
          <p:cNvPr id="123" name="Object 6" hidden="1">
            <a:extLst>
              <a:ext uri="{FF2B5EF4-FFF2-40B4-BE49-F238E27FC236}">
                <a16:creationId xmlns:a16="http://schemas.microsoft.com/office/drawing/2014/main" id="{82B1215C-E47B-9DD1-9A85-448176460D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484" imgH="484" progId="TCLayout.ActiveDocument.1">
                  <p:embed/>
                </p:oleObj>
              </mc:Choice>
              <mc:Fallback>
                <p:oleObj name="think-cell Slide" r:id="rId38" imgW="484" imgH="484" progId="TCLayout.ActiveDocument.1">
                  <p:embed/>
                  <p:pic>
                    <p:nvPicPr>
                      <p:cNvPr id="123" name="Object 6" hidden="1">
                        <a:extLst>
                          <a:ext uri="{FF2B5EF4-FFF2-40B4-BE49-F238E27FC236}">
                            <a16:creationId xmlns:a16="http://schemas.microsoft.com/office/drawing/2014/main" id="{82B1215C-E47B-9DD1-9A85-448176460D0F}"/>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26" name="Shape 24">
            <a:extLst>
              <a:ext uri="{FF2B5EF4-FFF2-40B4-BE49-F238E27FC236}">
                <a16:creationId xmlns:a16="http://schemas.microsoft.com/office/drawing/2014/main" id="{836F2480-6F68-51F0-7F05-4F942D49FFB9}"/>
              </a:ext>
            </a:extLst>
          </p:cNvPr>
          <p:cNvSpPr>
            <a:spLocks/>
          </p:cNvSpPr>
          <p:nvPr/>
        </p:nvSpPr>
        <p:spPr>
          <a:xfrm>
            <a:off x="585416" y="3520390"/>
            <a:ext cx="11051844" cy="0"/>
          </a:xfrm>
          <a:prstGeom prst="line">
            <a:avLst/>
          </a:prstGeom>
          <a:noFill/>
          <a:ln w="6350">
            <a:solidFill>
              <a:schemeClr val="bg1">
                <a:lumMod val="50000"/>
              </a:schemeClr>
            </a:solidFill>
            <a:prstDash val="solid"/>
          </a:ln>
        </p:spPr>
        <p:txBody>
          <a:bodyPr>
            <a:noAutofit/>
          </a:bodyPr>
          <a:lstStyle/>
          <a:p>
            <a:endParaRPr lang="en-US"/>
          </a:p>
        </p:txBody>
      </p:sp>
      <p:sp>
        <p:nvSpPr>
          <p:cNvPr id="32" name="Shape 30">
            <a:extLst>
              <a:ext uri="{FF2B5EF4-FFF2-40B4-BE49-F238E27FC236}">
                <a16:creationId xmlns:a16="http://schemas.microsoft.com/office/drawing/2014/main" id="{18AAAAB1-7E5B-1DCC-9F26-65C86EC833AA}"/>
              </a:ext>
            </a:extLst>
          </p:cNvPr>
          <p:cNvSpPr>
            <a:spLocks/>
          </p:cNvSpPr>
          <p:nvPr/>
        </p:nvSpPr>
        <p:spPr>
          <a:xfrm>
            <a:off x="585417" y="4952188"/>
            <a:ext cx="11051844" cy="0"/>
          </a:xfrm>
          <a:prstGeom prst="line">
            <a:avLst/>
          </a:prstGeom>
          <a:noFill/>
          <a:ln w="6350">
            <a:solidFill>
              <a:schemeClr val="bg1">
                <a:lumMod val="50000"/>
              </a:schemeClr>
            </a:solidFill>
            <a:prstDash val="solid"/>
          </a:ln>
        </p:spPr>
        <p:txBody>
          <a:bodyPr>
            <a:noAutofit/>
          </a:bodyPr>
          <a:lstStyle/>
          <a:p>
            <a:endParaRPr lang="en-US"/>
          </a:p>
        </p:txBody>
      </p:sp>
      <p:cxnSp>
        <p:nvCxnSpPr>
          <p:cNvPr id="113" name="LineBasicStrong 47">
            <a:extLst>
              <a:ext uri="{FF2B5EF4-FFF2-40B4-BE49-F238E27FC236}">
                <a16:creationId xmlns:a16="http://schemas.microsoft.com/office/drawing/2014/main" id="{96D3B585-DA8E-E6D9-2290-04E6177E1368}"/>
              </a:ext>
            </a:extLst>
          </p:cNvPr>
          <p:cNvCxnSpPr>
            <a:cxnSpLocks/>
          </p:cNvCxnSpPr>
          <p:nvPr>
            <p:custDataLst>
              <p:tags r:id="rId2"/>
            </p:custDataLst>
          </p:nvPr>
        </p:nvCxnSpPr>
        <p:spPr>
          <a:xfrm>
            <a:off x="585418" y="1805470"/>
            <a:ext cx="11051844" cy="0"/>
          </a:xfrm>
          <a:prstGeom prst="straightConnector1">
            <a:avLst/>
          </a:prstGeom>
          <a:ln w="12700" cap="sq">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0" name="2. Slide Title">
            <a:extLst>
              <a:ext uri="{FF2B5EF4-FFF2-40B4-BE49-F238E27FC236}">
                <a16:creationId xmlns:a16="http://schemas.microsoft.com/office/drawing/2014/main" id="{20DCB5EA-D6A0-3AE3-01EF-1DF58E0FE6D6}"/>
              </a:ext>
            </a:extLst>
          </p:cNvPr>
          <p:cNvSpPr>
            <a:spLocks noGrp="1"/>
          </p:cNvSpPr>
          <p:nvPr>
            <p:ph type="title"/>
            <p:custDataLst>
              <p:tags r:id="rId3"/>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a:latin typeface="+mj-lt"/>
              </a:rPr>
              <a:t>Private banking leaders are shifting from broad premium service to selective wealth franchises</a:t>
            </a:r>
          </a:p>
        </p:txBody>
      </p:sp>
      <p:sp>
        <p:nvSpPr>
          <p:cNvPr id="25" name="Shape 23">
            <a:extLst>
              <a:ext uri="{FF2B5EF4-FFF2-40B4-BE49-F238E27FC236}">
                <a16:creationId xmlns:a16="http://schemas.microsoft.com/office/drawing/2014/main" id="{C81CE7DA-49F3-6CCD-13EA-09C077A8C867}"/>
              </a:ext>
            </a:extLst>
          </p:cNvPr>
          <p:cNvSpPr>
            <a:spLocks/>
          </p:cNvSpPr>
          <p:nvPr/>
        </p:nvSpPr>
        <p:spPr>
          <a:xfrm>
            <a:off x="1194050" y="2414966"/>
            <a:ext cx="10443212" cy="0"/>
          </a:xfrm>
          <a:prstGeom prst="line">
            <a:avLst/>
          </a:prstGeom>
          <a:noFill/>
          <a:ln w="6350">
            <a:solidFill>
              <a:schemeClr val="bg1">
                <a:lumMod val="50000"/>
              </a:schemeClr>
            </a:solidFill>
            <a:prstDash val="solid"/>
          </a:ln>
        </p:spPr>
        <p:txBody>
          <a:bodyPr>
            <a:noAutofit/>
          </a:bodyPr>
          <a:lstStyle/>
          <a:p>
            <a:endParaRPr lang="en-US"/>
          </a:p>
        </p:txBody>
      </p:sp>
      <p:sp>
        <p:nvSpPr>
          <p:cNvPr id="27" name="Shape 25">
            <a:extLst>
              <a:ext uri="{FF2B5EF4-FFF2-40B4-BE49-F238E27FC236}">
                <a16:creationId xmlns:a16="http://schemas.microsoft.com/office/drawing/2014/main" id="{F53E6B75-783B-BF74-F90E-5427969168F7}"/>
              </a:ext>
            </a:extLst>
          </p:cNvPr>
          <p:cNvSpPr>
            <a:spLocks/>
          </p:cNvSpPr>
          <p:nvPr/>
        </p:nvSpPr>
        <p:spPr>
          <a:xfrm>
            <a:off x="1194049" y="3044622"/>
            <a:ext cx="10443212" cy="0"/>
          </a:xfrm>
          <a:prstGeom prst="line">
            <a:avLst/>
          </a:prstGeom>
          <a:noFill/>
          <a:ln w="6350">
            <a:solidFill>
              <a:schemeClr val="bg1">
                <a:lumMod val="50000"/>
              </a:schemeClr>
            </a:solidFill>
            <a:prstDash val="solid"/>
          </a:ln>
        </p:spPr>
        <p:txBody>
          <a:bodyPr>
            <a:noAutofit/>
          </a:bodyPr>
          <a:lstStyle/>
          <a:p>
            <a:endParaRPr lang="en-US"/>
          </a:p>
        </p:txBody>
      </p:sp>
      <p:sp>
        <p:nvSpPr>
          <p:cNvPr id="28" name="Shape 26">
            <a:extLst>
              <a:ext uri="{FF2B5EF4-FFF2-40B4-BE49-F238E27FC236}">
                <a16:creationId xmlns:a16="http://schemas.microsoft.com/office/drawing/2014/main" id="{E2FB9D1A-52B8-C2F3-0D62-33266D10374F}"/>
              </a:ext>
            </a:extLst>
          </p:cNvPr>
          <p:cNvSpPr>
            <a:spLocks/>
          </p:cNvSpPr>
          <p:nvPr/>
        </p:nvSpPr>
        <p:spPr>
          <a:xfrm>
            <a:off x="1194049" y="3997656"/>
            <a:ext cx="10443212" cy="0"/>
          </a:xfrm>
          <a:prstGeom prst="line">
            <a:avLst/>
          </a:prstGeom>
          <a:noFill/>
          <a:ln w="6350">
            <a:solidFill>
              <a:schemeClr val="bg1">
                <a:lumMod val="50000"/>
              </a:schemeClr>
            </a:solidFill>
            <a:prstDash val="solid"/>
          </a:ln>
        </p:spPr>
        <p:txBody>
          <a:bodyPr>
            <a:noAutofit/>
          </a:bodyPr>
          <a:lstStyle/>
          <a:p>
            <a:endParaRPr lang="en-US"/>
          </a:p>
        </p:txBody>
      </p:sp>
      <p:sp>
        <p:nvSpPr>
          <p:cNvPr id="29" name="Shape 27">
            <a:extLst>
              <a:ext uri="{FF2B5EF4-FFF2-40B4-BE49-F238E27FC236}">
                <a16:creationId xmlns:a16="http://schemas.microsoft.com/office/drawing/2014/main" id="{5857CEC7-1219-A435-2A38-238A3E7241D3}"/>
              </a:ext>
            </a:extLst>
          </p:cNvPr>
          <p:cNvSpPr>
            <a:spLocks/>
          </p:cNvSpPr>
          <p:nvPr/>
        </p:nvSpPr>
        <p:spPr>
          <a:xfrm>
            <a:off x="1194049" y="4474922"/>
            <a:ext cx="10443212" cy="0"/>
          </a:xfrm>
          <a:prstGeom prst="line">
            <a:avLst/>
          </a:prstGeom>
          <a:noFill/>
          <a:ln w="6350">
            <a:solidFill>
              <a:schemeClr val="bg1">
                <a:lumMod val="50000"/>
              </a:schemeClr>
            </a:solidFill>
            <a:prstDash val="solid"/>
          </a:ln>
        </p:spPr>
        <p:txBody>
          <a:bodyPr>
            <a:noAutofit/>
          </a:bodyPr>
          <a:lstStyle/>
          <a:p>
            <a:endParaRPr lang="en-US"/>
          </a:p>
        </p:txBody>
      </p:sp>
      <p:sp>
        <p:nvSpPr>
          <p:cNvPr id="31" name="Shape 29">
            <a:extLst>
              <a:ext uri="{FF2B5EF4-FFF2-40B4-BE49-F238E27FC236}">
                <a16:creationId xmlns:a16="http://schemas.microsoft.com/office/drawing/2014/main" id="{82F63674-A1BB-5421-A0A0-A4B48AA25765}"/>
              </a:ext>
            </a:extLst>
          </p:cNvPr>
          <p:cNvSpPr>
            <a:spLocks/>
          </p:cNvSpPr>
          <p:nvPr/>
        </p:nvSpPr>
        <p:spPr>
          <a:xfrm>
            <a:off x="1194049" y="5429454"/>
            <a:ext cx="10443212" cy="0"/>
          </a:xfrm>
          <a:prstGeom prst="line">
            <a:avLst/>
          </a:prstGeom>
          <a:noFill/>
          <a:ln w="6350">
            <a:solidFill>
              <a:schemeClr val="bg1">
                <a:lumMod val="50000"/>
              </a:schemeClr>
            </a:solidFill>
            <a:prstDash val="solid"/>
          </a:ln>
        </p:spPr>
        <p:txBody>
          <a:bodyPr>
            <a:noAutofit/>
          </a:bodyPr>
          <a:lstStyle/>
          <a:p>
            <a:endParaRPr lang="en-US"/>
          </a:p>
        </p:txBody>
      </p:sp>
      <p:sp>
        <p:nvSpPr>
          <p:cNvPr id="53" name="Shape 29">
            <a:extLst>
              <a:ext uri="{FF2B5EF4-FFF2-40B4-BE49-F238E27FC236}">
                <a16:creationId xmlns:a16="http://schemas.microsoft.com/office/drawing/2014/main" id="{C622B063-BA03-78C4-2490-388CB3C9FBD7}"/>
              </a:ext>
            </a:extLst>
          </p:cNvPr>
          <p:cNvSpPr>
            <a:spLocks/>
          </p:cNvSpPr>
          <p:nvPr/>
        </p:nvSpPr>
        <p:spPr>
          <a:xfrm>
            <a:off x="1194049" y="5905222"/>
            <a:ext cx="10443212" cy="0"/>
          </a:xfrm>
          <a:prstGeom prst="line">
            <a:avLst/>
          </a:prstGeom>
          <a:noFill/>
          <a:ln w="6350">
            <a:solidFill>
              <a:schemeClr val="bg1">
                <a:lumMod val="50000"/>
              </a:schemeClr>
            </a:solidFill>
            <a:prstDash val="solid"/>
          </a:ln>
        </p:spPr>
        <p:txBody>
          <a:bodyPr>
            <a:noAutofit/>
          </a:bodyPr>
          <a:lstStyle/>
          <a:p>
            <a:endParaRPr lang="en-US"/>
          </a:p>
        </p:txBody>
      </p:sp>
      <p:pic>
        <p:nvPicPr>
          <p:cNvPr id="20" name="Graphic 19">
            <a:extLst>
              <a:ext uri="{FF2B5EF4-FFF2-40B4-BE49-F238E27FC236}">
                <a16:creationId xmlns:a16="http://schemas.microsoft.com/office/drawing/2014/main" id="{8685B065-A53F-62D1-6EA0-C05348B56D10}"/>
              </a:ext>
            </a:extLst>
          </p:cNvPr>
          <p:cNvPicPr>
            <a:picLocks/>
          </p:cNvPicPr>
          <p:nvPr/>
        </p:nvPicPr>
        <p:blipFill>
          <a:blip>
            <a:extLst>
              <a:ext uri="{96DAC541-7B7A-43D3-8B79-37D633B846F1}">
                <asvg:svgBlip xmlns:asvg="http://schemas.microsoft.com/office/drawing/2016/SVG/main" r:embed="rId40"/>
              </a:ext>
            </a:extLst>
          </a:blip>
          <a:stretch>
            <a:fillRect/>
          </a:stretch>
        </p:blipFill>
        <p:spPr>
          <a:xfrm>
            <a:off x="1706251" y="1243807"/>
            <a:ext cx="307777" cy="307777"/>
          </a:xfrm>
          <a:prstGeom prst="rect">
            <a:avLst/>
          </a:prstGeom>
        </p:spPr>
      </p:pic>
      <p:pic>
        <p:nvPicPr>
          <p:cNvPr id="21" name="Graphic 20">
            <a:extLst>
              <a:ext uri="{FF2B5EF4-FFF2-40B4-BE49-F238E27FC236}">
                <a16:creationId xmlns:a16="http://schemas.microsoft.com/office/drawing/2014/main" id="{C95768F9-1FC3-ABD2-24E8-9BC7D14B7B6F}"/>
              </a:ext>
            </a:extLst>
          </p:cNvPr>
          <p:cNvPicPr>
            <a:picLocks/>
          </p:cNvPicPr>
          <p:nvPr/>
        </p:nvPicPr>
        <p:blipFill>
          <a:blip>
            <a:extLst>
              <a:ext uri="{96DAC541-7B7A-43D3-8B79-37D633B846F1}">
                <asvg:svgBlip xmlns:asvg="http://schemas.microsoft.com/office/drawing/2016/SVG/main" r:embed="rId41"/>
              </a:ext>
            </a:extLst>
          </a:blip>
          <a:stretch>
            <a:fillRect/>
          </a:stretch>
        </p:blipFill>
        <p:spPr>
          <a:xfrm>
            <a:off x="9098151" y="1243807"/>
            <a:ext cx="307777" cy="307777"/>
          </a:xfrm>
          <a:prstGeom prst="rect">
            <a:avLst/>
          </a:prstGeom>
        </p:spPr>
      </p:pic>
      <p:pic>
        <p:nvPicPr>
          <p:cNvPr id="22" name="Graphic 21">
            <a:extLst>
              <a:ext uri="{FF2B5EF4-FFF2-40B4-BE49-F238E27FC236}">
                <a16:creationId xmlns:a16="http://schemas.microsoft.com/office/drawing/2014/main" id="{AF8D4692-1401-B65B-85E5-7DB93100AF5D}"/>
              </a:ext>
            </a:extLst>
          </p:cNvPr>
          <p:cNvPicPr>
            <a:picLocks/>
          </p:cNvPicPr>
          <p:nvPr/>
        </p:nvPicPr>
        <p:blipFill>
          <a:blip>
            <a:extLst>
              <a:ext uri="{96DAC541-7B7A-43D3-8B79-37D633B846F1}">
                <asvg:svgBlip xmlns:asvg="http://schemas.microsoft.com/office/drawing/2016/SVG/main" r:embed="rId42"/>
              </a:ext>
            </a:extLst>
          </a:blip>
          <a:stretch>
            <a:fillRect/>
          </a:stretch>
        </p:blipFill>
        <p:spPr>
          <a:xfrm>
            <a:off x="3796723" y="1243807"/>
            <a:ext cx="307777" cy="307777"/>
          </a:xfrm>
          <a:prstGeom prst="rect">
            <a:avLst/>
          </a:prstGeom>
        </p:spPr>
      </p:pic>
      <p:sp>
        <p:nvSpPr>
          <p:cNvPr id="23" name="TextBox 22">
            <a:extLst>
              <a:ext uri="{FF2B5EF4-FFF2-40B4-BE49-F238E27FC236}">
                <a16:creationId xmlns:a16="http://schemas.microsoft.com/office/drawing/2014/main" id="{DE1D2642-DC10-7CE8-1761-8B18B9E0B9FC}"/>
              </a:ext>
            </a:extLst>
          </p:cNvPr>
          <p:cNvSpPr txBox="1">
            <a:spLocks/>
          </p:cNvSpPr>
          <p:nvPr/>
        </p:nvSpPr>
        <p:spPr>
          <a:xfrm>
            <a:off x="1706251" y="1582563"/>
            <a:ext cx="1793050"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rPr>
              <a:t>Anchors of success</a:t>
            </a:r>
          </a:p>
        </p:txBody>
      </p:sp>
      <p:sp>
        <p:nvSpPr>
          <p:cNvPr id="33" name="TextBox 32">
            <a:extLst>
              <a:ext uri="{FF2B5EF4-FFF2-40B4-BE49-F238E27FC236}">
                <a16:creationId xmlns:a16="http://schemas.microsoft.com/office/drawing/2014/main" id="{A2C1CBC4-EA7C-521F-C0B5-CDDC654E4A88}"/>
              </a:ext>
            </a:extLst>
          </p:cNvPr>
          <p:cNvSpPr txBox="1">
            <a:spLocks/>
          </p:cNvSpPr>
          <p:nvPr/>
        </p:nvSpPr>
        <p:spPr>
          <a:xfrm>
            <a:off x="3796723" y="1582563"/>
            <a:ext cx="4867301"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rPr>
              <a:t>Description of success</a:t>
            </a:r>
          </a:p>
        </p:txBody>
      </p:sp>
      <p:sp>
        <p:nvSpPr>
          <p:cNvPr id="35" name="TextBox 34">
            <a:extLst>
              <a:ext uri="{FF2B5EF4-FFF2-40B4-BE49-F238E27FC236}">
                <a16:creationId xmlns:a16="http://schemas.microsoft.com/office/drawing/2014/main" id="{8453ACA5-75D8-5CC4-93E4-62B044C389B4}"/>
              </a:ext>
            </a:extLst>
          </p:cNvPr>
          <p:cNvSpPr txBox="1">
            <a:spLocks/>
          </p:cNvSpPr>
          <p:nvPr/>
        </p:nvSpPr>
        <p:spPr>
          <a:xfrm>
            <a:off x="9098151" y="1582563"/>
            <a:ext cx="2313426"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rPr>
              <a:t>Best case examples</a:t>
            </a:r>
          </a:p>
        </p:txBody>
      </p:sp>
      <p:sp>
        <p:nvSpPr>
          <p:cNvPr id="125" name="TrackerNumBlue 35">
            <a:extLst>
              <a:ext uri="{FF2B5EF4-FFF2-40B4-BE49-F238E27FC236}">
                <a16:creationId xmlns:a16="http://schemas.microsoft.com/office/drawing/2014/main" id="{973D9305-4B12-8DE8-59FC-57DF2141EF5F}"/>
              </a:ext>
            </a:extLst>
          </p:cNvPr>
          <p:cNvSpPr/>
          <p:nvPr>
            <p:custDataLst>
              <p:tags r:id="rId4"/>
            </p:custDataLst>
          </p:nvPr>
        </p:nvSpPr>
        <p:spPr>
          <a:xfrm>
            <a:off x="1332113" y="1869152"/>
            <a:ext cx="209872" cy="209872"/>
          </a:xfrm>
          <a:prstGeom prst="ellipse">
            <a:avLst/>
          </a:prstGeom>
          <a:solidFill>
            <a:schemeClr val="accent3">
              <a:lumMod val="50000"/>
            </a:schemeClr>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100">
                <a:solidFill>
                  <a:schemeClr val="bg1"/>
                </a:solidFill>
              </a:rPr>
              <a:t>1</a:t>
            </a:r>
          </a:p>
        </p:txBody>
      </p:sp>
      <p:sp>
        <p:nvSpPr>
          <p:cNvPr id="135" name="TrackerNumBlue 35">
            <a:extLst>
              <a:ext uri="{FF2B5EF4-FFF2-40B4-BE49-F238E27FC236}">
                <a16:creationId xmlns:a16="http://schemas.microsoft.com/office/drawing/2014/main" id="{6919FDFA-CDAC-5058-D5D4-3A4F44B76089}"/>
              </a:ext>
            </a:extLst>
          </p:cNvPr>
          <p:cNvSpPr/>
          <p:nvPr>
            <p:custDataLst>
              <p:tags r:id="rId5"/>
            </p:custDataLst>
          </p:nvPr>
        </p:nvSpPr>
        <p:spPr>
          <a:xfrm>
            <a:off x="1332113" y="2498808"/>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100">
                <a:solidFill>
                  <a:schemeClr val="bg1"/>
                </a:solidFill>
              </a:rPr>
              <a:t>2</a:t>
            </a:r>
          </a:p>
        </p:txBody>
      </p:sp>
      <p:sp>
        <p:nvSpPr>
          <p:cNvPr id="51" name="Text 49">
            <a:extLst>
              <a:ext uri="{FF2B5EF4-FFF2-40B4-BE49-F238E27FC236}">
                <a16:creationId xmlns:a16="http://schemas.microsoft.com/office/drawing/2014/main" id="{8C443CCC-943B-C7E5-31EC-A7D89E36BE19}"/>
              </a:ext>
            </a:extLst>
          </p:cNvPr>
          <p:cNvSpPr>
            <a:spLocks/>
          </p:cNvSpPr>
          <p:nvPr/>
        </p:nvSpPr>
        <p:spPr>
          <a:xfrm>
            <a:off x="1706251" y="2490797"/>
            <a:ext cx="1793050" cy="308033"/>
          </a:xfrm>
          <a:prstGeom prst="rect">
            <a:avLst/>
          </a:prstGeom>
          <a:noFill/>
          <a:ln/>
        </p:spPr>
        <p:txBody>
          <a:bodyPr wrap="square" lIns="127" tIns="127" rIns="127" bIns="127" rtlCol="0" anchor="ctr">
            <a:spAutoFit/>
          </a:bodyPr>
          <a:lstStyle/>
          <a:p>
            <a:r>
              <a:rPr lang="en-US" sz="1000" b="1"/>
              <a:t>Advisory-led</a:t>
            </a:r>
            <a:r>
              <a:rPr lang="en-US" sz="1000"/>
              <a:t> relationship model</a:t>
            </a:r>
          </a:p>
        </p:txBody>
      </p:sp>
      <p:sp>
        <p:nvSpPr>
          <p:cNvPr id="52" name="Text 50">
            <a:extLst>
              <a:ext uri="{FF2B5EF4-FFF2-40B4-BE49-F238E27FC236}">
                <a16:creationId xmlns:a16="http://schemas.microsoft.com/office/drawing/2014/main" id="{2259947C-6319-8DFE-10A2-22757708FD38}"/>
              </a:ext>
            </a:extLst>
          </p:cNvPr>
          <p:cNvSpPr>
            <a:spLocks/>
          </p:cNvSpPr>
          <p:nvPr/>
        </p:nvSpPr>
        <p:spPr>
          <a:xfrm>
            <a:off x="3796722" y="2498808"/>
            <a:ext cx="4867301" cy="461972"/>
          </a:xfrm>
          <a:prstGeom prst="rect">
            <a:avLst/>
          </a:prstGeom>
          <a:noFill/>
          <a:ln/>
        </p:spPr>
        <p:txBody>
          <a:bodyPr wrap="square" lIns="152" tIns="152" rIns="152" bIns="152" rtlCol="0" anchor="ctr">
            <a:spAutoFit/>
          </a:bodyPr>
          <a:lstStyle/>
          <a:p>
            <a:r>
              <a:rPr lang="en-US" sz="1000"/>
              <a:t>RM coverage shifts to structured advisory: portfolio reviews, investment narratives, family wealth planning, cross-border needs assessment, and access to specialists when needed</a:t>
            </a:r>
          </a:p>
        </p:txBody>
      </p:sp>
      <p:sp>
        <p:nvSpPr>
          <p:cNvPr id="126" name="TrackerNumBlue 35">
            <a:extLst>
              <a:ext uri="{FF2B5EF4-FFF2-40B4-BE49-F238E27FC236}">
                <a16:creationId xmlns:a16="http://schemas.microsoft.com/office/drawing/2014/main" id="{9B633579-87B6-3840-3DD3-FC0CDF577E0B}"/>
              </a:ext>
            </a:extLst>
          </p:cNvPr>
          <p:cNvSpPr/>
          <p:nvPr>
            <p:custDataLst>
              <p:tags r:id="rId6"/>
            </p:custDataLst>
          </p:nvPr>
        </p:nvSpPr>
        <p:spPr>
          <a:xfrm>
            <a:off x="1332113" y="3128464"/>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tr-TR" sz="1100">
                <a:solidFill>
                  <a:schemeClr val="bg1"/>
                </a:solidFill>
              </a:rPr>
              <a:t>3</a:t>
            </a:r>
            <a:endParaRPr lang="en-US" sz="1100">
              <a:solidFill>
                <a:schemeClr val="bg1"/>
              </a:solidFill>
            </a:endParaRPr>
          </a:p>
        </p:txBody>
      </p:sp>
      <p:sp>
        <p:nvSpPr>
          <p:cNvPr id="56" name="Text 54">
            <a:extLst>
              <a:ext uri="{FF2B5EF4-FFF2-40B4-BE49-F238E27FC236}">
                <a16:creationId xmlns:a16="http://schemas.microsoft.com/office/drawing/2014/main" id="{D47CAF9E-7487-CC25-7136-2049CEBE992B}"/>
              </a:ext>
            </a:extLst>
          </p:cNvPr>
          <p:cNvSpPr>
            <a:spLocks/>
          </p:cNvSpPr>
          <p:nvPr/>
        </p:nvSpPr>
        <p:spPr>
          <a:xfrm>
            <a:off x="1706251" y="3128464"/>
            <a:ext cx="1793050" cy="308033"/>
          </a:xfrm>
          <a:prstGeom prst="rect">
            <a:avLst/>
          </a:prstGeom>
          <a:noFill/>
          <a:ln/>
        </p:spPr>
        <p:txBody>
          <a:bodyPr wrap="square" lIns="127" tIns="127" rIns="127" bIns="127" rtlCol="0" anchor="ctr">
            <a:spAutoFit/>
          </a:bodyPr>
          <a:lstStyle/>
          <a:p>
            <a:r>
              <a:rPr lang="en-US" sz="1000"/>
              <a:t>Private client club and </a:t>
            </a:r>
            <a:r>
              <a:rPr lang="en-US" sz="1000" b="1"/>
              <a:t>exclusive community</a:t>
            </a:r>
          </a:p>
        </p:txBody>
      </p:sp>
      <p:grpSp>
        <p:nvGrpSpPr>
          <p:cNvPr id="68" name="Group 67">
            <a:extLst>
              <a:ext uri="{FF2B5EF4-FFF2-40B4-BE49-F238E27FC236}">
                <a16:creationId xmlns:a16="http://schemas.microsoft.com/office/drawing/2014/main" id="{524DE571-F1CE-CD7D-FDAD-6B51017D6056}"/>
              </a:ext>
            </a:extLst>
          </p:cNvPr>
          <p:cNvGrpSpPr/>
          <p:nvPr/>
        </p:nvGrpSpPr>
        <p:grpSpPr>
          <a:xfrm>
            <a:off x="1706251" y="4938790"/>
            <a:ext cx="6957773" cy="508169"/>
            <a:chOff x="1960251" y="1771912"/>
            <a:chExt cx="6957773" cy="508169"/>
          </a:xfrm>
        </p:grpSpPr>
        <p:sp>
          <p:nvSpPr>
            <p:cNvPr id="46" name="Text 44">
              <a:extLst>
                <a:ext uri="{FF2B5EF4-FFF2-40B4-BE49-F238E27FC236}">
                  <a16:creationId xmlns:a16="http://schemas.microsoft.com/office/drawing/2014/main" id="{D5356C73-65F9-1C77-67D5-80D8B732C7B5}"/>
                </a:ext>
              </a:extLst>
            </p:cNvPr>
            <p:cNvSpPr>
              <a:spLocks/>
            </p:cNvSpPr>
            <p:nvPr/>
          </p:nvSpPr>
          <p:spPr>
            <a:xfrm>
              <a:off x="4050723" y="1771912"/>
              <a:ext cx="4867301" cy="508169"/>
            </a:xfrm>
            <a:prstGeom prst="rect">
              <a:avLst/>
            </a:prstGeom>
            <a:noFill/>
            <a:ln/>
          </p:spPr>
          <p:txBody>
            <a:bodyPr wrap="square" lIns="152" tIns="152" rIns="152" bIns="152" rtlCol="0" anchor="ctr">
              <a:noAutofit/>
            </a:bodyPr>
            <a:lstStyle/>
            <a:p>
              <a:r>
                <a:rPr lang="en-US" sz="1000"/>
                <a:t>Private Banking product suites include access to international bonds, funds, structured products, multi-currency wealth accounts, consolidated portfolio reporting and preferential pricing</a:t>
              </a:r>
            </a:p>
          </p:txBody>
        </p:sp>
        <p:sp>
          <p:nvSpPr>
            <p:cNvPr id="45" name="Text 43">
              <a:extLst>
                <a:ext uri="{FF2B5EF4-FFF2-40B4-BE49-F238E27FC236}">
                  <a16:creationId xmlns:a16="http://schemas.microsoft.com/office/drawing/2014/main" id="{18D75FAD-447D-E566-4DA4-5A695893BE14}"/>
                </a:ext>
              </a:extLst>
            </p:cNvPr>
            <p:cNvSpPr>
              <a:spLocks/>
            </p:cNvSpPr>
            <p:nvPr/>
          </p:nvSpPr>
          <p:spPr>
            <a:xfrm>
              <a:off x="1960251" y="1874832"/>
              <a:ext cx="1793050" cy="308033"/>
            </a:xfrm>
            <a:prstGeom prst="rect">
              <a:avLst/>
            </a:prstGeom>
            <a:noFill/>
            <a:ln/>
          </p:spPr>
          <p:txBody>
            <a:bodyPr wrap="square" lIns="127" tIns="127" rIns="127" bIns="127" rtlCol="0" anchor="ctr">
              <a:spAutoFit/>
            </a:bodyPr>
            <a:lstStyle/>
            <a:p>
              <a:r>
                <a:rPr lang="en-US" sz="1000"/>
                <a:t>PB-specific </a:t>
              </a:r>
              <a:r>
                <a:rPr lang="en-US" sz="1000" b="1"/>
                <a:t>wealth product suite</a:t>
              </a:r>
            </a:p>
          </p:txBody>
        </p:sp>
      </p:grpSp>
      <p:sp>
        <p:nvSpPr>
          <p:cNvPr id="57" name="Text 55">
            <a:extLst>
              <a:ext uri="{FF2B5EF4-FFF2-40B4-BE49-F238E27FC236}">
                <a16:creationId xmlns:a16="http://schemas.microsoft.com/office/drawing/2014/main" id="{25536D99-DF32-64EB-69BC-24E1D12A0B5A}"/>
              </a:ext>
            </a:extLst>
          </p:cNvPr>
          <p:cNvSpPr>
            <a:spLocks/>
          </p:cNvSpPr>
          <p:nvPr/>
        </p:nvSpPr>
        <p:spPr>
          <a:xfrm>
            <a:off x="3796723" y="3128464"/>
            <a:ext cx="4867301" cy="308084"/>
          </a:xfrm>
          <a:prstGeom prst="rect">
            <a:avLst/>
          </a:prstGeom>
          <a:noFill/>
          <a:ln/>
        </p:spPr>
        <p:txBody>
          <a:bodyPr wrap="square" lIns="152" tIns="152" rIns="152" bIns="152" rtlCol="0" anchor="ctr">
            <a:spAutoFit/>
          </a:bodyPr>
          <a:lstStyle/>
          <a:p>
            <a:r>
              <a:rPr lang="en-US" sz="1000"/>
              <a:t>Private banks create loyalty through invitation-only investment briefings, closed CEO / entrepreneur dinners, culture events and premium travel privileges</a:t>
            </a:r>
          </a:p>
        </p:txBody>
      </p:sp>
      <p:sp>
        <p:nvSpPr>
          <p:cNvPr id="136" name="TrackerNumBlue 35">
            <a:extLst>
              <a:ext uri="{FF2B5EF4-FFF2-40B4-BE49-F238E27FC236}">
                <a16:creationId xmlns:a16="http://schemas.microsoft.com/office/drawing/2014/main" id="{E0D06C08-32E8-0147-E13F-0E839083872E}"/>
              </a:ext>
            </a:extLst>
          </p:cNvPr>
          <p:cNvSpPr/>
          <p:nvPr>
            <p:custDataLst>
              <p:tags r:id="rId7"/>
            </p:custDataLst>
          </p:nvPr>
        </p:nvSpPr>
        <p:spPr>
          <a:xfrm>
            <a:off x="1332113" y="3604232"/>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100">
                <a:solidFill>
                  <a:schemeClr val="bg1"/>
                </a:solidFill>
              </a:rPr>
              <a:t>4</a:t>
            </a:r>
          </a:p>
        </p:txBody>
      </p:sp>
      <p:sp>
        <p:nvSpPr>
          <p:cNvPr id="63" name="Text 61">
            <a:extLst>
              <a:ext uri="{FF2B5EF4-FFF2-40B4-BE49-F238E27FC236}">
                <a16:creationId xmlns:a16="http://schemas.microsoft.com/office/drawing/2014/main" id="{C7F049CC-1065-DF06-059F-11DF03DC224D}"/>
              </a:ext>
            </a:extLst>
          </p:cNvPr>
          <p:cNvSpPr>
            <a:spLocks/>
          </p:cNvSpPr>
          <p:nvPr/>
        </p:nvSpPr>
        <p:spPr>
          <a:xfrm>
            <a:off x="3796723" y="3604232"/>
            <a:ext cx="4867301" cy="308084"/>
          </a:xfrm>
          <a:prstGeom prst="rect">
            <a:avLst/>
          </a:prstGeom>
          <a:noFill/>
          <a:ln/>
        </p:spPr>
        <p:txBody>
          <a:bodyPr wrap="square" lIns="152" tIns="152" rIns="152" bIns="152" rtlCol="0" anchor="ctr">
            <a:spAutoFit/>
          </a:bodyPr>
          <a:lstStyle/>
          <a:p>
            <a:r>
              <a:rPr lang="en-US" sz="1000"/>
              <a:t>Business owners and private families receive structured support on succession, inheritance, family governance, and next-generation preparation</a:t>
            </a:r>
          </a:p>
        </p:txBody>
      </p:sp>
      <p:sp>
        <p:nvSpPr>
          <p:cNvPr id="127" name="TrackerNumBlue 35">
            <a:extLst>
              <a:ext uri="{FF2B5EF4-FFF2-40B4-BE49-F238E27FC236}">
                <a16:creationId xmlns:a16="http://schemas.microsoft.com/office/drawing/2014/main" id="{107B2DE4-6EBF-6845-CEE0-00F28ACB69EC}"/>
              </a:ext>
            </a:extLst>
          </p:cNvPr>
          <p:cNvSpPr/>
          <p:nvPr>
            <p:custDataLst>
              <p:tags r:id="rId8"/>
            </p:custDataLst>
          </p:nvPr>
        </p:nvSpPr>
        <p:spPr>
          <a:xfrm>
            <a:off x="1332113" y="4081498"/>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tr-TR" sz="1100">
                <a:solidFill>
                  <a:schemeClr val="bg1"/>
                </a:solidFill>
              </a:rPr>
              <a:t>5</a:t>
            </a:r>
            <a:endParaRPr lang="en-US" sz="1100" err="1">
              <a:solidFill>
                <a:schemeClr val="bg1"/>
              </a:solidFill>
            </a:endParaRPr>
          </a:p>
        </p:txBody>
      </p:sp>
      <p:sp>
        <p:nvSpPr>
          <p:cNvPr id="74" name="Text 72">
            <a:extLst>
              <a:ext uri="{FF2B5EF4-FFF2-40B4-BE49-F238E27FC236}">
                <a16:creationId xmlns:a16="http://schemas.microsoft.com/office/drawing/2014/main" id="{BE232C97-9D52-8432-ED5B-558EFA7AEE7E}"/>
              </a:ext>
            </a:extLst>
          </p:cNvPr>
          <p:cNvSpPr>
            <a:spLocks/>
          </p:cNvSpPr>
          <p:nvPr/>
        </p:nvSpPr>
        <p:spPr>
          <a:xfrm>
            <a:off x="1706251" y="4081498"/>
            <a:ext cx="1793050" cy="154145"/>
          </a:xfrm>
          <a:prstGeom prst="rect">
            <a:avLst/>
          </a:prstGeom>
          <a:noFill/>
          <a:ln/>
        </p:spPr>
        <p:txBody>
          <a:bodyPr wrap="square" lIns="127" tIns="127" rIns="127" bIns="127" rtlCol="0" anchor="ctr">
            <a:spAutoFit/>
          </a:bodyPr>
          <a:lstStyle/>
          <a:p>
            <a:r>
              <a:rPr lang="en-US" sz="1000" b="1"/>
              <a:t>Future-private</a:t>
            </a:r>
            <a:r>
              <a:rPr lang="en-US" sz="1000"/>
              <a:t> acquisition</a:t>
            </a:r>
          </a:p>
        </p:txBody>
      </p:sp>
      <p:sp>
        <p:nvSpPr>
          <p:cNvPr id="75" name="Text 73">
            <a:extLst>
              <a:ext uri="{FF2B5EF4-FFF2-40B4-BE49-F238E27FC236}">
                <a16:creationId xmlns:a16="http://schemas.microsoft.com/office/drawing/2014/main" id="{E2B9F3D7-0BAC-C663-D8EF-E868C3EB2B1F}"/>
              </a:ext>
            </a:extLst>
          </p:cNvPr>
          <p:cNvSpPr>
            <a:spLocks/>
          </p:cNvSpPr>
          <p:nvPr/>
        </p:nvSpPr>
        <p:spPr>
          <a:xfrm>
            <a:off x="3796723" y="4081498"/>
            <a:ext cx="4867301" cy="308084"/>
          </a:xfrm>
          <a:prstGeom prst="rect">
            <a:avLst/>
          </a:prstGeom>
          <a:noFill/>
          <a:ln/>
        </p:spPr>
        <p:txBody>
          <a:bodyPr wrap="square" lIns="152" tIns="152" rIns="152" bIns="152" rtlCol="0" anchor="ctr">
            <a:spAutoFit/>
          </a:bodyPr>
          <a:lstStyle/>
          <a:p>
            <a:r>
              <a:rPr lang="en-US" sz="1000"/>
              <a:t>High-potential entrepreneurs, senior executives, heirs and affluent clients are identified early, invited into selected events and given a limited premium bundle</a:t>
            </a:r>
          </a:p>
        </p:txBody>
      </p:sp>
      <p:sp>
        <p:nvSpPr>
          <p:cNvPr id="128" name="TrackerNumBlue 35">
            <a:extLst>
              <a:ext uri="{FF2B5EF4-FFF2-40B4-BE49-F238E27FC236}">
                <a16:creationId xmlns:a16="http://schemas.microsoft.com/office/drawing/2014/main" id="{4DE1BDBE-FF8A-8177-F1F2-B966B0A0BC0A}"/>
              </a:ext>
            </a:extLst>
          </p:cNvPr>
          <p:cNvSpPr/>
          <p:nvPr>
            <p:custDataLst>
              <p:tags r:id="rId9"/>
            </p:custDataLst>
          </p:nvPr>
        </p:nvSpPr>
        <p:spPr>
          <a:xfrm>
            <a:off x="1332113" y="4558764"/>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tr-TR" sz="1100">
                <a:solidFill>
                  <a:schemeClr val="bg1"/>
                </a:solidFill>
              </a:rPr>
              <a:t>6</a:t>
            </a:r>
            <a:endParaRPr lang="en-US" sz="1100">
              <a:solidFill>
                <a:schemeClr val="bg1"/>
              </a:solidFill>
            </a:endParaRPr>
          </a:p>
        </p:txBody>
      </p:sp>
      <p:sp>
        <p:nvSpPr>
          <p:cNvPr id="80" name="Text 78">
            <a:extLst>
              <a:ext uri="{FF2B5EF4-FFF2-40B4-BE49-F238E27FC236}">
                <a16:creationId xmlns:a16="http://schemas.microsoft.com/office/drawing/2014/main" id="{A9920644-47D4-77AA-90A0-84999F3D0C99}"/>
              </a:ext>
            </a:extLst>
          </p:cNvPr>
          <p:cNvSpPr>
            <a:spLocks/>
          </p:cNvSpPr>
          <p:nvPr/>
        </p:nvSpPr>
        <p:spPr>
          <a:xfrm>
            <a:off x="1706251" y="4558764"/>
            <a:ext cx="1793050" cy="308033"/>
          </a:xfrm>
          <a:prstGeom prst="rect">
            <a:avLst/>
          </a:prstGeom>
          <a:noFill/>
          <a:ln/>
        </p:spPr>
        <p:txBody>
          <a:bodyPr wrap="square" lIns="127" tIns="127" rIns="127" bIns="127" rtlCol="0" anchor="ctr">
            <a:spAutoFit/>
          </a:bodyPr>
          <a:lstStyle/>
          <a:p>
            <a:r>
              <a:rPr lang="en-US" sz="1000"/>
              <a:t>Invitation-led </a:t>
            </a:r>
            <a:r>
              <a:rPr lang="en-US" sz="1000" b="1"/>
              <a:t>prospecting events</a:t>
            </a:r>
          </a:p>
        </p:txBody>
      </p:sp>
      <p:sp>
        <p:nvSpPr>
          <p:cNvPr id="62" name="Text 60">
            <a:extLst>
              <a:ext uri="{FF2B5EF4-FFF2-40B4-BE49-F238E27FC236}">
                <a16:creationId xmlns:a16="http://schemas.microsoft.com/office/drawing/2014/main" id="{EE2AAE96-522C-AB59-42F2-A75F834C42DF}"/>
              </a:ext>
            </a:extLst>
          </p:cNvPr>
          <p:cNvSpPr>
            <a:spLocks/>
          </p:cNvSpPr>
          <p:nvPr/>
        </p:nvSpPr>
        <p:spPr>
          <a:xfrm>
            <a:off x="1706251" y="3604232"/>
            <a:ext cx="1793050" cy="308033"/>
          </a:xfrm>
          <a:prstGeom prst="rect">
            <a:avLst/>
          </a:prstGeom>
          <a:noFill/>
          <a:ln/>
        </p:spPr>
        <p:txBody>
          <a:bodyPr wrap="square" lIns="127" tIns="127" rIns="127" bIns="127" rtlCol="0" anchor="ctr">
            <a:spAutoFit/>
          </a:bodyPr>
          <a:lstStyle/>
          <a:p>
            <a:r>
              <a:rPr lang="en-US" sz="1000"/>
              <a:t>Family and entrepreneur </a:t>
            </a:r>
            <a:r>
              <a:rPr lang="en-US" sz="1000" b="1"/>
              <a:t>wealth advisory</a:t>
            </a:r>
          </a:p>
        </p:txBody>
      </p:sp>
      <p:sp>
        <p:nvSpPr>
          <p:cNvPr id="81" name="Text 79">
            <a:extLst>
              <a:ext uri="{FF2B5EF4-FFF2-40B4-BE49-F238E27FC236}">
                <a16:creationId xmlns:a16="http://schemas.microsoft.com/office/drawing/2014/main" id="{00818606-62CD-358F-3BA8-6B91AB02724B}"/>
              </a:ext>
            </a:extLst>
          </p:cNvPr>
          <p:cNvSpPr>
            <a:spLocks/>
          </p:cNvSpPr>
          <p:nvPr/>
        </p:nvSpPr>
        <p:spPr>
          <a:xfrm>
            <a:off x="3796723" y="4558764"/>
            <a:ext cx="4867301" cy="308084"/>
          </a:xfrm>
          <a:prstGeom prst="rect">
            <a:avLst/>
          </a:prstGeom>
          <a:noFill/>
          <a:ln/>
        </p:spPr>
        <p:txBody>
          <a:bodyPr wrap="square" lIns="152" tIns="152" rIns="152" bIns="152" rtlCol="0" anchor="ctr">
            <a:spAutoFit/>
          </a:bodyPr>
          <a:lstStyle/>
          <a:p>
            <a:r>
              <a:rPr lang="en-US" sz="1000"/>
              <a:t>Closed events around investments, entrepreneurship, family business, education abroad, real estate or succession are used to engage high-potential prospects </a:t>
            </a:r>
          </a:p>
        </p:txBody>
      </p:sp>
      <p:sp>
        <p:nvSpPr>
          <p:cNvPr id="129" name="TrackerNumBlue 35">
            <a:extLst>
              <a:ext uri="{FF2B5EF4-FFF2-40B4-BE49-F238E27FC236}">
                <a16:creationId xmlns:a16="http://schemas.microsoft.com/office/drawing/2014/main" id="{D2EA55F0-9463-77BE-DDBD-501141BF38DE}"/>
              </a:ext>
            </a:extLst>
          </p:cNvPr>
          <p:cNvSpPr/>
          <p:nvPr>
            <p:custDataLst>
              <p:tags r:id="rId10"/>
            </p:custDataLst>
          </p:nvPr>
        </p:nvSpPr>
        <p:spPr>
          <a:xfrm>
            <a:off x="1332113" y="5036030"/>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tr-TR" sz="1100">
                <a:solidFill>
                  <a:schemeClr val="bg1"/>
                </a:solidFill>
              </a:rPr>
              <a:t>7</a:t>
            </a:r>
            <a:endParaRPr lang="en-US" sz="1100">
              <a:solidFill>
                <a:schemeClr val="bg1"/>
              </a:solidFill>
            </a:endParaRPr>
          </a:p>
        </p:txBody>
      </p:sp>
      <p:sp>
        <p:nvSpPr>
          <p:cNvPr id="131" name="TrackerNumBlue 35">
            <a:extLst>
              <a:ext uri="{FF2B5EF4-FFF2-40B4-BE49-F238E27FC236}">
                <a16:creationId xmlns:a16="http://schemas.microsoft.com/office/drawing/2014/main" id="{04185702-C59D-F229-A49C-C9AF0C2CB190}"/>
              </a:ext>
            </a:extLst>
          </p:cNvPr>
          <p:cNvSpPr/>
          <p:nvPr>
            <p:custDataLst>
              <p:tags r:id="rId11"/>
            </p:custDataLst>
          </p:nvPr>
        </p:nvSpPr>
        <p:spPr>
          <a:xfrm>
            <a:off x="1332113" y="5513296"/>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tr-TR" sz="1100">
                <a:solidFill>
                  <a:schemeClr val="bg1"/>
                </a:solidFill>
              </a:rPr>
              <a:t>8</a:t>
            </a:r>
            <a:endParaRPr lang="en-US" sz="1100">
              <a:solidFill>
                <a:schemeClr val="bg1"/>
              </a:solidFill>
            </a:endParaRPr>
          </a:p>
        </p:txBody>
      </p:sp>
      <p:sp>
        <p:nvSpPr>
          <p:cNvPr id="18" name="Text 83">
            <a:extLst>
              <a:ext uri="{FF2B5EF4-FFF2-40B4-BE49-F238E27FC236}">
                <a16:creationId xmlns:a16="http://schemas.microsoft.com/office/drawing/2014/main" id="{DFFC2BF7-3E63-9862-7A71-96990AB2DE4B}"/>
              </a:ext>
            </a:extLst>
          </p:cNvPr>
          <p:cNvSpPr>
            <a:spLocks/>
          </p:cNvSpPr>
          <p:nvPr/>
        </p:nvSpPr>
        <p:spPr>
          <a:xfrm>
            <a:off x="1706251" y="5513296"/>
            <a:ext cx="1793050" cy="308033"/>
          </a:xfrm>
          <a:prstGeom prst="rect">
            <a:avLst/>
          </a:prstGeom>
          <a:noFill/>
          <a:ln/>
        </p:spPr>
        <p:txBody>
          <a:bodyPr wrap="square" lIns="127" tIns="127" rIns="127" bIns="127" rtlCol="0" anchor="ctr">
            <a:spAutoFit/>
          </a:bodyPr>
          <a:lstStyle/>
          <a:p>
            <a:r>
              <a:rPr lang="en-US" sz="1000"/>
              <a:t>Private banking </a:t>
            </a:r>
            <a:r>
              <a:rPr lang="en-US" sz="1000" b="1"/>
              <a:t>service model readiness</a:t>
            </a:r>
          </a:p>
        </p:txBody>
      </p:sp>
      <p:sp>
        <p:nvSpPr>
          <p:cNvPr id="19" name="Text 84">
            <a:extLst>
              <a:ext uri="{FF2B5EF4-FFF2-40B4-BE49-F238E27FC236}">
                <a16:creationId xmlns:a16="http://schemas.microsoft.com/office/drawing/2014/main" id="{1625601B-1E89-E539-4CC9-FECB3B0796E8}"/>
              </a:ext>
            </a:extLst>
          </p:cNvPr>
          <p:cNvSpPr>
            <a:spLocks/>
          </p:cNvSpPr>
          <p:nvPr/>
        </p:nvSpPr>
        <p:spPr>
          <a:xfrm>
            <a:off x="3796722" y="5513296"/>
            <a:ext cx="4867301" cy="308084"/>
          </a:xfrm>
          <a:prstGeom prst="rect">
            <a:avLst/>
          </a:prstGeom>
          <a:noFill/>
          <a:ln/>
        </p:spPr>
        <p:txBody>
          <a:bodyPr wrap="square" lIns="152" tIns="152" rIns="152" bIns="152" rtlCol="0" anchor="ctr">
            <a:spAutoFit/>
          </a:bodyPr>
          <a:lstStyle/>
          <a:p>
            <a:r>
              <a:rPr lang="en-US" sz="1000"/>
              <a:t>RMs are equipped with certification, product playbooks, family-advisory scripts, pre-call briefing packs and next-best-action prompts</a:t>
            </a:r>
          </a:p>
        </p:txBody>
      </p:sp>
      <p:sp>
        <p:nvSpPr>
          <p:cNvPr id="132" name="TrackerNumBlue 35">
            <a:extLst>
              <a:ext uri="{FF2B5EF4-FFF2-40B4-BE49-F238E27FC236}">
                <a16:creationId xmlns:a16="http://schemas.microsoft.com/office/drawing/2014/main" id="{FF2F30EC-9F08-7B08-3B31-D5857EFE6007}"/>
              </a:ext>
            </a:extLst>
          </p:cNvPr>
          <p:cNvSpPr/>
          <p:nvPr>
            <p:custDataLst>
              <p:tags r:id="rId12"/>
            </p:custDataLst>
          </p:nvPr>
        </p:nvSpPr>
        <p:spPr>
          <a:xfrm>
            <a:off x="1332113" y="5989072"/>
            <a:ext cx="209872" cy="209872"/>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tr-TR" sz="1100">
                <a:solidFill>
                  <a:schemeClr val="bg1"/>
                </a:solidFill>
              </a:rPr>
              <a:t>9</a:t>
            </a:r>
            <a:endParaRPr lang="en-US" sz="1100">
              <a:solidFill>
                <a:schemeClr val="bg1"/>
              </a:solidFill>
            </a:endParaRPr>
          </a:p>
        </p:txBody>
      </p:sp>
      <p:sp>
        <p:nvSpPr>
          <p:cNvPr id="91" name="Text 89">
            <a:extLst>
              <a:ext uri="{FF2B5EF4-FFF2-40B4-BE49-F238E27FC236}">
                <a16:creationId xmlns:a16="http://schemas.microsoft.com/office/drawing/2014/main" id="{962A108F-5236-39EB-D4F3-DBEE41A218A7}"/>
              </a:ext>
            </a:extLst>
          </p:cNvPr>
          <p:cNvSpPr>
            <a:spLocks/>
          </p:cNvSpPr>
          <p:nvPr/>
        </p:nvSpPr>
        <p:spPr>
          <a:xfrm>
            <a:off x="1706251" y="5989072"/>
            <a:ext cx="1793050" cy="308033"/>
          </a:xfrm>
          <a:prstGeom prst="rect">
            <a:avLst/>
          </a:prstGeom>
          <a:noFill/>
          <a:ln/>
        </p:spPr>
        <p:txBody>
          <a:bodyPr wrap="square" lIns="127" tIns="127" rIns="127" bIns="127" rtlCol="0" anchor="ctr">
            <a:spAutoFit/>
          </a:bodyPr>
          <a:lstStyle/>
          <a:p>
            <a:r>
              <a:rPr lang="en-US" sz="1000"/>
              <a:t>Premium experience </a:t>
            </a:r>
            <a:r>
              <a:rPr lang="en-US" sz="1000" b="1"/>
              <a:t>partnership network</a:t>
            </a:r>
          </a:p>
        </p:txBody>
      </p:sp>
      <p:grpSp>
        <p:nvGrpSpPr>
          <p:cNvPr id="69" name="Group 68">
            <a:extLst>
              <a:ext uri="{FF2B5EF4-FFF2-40B4-BE49-F238E27FC236}">
                <a16:creationId xmlns:a16="http://schemas.microsoft.com/office/drawing/2014/main" id="{5475B9B5-9F5B-1A70-DD91-FC9E4E0BE9A5}"/>
              </a:ext>
            </a:extLst>
          </p:cNvPr>
          <p:cNvGrpSpPr/>
          <p:nvPr/>
        </p:nvGrpSpPr>
        <p:grpSpPr>
          <a:xfrm>
            <a:off x="1706251" y="1869152"/>
            <a:ext cx="6957773" cy="308084"/>
            <a:chOff x="1960251" y="5036030"/>
            <a:chExt cx="6957773" cy="308084"/>
          </a:xfrm>
        </p:grpSpPr>
        <p:sp>
          <p:nvSpPr>
            <p:cNvPr id="85" name="Text 83">
              <a:extLst>
                <a:ext uri="{FF2B5EF4-FFF2-40B4-BE49-F238E27FC236}">
                  <a16:creationId xmlns:a16="http://schemas.microsoft.com/office/drawing/2014/main" id="{8ED0A242-CAE0-6805-624A-1D0083AF4580}"/>
                </a:ext>
              </a:extLst>
            </p:cNvPr>
            <p:cNvSpPr>
              <a:spLocks/>
            </p:cNvSpPr>
            <p:nvPr/>
          </p:nvSpPr>
          <p:spPr>
            <a:xfrm>
              <a:off x="1960251" y="5036030"/>
              <a:ext cx="1793050" cy="308033"/>
            </a:xfrm>
            <a:prstGeom prst="rect">
              <a:avLst/>
            </a:prstGeom>
            <a:noFill/>
            <a:ln/>
          </p:spPr>
          <p:txBody>
            <a:bodyPr wrap="square" lIns="127" tIns="127" rIns="127" bIns="127" rtlCol="0" anchor="ctr">
              <a:spAutoFit/>
            </a:bodyPr>
            <a:lstStyle/>
            <a:p>
              <a:r>
                <a:rPr lang="en-US" sz="1000" b="1"/>
                <a:t>Segmentation and eligibility discipline </a:t>
              </a:r>
              <a:r>
                <a:rPr lang="en-US" sz="1000"/>
                <a:t>with tiered bundles</a:t>
              </a:r>
            </a:p>
          </p:txBody>
        </p:sp>
        <p:sp>
          <p:nvSpPr>
            <p:cNvPr id="86" name="Text 84">
              <a:extLst>
                <a:ext uri="{FF2B5EF4-FFF2-40B4-BE49-F238E27FC236}">
                  <a16:creationId xmlns:a16="http://schemas.microsoft.com/office/drawing/2014/main" id="{3D828F7B-7DB1-8850-7184-6552EDF58314}"/>
                </a:ext>
              </a:extLst>
            </p:cNvPr>
            <p:cNvSpPr>
              <a:spLocks/>
            </p:cNvSpPr>
            <p:nvPr/>
          </p:nvSpPr>
          <p:spPr>
            <a:xfrm>
              <a:off x="4050723" y="5036030"/>
              <a:ext cx="4867301" cy="308084"/>
            </a:xfrm>
            <a:prstGeom prst="rect">
              <a:avLst/>
            </a:prstGeom>
            <a:noFill/>
            <a:ln/>
          </p:spPr>
          <p:txBody>
            <a:bodyPr wrap="square" lIns="152" tIns="152" rIns="152" bIns="152" rtlCol="0" anchor="ctr">
              <a:spAutoFit/>
            </a:bodyPr>
            <a:lstStyle/>
            <a:p>
              <a:r>
                <a:rPr lang="en-US" sz="1000"/>
                <a:t>Affluent, HNW and UNW segments are defined by assets, income, profitability, potential and service needs, with differentiated product, RM and privilege bundles</a:t>
              </a:r>
            </a:p>
          </p:txBody>
        </p:sp>
      </p:grpSp>
      <p:sp>
        <p:nvSpPr>
          <p:cNvPr id="92" name="Text 90">
            <a:extLst>
              <a:ext uri="{FF2B5EF4-FFF2-40B4-BE49-F238E27FC236}">
                <a16:creationId xmlns:a16="http://schemas.microsoft.com/office/drawing/2014/main" id="{BBBDD108-F1B1-9680-68CB-1C389C5A4102}"/>
              </a:ext>
            </a:extLst>
          </p:cNvPr>
          <p:cNvSpPr>
            <a:spLocks/>
          </p:cNvSpPr>
          <p:nvPr/>
        </p:nvSpPr>
        <p:spPr>
          <a:xfrm>
            <a:off x="3796723" y="5989072"/>
            <a:ext cx="4867301" cy="308084"/>
          </a:xfrm>
          <a:prstGeom prst="rect">
            <a:avLst/>
          </a:prstGeom>
          <a:noFill/>
          <a:ln/>
        </p:spPr>
        <p:txBody>
          <a:bodyPr wrap="square" lIns="152" tIns="152" rIns="152" bIns="152" rtlCol="0" anchor="ctr">
            <a:spAutoFit/>
          </a:bodyPr>
          <a:lstStyle/>
          <a:p>
            <a:r>
              <a:rPr lang="en-US" sz="1000"/>
              <a:t>Partnerships with travel, hospitality, education, healthcare, culture, luxury retail and business communities provide exclusive privileges the bank cannot credibly build alone</a:t>
            </a:r>
          </a:p>
        </p:txBody>
      </p:sp>
      <p:pic>
        <p:nvPicPr>
          <p:cNvPr id="170" name="Picture 169">
            <a:extLst>
              <a:ext uri="{FF2B5EF4-FFF2-40B4-BE49-F238E27FC236}">
                <a16:creationId xmlns:a16="http://schemas.microsoft.com/office/drawing/2014/main" id="{57EA6628-1A4E-206F-9AA5-07F45F8CC9BD}"/>
              </a:ext>
            </a:extLst>
          </p:cNvPr>
          <p:cNvPicPr>
            <a:picLocks noChangeAspect="1"/>
          </p:cNvPicPr>
          <p:nvPr>
            <p:custDataLst>
              <p:tags r:id="rId13"/>
            </p:custDataLst>
          </p:nvPr>
        </p:nvPicPr>
        <p:blipFill>
          <a:blip r:embed="rId43"/>
          <a:stretch>
            <a:fillRect/>
          </a:stretch>
        </p:blipFill>
        <p:spPr>
          <a:xfrm>
            <a:off x="9098151" y="1880582"/>
            <a:ext cx="1160916" cy="166406"/>
          </a:xfrm>
          <a:prstGeom prst="rect">
            <a:avLst/>
          </a:prstGeom>
        </p:spPr>
      </p:pic>
      <p:pic>
        <p:nvPicPr>
          <p:cNvPr id="172" name="Picture 171">
            <a:extLst>
              <a:ext uri="{FF2B5EF4-FFF2-40B4-BE49-F238E27FC236}">
                <a16:creationId xmlns:a16="http://schemas.microsoft.com/office/drawing/2014/main" id="{2418D9BB-C9A5-6DE0-9FD3-8249ADBC9539}"/>
              </a:ext>
            </a:extLst>
          </p:cNvPr>
          <p:cNvPicPr>
            <a:picLocks noChangeAspect="1"/>
          </p:cNvPicPr>
          <p:nvPr>
            <p:custDataLst>
              <p:tags r:id="rId14"/>
            </p:custDataLst>
          </p:nvPr>
        </p:nvPicPr>
        <p:blipFill>
          <a:blip r:embed="rId44"/>
          <a:stretch>
            <a:fillRect/>
          </a:stretch>
        </p:blipFill>
        <p:spPr>
          <a:xfrm>
            <a:off x="9098151" y="2125362"/>
            <a:ext cx="979532" cy="218160"/>
          </a:xfrm>
          <a:prstGeom prst="rect">
            <a:avLst/>
          </a:prstGeom>
        </p:spPr>
      </p:pic>
      <p:pic>
        <p:nvPicPr>
          <p:cNvPr id="174" name="Picture 173">
            <a:extLst>
              <a:ext uri="{FF2B5EF4-FFF2-40B4-BE49-F238E27FC236}">
                <a16:creationId xmlns:a16="http://schemas.microsoft.com/office/drawing/2014/main" id="{7C007EA8-26FF-7A8F-816A-62068DBB2DD5}"/>
              </a:ext>
            </a:extLst>
          </p:cNvPr>
          <p:cNvPicPr>
            <a:picLocks noChangeAspect="1"/>
          </p:cNvPicPr>
          <p:nvPr/>
        </p:nvPicPr>
        <p:blipFill>
          <a:blip r:embed="rId45"/>
          <a:srcRect l="4467" t="13897" r="4551" b="12623"/>
          <a:stretch>
            <a:fillRect/>
          </a:stretch>
        </p:blipFill>
        <p:spPr>
          <a:xfrm>
            <a:off x="10457483" y="1907984"/>
            <a:ext cx="954094" cy="385276"/>
          </a:xfrm>
          <a:prstGeom prst="rect">
            <a:avLst/>
          </a:prstGeom>
        </p:spPr>
      </p:pic>
      <p:pic>
        <p:nvPicPr>
          <p:cNvPr id="177" name="Picture 176">
            <a:extLst>
              <a:ext uri="{FF2B5EF4-FFF2-40B4-BE49-F238E27FC236}">
                <a16:creationId xmlns:a16="http://schemas.microsoft.com/office/drawing/2014/main" id="{2683B459-05E3-947D-D4AC-5CB61FF28649}"/>
              </a:ext>
            </a:extLst>
          </p:cNvPr>
          <p:cNvPicPr>
            <a:picLocks noChangeAspect="1"/>
          </p:cNvPicPr>
          <p:nvPr>
            <p:custDataLst>
              <p:tags r:id="rId15"/>
            </p:custDataLst>
          </p:nvPr>
        </p:nvPicPr>
        <p:blipFill>
          <a:blip r:embed="rId46"/>
          <a:stretch>
            <a:fillRect/>
          </a:stretch>
        </p:blipFill>
        <p:spPr>
          <a:xfrm>
            <a:off x="9098151" y="2496045"/>
            <a:ext cx="665254" cy="243868"/>
          </a:xfrm>
          <a:prstGeom prst="rect">
            <a:avLst/>
          </a:prstGeom>
        </p:spPr>
      </p:pic>
      <p:pic>
        <p:nvPicPr>
          <p:cNvPr id="179" name="Picture 178">
            <a:extLst>
              <a:ext uri="{FF2B5EF4-FFF2-40B4-BE49-F238E27FC236}">
                <a16:creationId xmlns:a16="http://schemas.microsoft.com/office/drawing/2014/main" id="{183D3C72-A445-84A2-0129-B112F16D564C}"/>
              </a:ext>
            </a:extLst>
          </p:cNvPr>
          <p:cNvPicPr>
            <a:picLocks noChangeAspect="1"/>
          </p:cNvPicPr>
          <p:nvPr>
            <p:custDataLst>
              <p:tags r:id="rId16"/>
            </p:custDataLst>
          </p:nvPr>
        </p:nvPicPr>
        <p:blipFill>
          <a:blip r:embed="rId47"/>
          <a:stretch>
            <a:fillRect/>
          </a:stretch>
        </p:blipFill>
        <p:spPr>
          <a:xfrm>
            <a:off x="9890551" y="2503507"/>
            <a:ext cx="652402" cy="228944"/>
          </a:xfrm>
          <a:prstGeom prst="rect">
            <a:avLst/>
          </a:prstGeom>
        </p:spPr>
      </p:pic>
      <p:pic>
        <p:nvPicPr>
          <p:cNvPr id="181" name="Picture 180">
            <a:extLst>
              <a:ext uri="{FF2B5EF4-FFF2-40B4-BE49-F238E27FC236}">
                <a16:creationId xmlns:a16="http://schemas.microsoft.com/office/drawing/2014/main" id="{1853701B-250C-E1DE-31D6-BBB46CD2CCB9}"/>
              </a:ext>
            </a:extLst>
          </p:cNvPr>
          <p:cNvPicPr>
            <a:picLocks noChangeAspect="1"/>
          </p:cNvPicPr>
          <p:nvPr>
            <p:custDataLst>
              <p:tags r:id="rId17"/>
            </p:custDataLst>
          </p:nvPr>
        </p:nvPicPr>
        <p:blipFill>
          <a:blip r:embed="rId48"/>
          <a:stretch>
            <a:fillRect/>
          </a:stretch>
        </p:blipFill>
        <p:spPr>
          <a:xfrm>
            <a:off x="10670099" y="2467732"/>
            <a:ext cx="460882" cy="300494"/>
          </a:xfrm>
          <a:prstGeom prst="rect">
            <a:avLst/>
          </a:prstGeom>
        </p:spPr>
      </p:pic>
      <p:pic>
        <p:nvPicPr>
          <p:cNvPr id="187" name="Picture 186">
            <a:extLst>
              <a:ext uri="{FF2B5EF4-FFF2-40B4-BE49-F238E27FC236}">
                <a16:creationId xmlns:a16="http://schemas.microsoft.com/office/drawing/2014/main" id="{60CC5802-6927-F5AA-F08A-70AC840CF6A3}"/>
              </a:ext>
            </a:extLst>
          </p:cNvPr>
          <p:cNvPicPr>
            <a:picLocks noChangeAspect="1"/>
          </p:cNvPicPr>
          <p:nvPr/>
        </p:nvPicPr>
        <p:blipFill>
          <a:blip r:embed="rId49"/>
          <a:stretch>
            <a:fillRect/>
          </a:stretch>
        </p:blipFill>
        <p:spPr>
          <a:xfrm>
            <a:off x="9098151" y="2814431"/>
            <a:ext cx="644532" cy="173722"/>
          </a:xfrm>
          <a:prstGeom prst="rect">
            <a:avLst/>
          </a:prstGeom>
        </p:spPr>
      </p:pic>
      <p:pic>
        <p:nvPicPr>
          <p:cNvPr id="189" name="Picture 188">
            <a:extLst>
              <a:ext uri="{FF2B5EF4-FFF2-40B4-BE49-F238E27FC236}">
                <a16:creationId xmlns:a16="http://schemas.microsoft.com/office/drawing/2014/main" id="{44D18230-7AB8-EA1E-380F-DA2937FBF35D}"/>
              </a:ext>
            </a:extLst>
          </p:cNvPr>
          <p:cNvPicPr>
            <a:picLocks noChangeAspect="1"/>
          </p:cNvPicPr>
          <p:nvPr>
            <p:custDataLst>
              <p:tags r:id="rId18"/>
            </p:custDataLst>
          </p:nvPr>
        </p:nvPicPr>
        <p:blipFill>
          <a:blip r:embed="rId50"/>
          <a:stretch>
            <a:fillRect/>
          </a:stretch>
        </p:blipFill>
        <p:spPr>
          <a:xfrm>
            <a:off x="9098151" y="3182415"/>
            <a:ext cx="774382" cy="200182"/>
          </a:xfrm>
          <a:prstGeom prst="rect">
            <a:avLst/>
          </a:prstGeom>
        </p:spPr>
      </p:pic>
      <p:pic>
        <p:nvPicPr>
          <p:cNvPr id="191" name="Picture 190">
            <a:extLst>
              <a:ext uri="{FF2B5EF4-FFF2-40B4-BE49-F238E27FC236}">
                <a16:creationId xmlns:a16="http://schemas.microsoft.com/office/drawing/2014/main" id="{C1B9F44B-C041-EDB2-2880-F1513BE71EF1}"/>
              </a:ext>
            </a:extLst>
          </p:cNvPr>
          <p:cNvPicPr>
            <a:picLocks noChangeAspect="1"/>
          </p:cNvPicPr>
          <p:nvPr>
            <p:custDataLst>
              <p:tags r:id="rId19"/>
            </p:custDataLst>
          </p:nvPr>
        </p:nvPicPr>
        <p:blipFill>
          <a:blip r:embed="rId51"/>
          <a:srcRect t="22561" b="19843"/>
          <a:stretch>
            <a:fillRect/>
          </a:stretch>
        </p:blipFill>
        <p:spPr>
          <a:xfrm>
            <a:off x="10516791" y="3197548"/>
            <a:ext cx="475020" cy="169916"/>
          </a:xfrm>
          <a:prstGeom prst="rect">
            <a:avLst/>
          </a:prstGeom>
        </p:spPr>
      </p:pic>
      <p:pic>
        <p:nvPicPr>
          <p:cNvPr id="192" name="Picture 191">
            <a:extLst>
              <a:ext uri="{FF2B5EF4-FFF2-40B4-BE49-F238E27FC236}">
                <a16:creationId xmlns:a16="http://schemas.microsoft.com/office/drawing/2014/main" id="{5A9E63DB-C0F8-B78B-4947-E21022316182}"/>
              </a:ext>
            </a:extLst>
          </p:cNvPr>
          <p:cNvPicPr>
            <a:picLocks noChangeAspect="1"/>
          </p:cNvPicPr>
          <p:nvPr>
            <p:custDataLst>
              <p:tags r:id="rId20"/>
            </p:custDataLst>
          </p:nvPr>
        </p:nvPicPr>
        <p:blipFill>
          <a:blip r:embed="rId46"/>
          <a:stretch>
            <a:fillRect/>
          </a:stretch>
        </p:blipFill>
        <p:spPr>
          <a:xfrm>
            <a:off x="9939271" y="3188885"/>
            <a:ext cx="510782" cy="187242"/>
          </a:xfrm>
          <a:prstGeom prst="rect">
            <a:avLst/>
          </a:prstGeom>
        </p:spPr>
      </p:pic>
      <p:pic>
        <p:nvPicPr>
          <p:cNvPr id="193" name="Picture 192">
            <a:extLst>
              <a:ext uri="{FF2B5EF4-FFF2-40B4-BE49-F238E27FC236}">
                <a16:creationId xmlns:a16="http://schemas.microsoft.com/office/drawing/2014/main" id="{30D8B7C7-0CE7-C613-D10F-19F7C5C0A893}"/>
              </a:ext>
            </a:extLst>
          </p:cNvPr>
          <p:cNvPicPr>
            <a:picLocks noChangeAspect="1"/>
          </p:cNvPicPr>
          <p:nvPr>
            <p:custDataLst>
              <p:tags r:id="rId21"/>
            </p:custDataLst>
          </p:nvPr>
        </p:nvPicPr>
        <p:blipFill>
          <a:blip r:embed="rId48"/>
          <a:stretch>
            <a:fillRect/>
          </a:stretch>
        </p:blipFill>
        <p:spPr>
          <a:xfrm>
            <a:off x="11058550" y="3164521"/>
            <a:ext cx="361918" cy="235970"/>
          </a:xfrm>
          <a:prstGeom prst="rect">
            <a:avLst/>
          </a:prstGeom>
        </p:spPr>
      </p:pic>
      <p:pic>
        <p:nvPicPr>
          <p:cNvPr id="195" name="Picture 194">
            <a:extLst>
              <a:ext uri="{FF2B5EF4-FFF2-40B4-BE49-F238E27FC236}">
                <a16:creationId xmlns:a16="http://schemas.microsoft.com/office/drawing/2014/main" id="{8F721AEF-CFE8-9C38-DABB-5A01F1E3DFD5}"/>
              </a:ext>
            </a:extLst>
          </p:cNvPr>
          <p:cNvPicPr>
            <a:picLocks noChangeAspect="1"/>
          </p:cNvPicPr>
          <p:nvPr>
            <p:custDataLst>
              <p:tags r:id="rId22"/>
            </p:custDataLst>
          </p:nvPr>
        </p:nvPicPr>
        <p:blipFill>
          <a:blip r:embed="rId46"/>
          <a:stretch>
            <a:fillRect/>
          </a:stretch>
        </p:blipFill>
        <p:spPr>
          <a:xfrm>
            <a:off x="9098151" y="3650105"/>
            <a:ext cx="590152" cy="216338"/>
          </a:xfrm>
          <a:prstGeom prst="rect">
            <a:avLst/>
          </a:prstGeom>
        </p:spPr>
      </p:pic>
      <p:pic>
        <p:nvPicPr>
          <p:cNvPr id="196" name="Picture 195">
            <a:extLst>
              <a:ext uri="{FF2B5EF4-FFF2-40B4-BE49-F238E27FC236}">
                <a16:creationId xmlns:a16="http://schemas.microsoft.com/office/drawing/2014/main" id="{2E93776F-90C1-B87E-98FE-0BAAFE3F617C}"/>
              </a:ext>
            </a:extLst>
          </p:cNvPr>
          <p:cNvPicPr>
            <a:picLocks noChangeAspect="1"/>
          </p:cNvPicPr>
          <p:nvPr>
            <p:custDataLst>
              <p:tags r:id="rId23"/>
            </p:custDataLst>
          </p:nvPr>
        </p:nvPicPr>
        <p:blipFill>
          <a:blip r:embed="rId48"/>
          <a:stretch>
            <a:fillRect/>
          </a:stretch>
        </p:blipFill>
        <p:spPr>
          <a:xfrm>
            <a:off x="9771868" y="3640289"/>
            <a:ext cx="361918" cy="235970"/>
          </a:xfrm>
          <a:prstGeom prst="rect">
            <a:avLst/>
          </a:prstGeom>
        </p:spPr>
      </p:pic>
      <p:pic>
        <p:nvPicPr>
          <p:cNvPr id="197" name="Picture 196">
            <a:extLst>
              <a:ext uri="{FF2B5EF4-FFF2-40B4-BE49-F238E27FC236}">
                <a16:creationId xmlns:a16="http://schemas.microsoft.com/office/drawing/2014/main" id="{CDA5F802-A604-0BA9-46EB-600B0741AE4B}"/>
              </a:ext>
            </a:extLst>
          </p:cNvPr>
          <p:cNvPicPr>
            <a:picLocks noChangeAspect="1"/>
          </p:cNvPicPr>
          <p:nvPr/>
        </p:nvPicPr>
        <p:blipFill>
          <a:blip r:embed="rId49"/>
          <a:stretch>
            <a:fillRect/>
          </a:stretch>
        </p:blipFill>
        <p:spPr>
          <a:xfrm>
            <a:off x="10217351" y="3671413"/>
            <a:ext cx="644532" cy="173722"/>
          </a:xfrm>
          <a:prstGeom prst="rect">
            <a:avLst/>
          </a:prstGeom>
        </p:spPr>
      </p:pic>
      <p:pic>
        <p:nvPicPr>
          <p:cNvPr id="198" name="Picture 197">
            <a:extLst>
              <a:ext uri="{FF2B5EF4-FFF2-40B4-BE49-F238E27FC236}">
                <a16:creationId xmlns:a16="http://schemas.microsoft.com/office/drawing/2014/main" id="{2B9F498D-4577-3AED-248C-FD31BCB11609}"/>
              </a:ext>
            </a:extLst>
          </p:cNvPr>
          <p:cNvPicPr>
            <a:picLocks noChangeAspect="1"/>
          </p:cNvPicPr>
          <p:nvPr>
            <p:custDataLst>
              <p:tags r:id="rId24"/>
            </p:custDataLst>
          </p:nvPr>
        </p:nvPicPr>
        <p:blipFill>
          <a:blip r:embed="rId51"/>
          <a:srcRect t="22561" b="19843"/>
          <a:stretch>
            <a:fillRect/>
          </a:stretch>
        </p:blipFill>
        <p:spPr>
          <a:xfrm>
            <a:off x="10945448" y="3673316"/>
            <a:ext cx="475020" cy="169916"/>
          </a:xfrm>
          <a:prstGeom prst="rect">
            <a:avLst/>
          </a:prstGeom>
        </p:spPr>
      </p:pic>
      <p:pic>
        <p:nvPicPr>
          <p:cNvPr id="200" name="Picture 199">
            <a:extLst>
              <a:ext uri="{FF2B5EF4-FFF2-40B4-BE49-F238E27FC236}">
                <a16:creationId xmlns:a16="http://schemas.microsoft.com/office/drawing/2014/main" id="{04FEE2C5-F413-9A24-50C3-EFC13D99F32D}"/>
              </a:ext>
            </a:extLst>
          </p:cNvPr>
          <p:cNvPicPr>
            <a:picLocks noChangeAspect="1"/>
          </p:cNvPicPr>
          <p:nvPr>
            <p:custDataLst>
              <p:tags r:id="rId25"/>
            </p:custDataLst>
          </p:nvPr>
        </p:nvPicPr>
        <p:blipFill>
          <a:blip r:embed="rId46"/>
          <a:stretch>
            <a:fillRect/>
          </a:stretch>
        </p:blipFill>
        <p:spPr>
          <a:xfrm>
            <a:off x="9098151" y="4127371"/>
            <a:ext cx="590152" cy="216338"/>
          </a:xfrm>
          <a:prstGeom prst="rect">
            <a:avLst/>
          </a:prstGeom>
        </p:spPr>
      </p:pic>
      <p:pic>
        <p:nvPicPr>
          <p:cNvPr id="201" name="Picture 200">
            <a:extLst>
              <a:ext uri="{FF2B5EF4-FFF2-40B4-BE49-F238E27FC236}">
                <a16:creationId xmlns:a16="http://schemas.microsoft.com/office/drawing/2014/main" id="{D85471FA-B8DE-1E39-DCF3-C8297B0849D3}"/>
              </a:ext>
            </a:extLst>
          </p:cNvPr>
          <p:cNvPicPr>
            <a:picLocks noChangeAspect="1"/>
          </p:cNvPicPr>
          <p:nvPr>
            <p:custDataLst>
              <p:tags r:id="rId26"/>
            </p:custDataLst>
          </p:nvPr>
        </p:nvPicPr>
        <p:blipFill>
          <a:blip r:embed="rId47"/>
          <a:stretch>
            <a:fillRect/>
          </a:stretch>
        </p:blipFill>
        <p:spPr>
          <a:xfrm>
            <a:off x="9880356" y="4121068"/>
            <a:ext cx="652402" cy="228944"/>
          </a:xfrm>
          <a:prstGeom prst="rect">
            <a:avLst/>
          </a:prstGeom>
        </p:spPr>
      </p:pic>
      <p:pic>
        <p:nvPicPr>
          <p:cNvPr id="202" name="Picture 201">
            <a:extLst>
              <a:ext uri="{FF2B5EF4-FFF2-40B4-BE49-F238E27FC236}">
                <a16:creationId xmlns:a16="http://schemas.microsoft.com/office/drawing/2014/main" id="{DA7B09D6-F684-6169-2C21-FAF347166B87}"/>
              </a:ext>
            </a:extLst>
          </p:cNvPr>
          <p:cNvPicPr>
            <a:picLocks noChangeAspect="1"/>
          </p:cNvPicPr>
          <p:nvPr>
            <p:custDataLst>
              <p:tags r:id="rId27"/>
            </p:custDataLst>
          </p:nvPr>
        </p:nvPicPr>
        <p:blipFill>
          <a:blip r:embed="rId48"/>
          <a:stretch>
            <a:fillRect/>
          </a:stretch>
        </p:blipFill>
        <p:spPr>
          <a:xfrm>
            <a:off x="10724811" y="4117555"/>
            <a:ext cx="361918" cy="235970"/>
          </a:xfrm>
          <a:prstGeom prst="rect">
            <a:avLst/>
          </a:prstGeom>
        </p:spPr>
      </p:pic>
      <p:pic>
        <p:nvPicPr>
          <p:cNvPr id="206" name="Picture 205">
            <a:extLst>
              <a:ext uri="{FF2B5EF4-FFF2-40B4-BE49-F238E27FC236}">
                <a16:creationId xmlns:a16="http://schemas.microsoft.com/office/drawing/2014/main" id="{DAD8BE0B-B8D8-F894-8CBE-4194A666C755}"/>
              </a:ext>
            </a:extLst>
          </p:cNvPr>
          <p:cNvPicPr>
            <a:picLocks noChangeAspect="1"/>
          </p:cNvPicPr>
          <p:nvPr/>
        </p:nvPicPr>
        <p:blipFill>
          <a:blip r:embed="rId45"/>
          <a:srcRect l="4467" t="13897" r="4551" b="12623"/>
          <a:stretch>
            <a:fillRect/>
          </a:stretch>
        </p:blipFill>
        <p:spPr>
          <a:xfrm>
            <a:off x="10221752" y="4553131"/>
            <a:ext cx="794546" cy="320848"/>
          </a:xfrm>
          <a:prstGeom prst="rect">
            <a:avLst/>
          </a:prstGeom>
        </p:spPr>
      </p:pic>
      <p:pic>
        <p:nvPicPr>
          <p:cNvPr id="205" name="Picture 204">
            <a:extLst>
              <a:ext uri="{FF2B5EF4-FFF2-40B4-BE49-F238E27FC236}">
                <a16:creationId xmlns:a16="http://schemas.microsoft.com/office/drawing/2014/main" id="{86BDAAFB-21D8-AEB3-702E-567BF1913393}"/>
              </a:ext>
            </a:extLst>
          </p:cNvPr>
          <p:cNvPicPr>
            <a:picLocks noChangeAspect="1"/>
          </p:cNvPicPr>
          <p:nvPr>
            <p:custDataLst>
              <p:tags r:id="rId28"/>
            </p:custDataLst>
          </p:nvPr>
        </p:nvPicPr>
        <p:blipFill>
          <a:blip r:embed="rId43"/>
          <a:stretch>
            <a:fillRect/>
          </a:stretch>
        </p:blipFill>
        <p:spPr>
          <a:xfrm>
            <a:off x="9098151" y="4523045"/>
            <a:ext cx="921090" cy="132030"/>
          </a:xfrm>
          <a:prstGeom prst="rect">
            <a:avLst/>
          </a:prstGeom>
        </p:spPr>
      </p:pic>
      <p:pic>
        <p:nvPicPr>
          <p:cNvPr id="207" name="Picture 206">
            <a:extLst>
              <a:ext uri="{FF2B5EF4-FFF2-40B4-BE49-F238E27FC236}">
                <a16:creationId xmlns:a16="http://schemas.microsoft.com/office/drawing/2014/main" id="{6F564A21-2998-B012-7776-2306580A603D}"/>
              </a:ext>
            </a:extLst>
          </p:cNvPr>
          <p:cNvPicPr>
            <a:picLocks noChangeAspect="1"/>
          </p:cNvPicPr>
          <p:nvPr>
            <p:custDataLst>
              <p:tags r:id="rId29"/>
            </p:custDataLst>
          </p:nvPr>
        </p:nvPicPr>
        <p:blipFill>
          <a:blip r:embed="rId44"/>
          <a:stretch>
            <a:fillRect/>
          </a:stretch>
        </p:blipFill>
        <p:spPr>
          <a:xfrm>
            <a:off x="9098151" y="4708916"/>
            <a:ext cx="920580" cy="205030"/>
          </a:xfrm>
          <a:prstGeom prst="rect">
            <a:avLst/>
          </a:prstGeom>
        </p:spPr>
      </p:pic>
      <p:pic>
        <p:nvPicPr>
          <p:cNvPr id="209" name="Picture 208">
            <a:extLst>
              <a:ext uri="{FF2B5EF4-FFF2-40B4-BE49-F238E27FC236}">
                <a16:creationId xmlns:a16="http://schemas.microsoft.com/office/drawing/2014/main" id="{49777959-B3F8-B76B-269E-A31B7BDDE5CE}"/>
              </a:ext>
            </a:extLst>
          </p:cNvPr>
          <p:cNvPicPr>
            <a:picLocks noChangeAspect="1"/>
          </p:cNvPicPr>
          <p:nvPr>
            <p:custDataLst>
              <p:tags r:id="rId30"/>
            </p:custDataLst>
          </p:nvPr>
        </p:nvPicPr>
        <p:blipFill>
          <a:blip r:embed="rId50"/>
          <a:stretch>
            <a:fillRect/>
          </a:stretch>
        </p:blipFill>
        <p:spPr>
          <a:xfrm>
            <a:off x="9098151" y="5080993"/>
            <a:ext cx="774382" cy="200182"/>
          </a:xfrm>
          <a:prstGeom prst="rect">
            <a:avLst/>
          </a:prstGeom>
        </p:spPr>
      </p:pic>
      <p:pic>
        <p:nvPicPr>
          <p:cNvPr id="210" name="Picture 209">
            <a:extLst>
              <a:ext uri="{FF2B5EF4-FFF2-40B4-BE49-F238E27FC236}">
                <a16:creationId xmlns:a16="http://schemas.microsoft.com/office/drawing/2014/main" id="{E62AE1FB-0BBA-28FB-F4C1-CF40FB2F31CC}"/>
              </a:ext>
            </a:extLst>
          </p:cNvPr>
          <p:cNvPicPr>
            <a:picLocks noChangeAspect="1"/>
          </p:cNvPicPr>
          <p:nvPr>
            <p:custDataLst>
              <p:tags r:id="rId31"/>
            </p:custDataLst>
          </p:nvPr>
        </p:nvPicPr>
        <p:blipFill>
          <a:blip r:embed="rId48"/>
          <a:stretch>
            <a:fillRect/>
          </a:stretch>
        </p:blipFill>
        <p:spPr>
          <a:xfrm>
            <a:off x="9930331" y="5081804"/>
            <a:ext cx="304540" cy="198560"/>
          </a:xfrm>
          <a:prstGeom prst="rect">
            <a:avLst/>
          </a:prstGeom>
        </p:spPr>
      </p:pic>
      <p:pic>
        <p:nvPicPr>
          <p:cNvPr id="211" name="Picture 210">
            <a:extLst>
              <a:ext uri="{FF2B5EF4-FFF2-40B4-BE49-F238E27FC236}">
                <a16:creationId xmlns:a16="http://schemas.microsoft.com/office/drawing/2014/main" id="{FD1E775A-AF25-FABB-364B-35736CF5CCFA}"/>
              </a:ext>
            </a:extLst>
          </p:cNvPr>
          <p:cNvPicPr>
            <a:picLocks noChangeAspect="1"/>
          </p:cNvPicPr>
          <p:nvPr/>
        </p:nvPicPr>
        <p:blipFill>
          <a:blip r:embed="rId49"/>
          <a:stretch>
            <a:fillRect/>
          </a:stretch>
        </p:blipFill>
        <p:spPr>
          <a:xfrm>
            <a:off x="10292669" y="5102099"/>
            <a:ext cx="586090" cy="157970"/>
          </a:xfrm>
          <a:prstGeom prst="rect">
            <a:avLst/>
          </a:prstGeom>
        </p:spPr>
      </p:pic>
      <p:pic>
        <p:nvPicPr>
          <p:cNvPr id="212" name="Picture 211">
            <a:extLst>
              <a:ext uri="{FF2B5EF4-FFF2-40B4-BE49-F238E27FC236}">
                <a16:creationId xmlns:a16="http://schemas.microsoft.com/office/drawing/2014/main" id="{95683981-5A74-9CD6-FAD1-95DB9B126C0B}"/>
              </a:ext>
            </a:extLst>
          </p:cNvPr>
          <p:cNvPicPr>
            <a:picLocks noChangeAspect="1"/>
          </p:cNvPicPr>
          <p:nvPr>
            <p:custDataLst>
              <p:tags r:id="rId32"/>
            </p:custDataLst>
          </p:nvPr>
        </p:nvPicPr>
        <p:blipFill>
          <a:blip r:embed="rId51"/>
          <a:srcRect t="22561" b="19843"/>
          <a:stretch>
            <a:fillRect/>
          </a:stretch>
        </p:blipFill>
        <p:spPr>
          <a:xfrm>
            <a:off x="10936556" y="5096126"/>
            <a:ext cx="475020" cy="169916"/>
          </a:xfrm>
          <a:prstGeom prst="rect">
            <a:avLst/>
          </a:prstGeom>
        </p:spPr>
      </p:pic>
      <p:pic>
        <p:nvPicPr>
          <p:cNvPr id="213" name="Picture 212">
            <a:extLst>
              <a:ext uri="{FF2B5EF4-FFF2-40B4-BE49-F238E27FC236}">
                <a16:creationId xmlns:a16="http://schemas.microsoft.com/office/drawing/2014/main" id="{522D22E1-78FA-D4B6-A702-BCD42A84417E}"/>
              </a:ext>
            </a:extLst>
          </p:cNvPr>
          <p:cNvPicPr>
            <a:picLocks noChangeAspect="1"/>
          </p:cNvPicPr>
          <p:nvPr/>
        </p:nvPicPr>
        <p:blipFill>
          <a:blip r:embed="rId49"/>
          <a:stretch>
            <a:fillRect/>
          </a:stretch>
        </p:blipFill>
        <p:spPr>
          <a:xfrm>
            <a:off x="9098151" y="5588353"/>
            <a:ext cx="586090" cy="157970"/>
          </a:xfrm>
          <a:prstGeom prst="rect">
            <a:avLst/>
          </a:prstGeom>
        </p:spPr>
      </p:pic>
      <p:pic>
        <p:nvPicPr>
          <p:cNvPr id="214" name="Picture 213">
            <a:extLst>
              <a:ext uri="{FF2B5EF4-FFF2-40B4-BE49-F238E27FC236}">
                <a16:creationId xmlns:a16="http://schemas.microsoft.com/office/drawing/2014/main" id="{AFCA4A2F-5767-F071-DF06-ECD1137C8319}"/>
              </a:ext>
            </a:extLst>
          </p:cNvPr>
          <p:cNvPicPr>
            <a:picLocks noChangeAspect="1"/>
          </p:cNvPicPr>
          <p:nvPr>
            <p:custDataLst>
              <p:tags r:id="rId33"/>
            </p:custDataLst>
          </p:nvPr>
        </p:nvPicPr>
        <p:blipFill>
          <a:blip r:embed="rId48"/>
          <a:stretch>
            <a:fillRect/>
          </a:stretch>
        </p:blipFill>
        <p:spPr>
          <a:xfrm>
            <a:off x="9813883" y="5549353"/>
            <a:ext cx="361918" cy="235970"/>
          </a:xfrm>
          <a:prstGeom prst="rect">
            <a:avLst/>
          </a:prstGeom>
        </p:spPr>
      </p:pic>
      <p:pic>
        <p:nvPicPr>
          <p:cNvPr id="215" name="Picture 214">
            <a:extLst>
              <a:ext uri="{FF2B5EF4-FFF2-40B4-BE49-F238E27FC236}">
                <a16:creationId xmlns:a16="http://schemas.microsoft.com/office/drawing/2014/main" id="{5B47B6CA-CE90-AB8F-CBF2-62F085727263}"/>
              </a:ext>
            </a:extLst>
          </p:cNvPr>
          <p:cNvPicPr>
            <a:picLocks noChangeAspect="1"/>
          </p:cNvPicPr>
          <p:nvPr>
            <p:custDataLst>
              <p:tags r:id="rId34"/>
            </p:custDataLst>
          </p:nvPr>
        </p:nvPicPr>
        <p:blipFill>
          <a:blip r:embed="rId51"/>
          <a:srcRect t="22561" b="19843"/>
          <a:stretch>
            <a:fillRect/>
          </a:stretch>
        </p:blipFill>
        <p:spPr>
          <a:xfrm>
            <a:off x="10305443" y="5582380"/>
            <a:ext cx="475020" cy="169916"/>
          </a:xfrm>
          <a:prstGeom prst="rect">
            <a:avLst/>
          </a:prstGeom>
        </p:spPr>
      </p:pic>
      <p:pic>
        <p:nvPicPr>
          <p:cNvPr id="219" name="Picture 218">
            <a:extLst>
              <a:ext uri="{FF2B5EF4-FFF2-40B4-BE49-F238E27FC236}">
                <a16:creationId xmlns:a16="http://schemas.microsoft.com/office/drawing/2014/main" id="{DC0E5FB7-CAF0-CDBC-4D90-4D966EFCAE55}"/>
              </a:ext>
            </a:extLst>
          </p:cNvPr>
          <p:cNvPicPr>
            <a:picLocks noChangeAspect="1"/>
          </p:cNvPicPr>
          <p:nvPr/>
        </p:nvPicPr>
        <p:blipFill>
          <a:blip r:embed="rId52"/>
          <a:srcRect l="3159" t="6723" r="3011" b="9571"/>
          <a:stretch>
            <a:fillRect/>
          </a:stretch>
        </p:blipFill>
        <p:spPr>
          <a:xfrm>
            <a:off x="9098151" y="5963849"/>
            <a:ext cx="731872" cy="345658"/>
          </a:xfrm>
          <a:prstGeom prst="rect">
            <a:avLst/>
          </a:prstGeom>
        </p:spPr>
      </p:pic>
      <p:pic>
        <p:nvPicPr>
          <p:cNvPr id="220" name="Picture 219">
            <a:extLst>
              <a:ext uri="{FF2B5EF4-FFF2-40B4-BE49-F238E27FC236}">
                <a16:creationId xmlns:a16="http://schemas.microsoft.com/office/drawing/2014/main" id="{DFA335FB-B5A3-48AE-978A-BC033F71A629}"/>
              </a:ext>
            </a:extLst>
          </p:cNvPr>
          <p:cNvPicPr>
            <a:picLocks noChangeAspect="1"/>
          </p:cNvPicPr>
          <p:nvPr>
            <p:custDataLst>
              <p:tags r:id="rId35"/>
            </p:custDataLst>
          </p:nvPr>
        </p:nvPicPr>
        <p:blipFill>
          <a:blip r:embed="rId48"/>
          <a:stretch>
            <a:fillRect/>
          </a:stretch>
        </p:blipFill>
        <p:spPr>
          <a:xfrm>
            <a:off x="9992020" y="6018693"/>
            <a:ext cx="361918" cy="235970"/>
          </a:xfrm>
          <a:prstGeom prst="rect">
            <a:avLst/>
          </a:prstGeom>
        </p:spPr>
      </p:pic>
      <p:pic>
        <p:nvPicPr>
          <p:cNvPr id="221" name="Picture 220">
            <a:extLst>
              <a:ext uri="{FF2B5EF4-FFF2-40B4-BE49-F238E27FC236}">
                <a16:creationId xmlns:a16="http://schemas.microsoft.com/office/drawing/2014/main" id="{D26CD521-C20C-7FBD-BE8C-0B55F3455431}"/>
              </a:ext>
            </a:extLst>
          </p:cNvPr>
          <p:cNvPicPr>
            <a:picLocks noChangeAspect="1"/>
          </p:cNvPicPr>
          <p:nvPr/>
        </p:nvPicPr>
        <p:blipFill>
          <a:blip r:embed="rId49"/>
          <a:stretch>
            <a:fillRect/>
          </a:stretch>
        </p:blipFill>
        <p:spPr>
          <a:xfrm>
            <a:off x="10515935" y="6057693"/>
            <a:ext cx="586090" cy="157970"/>
          </a:xfrm>
          <a:prstGeom prst="rect">
            <a:avLst/>
          </a:prstGeom>
        </p:spPr>
      </p:pic>
      <p:sp>
        <p:nvSpPr>
          <p:cNvPr id="2" name="Rectangle: Rounded Corners 1">
            <a:extLst>
              <a:ext uri="{FF2B5EF4-FFF2-40B4-BE49-F238E27FC236}">
                <a16:creationId xmlns:a16="http://schemas.microsoft.com/office/drawing/2014/main" id="{FBE586D2-1FAC-4CAD-2B3B-432C647BA944}"/>
              </a:ext>
            </a:extLst>
          </p:cNvPr>
          <p:cNvSpPr>
            <a:spLocks/>
          </p:cNvSpPr>
          <p:nvPr/>
        </p:nvSpPr>
        <p:spPr>
          <a:xfrm>
            <a:off x="564421" y="3558633"/>
            <a:ext cx="494434" cy="1355313"/>
          </a:xfrm>
          <a:prstGeom prst="roundRect">
            <a:avLst/>
          </a:prstGeom>
          <a:solidFill>
            <a:srgbClr val="111918">
              <a:lumMod val="50000"/>
              <a:lumOff val="50000"/>
            </a:srgbClr>
          </a:solidFill>
          <a:ln w="6350" cap="sq" cmpd="sng" algn="ctr">
            <a:noFill/>
            <a:prstDash val="solid"/>
            <a:miter lim="800000"/>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200" b="1" i="0" u="none" strike="noStrike" kern="0" cap="none" spc="0" normalizeH="0" baseline="0" noProof="1">
                <a:ln>
                  <a:noFill/>
                </a:ln>
                <a:solidFill>
                  <a:srgbClr val="FFFFFF"/>
                </a:solidFill>
                <a:effectLst/>
                <a:uLnTx/>
                <a:uFillTx/>
                <a:latin typeface="Tahoma"/>
                <a:ea typeface="+mn-ea"/>
                <a:cs typeface="+mn-cs"/>
              </a:rPr>
              <a:t>Incumbent moves</a:t>
            </a:r>
          </a:p>
        </p:txBody>
      </p:sp>
      <p:sp>
        <p:nvSpPr>
          <p:cNvPr id="4" name="Rectangle: Rounded Corners 3">
            <a:extLst>
              <a:ext uri="{FF2B5EF4-FFF2-40B4-BE49-F238E27FC236}">
                <a16:creationId xmlns:a16="http://schemas.microsoft.com/office/drawing/2014/main" id="{4FD28CC0-9829-E5EE-4773-10E68850FCE2}"/>
              </a:ext>
            </a:extLst>
          </p:cNvPr>
          <p:cNvSpPr>
            <a:spLocks/>
          </p:cNvSpPr>
          <p:nvPr/>
        </p:nvSpPr>
        <p:spPr>
          <a:xfrm>
            <a:off x="554734" y="5005947"/>
            <a:ext cx="494434" cy="1297676"/>
          </a:xfrm>
          <a:prstGeom prst="roundRect">
            <a:avLst/>
          </a:prstGeom>
          <a:solidFill>
            <a:srgbClr val="111918">
              <a:lumMod val="25000"/>
              <a:lumOff val="75000"/>
            </a:srgbClr>
          </a:solidFill>
          <a:ln w="6350" cap="sq" cmpd="sng" algn="ctr">
            <a:noFill/>
            <a:prstDash val="solid"/>
            <a:miter lim="800000"/>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200" b="1" i="0" u="none" strike="noStrike" kern="0" cap="none" spc="0" normalizeH="0" baseline="0" noProof="1">
                <a:ln>
                  <a:noFill/>
                </a:ln>
                <a:solidFill>
                  <a:srgbClr val="111918"/>
                </a:solidFill>
                <a:effectLst/>
                <a:uLnTx/>
                <a:uFillTx/>
                <a:latin typeface="Tahoma"/>
                <a:ea typeface="+mn-ea"/>
                <a:cs typeface="+mn-cs"/>
              </a:rPr>
              <a:t>Enablers</a:t>
            </a:r>
          </a:p>
        </p:txBody>
      </p:sp>
      <p:sp>
        <p:nvSpPr>
          <p:cNvPr id="14" name="Rectangle: Rounded Corners 13">
            <a:extLst>
              <a:ext uri="{FF2B5EF4-FFF2-40B4-BE49-F238E27FC236}">
                <a16:creationId xmlns:a16="http://schemas.microsoft.com/office/drawing/2014/main" id="{C329CC49-0908-187D-9477-4B4883A7DA03}"/>
              </a:ext>
            </a:extLst>
          </p:cNvPr>
          <p:cNvSpPr>
            <a:spLocks/>
          </p:cNvSpPr>
          <p:nvPr/>
        </p:nvSpPr>
        <p:spPr>
          <a:xfrm>
            <a:off x="567033" y="1843094"/>
            <a:ext cx="494434" cy="1631693"/>
          </a:xfrm>
          <a:prstGeom prst="roundRect">
            <a:avLst/>
          </a:prstGeom>
          <a:solidFill>
            <a:srgbClr val="0A5637"/>
          </a:solidFill>
          <a:ln w="6350" cap="sq" cmpd="sng" algn="ctr">
            <a:noFill/>
            <a:prstDash val="solid"/>
            <a:miter lim="800000"/>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200" b="1" i="0" u="none" strike="noStrike" kern="0" cap="none" spc="0" normalizeH="0" baseline="0" noProof="1">
                <a:ln>
                  <a:noFill/>
                </a:ln>
                <a:solidFill>
                  <a:srgbClr val="FFFFFF"/>
                </a:solidFill>
                <a:effectLst/>
                <a:uLnTx/>
                <a:uFillTx/>
                <a:latin typeface="Tahoma"/>
                <a:ea typeface="+mn-ea"/>
                <a:cs typeface="+mn-cs"/>
              </a:rPr>
              <a:t>Game Changers</a:t>
            </a:r>
          </a:p>
        </p:txBody>
      </p:sp>
    </p:spTree>
    <p:extLst>
      <p:ext uri="{BB962C8B-B14F-4D97-AF65-F5344CB8AC3E}">
        <p14:creationId xmlns:p14="http://schemas.microsoft.com/office/powerpoint/2010/main" val="2415892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90BAC-228C-1A2D-7FB3-CE36B5CE1754}"/>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3D5CC7E2-CCB9-423C-FF14-28383EDB6249}"/>
              </a:ext>
            </a:extLst>
          </p:cNvPr>
          <p:cNvGraphicFramePr>
            <a:graphicFrameLocks noChangeAspect="1"/>
          </p:cNvGraphicFramePr>
          <p:nvPr>
            <p:custDataLst>
              <p:tags r:id="rId1"/>
            </p:custDataLst>
            <p:extLst>
              <p:ext uri="{D42A27DB-BD31-4B8C-83A1-F6EECF244321}">
                <p14:modId xmlns:p14="http://schemas.microsoft.com/office/powerpoint/2010/main" val="2335452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4" imgW="486" imgH="486" progId="TCLayout.ActiveDocument.1">
                  <p:embed/>
                </p:oleObj>
              </mc:Choice>
              <mc:Fallback>
                <p:oleObj name="think-cell Slide" r:id="rId44" imgW="486" imgH="486" progId="TCLayout.ActiveDocument.1">
                  <p:embed/>
                  <p:pic>
                    <p:nvPicPr>
                      <p:cNvPr id="5" name="Object 2" hidden="1">
                        <a:extLst>
                          <a:ext uri="{FF2B5EF4-FFF2-40B4-BE49-F238E27FC236}">
                            <a16:creationId xmlns:a16="http://schemas.microsoft.com/office/drawing/2014/main" id="{3D5CC7E2-CCB9-423C-FF14-28383EDB6249}"/>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0ABD97FB-F4A0-B5FF-6313-B1BDB45ECAAF}"/>
              </a:ext>
            </a:extLst>
          </p:cNvPr>
          <p:cNvSpPr>
            <a:spLocks noGrp="1"/>
          </p:cNvSpPr>
          <p:nvPr>
            <p:ph type="title"/>
          </p:nvPr>
        </p:nvSpPr>
        <p:spPr>
          <a:xfrm>
            <a:off x="554736" y="165068"/>
            <a:ext cx="7918704" cy="738664"/>
          </a:xfrm>
          <a:noFill/>
          <a:ln/>
          <a:extLst>
            <a:ext uri="{909E8E84-426E-40DD-AFC4-6F175D3DCCD1}">
              <a14:hiddenFill xmlns:a14="http://schemas.microsoft.com/office/drawing/2010/main">
                <a:solidFill>
                  <a:srgbClr val="FFFFFF"/>
                </a:solidFill>
              </a14:hiddenFill>
            </a:ext>
          </a:extLst>
        </p:spPr>
        <p:txBody>
          <a:bodyPr vert="horz" wrap="square">
            <a:noAutofit/>
          </a:bodyPr>
          <a:lstStyle/>
          <a:p>
            <a:r>
              <a:rPr lang="en-US"/>
              <a:t>Defining “private banking customers” is critical to understand addressable market size</a:t>
            </a:r>
          </a:p>
        </p:txBody>
      </p:sp>
      <p:sp>
        <p:nvSpPr>
          <p:cNvPr id="247" name="3. Subtitle">
            <a:extLst>
              <a:ext uri="{FF2B5EF4-FFF2-40B4-BE49-F238E27FC236}">
                <a16:creationId xmlns:a16="http://schemas.microsoft.com/office/drawing/2014/main" id="{8F55F691-6CC0-EFF4-94A4-3D3E1005A66F}"/>
              </a:ext>
            </a:extLst>
          </p:cNvPr>
          <p:cNvSpPr>
            <a:spLocks noGrp="1"/>
          </p:cNvSpPr>
          <p:nvPr>
            <p:ph type="subTitle" idx="1"/>
            <p:custDataLst>
              <p:tags r:id="rId2"/>
            </p:custDataLst>
          </p:nvPr>
        </p:nvSpPr>
        <p:spPr>
          <a:noFill/>
          <a:ln/>
          <a:extLst>
            <a:ext uri="{909E8E84-426E-40DD-AFC4-6F175D3DCCD1}">
              <a14:hiddenFill xmlns:a14="http://schemas.microsoft.com/office/drawing/2010/main">
                <a:solidFill>
                  <a:srgbClr val="FFFFFF"/>
                </a:solidFill>
              </a14:hiddenFill>
            </a:ext>
          </a:extLst>
        </p:spPr>
        <p:txBody>
          <a:bodyPr/>
          <a:lstStyle/>
          <a:p>
            <a:pPr>
              <a:buNone/>
            </a:pPr>
            <a:r>
              <a:rPr lang="en-US">
                <a:latin typeface="+mn-lt"/>
              </a:rPr>
              <a:t>Regionally observed entry criteria models </a:t>
            </a:r>
          </a:p>
        </p:txBody>
      </p:sp>
      <p:sp>
        <p:nvSpPr>
          <p:cNvPr id="7" name="1. On-page tracker">
            <a:extLst>
              <a:ext uri="{FF2B5EF4-FFF2-40B4-BE49-F238E27FC236}">
                <a16:creationId xmlns:a16="http://schemas.microsoft.com/office/drawing/2014/main" id="{F99018C5-D77F-9831-00C9-0F444C8D2C0A}"/>
              </a:ext>
            </a:extLst>
          </p:cNvPr>
          <p:cNvSpPr>
            <a:spLocks noGrp="1"/>
          </p:cNvSpPr>
          <p:nvPr>
            <p:ph type="body" sz="quarter" idx="10"/>
            <p:custDataLst>
              <p:tags r:id="rId3"/>
            </p:custDataLst>
          </p:nvPr>
        </p:nvSpPr>
        <p:spPr>
          <a:noFill/>
          <a:ln>
            <a:noFill/>
          </a:ln>
          <a:extLst>
            <a:ext uri="{909E8E84-426E-40DD-AFC4-6F175D3DCCD1}">
              <a14:hiddenFill xmlns:a14="http://schemas.microsoft.com/office/drawing/2010/main">
                <a:solidFill>
                  <a:srgbClr val="FFFFFF"/>
                </a:solidFill>
              </a14:hiddenFill>
            </a:ext>
          </a:extLst>
        </p:spPr>
        <p:txBody>
          <a:bodyPr/>
          <a:lstStyle/>
          <a:p>
            <a:endParaRPr lang="en-US">
              <a:latin typeface="+mn-lt"/>
            </a:endParaRPr>
          </a:p>
        </p:txBody>
      </p:sp>
      <p:sp>
        <p:nvSpPr>
          <p:cNvPr id="30" name="TextBox 29">
            <a:extLst>
              <a:ext uri="{FF2B5EF4-FFF2-40B4-BE49-F238E27FC236}">
                <a16:creationId xmlns:a16="http://schemas.microsoft.com/office/drawing/2014/main" id="{6BB9619A-60FE-D030-3872-45E35154FE10}"/>
              </a:ext>
            </a:extLst>
          </p:cNvPr>
          <p:cNvSpPr txBox="1">
            <a:spLocks/>
          </p:cNvSpPr>
          <p:nvPr/>
        </p:nvSpPr>
        <p:spPr>
          <a:xfrm>
            <a:off x="2054212" y="1540910"/>
            <a:ext cx="1943217" cy="169277"/>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Description</a:t>
            </a:r>
          </a:p>
        </p:txBody>
      </p:sp>
      <p:sp>
        <p:nvSpPr>
          <p:cNvPr id="28" name="TextBox 27">
            <a:extLst>
              <a:ext uri="{FF2B5EF4-FFF2-40B4-BE49-F238E27FC236}">
                <a16:creationId xmlns:a16="http://schemas.microsoft.com/office/drawing/2014/main" id="{A38EE3E6-EB13-4325-5409-B09EF3DFA609}"/>
              </a:ext>
            </a:extLst>
          </p:cNvPr>
          <p:cNvSpPr txBox="1">
            <a:spLocks/>
          </p:cNvSpPr>
          <p:nvPr/>
        </p:nvSpPr>
        <p:spPr>
          <a:xfrm>
            <a:off x="554736" y="1371633"/>
            <a:ext cx="1366428" cy="33855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Entry criteria category</a:t>
            </a:r>
          </a:p>
        </p:txBody>
      </p:sp>
      <p:sp>
        <p:nvSpPr>
          <p:cNvPr id="43" name="TextBox 42">
            <a:extLst>
              <a:ext uri="{FF2B5EF4-FFF2-40B4-BE49-F238E27FC236}">
                <a16:creationId xmlns:a16="http://schemas.microsoft.com/office/drawing/2014/main" id="{B4CAE8A7-7328-6006-1028-850CB8BCF490}"/>
              </a:ext>
            </a:extLst>
          </p:cNvPr>
          <p:cNvSpPr txBox="1">
            <a:spLocks/>
          </p:cNvSpPr>
          <p:nvPr/>
        </p:nvSpPr>
        <p:spPr>
          <a:xfrm>
            <a:off x="6390109" y="1371633"/>
            <a:ext cx="758141" cy="33855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Threshold USD </a:t>
            </a:r>
          </a:p>
        </p:txBody>
      </p:sp>
      <p:sp>
        <p:nvSpPr>
          <p:cNvPr id="41" name="TextBox 40">
            <a:extLst>
              <a:ext uri="{FF2B5EF4-FFF2-40B4-BE49-F238E27FC236}">
                <a16:creationId xmlns:a16="http://schemas.microsoft.com/office/drawing/2014/main" id="{AEFFD3C1-85F7-2695-3333-6CDDDFF980F0}"/>
              </a:ext>
            </a:extLst>
          </p:cNvPr>
          <p:cNvSpPr txBox="1">
            <a:spLocks/>
          </p:cNvSpPr>
          <p:nvPr/>
        </p:nvSpPr>
        <p:spPr>
          <a:xfrm>
            <a:off x="4130477" y="1540910"/>
            <a:ext cx="2126584" cy="169277"/>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Peer-bank examples</a:t>
            </a:r>
          </a:p>
        </p:txBody>
      </p:sp>
      <p:sp>
        <p:nvSpPr>
          <p:cNvPr id="46" name="TextBox 45">
            <a:extLst>
              <a:ext uri="{FF2B5EF4-FFF2-40B4-BE49-F238E27FC236}">
                <a16:creationId xmlns:a16="http://schemas.microsoft.com/office/drawing/2014/main" id="{BAA169C6-50EB-1BAA-65A4-F5D734EC2564}"/>
              </a:ext>
            </a:extLst>
          </p:cNvPr>
          <p:cNvSpPr txBox="1">
            <a:spLocks/>
          </p:cNvSpPr>
          <p:nvPr/>
        </p:nvSpPr>
        <p:spPr>
          <a:xfrm>
            <a:off x="7353384" y="1371633"/>
            <a:ext cx="1181016" cy="33855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GDP adjusted threshold USD</a:t>
            </a:r>
            <a:r>
              <a:rPr lang="en-US" sz="1100"/>
              <a:t>¹</a:t>
            </a:r>
            <a:endParaRPr kumimoji="0" lang="en-US" sz="11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endParaRPr>
          </a:p>
        </p:txBody>
      </p:sp>
      <p:pic>
        <p:nvPicPr>
          <p:cNvPr id="73" name="CustomIcon">
            <a:extLst>
              <a:ext uri="{FF2B5EF4-FFF2-40B4-BE49-F238E27FC236}">
                <a16:creationId xmlns:a16="http://schemas.microsoft.com/office/drawing/2014/main" id="{73F9E05B-2A8F-E7E8-7415-28B97DEEA0B7}"/>
              </a:ext>
            </a:extLst>
          </p:cNvPr>
          <p:cNvPicPr>
            <a:picLocks/>
          </p:cNvPicPr>
          <p:nvPr>
            <p:custDataLst>
              <p:tags r:id="rId4"/>
            </p:custDataLst>
          </p:nvPr>
        </p:nvPicPr>
        <p:blipFill>
          <a:blip>
            <a:extLst>
              <a:ext uri="{96DAC541-7B7A-43D3-8B79-37D633B846F1}">
                <asvg:svgBlip xmlns:asvg="http://schemas.microsoft.com/office/drawing/2016/SVG/main" r:embed="rId46"/>
              </a:ext>
            </a:extLst>
          </a:blip>
          <a:stretch>
            <a:fillRect/>
          </a:stretch>
        </p:blipFill>
        <p:spPr>
          <a:xfrm>
            <a:off x="554736" y="2724544"/>
            <a:ext cx="379837" cy="379837"/>
          </a:xfrm>
          <a:prstGeom prst="rect">
            <a:avLst/>
          </a:prstGeom>
        </p:spPr>
      </p:pic>
      <p:sp>
        <p:nvSpPr>
          <p:cNvPr id="48" name="TextBox 47">
            <a:extLst>
              <a:ext uri="{FF2B5EF4-FFF2-40B4-BE49-F238E27FC236}">
                <a16:creationId xmlns:a16="http://schemas.microsoft.com/office/drawing/2014/main" id="{868B8EE4-8114-9D45-27E1-17616FC44D31}"/>
              </a:ext>
            </a:extLst>
          </p:cNvPr>
          <p:cNvSpPr txBox="1">
            <a:spLocks/>
          </p:cNvSpPr>
          <p:nvPr/>
        </p:nvSpPr>
        <p:spPr>
          <a:xfrm>
            <a:off x="554736" y="1836464"/>
            <a:ext cx="1366428" cy="8463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1. AUM threshold</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Client qualifies based on investable assets or by providing high a high income trajectory</a:t>
            </a:r>
          </a:p>
        </p:txBody>
      </p:sp>
      <p:pic>
        <p:nvPicPr>
          <p:cNvPr id="76" name="CustomIcon">
            <a:extLst>
              <a:ext uri="{FF2B5EF4-FFF2-40B4-BE49-F238E27FC236}">
                <a16:creationId xmlns:a16="http://schemas.microsoft.com/office/drawing/2014/main" id="{95352873-BD34-00F6-9EE1-BB1ED3969720}"/>
              </a:ext>
            </a:extLst>
          </p:cNvPr>
          <p:cNvPicPr>
            <a:picLocks/>
          </p:cNvPicPr>
          <p:nvPr>
            <p:custDataLst>
              <p:tags r:id="rId5"/>
            </p:custDataLst>
          </p:nvPr>
        </p:nvPicPr>
        <p:blipFill>
          <a:blip>
            <a:extLst>
              <a:ext uri="{96DAC541-7B7A-43D3-8B79-37D633B846F1}">
                <asvg:svgBlip xmlns:asvg="http://schemas.microsoft.com/office/drawing/2016/SVG/main" r:embed="rId47"/>
              </a:ext>
            </a:extLst>
          </a:blip>
          <a:stretch>
            <a:fillRect/>
          </a:stretch>
        </p:blipFill>
        <p:spPr>
          <a:xfrm>
            <a:off x="554736" y="4235467"/>
            <a:ext cx="379837" cy="379837"/>
          </a:xfrm>
          <a:prstGeom prst="rect">
            <a:avLst/>
          </a:prstGeom>
        </p:spPr>
      </p:pic>
      <p:sp>
        <p:nvSpPr>
          <p:cNvPr id="54" name="TextBox 53">
            <a:extLst>
              <a:ext uri="{FF2B5EF4-FFF2-40B4-BE49-F238E27FC236}">
                <a16:creationId xmlns:a16="http://schemas.microsoft.com/office/drawing/2014/main" id="{FD82BE59-3CE5-09AC-D57F-50BC6184B2BB}"/>
              </a:ext>
            </a:extLst>
          </p:cNvPr>
          <p:cNvSpPr txBox="1">
            <a:spLocks/>
          </p:cNvSpPr>
          <p:nvPr/>
        </p:nvSpPr>
        <p:spPr>
          <a:xfrm>
            <a:off x="554736" y="3347387"/>
            <a:ext cx="1366428" cy="8463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2. Total Relationship Value </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Client qualifies based on the total economic value of the relationship</a:t>
            </a:r>
          </a:p>
        </p:txBody>
      </p:sp>
      <p:pic>
        <p:nvPicPr>
          <p:cNvPr id="82" name="CustomIcon">
            <a:extLst>
              <a:ext uri="{FF2B5EF4-FFF2-40B4-BE49-F238E27FC236}">
                <a16:creationId xmlns:a16="http://schemas.microsoft.com/office/drawing/2014/main" id="{222A523A-F2F2-FEB3-4E91-F5EFEE24BE0A}"/>
              </a:ext>
            </a:extLst>
          </p:cNvPr>
          <p:cNvPicPr>
            <a:picLocks/>
          </p:cNvPicPr>
          <p:nvPr>
            <p:custDataLst>
              <p:tags r:id="rId6"/>
            </p:custDataLst>
          </p:nvPr>
        </p:nvPicPr>
        <p:blipFill>
          <a:blip>
            <a:extLst>
              <a:ext uri="{96DAC541-7B7A-43D3-8B79-37D633B846F1}">
                <asvg:svgBlip xmlns:asvg="http://schemas.microsoft.com/office/drawing/2016/SVG/main" r:embed="rId48"/>
              </a:ext>
            </a:extLst>
          </a:blip>
          <a:stretch>
            <a:fillRect/>
          </a:stretch>
        </p:blipFill>
        <p:spPr>
          <a:xfrm>
            <a:off x="554736" y="5592501"/>
            <a:ext cx="379837" cy="379837"/>
          </a:xfrm>
          <a:prstGeom prst="rect">
            <a:avLst/>
          </a:prstGeom>
        </p:spPr>
      </p:pic>
      <p:sp>
        <p:nvSpPr>
          <p:cNvPr id="57" name="TextBox 56">
            <a:extLst>
              <a:ext uri="{FF2B5EF4-FFF2-40B4-BE49-F238E27FC236}">
                <a16:creationId xmlns:a16="http://schemas.microsoft.com/office/drawing/2014/main" id="{01DF0D9A-266F-7E48-04BE-273AB329BBD3}"/>
              </a:ext>
            </a:extLst>
          </p:cNvPr>
          <p:cNvSpPr txBox="1">
            <a:spLocks/>
          </p:cNvSpPr>
          <p:nvPr/>
        </p:nvSpPr>
        <p:spPr>
          <a:xfrm>
            <a:off x="554736" y="4858310"/>
            <a:ext cx="1366428" cy="69249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3. Annual Income </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Client qualifies based on annual income or earning capacity</a:t>
            </a:r>
          </a:p>
        </p:txBody>
      </p:sp>
      <p:sp>
        <p:nvSpPr>
          <p:cNvPr id="86" name="TextBox 85">
            <a:extLst>
              <a:ext uri="{FF2B5EF4-FFF2-40B4-BE49-F238E27FC236}">
                <a16:creationId xmlns:a16="http://schemas.microsoft.com/office/drawing/2014/main" id="{EC2ED952-0E05-59D6-6D60-888A75277596}"/>
              </a:ext>
            </a:extLst>
          </p:cNvPr>
          <p:cNvSpPr txBox="1">
            <a:spLocks/>
          </p:cNvSpPr>
          <p:nvPr/>
        </p:nvSpPr>
        <p:spPr>
          <a:xfrm>
            <a:off x="7414344" y="1882631"/>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227K</a:t>
            </a:r>
          </a:p>
        </p:txBody>
      </p:sp>
      <p:sp>
        <p:nvSpPr>
          <p:cNvPr id="4099" name="TextBox 4098">
            <a:extLst>
              <a:ext uri="{FF2B5EF4-FFF2-40B4-BE49-F238E27FC236}">
                <a16:creationId xmlns:a16="http://schemas.microsoft.com/office/drawing/2014/main" id="{FE5C8956-7C7A-47D9-FEF6-DCD3DB15BEDA}"/>
              </a:ext>
            </a:extLst>
          </p:cNvPr>
          <p:cNvSpPr txBox="1">
            <a:spLocks/>
          </p:cNvSpPr>
          <p:nvPr/>
        </p:nvSpPr>
        <p:spPr>
          <a:xfrm>
            <a:off x="6390109" y="1882631"/>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250K</a:t>
            </a:r>
          </a:p>
        </p:txBody>
      </p:sp>
      <p:pic>
        <p:nvPicPr>
          <p:cNvPr id="106" name="Picture 105">
            <a:extLst>
              <a:ext uri="{FF2B5EF4-FFF2-40B4-BE49-F238E27FC236}">
                <a16:creationId xmlns:a16="http://schemas.microsoft.com/office/drawing/2014/main" id="{0A392F39-B169-7272-4274-D9D4BDFDB1A4}"/>
              </a:ext>
            </a:extLst>
          </p:cNvPr>
          <p:cNvPicPr>
            <a:picLocks noChangeAspect="1"/>
          </p:cNvPicPr>
          <p:nvPr>
            <p:custDataLst>
              <p:tags r:id="rId7"/>
            </p:custDataLst>
          </p:nvPr>
        </p:nvPicPr>
        <p:blipFill>
          <a:blip r:embed="rId49">
            <a:clrChange>
              <a:clrFrom>
                <a:srgbClr val="FFFFFF"/>
              </a:clrFrom>
              <a:clrTo>
                <a:srgbClr val="FFFFFF">
                  <a:alpha val="0"/>
                </a:srgbClr>
              </a:clrTo>
            </a:clrChange>
          </a:blip>
          <a:stretch>
            <a:fillRect/>
          </a:stretch>
        </p:blipFill>
        <p:spPr>
          <a:xfrm>
            <a:off x="4130477" y="1843729"/>
            <a:ext cx="297194" cy="293249"/>
          </a:xfrm>
          <a:prstGeom prst="rect">
            <a:avLst/>
          </a:prstGeom>
        </p:spPr>
      </p:pic>
      <p:sp>
        <p:nvSpPr>
          <p:cNvPr id="79" name="TextBox 78">
            <a:extLst>
              <a:ext uri="{FF2B5EF4-FFF2-40B4-BE49-F238E27FC236}">
                <a16:creationId xmlns:a16="http://schemas.microsoft.com/office/drawing/2014/main" id="{D06E12AB-BD00-493F-495D-DAA8492DCB4F}"/>
              </a:ext>
            </a:extLst>
          </p:cNvPr>
          <p:cNvSpPr txBox="1">
            <a:spLocks/>
          </p:cNvSpPr>
          <p:nvPr/>
        </p:nvSpPr>
        <p:spPr>
          <a:xfrm>
            <a:off x="4885770" y="1836464"/>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TBC Bank </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AUM</a:t>
            </a:r>
          </a:p>
        </p:txBody>
      </p:sp>
      <p:sp>
        <p:nvSpPr>
          <p:cNvPr id="98" name="TextBox 97">
            <a:extLst>
              <a:ext uri="{FF2B5EF4-FFF2-40B4-BE49-F238E27FC236}">
                <a16:creationId xmlns:a16="http://schemas.microsoft.com/office/drawing/2014/main" id="{5EAF41A2-5F2D-2931-FE51-A15924A96910}"/>
              </a:ext>
            </a:extLst>
          </p:cNvPr>
          <p:cNvSpPr txBox="1">
            <a:spLocks/>
          </p:cNvSpPr>
          <p:nvPr/>
        </p:nvSpPr>
        <p:spPr>
          <a:xfrm>
            <a:off x="7414344" y="3897195"/>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500K</a:t>
            </a:r>
          </a:p>
        </p:txBody>
      </p:sp>
      <p:sp>
        <p:nvSpPr>
          <p:cNvPr id="4101" name="TextBox 4100">
            <a:extLst>
              <a:ext uri="{FF2B5EF4-FFF2-40B4-BE49-F238E27FC236}">
                <a16:creationId xmlns:a16="http://schemas.microsoft.com/office/drawing/2014/main" id="{98A03C41-706E-A788-53A4-8A675F38438A}"/>
              </a:ext>
            </a:extLst>
          </p:cNvPr>
          <p:cNvSpPr txBox="1">
            <a:spLocks/>
          </p:cNvSpPr>
          <p:nvPr/>
        </p:nvSpPr>
        <p:spPr>
          <a:xfrm>
            <a:off x="6390109" y="3897195"/>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5.5M</a:t>
            </a:r>
          </a:p>
        </p:txBody>
      </p:sp>
      <p:pic>
        <p:nvPicPr>
          <p:cNvPr id="114" name="Picture 113">
            <a:extLst>
              <a:ext uri="{FF2B5EF4-FFF2-40B4-BE49-F238E27FC236}">
                <a16:creationId xmlns:a16="http://schemas.microsoft.com/office/drawing/2014/main" id="{203D274A-2345-E84C-5ED8-10D35CA8772A}"/>
              </a:ext>
            </a:extLst>
          </p:cNvPr>
          <p:cNvPicPr>
            <a:picLocks noChangeAspect="1"/>
          </p:cNvPicPr>
          <p:nvPr>
            <p:custDataLst>
              <p:tags r:id="rId8"/>
            </p:custDataLst>
          </p:nvPr>
        </p:nvPicPr>
        <p:blipFill>
          <a:blip r:embed="rId50">
            <a:clrChange>
              <a:clrFrom>
                <a:srgbClr val="FFFFFF"/>
              </a:clrFrom>
              <a:clrTo>
                <a:srgbClr val="FFFFFF">
                  <a:alpha val="0"/>
                </a:srgbClr>
              </a:clrTo>
            </a:clrChange>
          </a:blip>
          <a:stretch>
            <a:fillRect/>
          </a:stretch>
        </p:blipFill>
        <p:spPr>
          <a:xfrm>
            <a:off x="4130477" y="3909041"/>
            <a:ext cx="659246" cy="191752"/>
          </a:xfrm>
          <a:prstGeom prst="rect">
            <a:avLst/>
          </a:prstGeom>
        </p:spPr>
      </p:pic>
      <p:sp>
        <p:nvSpPr>
          <p:cNvPr id="94" name="TextBox 93">
            <a:extLst>
              <a:ext uri="{FF2B5EF4-FFF2-40B4-BE49-F238E27FC236}">
                <a16:creationId xmlns:a16="http://schemas.microsoft.com/office/drawing/2014/main" id="{D7D1D4CA-BC82-505E-AFC4-DB1E549A32DC}"/>
              </a:ext>
            </a:extLst>
          </p:cNvPr>
          <p:cNvSpPr txBox="1">
            <a:spLocks/>
          </p:cNvSpPr>
          <p:nvPr/>
        </p:nvSpPr>
        <p:spPr>
          <a:xfrm>
            <a:off x="4885770" y="3851028"/>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QNB </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Total Relationship Value</a:t>
            </a:r>
          </a:p>
        </p:txBody>
      </p:sp>
      <p:sp>
        <p:nvSpPr>
          <p:cNvPr id="102" name="TextBox 101">
            <a:extLst>
              <a:ext uri="{FF2B5EF4-FFF2-40B4-BE49-F238E27FC236}">
                <a16:creationId xmlns:a16="http://schemas.microsoft.com/office/drawing/2014/main" id="{FC3272E1-CF37-3B9A-E962-944AF9F42E02}"/>
              </a:ext>
            </a:extLst>
          </p:cNvPr>
          <p:cNvSpPr txBox="1">
            <a:spLocks/>
          </p:cNvSpPr>
          <p:nvPr/>
        </p:nvSpPr>
        <p:spPr>
          <a:xfrm>
            <a:off x="7414344" y="4400835"/>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750K</a:t>
            </a:r>
          </a:p>
        </p:txBody>
      </p:sp>
      <p:sp>
        <p:nvSpPr>
          <p:cNvPr id="4103" name="TextBox 4102">
            <a:extLst>
              <a:ext uri="{FF2B5EF4-FFF2-40B4-BE49-F238E27FC236}">
                <a16:creationId xmlns:a16="http://schemas.microsoft.com/office/drawing/2014/main" id="{6294DCCE-9073-7A30-DAE3-1A065059B9CB}"/>
              </a:ext>
            </a:extLst>
          </p:cNvPr>
          <p:cNvSpPr txBox="1">
            <a:spLocks/>
          </p:cNvSpPr>
          <p:nvPr/>
        </p:nvSpPr>
        <p:spPr>
          <a:xfrm>
            <a:off x="6390109" y="4400835"/>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3M</a:t>
            </a:r>
          </a:p>
        </p:txBody>
      </p:sp>
      <p:pic>
        <p:nvPicPr>
          <p:cNvPr id="116" name="Picture 115">
            <a:extLst>
              <a:ext uri="{FF2B5EF4-FFF2-40B4-BE49-F238E27FC236}">
                <a16:creationId xmlns:a16="http://schemas.microsoft.com/office/drawing/2014/main" id="{44241FAC-9DAE-E320-1D25-995F8407C358}"/>
              </a:ext>
            </a:extLst>
          </p:cNvPr>
          <p:cNvPicPr>
            <a:picLocks noChangeAspect="1"/>
          </p:cNvPicPr>
          <p:nvPr>
            <p:custDataLst>
              <p:tags r:id="rId9"/>
            </p:custDataLst>
          </p:nvPr>
        </p:nvPicPr>
        <p:blipFill>
          <a:blip r:embed="rId51">
            <a:clrChange>
              <a:clrFrom>
                <a:srgbClr val="FFFFFF"/>
              </a:clrFrom>
              <a:clrTo>
                <a:srgbClr val="FFFFFF">
                  <a:alpha val="0"/>
                </a:srgbClr>
              </a:clrTo>
            </a:clrChange>
          </a:blip>
          <a:stretch>
            <a:fillRect/>
          </a:stretch>
        </p:blipFill>
        <p:spPr>
          <a:xfrm>
            <a:off x="4130477" y="4432821"/>
            <a:ext cx="568023" cy="151473"/>
          </a:xfrm>
          <a:prstGeom prst="rect">
            <a:avLst/>
          </a:prstGeom>
        </p:spPr>
      </p:pic>
      <p:sp>
        <p:nvSpPr>
          <p:cNvPr id="100" name="TextBox 99">
            <a:extLst>
              <a:ext uri="{FF2B5EF4-FFF2-40B4-BE49-F238E27FC236}">
                <a16:creationId xmlns:a16="http://schemas.microsoft.com/office/drawing/2014/main" id="{FEE76DBA-A3AC-D883-581A-A4FED28A04F4}"/>
              </a:ext>
            </a:extLst>
          </p:cNvPr>
          <p:cNvSpPr txBox="1">
            <a:spLocks/>
          </p:cNvSpPr>
          <p:nvPr/>
        </p:nvSpPr>
        <p:spPr>
          <a:xfrm>
            <a:off x="4885770" y="4354669"/>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SNB </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Total Relationship Value</a:t>
            </a:r>
          </a:p>
        </p:txBody>
      </p:sp>
      <p:sp>
        <p:nvSpPr>
          <p:cNvPr id="107" name="TextBox 106">
            <a:extLst>
              <a:ext uri="{FF2B5EF4-FFF2-40B4-BE49-F238E27FC236}">
                <a16:creationId xmlns:a16="http://schemas.microsoft.com/office/drawing/2014/main" id="{FE159CA6-CAB6-ABB2-00F8-BB88A740B34F}"/>
              </a:ext>
            </a:extLst>
          </p:cNvPr>
          <p:cNvSpPr txBox="1">
            <a:spLocks/>
          </p:cNvSpPr>
          <p:nvPr/>
        </p:nvSpPr>
        <p:spPr>
          <a:xfrm>
            <a:off x="7414344" y="3393553"/>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720K</a:t>
            </a:r>
          </a:p>
        </p:txBody>
      </p:sp>
      <p:sp>
        <p:nvSpPr>
          <p:cNvPr id="4105" name="TextBox 4104">
            <a:extLst>
              <a:ext uri="{FF2B5EF4-FFF2-40B4-BE49-F238E27FC236}">
                <a16:creationId xmlns:a16="http://schemas.microsoft.com/office/drawing/2014/main" id="{550BBDD4-7F30-BC78-A126-568144321F51}"/>
              </a:ext>
            </a:extLst>
          </p:cNvPr>
          <p:cNvSpPr txBox="1">
            <a:spLocks/>
          </p:cNvSpPr>
          <p:nvPr/>
        </p:nvSpPr>
        <p:spPr>
          <a:xfrm>
            <a:off x="6390109" y="3393553"/>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5M</a:t>
            </a:r>
          </a:p>
        </p:txBody>
      </p:sp>
      <p:pic>
        <p:nvPicPr>
          <p:cNvPr id="112" name="Picture 111">
            <a:extLst>
              <a:ext uri="{FF2B5EF4-FFF2-40B4-BE49-F238E27FC236}">
                <a16:creationId xmlns:a16="http://schemas.microsoft.com/office/drawing/2014/main" id="{211B291E-4882-4D7C-50A0-9E3716C5890B}"/>
              </a:ext>
            </a:extLst>
          </p:cNvPr>
          <p:cNvPicPr>
            <a:picLocks noChangeAspect="1"/>
          </p:cNvPicPr>
          <p:nvPr>
            <p:custDataLst>
              <p:tags r:id="rId10"/>
            </p:custDataLst>
          </p:nvPr>
        </p:nvPicPr>
        <p:blipFill>
          <a:blip r:embed="rId52">
            <a:clrChange>
              <a:clrFrom>
                <a:srgbClr val="FFFFFF"/>
              </a:clrFrom>
              <a:clrTo>
                <a:srgbClr val="FFFFFF">
                  <a:alpha val="0"/>
                </a:srgbClr>
              </a:clrTo>
            </a:clrChange>
          </a:blip>
          <a:stretch>
            <a:fillRect/>
          </a:stretch>
        </p:blipFill>
        <p:spPr>
          <a:xfrm>
            <a:off x="4130477" y="3410397"/>
            <a:ext cx="659246" cy="181755"/>
          </a:xfrm>
          <a:prstGeom prst="rect">
            <a:avLst/>
          </a:prstGeom>
        </p:spPr>
      </p:pic>
      <p:sp>
        <p:nvSpPr>
          <p:cNvPr id="104" name="TextBox 103">
            <a:extLst>
              <a:ext uri="{FF2B5EF4-FFF2-40B4-BE49-F238E27FC236}">
                <a16:creationId xmlns:a16="http://schemas.microsoft.com/office/drawing/2014/main" id="{D95A793D-B359-EE5A-4E88-564038E6195B}"/>
              </a:ext>
            </a:extLst>
          </p:cNvPr>
          <p:cNvSpPr txBox="1">
            <a:spLocks/>
          </p:cNvSpPr>
          <p:nvPr/>
        </p:nvSpPr>
        <p:spPr>
          <a:xfrm>
            <a:off x="4885770" y="3347387"/>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Emirates NBD </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Total Relationship Value</a:t>
            </a:r>
          </a:p>
        </p:txBody>
      </p:sp>
      <p:sp>
        <p:nvSpPr>
          <p:cNvPr id="77" name="TextBox 76">
            <a:extLst>
              <a:ext uri="{FF2B5EF4-FFF2-40B4-BE49-F238E27FC236}">
                <a16:creationId xmlns:a16="http://schemas.microsoft.com/office/drawing/2014/main" id="{7BB8B14C-7C93-F70F-3025-774626EF6CAE}"/>
              </a:ext>
            </a:extLst>
          </p:cNvPr>
          <p:cNvSpPr txBox="1">
            <a:spLocks/>
          </p:cNvSpPr>
          <p:nvPr/>
        </p:nvSpPr>
        <p:spPr>
          <a:xfrm>
            <a:off x="7414344" y="2889913"/>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350K</a:t>
            </a:r>
          </a:p>
        </p:txBody>
      </p:sp>
      <p:sp>
        <p:nvSpPr>
          <p:cNvPr id="4096" name="TextBox 4095">
            <a:extLst>
              <a:ext uri="{FF2B5EF4-FFF2-40B4-BE49-F238E27FC236}">
                <a16:creationId xmlns:a16="http://schemas.microsoft.com/office/drawing/2014/main" id="{1761D431-0ED5-CF96-441D-F1FDB4721BC2}"/>
              </a:ext>
            </a:extLst>
          </p:cNvPr>
          <p:cNvSpPr txBox="1">
            <a:spLocks/>
          </p:cNvSpPr>
          <p:nvPr/>
        </p:nvSpPr>
        <p:spPr>
          <a:xfrm>
            <a:off x="6390109" y="2889913"/>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600K</a:t>
            </a:r>
          </a:p>
        </p:txBody>
      </p:sp>
      <p:pic>
        <p:nvPicPr>
          <p:cNvPr id="120" name="Picture 119">
            <a:extLst>
              <a:ext uri="{FF2B5EF4-FFF2-40B4-BE49-F238E27FC236}">
                <a16:creationId xmlns:a16="http://schemas.microsoft.com/office/drawing/2014/main" id="{1139FEAA-7F94-3632-2A57-FD18B78575E2}"/>
              </a:ext>
            </a:extLst>
          </p:cNvPr>
          <p:cNvPicPr>
            <a:picLocks noChangeAspect="1"/>
          </p:cNvPicPr>
          <p:nvPr>
            <p:custDataLst>
              <p:tags r:id="rId11"/>
            </p:custDataLst>
          </p:nvPr>
        </p:nvPicPr>
        <p:blipFill rotWithShape="1">
          <a:blip r:embed="rId53">
            <a:clrChange>
              <a:clrFrom>
                <a:srgbClr val="FFFFFF"/>
              </a:clrFrom>
              <a:clrTo>
                <a:srgbClr val="FFFFFF">
                  <a:alpha val="0"/>
                </a:srgbClr>
              </a:clrTo>
            </a:clrChange>
          </a:blip>
          <a:srcRect t="25852" b="28848"/>
          <a:stretch>
            <a:fillRect/>
          </a:stretch>
        </p:blipFill>
        <p:spPr>
          <a:xfrm>
            <a:off x="4130477" y="2923630"/>
            <a:ext cx="583452" cy="148011"/>
          </a:xfrm>
          <a:prstGeom prst="rect">
            <a:avLst/>
          </a:prstGeom>
        </p:spPr>
      </p:pic>
      <p:sp>
        <p:nvSpPr>
          <p:cNvPr id="109" name="TextBox 108">
            <a:extLst>
              <a:ext uri="{FF2B5EF4-FFF2-40B4-BE49-F238E27FC236}">
                <a16:creationId xmlns:a16="http://schemas.microsoft.com/office/drawing/2014/main" id="{3A2BEC48-C799-6D9C-8655-FC1C74D795F1}"/>
              </a:ext>
            </a:extLst>
          </p:cNvPr>
          <p:cNvSpPr txBox="1">
            <a:spLocks/>
          </p:cNvSpPr>
          <p:nvPr/>
        </p:nvSpPr>
        <p:spPr>
          <a:xfrm>
            <a:off x="4885770" y="2843746"/>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191C1E"/>
                </a:solidFill>
                <a:effectLst/>
                <a:uLnTx/>
                <a:uFillTx/>
                <a:latin typeface="Tahoma"/>
                <a:ea typeface="Tahoma" panose="020B0604030504040204" pitchFamily="34" charset="0"/>
                <a:cs typeface="Tahoma" panose="020B0604030504040204" pitchFamily="34" charset="0"/>
              </a:rPr>
              <a:t>Yapı</a:t>
            </a: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a:t>
            </a:r>
            <a:r>
              <a:rPr kumimoji="0" lang="en-US" sz="1000" b="1" i="0" u="none" strike="noStrike" kern="1200" cap="none" spc="0" normalizeH="0" baseline="0" noProof="0" err="1">
                <a:ln>
                  <a:noFill/>
                </a:ln>
                <a:solidFill>
                  <a:srgbClr val="191C1E"/>
                </a:solidFill>
                <a:effectLst/>
                <a:uLnTx/>
                <a:uFillTx/>
                <a:latin typeface="Tahoma"/>
                <a:ea typeface="Tahoma" panose="020B0604030504040204" pitchFamily="34" charset="0"/>
                <a:cs typeface="Tahoma" panose="020B0604030504040204" pitchFamily="34" charset="0"/>
              </a:rPr>
              <a:t>Kredi</a:t>
            </a: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 </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AUM</a:t>
            </a:r>
          </a:p>
        </p:txBody>
      </p:sp>
      <p:sp>
        <p:nvSpPr>
          <p:cNvPr id="115" name="TextBox 114">
            <a:extLst>
              <a:ext uri="{FF2B5EF4-FFF2-40B4-BE49-F238E27FC236}">
                <a16:creationId xmlns:a16="http://schemas.microsoft.com/office/drawing/2014/main" id="{AE14A03F-F2C0-EFD8-E38F-ABF9FDCCE537}"/>
              </a:ext>
            </a:extLst>
          </p:cNvPr>
          <p:cNvSpPr txBox="1">
            <a:spLocks/>
          </p:cNvSpPr>
          <p:nvPr/>
        </p:nvSpPr>
        <p:spPr>
          <a:xfrm>
            <a:off x="7414344" y="5408117"/>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55K</a:t>
            </a:r>
          </a:p>
        </p:txBody>
      </p:sp>
      <p:sp>
        <p:nvSpPr>
          <p:cNvPr id="4107" name="TextBox 4106">
            <a:extLst>
              <a:ext uri="{FF2B5EF4-FFF2-40B4-BE49-F238E27FC236}">
                <a16:creationId xmlns:a16="http://schemas.microsoft.com/office/drawing/2014/main" id="{36DAA0A2-9E77-DAEC-32A5-9D8A4F6966E1}"/>
              </a:ext>
            </a:extLst>
          </p:cNvPr>
          <p:cNvSpPr txBox="1">
            <a:spLocks/>
          </p:cNvSpPr>
          <p:nvPr/>
        </p:nvSpPr>
        <p:spPr>
          <a:xfrm>
            <a:off x="6390109" y="5408117"/>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43K</a:t>
            </a:r>
          </a:p>
        </p:txBody>
      </p:sp>
      <p:pic>
        <p:nvPicPr>
          <p:cNvPr id="124" name="Picture 123">
            <a:extLst>
              <a:ext uri="{FF2B5EF4-FFF2-40B4-BE49-F238E27FC236}">
                <a16:creationId xmlns:a16="http://schemas.microsoft.com/office/drawing/2014/main" id="{CD4BB185-D80F-84D4-9C74-6308077533AB}"/>
              </a:ext>
            </a:extLst>
          </p:cNvPr>
          <p:cNvPicPr>
            <a:picLocks noChangeAspect="1"/>
          </p:cNvPicPr>
          <p:nvPr>
            <p:custDataLst>
              <p:tags r:id="rId12"/>
            </p:custDataLst>
          </p:nvPr>
        </p:nvPicPr>
        <p:blipFill>
          <a:blip r:embed="rId54">
            <a:clrChange>
              <a:clrFrom>
                <a:srgbClr val="FFFFFF"/>
              </a:clrFrom>
              <a:clrTo>
                <a:srgbClr val="FFFFFF">
                  <a:alpha val="0"/>
                </a:srgbClr>
              </a:clrTo>
            </a:clrChange>
          </a:blip>
          <a:stretch>
            <a:fillRect/>
          </a:stretch>
        </p:blipFill>
        <p:spPr>
          <a:xfrm>
            <a:off x="4130477" y="5453483"/>
            <a:ext cx="628554" cy="124713"/>
          </a:xfrm>
          <a:prstGeom prst="rect">
            <a:avLst/>
          </a:prstGeom>
        </p:spPr>
      </p:pic>
      <p:sp>
        <p:nvSpPr>
          <p:cNvPr id="111" name="TextBox 110">
            <a:extLst>
              <a:ext uri="{FF2B5EF4-FFF2-40B4-BE49-F238E27FC236}">
                <a16:creationId xmlns:a16="http://schemas.microsoft.com/office/drawing/2014/main" id="{70C5F249-DD0D-B2C4-A998-93D503B0595A}"/>
              </a:ext>
            </a:extLst>
          </p:cNvPr>
          <p:cNvSpPr txBox="1">
            <a:spLocks/>
          </p:cNvSpPr>
          <p:nvPr/>
        </p:nvSpPr>
        <p:spPr>
          <a:xfrm>
            <a:off x="4885770" y="5361951"/>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Investec </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Annual income</a:t>
            </a:r>
          </a:p>
        </p:txBody>
      </p:sp>
      <p:cxnSp>
        <p:nvCxnSpPr>
          <p:cNvPr id="2" name="Connector 1018">
            <a:extLst>
              <a:ext uri="{FF2B5EF4-FFF2-40B4-BE49-F238E27FC236}">
                <a16:creationId xmlns:a16="http://schemas.microsoft.com/office/drawing/2014/main" id="{6C6D1B39-BD67-C12A-AA9E-FF37FE457D1A}"/>
              </a:ext>
            </a:extLst>
          </p:cNvPr>
          <p:cNvCxnSpPr>
            <a:cxnSpLocks/>
          </p:cNvCxnSpPr>
          <p:nvPr/>
        </p:nvCxnSpPr>
        <p:spPr>
          <a:xfrm>
            <a:off x="554736" y="1738532"/>
            <a:ext cx="7918704"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A1727F2A-912D-6B72-323B-03CE30296CEC}"/>
              </a:ext>
            </a:extLst>
          </p:cNvPr>
          <p:cNvSpPr txBox="1">
            <a:spLocks/>
          </p:cNvSpPr>
          <p:nvPr/>
        </p:nvSpPr>
        <p:spPr>
          <a:xfrm>
            <a:off x="7414344" y="5911759"/>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76K</a:t>
            </a:r>
          </a:p>
        </p:txBody>
      </p:sp>
      <p:sp>
        <p:nvSpPr>
          <p:cNvPr id="4109" name="TextBox 4108">
            <a:extLst>
              <a:ext uri="{FF2B5EF4-FFF2-40B4-BE49-F238E27FC236}">
                <a16:creationId xmlns:a16="http://schemas.microsoft.com/office/drawing/2014/main" id="{99C9CD00-5980-9361-5FD7-C0C0FB8EB111}"/>
              </a:ext>
            </a:extLst>
          </p:cNvPr>
          <p:cNvSpPr txBox="1">
            <a:spLocks/>
          </p:cNvSpPr>
          <p:nvPr/>
        </p:nvSpPr>
        <p:spPr>
          <a:xfrm>
            <a:off x="6390109" y="5911759"/>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60K</a:t>
            </a:r>
          </a:p>
        </p:txBody>
      </p:sp>
      <p:pic>
        <p:nvPicPr>
          <p:cNvPr id="4098" name="Picture 2" descr="Standard Bank taps Salesforce to enhance digital banking experience">
            <a:extLst>
              <a:ext uri="{FF2B5EF4-FFF2-40B4-BE49-F238E27FC236}">
                <a16:creationId xmlns:a16="http://schemas.microsoft.com/office/drawing/2014/main" id="{79F07CD1-75E1-5E25-C026-5F34BB54CF3D}"/>
              </a:ext>
            </a:extLst>
          </p:cNvPr>
          <p:cNvPicPr>
            <a:picLocks noChangeAspect="1" noChangeArrowheads="1"/>
          </p:cNvPicPr>
          <p:nvPr/>
        </p:nvPicPr>
        <p:blipFill rotWithShape="1">
          <a:blip r:embed="rId55">
            <a:extLst>
              <a:ext uri="{28A0092B-C50C-407E-A947-70E740481C1C}">
                <a14:useLocalDpi xmlns:a14="http://schemas.microsoft.com/office/drawing/2010/main" val="0"/>
              </a:ext>
            </a:extLst>
          </a:blip>
          <a:srcRect l="3543" t="40576" r="4295" b="31091"/>
          <a:stretch>
            <a:fillRect/>
          </a:stretch>
        </p:blipFill>
        <p:spPr bwMode="auto">
          <a:xfrm>
            <a:off x="4155281" y="5945662"/>
            <a:ext cx="645319" cy="147638"/>
          </a:xfrm>
          <a:prstGeom prst="rect">
            <a:avLst/>
          </a:prstGeom>
          <a:noFill/>
          <a:extLst>
            <a:ext uri="{909E8E84-426E-40DD-AFC4-6F175D3DCCD1}">
              <a14:hiddenFill xmlns:a14="http://schemas.microsoft.com/office/drawing/2010/main">
                <a:solidFill>
                  <a:srgbClr val="FFFFFF"/>
                </a:solidFill>
              </a14:hiddenFill>
            </a:ext>
          </a:extLst>
        </p:spPr>
      </p:pic>
      <p:sp>
        <p:nvSpPr>
          <p:cNvPr id="118" name="TextBox 117">
            <a:extLst>
              <a:ext uri="{FF2B5EF4-FFF2-40B4-BE49-F238E27FC236}">
                <a16:creationId xmlns:a16="http://schemas.microsoft.com/office/drawing/2014/main" id="{3A00EF37-5C9C-918B-2A02-BE95A66B396D}"/>
              </a:ext>
            </a:extLst>
          </p:cNvPr>
          <p:cNvSpPr txBox="1">
            <a:spLocks/>
          </p:cNvSpPr>
          <p:nvPr/>
        </p:nvSpPr>
        <p:spPr>
          <a:xfrm>
            <a:off x="4885770" y="5865592"/>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Standard Bank</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Annual income</a:t>
            </a:r>
          </a:p>
        </p:txBody>
      </p:sp>
      <p:sp>
        <p:nvSpPr>
          <p:cNvPr id="126" name="TextBox 125">
            <a:extLst>
              <a:ext uri="{FF2B5EF4-FFF2-40B4-BE49-F238E27FC236}">
                <a16:creationId xmlns:a16="http://schemas.microsoft.com/office/drawing/2014/main" id="{403E9C83-1459-49B2-1CB7-4D967CF6C8CB}"/>
              </a:ext>
            </a:extLst>
          </p:cNvPr>
          <p:cNvSpPr txBox="1">
            <a:spLocks/>
          </p:cNvSpPr>
          <p:nvPr/>
        </p:nvSpPr>
        <p:spPr>
          <a:xfrm>
            <a:off x="7414344" y="4904477"/>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52K</a:t>
            </a:r>
          </a:p>
        </p:txBody>
      </p:sp>
      <p:sp>
        <p:nvSpPr>
          <p:cNvPr id="4111" name="TextBox 4110">
            <a:extLst>
              <a:ext uri="{FF2B5EF4-FFF2-40B4-BE49-F238E27FC236}">
                <a16:creationId xmlns:a16="http://schemas.microsoft.com/office/drawing/2014/main" id="{B1F5A018-5EF8-4F02-56FF-96A086581652}"/>
              </a:ext>
            </a:extLst>
          </p:cNvPr>
          <p:cNvSpPr txBox="1">
            <a:spLocks/>
          </p:cNvSpPr>
          <p:nvPr/>
        </p:nvSpPr>
        <p:spPr>
          <a:xfrm>
            <a:off x="6390109" y="4904477"/>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41K</a:t>
            </a:r>
          </a:p>
        </p:txBody>
      </p:sp>
      <p:pic>
        <p:nvPicPr>
          <p:cNvPr id="1026" name="Picture 2" descr="BankTrack – FirstRand">
            <a:extLst>
              <a:ext uri="{FF2B5EF4-FFF2-40B4-BE49-F238E27FC236}">
                <a16:creationId xmlns:a16="http://schemas.microsoft.com/office/drawing/2014/main" id="{46729B7F-1989-C1FF-B6E5-0F4F2727A49D}"/>
              </a:ext>
            </a:extLst>
          </p:cNvPr>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4130477" y="4879948"/>
            <a:ext cx="470618" cy="264502"/>
          </a:xfrm>
          <a:prstGeom prst="rect">
            <a:avLst/>
          </a:prstGeom>
          <a:noFill/>
          <a:extLst>
            <a:ext uri="{909E8E84-426E-40DD-AFC4-6F175D3DCCD1}">
              <a14:hiddenFill xmlns:a14="http://schemas.microsoft.com/office/drawing/2010/main">
                <a:solidFill>
                  <a:srgbClr val="FFFFFF"/>
                </a:solidFill>
              </a14:hiddenFill>
            </a:ext>
          </a:extLst>
        </p:spPr>
      </p:pic>
      <p:sp>
        <p:nvSpPr>
          <p:cNvPr id="123" name="TextBox 122">
            <a:extLst>
              <a:ext uri="{FF2B5EF4-FFF2-40B4-BE49-F238E27FC236}">
                <a16:creationId xmlns:a16="http://schemas.microsoft.com/office/drawing/2014/main" id="{14B075B6-A700-487A-8752-EABAEC59E656}"/>
              </a:ext>
            </a:extLst>
          </p:cNvPr>
          <p:cNvSpPr txBox="1">
            <a:spLocks/>
          </p:cNvSpPr>
          <p:nvPr/>
        </p:nvSpPr>
        <p:spPr>
          <a:xfrm>
            <a:off x="4885770" y="4858310"/>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FirstRand </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Annual income</a:t>
            </a:r>
          </a:p>
        </p:txBody>
      </p:sp>
      <p:sp>
        <p:nvSpPr>
          <p:cNvPr id="4117" name="TextBox 4116">
            <a:extLst>
              <a:ext uri="{FF2B5EF4-FFF2-40B4-BE49-F238E27FC236}">
                <a16:creationId xmlns:a16="http://schemas.microsoft.com/office/drawing/2014/main" id="{E7266EED-4904-E459-F3EE-CDBD5ACA980F}"/>
              </a:ext>
            </a:extLst>
          </p:cNvPr>
          <p:cNvSpPr txBox="1">
            <a:spLocks/>
          </p:cNvSpPr>
          <p:nvPr/>
        </p:nvSpPr>
        <p:spPr>
          <a:xfrm>
            <a:off x="2050153" y="1836464"/>
            <a:ext cx="1908484" cy="1076799"/>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lang="en-US" sz="1000">
                <a:latin typeface="Tahoma"/>
              </a:rPr>
              <a:t>Simple, transparent to enforce</a:t>
            </a:r>
          </a:p>
          <a:p>
            <a:pPr lvl="1">
              <a:defRPr/>
            </a:pPr>
            <a:r>
              <a:rPr lang="en-US" sz="1000">
                <a:latin typeface="Tahoma"/>
              </a:rPr>
              <a:t>Easy to verify</a:t>
            </a:r>
          </a:p>
          <a:p>
            <a:pPr lvl="1">
              <a:defRPr/>
            </a:pPr>
            <a:r>
              <a:rPr lang="en-US" sz="1000">
                <a:latin typeface="Tahoma"/>
              </a:rPr>
              <a:t>Misses illiquid entrepreneurs</a:t>
            </a:r>
          </a:p>
          <a:p>
            <a:pPr lvl="1">
              <a:defRPr/>
            </a:pPr>
            <a:r>
              <a:rPr lang="en-US" sz="1000">
                <a:latin typeface="Tahoma"/>
              </a:rPr>
              <a:t>Excludes future HNWIs</a:t>
            </a:r>
          </a:p>
        </p:txBody>
      </p:sp>
      <p:sp>
        <p:nvSpPr>
          <p:cNvPr id="4119" name="TextBox 4118">
            <a:extLst>
              <a:ext uri="{FF2B5EF4-FFF2-40B4-BE49-F238E27FC236}">
                <a16:creationId xmlns:a16="http://schemas.microsoft.com/office/drawing/2014/main" id="{C4389736-2AC2-A99E-B570-48E4CFDB57D9}"/>
              </a:ext>
            </a:extLst>
          </p:cNvPr>
          <p:cNvSpPr txBox="1">
            <a:spLocks/>
          </p:cNvSpPr>
          <p:nvPr/>
        </p:nvSpPr>
        <p:spPr>
          <a:xfrm>
            <a:off x="2054212" y="4861814"/>
            <a:ext cx="1908484" cy="100027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R="0" lvl="1" fontAlgn="auto">
              <a:tabLst/>
              <a:defRPr/>
            </a:pPr>
            <a:r>
              <a:rPr lang="en-US" sz="1000">
                <a:latin typeface="Tahoma"/>
              </a:rPr>
              <a:t>Captures future potential</a:t>
            </a:r>
          </a:p>
          <a:p>
            <a:pPr marR="0" lvl="1" fontAlgn="auto">
              <a:tabLst/>
              <a:defRPr/>
            </a:pPr>
            <a:r>
              <a:rPr lang="en-US" sz="1000">
                <a:latin typeface="Tahoma"/>
              </a:rPr>
              <a:t>Builds loyalty early</a:t>
            </a:r>
          </a:p>
          <a:p>
            <a:pPr marR="0" lvl="1" fontAlgn="auto">
              <a:tabLst/>
              <a:defRPr/>
            </a:pPr>
            <a:r>
              <a:rPr lang="en-US" sz="1000">
                <a:latin typeface="Tahoma"/>
              </a:rPr>
              <a:t>Income inherently volatile</a:t>
            </a:r>
          </a:p>
          <a:p>
            <a:pPr marR="0" lvl="1" fontAlgn="auto">
              <a:tabLst/>
              <a:defRPr/>
            </a:pPr>
            <a:r>
              <a:rPr lang="en-US" sz="1000">
                <a:latin typeface="Tahoma"/>
              </a:rPr>
              <a:t>Requires ongoing recertification</a:t>
            </a:r>
          </a:p>
        </p:txBody>
      </p:sp>
      <p:sp>
        <p:nvSpPr>
          <p:cNvPr id="4121" name="TextBox 4120">
            <a:extLst>
              <a:ext uri="{FF2B5EF4-FFF2-40B4-BE49-F238E27FC236}">
                <a16:creationId xmlns:a16="http://schemas.microsoft.com/office/drawing/2014/main" id="{A27BE989-8926-DE09-5982-C657F5107E93}"/>
              </a:ext>
            </a:extLst>
          </p:cNvPr>
          <p:cNvSpPr txBox="1">
            <a:spLocks/>
          </p:cNvSpPr>
          <p:nvPr/>
        </p:nvSpPr>
        <p:spPr>
          <a:xfrm>
            <a:off x="2054212" y="3347387"/>
            <a:ext cx="1908484" cy="8463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Captures full relationship</a:t>
            </a:r>
          </a:p>
          <a:p>
            <a:pPr lvl="1">
              <a:defRPr/>
            </a:pP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Rewards loyal borrowers</a:t>
            </a:r>
          </a:p>
          <a:p>
            <a:pPr lvl="1">
              <a:defRPr/>
            </a:pP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Overstates investable wealth</a:t>
            </a:r>
          </a:p>
          <a:p>
            <a:pPr lvl="1">
              <a:defRPr/>
            </a:pP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Complex to administer</a:t>
            </a:r>
          </a:p>
        </p:txBody>
      </p:sp>
      <p:cxnSp>
        <p:nvCxnSpPr>
          <p:cNvPr id="13" name="GreyLineSeparatorStrong 26">
            <a:extLst>
              <a:ext uri="{FF2B5EF4-FFF2-40B4-BE49-F238E27FC236}">
                <a16:creationId xmlns:a16="http://schemas.microsoft.com/office/drawing/2014/main" id="{5DA3DD75-B7A7-D51A-3058-F97427350612}"/>
              </a:ext>
            </a:extLst>
          </p:cNvPr>
          <p:cNvCxnSpPr>
            <a:cxnSpLocks/>
          </p:cNvCxnSpPr>
          <p:nvPr>
            <p:custDataLst>
              <p:tags r:id="rId13"/>
            </p:custDataLst>
          </p:nvPr>
        </p:nvCxnSpPr>
        <p:spPr>
          <a:xfrm flipV="1">
            <a:off x="7281298" y="1738532"/>
            <a:ext cx="0" cy="4434837"/>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85EF14FE-C811-7D7A-1C4D-588D56C7636C}"/>
              </a:ext>
            </a:extLst>
          </p:cNvPr>
          <p:cNvSpPr txBox="1">
            <a:spLocks/>
          </p:cNvSpPr>
          <p:nvPr/>
        </p:nvSpPr>
        <p:spPr>
          <a:xfrm>
            <a:off x="7414344" y="2386272"/>
            <a:ext cx="1059097"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240K</a:t>
            </a:r>
          </a:p>
        </p:txBody>
      </p:sp>
      <p:sp>
        <p:nvSpPr>
          <p:cNvPr id="4113" name="TextBox 4112">
            <a:extLst>
              <a:ext uri="{FF2B5EF4-FFF2-40B4-BE49-F238E27FC236}">
                <a16:creationId xmlns:a16="http://schemas.microsoft.com/office/drawing/2014/main" id="{B4D27F58-0F61-1CDA-B75B-869607E363BF}"/>
              </a:ext>
            </a:extLst>
          </p:cNvPr>
          <p:cNvSpPr txBox="1">
            <a:spLocks/>
          </p:cNvSpPr>
          <p:nvPr/>
        </p:nvSpPr>
        <p:spPr>
          <a:xfrm>
            <a:off x="4885770" y="2340105"/>
            <a:ext cx="1371291"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Garanti BBVA</a:t>
            </a:r>
            <a:br>
              <a:rPr kumimoji="0" lang="en-US" sz="1000" b="1"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br>
            <a:r>
              <a:rPr kumimoji="0" lang="en-US" sz="1000" b="0" i="0" u="none" strike="noStrike" kern="1200" cap="none" spc="0" normalizeH="0" baseline="0" noProof="0">
                <a:ln>
                  <a:noFill/>
                </a:ln>
                <a:solidFill>
                  <a:srgbClr val="191C1E"/>
                </a:solidFill>
                <a:effectLst/>
                <a:uLnTx/>
                <a:uFillTx/>
                <a:latin typeface="Tahoma"/>
                <a:ea typeface="Tahoma" panose="020B0604030504040204" pitchFamily="34" charset="0"/>
                <a:cs typeface="Tahoma" panose="020B0604030504040204" pitchFamily="34" charset="0"/>
              </a:rPr>
              <a:t>AUM</a:t>
            </a:r>
          </a:p>
        </p:txBody>
      </p:sp>
      <p:sp>
        <p:nvSpPr>
          <p:cNvPr id="4115" name="TextBox 4114">
            <a:extLst>
              <a:ext uri="{FF2B5EF4-FFF2-40B4-BE49-F238E27FC236}">
                <a16:creationId xmlns:a16="http://schemas.microsoft.com/office/drawing/2014/main" id="{AB7D83B0-1173-BFAF-23A7-26D0CB2C38A6}"/>
              </a:ext>
            </a:extLst>
          </p:cNvPr>
          <p:cNvSpPr txBox="1">
            <a:spLocks/>
          </p:cNvSpPr>
          <p:nvPr/>
        </p:nvSpPr>
        <p:spPr>
          <a:xfrm>
            <a:off x="6390109" y="2386272"/>
            <a:ext cx="758141" cy="215444"/>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1C863F"/>
                </a:solidFill>
                <a:effectLst/>
                <a:uLnTx/>
                <a:uFillTx/>
                <a:latin typeface="Georgia"/>
                <a:ea typeface="Tahoma" panose="020B0604030504040204" pitchFamily="34" charset="0"/>
                <a:cs typeface="Tahoma" panose="020B0604030504040204" pitchFamily="34" charset="0"/>
              </a:rPr>
              <a:t>400K</a:t>
            </a:r>
          </a:p>
        </p:txBody>
      </p:sp>
      <p:pic>
        <p:nvPicPr>
          <p:cNvPr id="4129" name="Picture 2">
            <a:extLst>
              <a:ext uri="{FF2B5EF4-FFF2-40B4-BE49-F238E27FC236}">
                <a16:creationId xmlns:a16="http://schemas.microsoft.com/office/drawing/2014/main" id="{9CA3CD27-F549-ADCA-0632-E2A11A385646}"/>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4130477" y="2432466"/>
            <a:ext cx="694905" cy="12305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GreyLineSeparatorStrong 26">
            <a:extLst>
              <a:ext uri="{FF2B5EF4-FFF2-40B4-BE49-F238E27FC236}">
                <a16:creationId xmlns:a16="http://schemas.microsoft.com/office/drawing/2014/main" id="{5341E706-3495-C417-D06A-70EAA00869F2}"/>
              </a:ext>
            </a:extLst>
          </p:cNvPr>
          <p:cNvCxnSpPr>
            <a:cxnSpLocks/>
          </p:cNvCxnSpPr>
          <p:nvPr>
            <p:custDataLst>
              <p:tags r:id="rId14"/>
            </p:custDataLst>
          </p:nvPr>
        </p:nvCxnSpPr>
        <p:spPr>
          <a:xfrm>
            <a:off x="4130477" y="2242173"/>
            <a:ext cx="3017773"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144" name="GreyLineSeparatorStrong 26">
            <a:extLst>
              <a:ext uri="{FF2B5EF4-FFF2-40B4-BE49-F238E27FC236}">
                <a16:creationId xmlns:a16="http://schemas.microsoft.com/office/drawing/2014/main" id="{902DE713-18F5-EFF6-8871-68BC4A4ABACC}"/>
              </a:ext>
            </a:extLst>
          </p:cNvPr>
          <p:cNvCxnSpPr>
            <a:cxnSpLocks/>
          </p:cNvCxnSpPr>
          <p:nvPr>
            <p:custDataLst>
              <p:tags r:id="rId15"/>
            </p:custDataLst>
          </p:nvPr>
        </p:nvCxnSpPr>
        <p:spPr>
          <a:xfrm>
            <a:off x="7414344" y="2242173"/>
            <a:ext cx="1059097"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GreyLineSeparatorStrong 26">
            <a:extLst>
              <a:ext uri="{FF2B5EF4-FFF2-40B4-BE49-F238E27FC236}">
                <a16:creationId xmlns:a16="http://schemas.microsoft.com/office/drawing/2014/main" id="{B103E8D0-2E1B-D77B-1631-48E5E4625E09}"/>
              </a:ext>
            </a:extLst>
          </p:cNvPr>
          <p:cNvCxnSpPr>
            <a:cxnSpLocks/>
          </p:cNvCxnSpPr>
          <p:nvPr>
            <p:custDataLst>
              <p:tags r:id="rId16"/>
            </p:custDataLst>
          </p:nvPr>
        </p:nvCxnSpPr>
        <p:spPr>
          <a:xfrm>
            <a:off x="4130477" y="2745814"/>
            <a:ext cx="3017773"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145" name="GreyLineSeparatorStrong 26">
            <a:extLst>
              <a:ext uri="{FF2B5EF4-FFF2-40B4-BE49-F238E27FC236}">
                <a16:creationId xmlns:a16="http://schemas.microsoft.com/office/drawing/2014/main" id="{CF42AB8A-5B25-2EDB-55DF-E8BC3A0FBF47}"/>
              </a:ext>
            </a:extLst>
          </p:cNvPr>
          <p:cNvCxnSpPr>
            <a:cxnSpLocks/>
          </p:cNvCxnSpPr>
          <p:nvPr>
            <p:custDataLst>
              <p:tags r:id="rId17"/>
            </p:custDataLst>
          </p:nvPr>
        </p:nvCxnSpPr>
        <p:spPr>
          <a:xfrm>
            <a:off x="7414344" y="2745814"/>
            <a:ext cx="1059097"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55" name="GreyLineSeparatorStrong 26">
            <a:extLst>
              <a:ext uri="{FF2B5EF4-FFF2-40B4-BE49-F238E27FC236}">
                <a16:creationId xmlns:a16="http://schemas.microsoft.com/office/drawing/2014/main" id="{E8AC775D-AD98-31FF-F317-E0484431DC5F}"/>
              </a:ext>
            </a:extLst>
          </p:cNvPr>
          <p:cNvCxnSpPr>
            <a:cxnSpLocks/>
          </p:cNvCxnSpPr>
          <p:nvPr>
            <p:custDataLst>
              <p:tags r:id="rId18"/>
            </p:custDataLst>
          </p:nvPr>
        </p:nvCxnSpPr>
        <p:spPr>
          <a:xfrm>
            <a:off x="4130477" y="3753096"/>
            <a:ext cx="3017773"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146" name="GreyLineSeparatorStrong 26">
            <a:extLst>
              <a:ext uri="{FF2B5EF4-FFF2-40B4-BE49-F238E27FC236}">
                <a16:creationId xmlns:a16="http://schemas.microsoft.com/office/drawing/2014/main" id="{081921B9-28BE-45EF-D1DC-59B9794DCD6E}"/>
              </a:ext>
            </a:extLst>
          </p:cNvPr>
          <p:cNvCxnSpPr>
            <a:cxnSpLocks/>
          </p:cNvCxnSpPr>
          <p:nvPr>
            <p:custDataLst>
              <p:tags r:id="rId19"/>
            </p:custDataLst>
          </p:nvPr>
        </p:nvCxnSpPr>
        <p:spPr>
          <a:xfrm>
            <a:off x="7414344" y="3753096"/>
            <a:ext cx="1059097"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66" name="GreyLineSeparatorStrong 26">
            <a:extLst>
              <a:ext uri="{FF2B5EF4-FFF2-40B4-BE49-F238E27FC236}">
                <a16:creationId xmlns:a16="http://schemas.microsoft.com/office/drawing/2014/main" id="{6268B13B-E990-885D-5B9C-9CE327877D17}"/>
              </a:ext>
            </a:extLst>
          </p:cNvPr>
          <p:cNvCxnSpPr>
            <a:cxnSpLocks/>
          </p:cNvCxnSpPr>
          <p:nvPr>
            <p:custDataLst>
              <p:tags r:id="rId20"/>
            </p:custDataLst>
          </p:nvPr>
        </p:nvCxnSpPr>
        <p:spPr>
          <a:xfrm>
            <a:off x="4130477" y="4256737"/>
            <a:ext cx="3017773"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147" name="GreyLineSeparatorStrong 26">
            <a:extLst>
              <a:ext uri="{FF2B5EF4-FFF2-40B4-BE49-F238E27FC236}">
                <a16:creationId xmlns:a16="http://schemas.microsoft.com/office/drawing/2014/main" id="{57BB93C2-FEFD-0C3C-84C7-FD98F372E0B1}"/>
              </a:ext>
            </a:extLst>
          </p:cNvPr>
          <p:cNvCxnSpPr>
            <a:cxnSpLocks/>
          </p:cNvCxnSpPr>
          <p:nvPr>
            <p:custDataLst>
              <p:tags r:id="rId21"/>
            </p:custDataLst>
          </p:nvPr>
        </p:nvCxnSpPr>
        <p:spPr>
          <a:xfrm>
            <a:off x="7414344" y="4256737"/>
            <a:ext cx="1059097"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89" name="GreyLineSeparatorStrong 26">
            <a:extLst>
              <a:ext uri="{FF2B5EF4-FFF2-40B4-BE49-F238E27FC236}">
                <a16:creationId xmlns:a16="http://schemas.microsoft.com/office/drawing/2014/main" id="{89DF8BAE-BD7B-7D89-1BAE-2C9605DB3200}"/>
              </a:ext>
            </a:extLst>
          </p:cNvPr>
          <p:cNvCxnSpPr>
            <a:cxnSpLocks/>
          </p:cNvCxnSpPr>
          <p:nvPr>
            <p:custDataLst>
              <p:tags r:id="rId22"/>
            </p:custDataLst>
          </p:nvPr>
        </p:nvCxnSpPr>
        <p:spPr>
          <a:xfrm>
            <a:off x="4130477" y="5264019"/>
            <a:ext cx="3017773"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148" name="GreyLineSeparatorStrong 26">
            <a:extLst>
              <a:ext uri="{FF2B5EF4-FFF2-40B4-BE49-F238E27FC236}">
                <a16:creationId xmlns:a16="http://schemas.microsoft.com/office/drawing/2014/main" id="{E0821BE6-2B73-4DC4-9FAE-AD2121D83B29}"/>
              </a:ext>
            </a:extLst>
          </p:cNvPr>
          <p:cNvCxnSpPr>
            <a:cxnSpLocks/>
          </p:cNvCxnSpPr>
          <p:nvPr>
            <p:custDataLst>
              <p:tags r:id="rId23"/>
            </p:custDataLst>
          </p:nvPr>
        </p:nvCxnSpPr>
        <p:spPr>
          <a:xfrm>
            <a:off x="7414344" y="5264019"/>
            <a:ext cx="1059097"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90" name="GreyLineSeparatorStrong 26">
            <a:extLst>
              <a:ext uri="{FF2B5EF4-FFF2-40B4-BE49-F238E27FC236}">
                <a16:creationId xmlns:a16="http://schemas.microsoft.com/office/drawing/2014/main" id="{7BC20941-8311-3FA4-5F37-5C70ACC2A8A1}"/>
              </a:ext>
            </a:extLst>
          </p:cNvPr>
          <p:cNvCxnSpPr>
            <a:cxnSpLocks/>
          </p:cNvCxnSpPr>
          <p:nvPr>
            <p:custDataLst>
              <p:tags r:id="rId24"/>
            </p:custDataLst>
          </p:nvPr>
        </p:nvCxnSpPr>
        <p:spPr>
          <a:xfrm>
            <a:off x="4130477" y="5767660"/>
            <a:ext cx="3017773"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4149" name="GreyLineSeparatorStrong 26">
            <a:extLst>
              <a:ext uri="{FF2B5EF4-FFF2-40B4-BE49-F238E27FC236}">
                <a16:creationId xmlns:a16="http://schemas.microsoft.com/office/drawing/2014/main" id="{4FEF45F6-E559-16E6-5C3C-63F93D794F63}"/>
              </a:ext>
            </a:extLst>
          </p:cNvPr>
          <p:cNvCxnSpPr>
            <a:cxnSpLocks/>
          </p:cNvCxnSpPr>
          <p:nvPr>
            <p:custDataLst>
              <p:tags r:id="rId25"/>
            </p:custDataLst>
          </p:nvPr>
        </p:nvCxnSpPr>
        <p:spPr>
          <a:xfrm>
            <a:off x="7414344" y="5767660"/>
            <a:ext cx="1059097" cy="0"/>
          </a:xfrm>
          <a:prstGeom prst="straightConnector1">
            <a:avLst/>
          </a:prstGeom>
          <a:ln w="6350" cap="sq">
            <a:solidFill>
              <a:srgbClr val="757575"/>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Connector 1018">
            <a:extLst>
              <a:ext uri="{FF2B5EF4-FFF2-40B4-BE49-F238E27FC236}">
                <a16:creationId xmlns:a16="http://schemas.microsoft.com/office/drawing/2014/main" id="{A0714C3E-E575-FA33-A61F-637B63EC340A}"/>
              </a:ext>
            </a:extLst>
          </p:cNvPr>
          <p:cNvCxnSpPr>
            <a:cxnSpLocks/>
          </p:cNvCxnSpPr>
          <p:nvPr/>
        </p:nvCxnSpPr>
        <p:spPr>
          <a:xfrm>
            <a:off x="554736" y="3249455"/>
            <a:ext cx="6593514"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52" name="Connector 1018">
            <a:extLst>
              <a:ext uri="{FF2B5EF4-FFF2-40B4-BE49-F238E27FC236}">
                <a16:creationId xmlns:a16="http://schemas.microsoft.com/office/drawing/2014/main" id="{CF47BCC3-C9EC-B427-B139-2BD27EA2F561}"/>
              </a:ext>
            </a:extLst>
          </p:cNvPr>
          <p:cNvCxnSpPr>
            <a:cxnSpLocks/>
          </p:cNvCxnSpPr>
          <p:nvPr/>
        </p:nvCxnSpPr>
        <p:spPr>
          <a:xfrm>
            <a:off x="7414344" y="3249455"/>
            <a:ext cx="105909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4" name="Connector 1031">
            <a:extLst>
              <a:ext uri="{FF2B5EF4-FFF2-40B4-BE49-F238E27FC236}">
                <a16:creationId xmlns:a16="http://schemas.microsoft.com/office/drawing/2014/main" id="{3B283EAA-11A8-77D9-2A46-FD6F73FD8B1F}"/>
              </a:ext>
            </a:extLst>
          </p:cNvPr>
          <p:cNvCxnSpPr>
            <a:cxnSpLocks/>
          </p:cNvCxnSpPr>
          <p:nvPr/>
        </p:nvCxnSpPr>
        <p:spPr>
          <a:xfrm>
            <a:off x="554736" y="4760378"/>
            <a:ext cx="6593514"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53" name="Connector 1031">
            <a:extLst>
              <a:ext uri="{FF2B5EF4-FFF2-40B4-BE49-F238E27FC236}">
                <a16:creationId xmlns:a16="http://schemas.microsoft.com/office/drawing/2014/main" id="{977DB150-8CFA-148F-A338-30C70C418A7B}"/>
              </a:ext>
            </a:extLst>
          </p:cNvPr>
          <p:cNvCxnSpPr>
            <a:cxnSpLocks/>
          </p:cNvCxnSpPr>
          <p:nvPr/>
        </p:nvCxnSpPr>
        <p:spPr>
          <a:xfrm>
            <a:off x="7414344" y="4760378"/>
            <a:ext cx="105909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55" name="Connector 1018">
            <a:extLst>
              <a:ext uri="{FF2B5EF4-FFF2-40B4-BE49-F238E27FC236}">
                <a16:creationId xmlns:a16="http://schemas.microsoft.com/office/drawing/2014/main" id="{C116E418-A27C-74CF-15EB-DE4404BC8F84}"/>
              </a:ext>
            </a:extLst>
          </p:cNvPr>
          <p:cNvCxnSpPr>
            <a:cxnSpLocks/>
          </p:cNvCxnSpPr>
          <p:nvPr/>
        </p:nvCxnSpPr>
        <p:spPr>
          <a:xfrm>
            <a:off x="9008363" y="1738532"/>
            <a:ext cx="2628901"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7BCE5FF-F8CF-938C-26F0-90A89C958C87}"/>
              </a:ext>
            </a:extLst>
          </p:cNvPr>
          <p:cNvSpPr txBox="1"/>
          <p:nvPr/>
        </p:nvSpPr>
        <p:spPr>
          <a:xfrm>
            <a:off x="9008363" y="1525521"/>
            <a:ext cx="2628901"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ea typeface="+mn-ea"/>
                <a:cs typeface="+mn-cs"/>
              </a:rPr>
              <a:t>Key implications for PASHA Bank</a:t>
            </a:r>
          </a:p>
        </p:txBody>
      </p:sp>
      <p:sp>
        <p:nvSpPr>
          <p:cNvPr id="8" name="TextBox 7">
            <a:extLst>
              <a:ext uri="{FF2B5EF4-FFF2-40B4-BE49-F238E27FC236}">
                <a16:creationId xmlns:a16="http://schemas.microsoft.com/office/drawing/2014/main" id="{C5B4143A-F79F-0BEF-E569-52DE23DC547D}"/>
              </a:ext>
            </a:extLst>
          </p:cNvPr>
          <p:cNvSpPr txBox="1"/>
          <p:nvPr>
            <p:custDataLst>
              <p:tags r:id="rId26"/>
            </p:custDataLst>
          </p:nvPr>
        </p:nvSpPr>
        <p:spPr>
          <a:xfrm>
            <a:off x="9017404" y="1955384"/>
            <a:ext cx="2534540" cy="247247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ts val="500"/>
              </a:spcBef>
            </a:pPr>
            <a:r>
              <a:rPr lang="en-US" b="1"/>
              <a:t>PASHA Bank should use AUM as primary qualification metric</a:t>
            </a:r>
            <a:r>
              <a:rPr lang="en-US"/>
              <a:t>, based on selective exception criteria to capture high-potential clients beyond current investable assets</a:t>
            </a:r>
          </a:p>
          <a:p>
            <a:pPr lvl="1">
              <a:spcBef>
                <a:spcPts val="500"/>
              </a:spcBef>
            </a:pPr>
            <a:r>
              <a:rPr lang="en-US" b="1"/>
              <a:t>AUM threshold of ~250K USD </a:t>
            </a:r>
            <a:r>
              <a:rPr lang="en-US"/>
              <a:t>appears appropriate for PASHA Bank, aligning with regional peer benchmarks</a:t>
            </a:r>
          </a:p>
        </p:txBody>
      </p:sp>
      <p:sp>
        <p:nvSpPr>
          <p:cNvPr id="15" name="Legend1">
            <a:extLst>
              <a:ext uri="{FF2B5EF4-FFF2-40B4-BE49-F238E27FC236}">
                <a16:creationId xmlns:a16="http://schemas.microsoft.com/office/drawing/2014/main" id="{9D50008D-2A60-0665-E39B-52BD17BBCB36}"/>
              </a:ext>
            </a:extLst>
          </p:cNvPr>
          <p:cNvSpPr txBox="1"/>
          <p:nvPr/>
        </p:nvSpPr>
        <p:spPr>
          <a:xfrm>
            <a:off x="8226493" y="812541"/>
            <a:ext cx="219612" cy="138499"/>
          </a:xfrm>
          <a:prstGeom prst="rect">
            <a:avLst/>
          </a:prstGeom>
          <a:noFill/>
          <a:ln>
            <a:noFill/>
            <a:miter lim="800000"/>
          </a:ln>
        </p:spPr>
        <p:txBody>
          <a:bodyPr wrap="none" lIns="0" tIns="0" rIns="0" bIns="0" rtlCol="0" anchor="ctr" anchorCtr="0">
            <a:spAutoFit/>
          </a:bodyPr>
          <a:lstStyle/>
          <a:p>
            <a:pPr>
              <a:spcAft>
                <a:spcPts val="600"/>
              </a:spcAft>
            </a:pPr>
            <a:r>
              <a:rPr lang="en-US" sz="900"/>
              <a:t>Pros</a:t>
            </a:r>
          </a:p>
        </p:txBody>
      </p:sp>
      <p:sp>
        <p:nvSpPr>
          <p:cNvPr id="16" name="Legend2">
            <a:extLst>
              <a:ext uri="{FF2B5EF4-FFF2-40B4-BE49-F238E27FC236}">
                <a16:creationId xmlns:a16="http://schemas.microsoft.com/office/drawing/2014/main" id="{B93B952A-2A21-0935-CC26-9C5F413F84BD}"/>
              </a:ext>
            </a:extLst>
          </p:cNvPr>
          <p:cNvSpPr txBox="1"/>
          <p:nvPr/>
        </p:nvSpPr>
        <p:spPr>
          <a:xfrm>
            <a:off x="8226493" y="1043992"/>
            <a:ext cx="246862" cy="138499"/>
          </a:xfrm>
          <a:prstGeom prst="rect">
            <a:avLst/>
          </a:prstGeom>
          <a:noFill/>
          <a:ln>
            <a:noFill/>
            <a:miter lim="800000"/>
          </a:ln>
        </p:spPr>
        <p:txBody>
          <a:bodyPr wrap="none" lIns="0" tIns="0" rIns="0" bIns="0" rtlCol="0" anchor="ctr" anchorCtr="0">
            <a:spAutoFit/>
          </a:bodyPr>
          <a:lstStyle/>
          <a:p>
            <a:pPr>
              <a:spcAft>
                <a:spcPts val="600"/>
              </a:spcAft>
            </a:pPr>
            <a:r>
              <a:rPr lang="en-US" sz="900"/>
              <a:t>Cons</a:t>
            </a:r>
          </a:p>
        </p:txBody>
      </p:sp>
      <p:grpSp>
        <p:nvGrpSpPr>
          <p:cNvPr id="25" name="PlusSignBlue 25">
            <a:extLst>
              <a:ext uri="{FF2B5EF4-FFF2-40B4-BE49-F238E27FC236}">
                <a16:creationId xmlns:a16="http://schemas.microsoft.com/office/drawing/2014/main" id="{C742CFF4-2551-6811-85B7-8052BE2B795F}"/>
              </a:ext>
            </a:extLst>
          </p:cNvPr>
          <p:cNvGrpSpPr>
            <a:grpSpLocks/>
          </p:cNvGrpSpPr>
          <p:nvPr>
            <p:custDataLst>
              <p:tags r:id="rId27"/>
            </p:custDataLst>
          </p:nvPr>
        </p:nvGrpSpPr>
        <p:grpSpPr>
          <a:xfrm>
            <a:off x="7943892" y="795428"/>
            <a:ext cx="172729" cy="172729"/>
            <a:chOff x="1016000" y="1016000"/>
            <a:chExt cx="396228" cy="396228"/>
          </a:xfrm>
          <a:solidFill>
            <a:schemeClr val="accent2"/>
          </a:solidFill>
        </p:grpSpPr>
        <p:sp>
          <p:nvSpPr>
            <p:cNvPr id="22" name="Oval 21">
              <a:extLst>
                <a:ext uri="{FF2B5EF4-FFF2-40B4-BE49-F238E27FC236}">
                  <a16:creationId xmlns:a16="http://schemas.microsoft.com/office/drawing/2014/main" id="{16F8968E-1E6F-02A8-F2FE-748670D7BD3B}"/>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4" name="Graphic 23">
              <a:extLst>
                <a:ext uri="{FF2B5EF4-FFF2-40B4-BE49-F238E27FC236}">
                  <a16:creationId xmlns:a16="http://schemas.microsoft.com/office/drawing/2014/main" id="{02BB9D74-52EE-6731-2ACB-B7291AB27CEB}"/>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33" name="MinusSignBlue 33">
            <a:extLst>
              <a:ext uri="{FF2B5EF4-FFF2-40B4-BE49-F238E27FC236}">
                <a16:creationId xmlns:a16="http://schemas.microsoft.com/office/drawing/2014/main" id="{888ACC5F-39B7-EAA0-69FA-A6CEDC0327A8}"/>
              </a:ext>
            </a:extLst>
          </p:cNvPr>
          <p:cNvGrpSpPr>
            <a:grpSpLocks/>
          </p:cNvGrpSpPr>
          <p:nvPr>
            <p:custDataLst>
              <p:tags r:id="rId28"/>
            </p:custDataLst>
          </p:nvPr>
        </p:nvGrpSpPr>
        <p:grpSpPr>
          <a:xfrm>
            <a:off x="7943892" y="1026879"/>
            <a:ext cx="172729" cy="172729"/>
            <a:chOff x="1016000" y="1016000"/>
            <a:chExt cx="396228" cy="396228"/>
          </a:xfrm>
          <a:solidFill>
            <a:srgbClr val="C00000"/>
          </a:solidFill>
        </p:grpSpPr>
        <p:sp>
          <p:nvSpPr>
            <p:cNvPr id="27" name="Oval 26">
              <a:extLst>
                <a:ext uri="{FF2B5EF4-FFF2-40B4-BE49-F238E27FC236}">
                  <a16:creationId xmlns:a16="http://schemas.microsoft.com/office/drawing/2014/main" id="{039B3976-2803-CBE5-D714-AD36D7A57AF3}"/>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32" name="Graphic 31">
              <a:extLst>
                <a:ext uri="{FF2B5EF4-FFF2-40B4-BE49-F238E27FC236}">
                  <a16:creationId xmlns:a16="http://schemas.microsoft.com/office/drawing/2014/main" id="{F0A74983-582F-573C-2A57-CD6847476A81}"/>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23614" y="1023614"/>
              <a:ext cx="381000" cy="381000"/>
            </a:xfrm>
            <a:prstGeom prst="rect">
              <a:avLst/>
            </a:prstGeom>
          </p:spPr>
        </p:pic>
      </p:grpSp>
      <p:grpSp>
        <p:nvGrpSpPr>
          <p:cNvPr id="35" name="PlusSignBlue 25">
            <a:extLst>
              <a:ext uri="{FF2B5EF4-FFF2-40B4-BE49-F238E27FC236}">
                <a16:creationId xmlns:a16="http://schemas.microsoft.com/office/drawing/2014/main" id="{295F2A8D-95E7-9E0D-26FE-FE7880341E5A}"/>
              </a:ext>
            </a:extLst>
          </p:cNvPr>
          <p:cNvGrpSpPr>
            <a:grpSpLocks/>
          </p:cNvGrpSpPr>
          <p:nvPr>
            <p:custDataLst>
              <p:tags r:id="rId29"/>
            </p:custDataLst>
          </p:nvPr>
        </p:nvGrpSpPr>
        <p:grpSpPr>
          <a:xfrm>
            <a:off x="2015050" y="1849106"/>
            <a:ext cx="172729" cy="172729"/>
            <a:chOff x="1016000" y="1016000"/>
            <a:chExt cx="396228" cy="396228"/>
          </a:xfrm>
          <a:solidFill>
            <a:schemeClr val="accent2"/>
          </a:solidFill>
        </p:grpSpPr>
        <p:sp>
          <p:nvSpPr>
            <p:cNvPr id="36" name="Oval 35">
              <a:extLst>
                <a:ext uri="{FF2B5EF4-FFF2-40B4-BE49-F238E27FC236}">
                  <a16:creationId xmlns:a16="http://schemas.microsoft.com/office/drawing/2014/main" id="{28CEECC0-E02E-F6B1-06A7-FAAEF3446796}"/>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37" name="Graphic 36">
              <a:extLst>
                <a:ext uri="{FF2B5EF4-FFF2-40B4-BE49-F238E27FC236}">
                  <a16:creationId xmlns:a16="http://schemas.microsoft.com/office/drawing/2014/main" id="{CB726CDF-F316-1DA7-0EB2-4820F61C4D39}"/>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38" name="PlusSignBlue 25">
            <a:extLst>
              <a:ext uri="{FF2B5EF4-FFF2-40B4-BE49-F238E27FC236}">
                <a16:creationId xmlns:a16="http://schemas.microsoft.com/office/drawing/2014/main" id="{76BF6FEF-60C3-0F46-DD98-7C824A9F1152}"/>
              </a:ext>
            </a:extLst>
          </p:cNvPr>
          <p:cNvGrpSpPr>
            <a:grpSpLocks/>
          </p:cNvGrpSpPr>
          <p:nvPr>
            <p:custDataLst>
              <p:tags r:id="rId30"/>
            </p:custDataLst>
          </p:nvPr>
        </p:nvGrpSpPr>
        <p:grpSpPr>
          <a:xfrm>
            <a:off x="2015050" y="2186163"/>
            <a:ext cx="172729" cy="172729"/>
            <a:chOff x="1016000" y="1016000"/>
            <a:chExt cx="396228" cy="396228"/>
          </a:xfrm>
          <a:solidFill>
            <a:schemeClr val="accent2"/>
          </a:solidFill>
        </p:grpSpPr>
        <p:sp>
          <p:nvSpPr>
            <p:cNvPr id="39" name="Oval 38">
              <a:extLst>
                <a:ext uri="{FF2B5EF4-FFF2-40B4-BE49-F238E27FC236}">
                  <a16:creationId xmlns:a16="http://schemas.microsoft.com/office/drawing/2014/main" id="{794AABBF-2904-4A76-068D-52B84D1A5374}"/>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42" name="Graphic 41">
              <a:extLst>
                <a:ext uri="{FF2B5EF4-FFF2-40B4-BE49-F238E27FC236}">
                  <a16:creationId xmlns:a16="http://schemas.microsoft.com/office/drawing/2014/main" id="{D06F8EDC-563C-D63E-3CBD-E2CFFBA6B09E}"/>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45" name="PlusSignBlue 25">
            <a:extLst>
              <a:ext uri="{FF2B5EF4-FFF2-40B4-BE49-F238E27FC236}">
                <a16:creationId xmlns:a16="http://schemas.microsoft.com/office/drawing/2014/main" id="{360CBE2D-5CBB-B804-7236-C6EA1617E297}"/>
              </a:ext>
            </a:extLst>
          </p:cNvPr>
          <p:cNvGrpSpPr>
            <a:grpSpLocks/>
          </p:cNvGrpSpPr>
          <p:nvPr>
            <p:custDataLst>
              <p:tags r:id="rId31"/>
            </p:custDataLst>
          </p:nvPr>
        </p:nvGrpSpPr>
        <p:grpSpPr>
          <a:xfrm>
            <a:off x="2015050" y="3347387"/>
            <a:ext cx="172729" cy="172729"/>
            <a:chOff x="1016000" y="1016000"/>
            <a:chExt cx="396228" cy="396228"/>
          </a:xfrm>
          <a:solidFill>
            <a:schemeClr val="accent2"/>
          </a:solidFill>
        </p:grpSpPr>
        <p:sp>
          <p:nvSpPr>
            <p:cNvPr id="47" name="Oval 46">
              <a:extLst>
                <a:ext uri="{FF2B5EF4-FFF2-40B4-BE49-F238E27FC236}">
                  <a16:creationId xmlns:a16="http://schemas.microsoft.com/office/drawing/2014/main" id="{2C63A45B-8126-73A2-1AD4-9D1D3F91E71B}"/>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49" name="Graphic 48">
              <a:extLst>
                <a:ext uri="{FF2B5EF4-FFF2-40B4-BE49-F238E27FC236}">
                  <a16:creationId xmlns:a16="http://schemas.microsoft.com/office/drawing/2014/main" id="{E0127FF2-A1C5-40A0-58E4-EA98CE358CD9}"/>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50" name="PlusSignBlue 25">
            <a:extLst>
              <a:ext uri="{FF2B5EF4-FFF2-40B4-BE49-F238E27FC236}">
                <a16:creationId xmlns:a16="http://schemas.microsoft.com/office/drawing/2014/main" id="{BB26AB43-2B53-03F6-0446-97368FFD403B}"/>
              </a:ext>
            </a:extLst>
          </p:cNvPr>
          <p:cNvGrpSpPr>
            <a:grpSpLocks/>
          </p:cNvGrpSpPr>
          <p:nvPr>
            <p:custDataLst>
              <p:tags r:id="rId32"/>
            </p:custDataLst>
          </p:nvPr>
        </p:nvGrpSpPr>
        <p:grpSpPr>
          <a:xfrm>
            <a:off x="2015050" y="3537706"/>
            <a:ext cx="172729" cy="172729"/>
            <a:chOff x="1016000" y="1016000"/>
            <a:chExt cx="396228" cy="396228"/>
          </a:xfrm>
          <a:solidFill>
            <a:schemeClr val="accent2"/>
          </a:solidFill>
        </p:grpSpPr>
        <p:sp>
          <p:nvSpPr>
            <p:cNvPr id="51" name="Oval 50">
              <a:extLst>
                <a:ext uri="{FF2B5EF4-FFF2-40B4-BE49-F238E27FC236}">
                  <a16:creationId xmlns:a16="http://schemas.microsoft.com/office/drawing/2014/main" id="{8E86BB40-C730-D829-3892-4AA332805817}"/>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2" name="Graphic 51">
              <a:extLst>
                <a:ext uri="{FF2B5EF4-FFF2-40B4-BE49-F238E27FC236}">
                  <a16:creationId xmlns:a16="http://schemas.microsoft.com/office/drawing/2014/main" id="{A8DE2AD0-D159-63A9-B0CF-24D1AE3EE981}"/>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53" name="PlusSignBlue 25">
            <a:extLst>
              <a:ext uri="{FF2B5EF4-FFF2-40B4-BE49-F238E27FC236}">
                <a16:creationId xmlns:a16="http://schemas.microsoft.com/office/drawing/2014/main" id="{50610BFF-1A4F-694A-99C7-373684F501C5}"/>
              </a:ext>
            </a:extLst>
          </p:cNvPr>
          <p:cNvGrpSpPr>
            <a:grpSpLocks/>
          </p:cNvGrpSpPr>
          <p:nvPr>
            <p:custDataLst>
              <p:tags r:id="rId33"/>
            </p:custDataLst>
          </p:nvPr>
        </p:nvGrpSpPr>
        <p:grpSpPr>
          <a:xfrm>
            <a:off x="2015050" y="4861814"/>
            <a:ext cx="172729" cy="172729"/>
            <a:chOff x="1016000" y="1016000"/>
            <a:chExt cx="396228" cy="396228"/>
          </a:xfrm>
          <a:solidFill>
            <a:schemeClr val="accent2"/>
          </a:solidFill>
        </p:grpSpPr>
        <p:sp>
          <p:nvSpPr>
            <p:cNvPr id="56" name="Oval 55">
              <a:extLst>
                <a:ext uri="{FF2B5EF4-FFF2-40B4-BE49-F238E27FC236}">
                  <a16:creationId xmlns:a16="http://schemas.microsoft.com/office/drawing/2014/main" id="{947B5637-9F36-7B4A-D304-C6A02567AB17}"/>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8" name="Graphic 57">
              <a:extLst>
                <a:ext uri="{FF2B5EF4-FFF2-40B4-BE49-F238E27FC236}">
                  <a16:creationId xmlns:a16="http://schemas.microsoft.com/office/drawing/2014/main" id="{B0F3FB0E-F76A-EDB6-96CE-7E89CB02DB2B}"/>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59" name="PlusSignBlue 25">
            <a:extLst>
              <a:ext uri="{FF2B5EF4-FFF2-40B4-BE49-F238E27FC236}">
                <a16:creationId xmlns:a16="http://schemas.microsoft.com/office/drawing/2014/main" id="{ACDA69C4-8414-AD42-48D4-616F2AD6A171}"/>
              </a:ext>
            </a:extLst>
          </p:cNvPr>
          <p:cNvGrpSpPr>
            <a:grpSpLocks/>
          </p:cNvGrpSpPr>
          <p:nvPr>
            <p:custDataLst>
              <p:tags r:id="rId34"/>
            </p:custDataLst>
          </p:nvPr>
        </p:nvGrpSpPr>
        <p:grpSpPr>
          <a:xfrm>
            <a:off x="2015050" y="5045668"/>
            <a:ext cx="172729" cy="172729"/>
            <a:chOff x="1016000" y="1016000"/>
            <a:chExt cx="396228" cy="396228"/>
          </a:xfrm>
          <a:solidFill>
            <a:schemeClr val="accent2"/>
          </a:solidFill>
        </p:grpSpPr>
        <p:sp>
          <p:nvSpPr>
            <p:cNvPr id="60" name="Oval 59">
              <a:extLst>
                <a:ext uri="{FF2B5EF4-FFF2-40B4-BE49-F238E27FC236}">
                  <a16:creationId xmlns:a16="http://schemas.microsoft.com/office/drawing/2014/main" id="{989FABCE-C131-BDCE-71B5-CDA63D9334B5}"/>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1" name="Graphic 60">
              <a:extLst>
                <a:ext uri="{FF2B5EF4-FFF2-40B4-BE49-F238E27FC236}">
                  <a16:creationId xmlns:a16="http://schemas.microsoft.com/office/drawing/2014/main" id="{71CA477A-BD26-6D06-7F1A-A94305B5A6F7}"/>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1023614" y="1023614"/>
              <a:ext cx="381000" cy="381000"/>
            </a:xfrm>
            <a:prstGeom prst="rect">
              <a:avLst/>
            </a:prstGeom>
          </p:spPr>
        </p:pic>
      </p:grpSp>
      <p:grpSp>
        <p:nvGrpSpPr>
          <p:cNvPr id="62" name="MinusSignBlue 33">
            <a:extLst>
              <a:ext uri="{FF2B5EF4-FFF2-40B4-BE49-F238E27FC236}">
                <a16:creationId xmlns:a16="http://schemas.microsoft.com/office/drawing/2014/main" id="{9FAFB093-DC18-8545-DEA9-F3B9F6AE7ACA}"/>
              </a:ext>
            </a:extLst>
          </p:cNvPr>
          <p:cNvGrpSpPr>
            <a:grpSpLocks/>
          </p:cNvGrpSpPr>
          <p:nvPr>
            <p:custDataLst>
              <p:tags r:id="rId35"/>
            </p:custDataLst>
          </p:nvPr>
        </p:nvGrpSpPr>
        <p:grpSpPr>
          <a:xfrm>
            <a:off x="2006639" y="2384733"/>
            <a:ext cx="172729" cy="172729"/>
            <a:chOff x="1016000" y="1016000"/>
            <a:chExt cx="396228" cy="396228"/>
          </a:xfrm>
          <a:solidFill>
            <a:srgbClr val="C00000"/>
          </a:solidFill>
        </p:grpSpPr>
        <p:sp>
          <p:nvSpPr>
            <p:cNvPr id="63" name="Oval 62">
              <a:extLst>
                <a:ext uri="{FF2B5EF4-FFF2-40B4-BE49-F238E27FC236}">
                  <a16:creationId xmlns:a16="http://schemas.microsoft.com/office/drawing/2014/main" id="{516DCE82-5E10-2F77-CA67-DBB508B7FBD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4" name="Graphic 63">
              <a:extLst>
                <a:ext uri="{FF2B5EF4-FFF2-40B4-BE49-F238E27FC236}">
                  <a16:creationId xmlns:a16="http://schemas.microsoft.com/office/drawing/2014/main" id="{1142B09A-11A1-3A1C-AC91-E68C7CF2557B}"/>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23614" y="1023614"/>
              <a:ext cx="381000" cy="381000"/>
            </a:xfrm>
            <a:prstGeom prst="rect">
              <a:avLst/>
            </a:prstGeom>
          </p:spPr>
        </p:pic>
      </p:grpSp>
      <p:grpSp>
        <p:nvGrpSpPr>
          <p:cNvPr id="65" name="MinusSignBlue 33">
            <a:extLst>
              <a:ext uri="{FF2B5EF4-FFF2-40B4-BE49-F238E27FC236}">
                <a16:creationId xmlns:a16="http://schemas.microsoft.com/office/drawing/2014/main" id="{9A2C83FE-C31F-50A3-F29D-F5A81164DB12}"/>
              </a:ext>
            </a:extLst>
          </p:cNvPr>
          <p:cNvGrpSpPr>
            <a:grpSpLocks/>
          </p:cNvGrpSpPr>
          <p:nvPr>
            <p:custDataLst>
              <p:tags r:id="rId36"/>
            </p:custDataLst>
          </p:nvPr>
        </p:nvGrpSpPr>
        <p:grpSpPr>
          <a:xfrm>
            <a:off x="2006639" y="2561043"/>
            <a:ext cx="172729" cy="172729"/>
            <a:chOff x="1016000" y="1016000"/>
            <a:chExt cx="396228" cy="396228"/>
          </a:xfrm>
          <a:solidFill>
            <a:srgbClr val="C00000"/>
          </a:solidFill>
        </p:grpSpPr>
        <p:sp>
          <p:nvSpPr>
            <p:cNvPr id="68" name="Oval 67">
              <a:extLst>
                <a:ext uri="{FF2B5EF4-FFF2-40B4-BE49-F238E27FC236}">
                  <a16:creationId xmlns:a16="http://schemas.microsoft.com/office/drawing/2014/main" id="{4795016B-87F6-81A8-96B8-67F5495FF8FF}"/>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9" name="Graphic 68">
              <a:extLst>
                <a:ext uri="{FF2B5EF4-FFF2-40B4-BE49-F238E27FC236}">
                  <a16:creationId xmlns:a16="http://schemas.microsoft.com/office/drawing/2014/main" id="{64B459AA-1768-86A9-530D-AB6B6F9BEE12}"/>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23614" y="1023614"/>
              <a:ext cx="381000" cy="381000"/>
            </a:xfrm>
            <a:prstGeom prst="rect">
              <a:avLst/>
            </a:prstGeom>
          </p:spPr>
        </p:pic>
      </p:grpSp>
      <p:grpSp>
        <p:nvGrpSpPr>
          <p:cNvPr id="70" name="MinusSignBlue 33">
            <a:extLst>
              <a:ext uri="{FF2B5EF4-FFF2-40B4-BE49-F238E27FC236}">
                <a16:creationId xmlns:a16="http://schemas.microsoft.com/office/drawing/2014/main" id="{F5B2E25E-C695-C642-493F-3C7420BC16A6}"/>
              </a:ext>
            </a:extLst>
          </p:cNvPr>
          <p:cNvGrpSpPr>
            <a:grpSpLocks/>
          </p:cNvGrpSpPr>
          <p:nvPr>
            <p:custDataLst>
              <p:tags r:id="rId37"/>
            </p:custDataLst>
          </p:nvPr>
        </p:nvGrpSpPr>
        <p:grpSpPr>
          <a:xfrm>
            <a:off x="2006639" y="3743026"/>
            <a:ext cx="172729" cy="172729"/>
            <a:chOff x="1016000" y="1016000"/>
            <a:chExt cx="396228" cy="396228"/>
          </a:xfrm>
          <a:solidFill>
            <a:srgbClr val="C00000"/>
          </a:solidFill>
        </p:grpSpPr>
        <p:sp>
          <p:nvSpPr>
            <p:cNvPr id="71" name="Oval 70">
              <a:extLst>
                <a:ext uri="{FF2B5EF4-FFF2-40B4-BE49-F238E27FC236}">
                  <a16:creationId xmlns:a16="http://schemas.microsoft.com/office/drawing/2014/main" id="{266E5999-55A9-49A4-67CB-648873C4EA36}"/>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2" name="Graphic 71">
              <a:extLst>
                <a:ext uri="{FF2B5EF4-FFF2-40B4-BE49-F238E27FC236}">
                  <a16:creationId xmlns:a16="http://schemas.microsoft.com/office/drawing/2014/main" id="{2D7B1E91-3B88-4941-8E3A-72478E71D533}"/>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23614" y="1023614"/>
              <a:ext cx="381000" cy="381000"/>
            </a:xfrm>
            <a:prstGeom prst="rect">
              <a:avLst/>
            </a:prstGeom>
          </p:spPr>
        </p:pic>
      </p:grpSp>
      <p:grpSp>
        <p:nvGrpSpPr>
          <p:cNvPr id="74" name="MinusSignBlue 33">
            <a:extLst>
              <a:ext uri="{FF2B5EF4-FFF2-40B4-BE49-F238E27FC236}">
                <a16:creationId xmlns:a16="http://schemas.microsoft.com/office/drawing/2014/main" id="{19983C52-3F24-248D-A135-A994F692F3C6}"/>
              </a:ext>
            </a:extLst>
          </p:cNvPr>
          <p:cNvGrpSpPr>
            <a:grpSpLocks/>
          </p:cNvGrpSpPr>
          <p:nvPr>
            <p:custDataLst>
              <p:tags r:id="rId38"/>
            </p:custDataLst>
          </p:nvPr>
        </p:nvGrpSpPr>
        <p:grpSpPr>
          <a:xfrm>
            <a:off x="2006639" y="3919336"/>
            <a:ext cx="172729" cy="172729"/>
            <a:chOff x="1016000" y="1016000"/>
            <a:chExt cx="396228" cy="396228"/>
          </a:xfrm>
          <a:solidFill>
            <a:srgbClr val="C00000"/>
          </a:solidFill>
        </p:grpSpPr>
        <p:sp>
          <p:nvSpPr>
            <p:cNvPr id="75" name="Oval 74">
              <a:extLst>
                <a:ext uri="{FF2B5EF4-FFF2-40B4-BE49-F238E27FC236}">
                  <a16:creationId xmlns:a16="http://schemas.microsoft.com/office/drawing/2014/main" id="{8AF4AA65-44E1-F49B-E058-F33ADF74703D}"/>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8" name="Graphic 77">
              <a:extLst>
                <a:ext uri="{FF2B5EF4-FFF2-40B4-BE49-F238E27FC236}">
                  <a16:creationId xmlns:a16="http://schemas.microsoft.com/office/drawing/2014/main" id="{C8CFE2B6-63BF-4433-DB4F-0BDCC66893B0}"/>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23614" y="1023614"/>
              <a:ext cx="381000" cy="381000"/>
            </a:xfrm>
            <a:prstGeom prst="rect">
              <a:avLst/>
            </a:prstGeom>
          </p:spPr>
        </p:pic>
      </p:grpSp>
      <p:grpSp>
        <p:nvGrpSpPr>
          <p:cNvPr id="80" name="MinusSignBlue 33">
            <a:extLst>
              <a:ext uri="{FF2B5EF4-FFF2-40B4-BE49-F238E27FC236}">
                <a16:creationId xmlns:a16="http://schemas.microsoft.com/office/drawing/2014/main" id="{B1E41DF1-67F6-0C2C-706A-373854E4ED22}"/>
              </a:ext>
            </a:extLst>
          </p:cNvPr>
          <p:cNvGrpSpPr>
            <a:grpSpLocks/>
          </p:cNvGrpSpPr>
          <p:nvPr>
            <p:custDataLst>
              <p:tags r:id="rId39"/>
            </p:custDataLst>
          </p:nvPr>
        </p:nvGrpSpPr>
        <p:grpSpPr>
          <a:xfrm>
            <a:off x="2006639" y="5244108"/>
            <a:ext cx="172729" cy="172729"/>
            <a:chOff x="1016000" y="1016000"/>
            <a:chExt cx="396228" cy="396228"/>
          </a:xfrm>
          <a:solidFill>
            <a:srgbClr val="C00000"/>
          </a:solidFill>
        </p:grpSpPr>
        <p:sp>
          <p:nvSpPr>
            <p:cNvPr id="81" name="Oval 80">
              <a:extLst>
                <a:ext uri="{FF2B5EF4-FFF2-40B4-BE49-F238E27FC236}">
                  <a16:creationId xmlns:a16="http://schemas.microsoft.com/office/drawing/2014/main" id="{7FDD1CD9-7F8C-B39B-28CE-42CD33BBD495}"/>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83" name="Graphic 82">
              <a:extLst>
                <a:ext uri="{FF2B5EF4-FFF2-40B4-BE49-F238E27FC236}">
                  <a16:creationId xmlns:a16="http://schemas.microsoft.com/office/drawing/2014/main" id="{443FF061-2745-470C-8FA6-7BDC085CA3AE}"/>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23614" y="1023614"/>
              <a:ext cx="381000" cy="381000"/>
            </a:xfrm>
            <a:prstGeom prst="rect">
              <a:avLst/>
            </a:prstGeom>
          </p:spPr>
        </p:pic>
      </p:grpSp>
      <p:grpSp>
        <p:nvGrpSpPr>
          <p:cNvPr id="84" name="MinusSignBlue 33">
            <a:extLst>
              <a:ext uri="{FF2B5EF4-FFF2-40B4-BE49-F238E27FC236}">
                <a16:creationId xmlns:a16="http://schemas.microsoft.com/office/drawing/2014/main" id="{CE3F353D-D301-35FA-F5D9-AE10AF99FF01}"/>
              </a:ext>
            </a:extLst>
          </p:cNvPr>
          <p:cNvGrpSpPr>
            <a:grpSpLocks/>
          </p:cNvGrpSpPr>
          <p:nvPr>
            <p:custDataLst>
              <p:tags r:id="rId40"/>
            </p:custDataLst>
          </p:nvPr>
        </p:nvGrpSpPr>
        <p:grpSpPr>
          <a:xfrm>
            <a:off x="2006639" y="5454793"/>
            <a:ext cx="172729" cy="172729"/>
            <a:chOff x="1016000" y="1016000"/>
            <a:chExt cx="396228" cy="396228"/>
          </a:xfrm>
          <a:solidFill>
            <a:srgbClr val="C00000"/>
          </a:solidFill>
        </p:grpSpPr>
        <p:sp>
          <p:nvSpPr>
            <p:cNvPr id="85" name="Oval 84">
              <a:extLst>
                <a:ext uri="{FF2B5EF4-FFF2-40B4-BE49-F238E27FC236}">
                  <a16:creationId xmlns:a16="http://schemas.microsoft.com/office/drawing/2014/main" id="{7599B5CC-1288-F610-1787-18144786B50A}"/>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87" name="Graphic 86">
              <a:extLst>
                <a:ext uri="{FF2B5EF4-FFF2-40B4-BE49-F238E27FC236}">
                  <a16:creationId xmlns:a16="http://schemas.microsoft.com/office/drawing/2014/main" id="{A10EF9EC-1697-106B-3CD6-81EC86350C05}"/>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23614" y="1023614"/>
              <a:ext cx="381000" cy="381000"/>
            </a:xfrm>
            <a:prstGeom prst="rect">
              <a:avLst/>
            </a:prstGeom>
          </p:spPr>
        </p:pic>
      </p:grpSp>
      <p:sp>
        <p:nvSpPr>
          <p:cNvPr id="20" name="4. Footnote">
            <a:extLst>
              <a:ext uri="{FF2B5EF4-FFF2-40B4-BE49-F238E27FC236}">
                <a16:creationId xmlns:a16="http://schemas.microsoft.com/office/drawing/2014/main" id="{B0CE4232-30D9-72F8-E908-B817CB6D7CBC}"/>
              </a:ext>
            </a:extLst>
          </p:cNvPr>
          <p:cNvSpPr txBox="1">
            <a:spLocks/>
          </p:cNvSpPr>
          <p:nvPr>
            <p:custDataLst>
              <p:tags r:id="rId41"/>
            </p:custDataLst>
          </p:nvPr>
        </p:nvSpPr>
        <p:spPr>
          <a:xfrm>
            <a:off x="549409" y="6446711"/>
            <a:ext cx="7918704" cy="24622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0" indent="0"/>
            <a:r>
              <a:rPr lang="en-US"/>
              <a:t>¹ Thresholds adjusted to Azerbaijan GDP per capita to enable fair cross-market comparison</a:t>
            </a:r>
          </a:p>
          <a:p>
            <a:pPr marL="0" lvl="0" indent="0" rtl="0"/>
            <a:endParaRPr lang="en-US"/>
          </a:p>
        </p:txBody>
      </p:sp>
      <p:sp>
        <p:nvSpPr>
          <p:cNvPr id="23" name="5. Source">
            <a:extLst>
              <a:ext uri="{FF2B5EF4-FFF2-40B4-BE49-F238E27FC236}">
                <a16:creationId xmlns:a16="http://schemas.microsoft.com/office/drawing/2014/main" id="{8B4F0C5B-E0BB-C9ED-35CE-31A98C6BE218}"/>
              </a:ext>
            </a:extLst>
          </p:cNvPr>
          <p:cNvSpPr txBox="1"/>
          <p:nvPr>
            <p:custDataLst>
              <p:tags r:id="rId42"/>
            </p:custDataLst>
          </p:nvPr>
        </p:nvSpPr>
        <p:spPr>
          <a:xfrm>
            <a:off x="547688" y="6624685"/>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l"/>
            <a:r>
              <a:rPr lang="en-US" sz="800">
                <a:solidFill>
                  <a:schemeClr val="tx1"/>
                </a:solidFill>
                <a:cs typeface="Arial" panose="020B0604020202020204" pitchFamily="34" charset="0"/>
              </a:rPr>
              <a:t>Source: Company website, Press search, Expert input</a:t>
            </a:r>
          </a:p>
        </p:txBody>
      </p:sp>
    </p:spTree>
    <p:extLst>
      <p:ext uri="{BB962C8B-B14F-4D97-AF65-F5344CB8AC3E}">
        <p14:creationId xmlns:p14="http://schemas.microsoft.com/office/powerpoint/2010/main" val="3843918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6FEF6-E8B7-357F-6BB9-802CB4A81925}"/>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9025E470-BE46-B7BA-3C94-0CF5FA861D49}"/>
              </a:ext>
            </a:extLst>
          </p:cNvPr>
          <p:cNvGraphicFramePr>
            <a:graphicFrameLocks noChangeAspect="1"/>
          </p:cNvGraphicFramePr>
          <p:nvPr>
            <p:custDataLst>
              <p:tags r:id="rId1"/>
            </p:custDataLst>
            <p:extLst>
              <p:ext uri="{D42A27DB-BD31-4B8C-83A1-F6EECF244321}">
                <p14:modId xmlns:p14="http://schemas.microsoft.com/office/powerpoint/2010/main" val="24913056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40" imgH="541" progId="TCLayout.ActiveDocument.1">
                  <p:embed/>
                </p:oleObj>
              </mc:Choice>
              <mc:Fallback>
                <p:oleObj name="think-cell Slide" r:id="rId11" imgW="540" imgH="541" progId="TCLayout.ActiveDocument.1">
                  <p:embed/>
                  <p:pic>
                    <p:nvPicPr>
                      <p:cNvPr id="5" name="Object 6" hidden="1">
                        <a:extLst>
                          <a:ext uri="{FF2B5EF4-FFF2-40B4-BE49-F238E27FC236}">
                            <a16:creationId xmlns:a16="http://schemas.microsoft.com/office/drawing/2014/main" id="{9025E470-BE46-B7BA-3C94-0CF5FA861D4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E327AEA4-64A1-B1BB-6D3C-56D198BA97BD}"/>
              </a:ext>
            </a:extLst>
          </p:cNvPr>
          <p:cNvSpPr>
            <a:spLocks/>
          </p:cNvSpPr>
          <p:nvPr/>
        </p:nvSpPr>
        <p:spPr>
          <a:xfrm>
            <a:off x="554733" y="3321355"/>
            <a:ext cx="1783080" cy="1184940"/>
          </a:xfrm>
          <a:prstGeom prst="rect">
            <a:avLst/>
          </a:prstGeom>
          <a:solidFill>
            <a:schemeClr val="accent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noAutofit/>
          </a:bodyPr>
          <a:lstStyle/>
          <a:p>
            <a:endParaRPr lang="en-US" sz="1400" b="1">
              <a:solidFill>
                <a:schemeClr val="bg1"/>
              </a:solidFill>
            </a:endParaRPr>
          </a:p>
        </p:txBody>
      </p:sp>
      <p:sp>
        <p:nvSpPr>
          <p:cNvPr id="180" name="Rectangle 179">
            <a:extLst>
              <a:ext uri="{FF2B5EF4-FFF2-40B4-BE49-F238E27FC236}">
                <a16:creationId xmlns:a16="http://schemas.microsoft.com/office/drawing/2014/main" id="{AD6BB008-343F-5923-8818-F172152BC73B}"/>
              </a:ext>
            </a:extLst>
          </p:cNvPr>
          <p:cNvSpPr>
            <a:spLocks/>
          </p:cNvSpPr>
          <p:nvPr/>
        </p:nvSpPr>
        <p:spPr>
          <a:xfrm>
            <a:off x="554734" y="1801941"/>
            <a:ext cx="4293037" cy="1385825"/>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2" name="2. Slide Title">
            <a:extLst>
              <a:ext uri="{FF2B5EF4-FFF2-40B4-BE49-F238E27FC236}">
                <a16:creationId xmlns:a16="http://schemas.microsoft.com/office/drawing/2014/main" id="{8203F14A-BC37-EFB1-D312-C8DFBDB22E97}"/>
              </a:ext>
            </a:extLst>
          </p:cNvPr>
          <p:cNvSpPr>
            <a:spLocks noGrp="1"/>
          </p:cNvSpPr>
          <p:nvPr>
            <p:ph type="title"/>
            <p:custDataLst>
              <p:tags r:id="rId2"/>
            </p:custDataLst>
          </p:nvPr>
        </p:nvSpPr>
        <p:spPr>
          <a:xfrm>
            <a:off x="554734" y="165068"/>
            <a:ext cx="11082528" cy="738664"/>
          </a:xfrm>
          <a:noFill/>
          <a:ln/>
          <a:extLst>
            <a:ext uri="{909E8E84-426E-40DD-AFC4-6F175D3DCCD1}">
              <a14:hiddenFill xmlns:a14="http://schemas.microsoft.com/office/drawing/2010/main">
                <a:solidFill>
                  <a:srgbClr val="FFFFFF"/>
                </a:solidFill>
              </a14:hiddenFill>
            </a:ext>
          </a:extLst>
        </p:spPr>
        <p:txBody>
          <a:bodyPr vert="horz"/>
          <a:lstStyle/>
          <a:p>
            <a:r>
              <a:rPr lang="en-US">
                <a:latin typeface="+mj-lt"/>
              </a:rPr>
              <a:t>Azerbaijan private banking market size is expected to be ~6.2k individuals based on bottom-up census approach</a:t>
            </a:r>
          </a:p>
        </p:txBody>
      </p:sp>
      <p:sp>
        <p:nvSpPr>
          <p:cNvPr id="8" name="5. Source">
            <a:extLst>
              <a:ext uri="{FF2B5EF4-FFF2-40B4-BE49-F238E27FC236}">
                <a16:creationId xmlns:a16="http://schemas.microsoft.com/office/drawing/2014/main" id="{738A21C6-C974-0DDE-8C8D-4B28F61D230E}"/>
              </a:ext>
            </a:extLst>
          </p:cNvPr>
          <p:cNvSpPr txBox="1"/>
          <p:nvPr>
            <p:custDataLst>
              <p:tags r:id="rId3"/>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l"/>
            <a:r>
              <a:rPr lang="en-US" sz="800">
                <a:solidFill>
                  <a:schemeClr val="tx1"/>
                </a:solidFill>
                <a:cs typeface="Arial" panose="020B0604020202020204" pitchFamily="34" charset="0"/>
              </a:rPr>
              <a:t>Internal analysis</a:t>
            </a:r>
          </a:p>
        </p:txBody>
      </p:sp>
      <p:cxnSp>
        <p:nvCxnSpPr>
          <p:cNvPr id="10" name="Connector 1004">
            <a:extLst>
              <a:ext uri="{FF2B5EF4-FFF2-40B4-BE49-F238E27FC236}">
                <a16:creationId xmlns:a16="http://schemas.microsoft.com/office/drawing/2014/main" id="{53EEAC6F-7858-7B37-4318-CBE2F1A66664}"/>
              </a:ext>
            </a:extLst>
          </p:cNvPr>
          <p:cNvCxnSpPr>
            <a:cxnSpLocks/>
          </p:cNvCxnSpPr>
          <p:nvPr/>
        </p:nvCxnSpPr>
        <p:spPr>
          <a:xfrm>
            <a:off x="554734" y="1801941"/>
            <a:ext cx="4293037"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74A61B16-72EB-3402-915F-6F3201500352}"/>
              </a:ext>
            </a:extLst>
          </p:cNvPr>
          <p:cNvSpPr>
            <a:spLocks/>
          </p:cNvSpPr>
          <p:nvPr/>
        </p:nvSpPr>
        <p:spPr>
          <a:xfrm>
            <a:off x="554733" y="4773475"/>
            <a:ext cx="1783080" cy="11849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27" name="Rectangle 26">
            <a:extLst>
              <a:ext uri="{FF2B5EF4-FFF2-40B4-BE49-F238E27FC236}">
                <a16:creationId xmlns:a16="http://schemas.microsoft.com/office/drawing/2014/main" id="{255452D3-6B38-DC58-A48E-7C14E560E491}"/>
              </a:ext>
            </a:extLst>
          </p:cNvPr>
          <p:cNvSpPr>
            <a:spLocks/>
          </p:cNvSpPr>
          <p:nvPr/>
        </p:nvSpPr>
        <p:spPr>
          <a:xfrm>
            <a:off x="554733" y="1869237"/>
            <a:ext cx="1783080" cy="118494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graphicFrame>
        <p:nvGraphicFramePr>
          <p:cNvPr id="38" name="Table 37" hidden="1">
            <a:extLst>
              <a:ext uri="{FF2B5EF4-FFF2-40B4-BE49-F238E27FC236}">
                <a16:creationId xmlns:a16="http://schemas.microsoft.com/office/drawing/2014/main" id="{AEFE1DE1-DF24-9018-08D7-182040B170C5}"/>
              </a:ext>
            </a:extLst>
          </p:cNvPr>
          <p:cNvGraphicFramePr>
            <a:graphicFrameLocks noGrp="1"/>
          </p:cNvGraphicFramePr>
          <p:nvPr/>
        </p:nvGraphicFramePr>
        <p:xfrm>
          <a:off x="6160835" y="2296114"/>
          <a:ext cx="5338065" cy="3884431"/>
        </p:xfrm>
        <a:graphic>
          <a:graphicData uri="http://schemas.openxmlformats.org/drawingml/2006/table">
            <a:tbl>
              <a:tblPr>
                <a:tableStyleId>{5C22544A-7EE6-4342-B048-85BDC9FD1C3A}</a:tableStyleId>
              </a:tblPr>
              <a:tblGrid>
                <a:gridCol w="1671707">
                  <a:extLst>
                    <a:ext uri="{9D8B030D-6E8A-4147-A177-3AD203B41FA5}">
                      <a16:colId xmlns:a16="http://schemas.microsoft.com/office/drawing/2014/main" val="4212566894"/>
                    </a:ext>
                  </a:extLst>
                </a:gridCol>
                <a:gridCol w="940335">
                  <a:extLst>
                    <a:ext uri="{9D8B030D-6E8A-4147-A177-3AD203B41FA5}">
                      <a16:colId xmlns:a16="http://schemas.microsoft.com/office/drawing/2014/main" val="683506291"/>
                    </a:ext>
                  </a:extLst>
                </a:gridCol>
                <a:gridCol w="2726023">
                  <a:extLst>
                    <a:ext uri="{9D8B030D-6E8A-4147-A177-3AD203B41FA5}">
                      <a16:colId xmlns:a16="http://schemas.microsoft.com/office/drawing/2014/main" val="3948928039"/>
                    </a:ext>
                  </a:extLst>
                </a:gridCol>
              </a:tblGrid>
              <a:tr h="363069">
                <a:tc>
                  <a:txBody>
                    <a:bodyPr/>
                    <a:lstStyle/>
                    <a:p>
                      <a:pPr algn="l" fontAlgn="ctr">
                        <a:buNone/>
                      </a:pPr>
                      <a:r>
                        <a:rPr lang="en-US" sz="1100" u="none" strike="noStrike">
                          <a:effectLst/>
                        </a:rPr>
                        <a:t>Component</a:t>
                      </a:r>
                      <a:endParaRPr lang="en-US" sz="11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 individuals</a:t>
                      </a:r>
                      <a:endParaRPr lang="en-US" sz="1100" b="1" i="0" u="none" strike="noStrike">
                        <a:solidFill>
                          <a:srgbClr val="FFFFFF"/>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Estimation base</a:t>
                      </a:r>
                      <a:endParaRPr lang="en-US" sz="1100" b="1" i="0" u="none" strike="noStrike">
                        <a:solidFill>
                          <a:srgbClr val="FFFFFF"/>
                        </a:solidFill>
                        <a:effectLst/>
                        <a:latin typeface="Calibri" panose="020F0502020204030204" pitchFamily="34" charset="0"/>
                      </a:endParaRPr>
                    </a:p>
                  </a:txBody>
                  <a:tcPr marL="0" marR="0" marT="0" marB="0" anchor="ctr"/>
                </a:tc>
                <a:extLst>
                  <a:ext uri="{0D108BD9-81ED-4DB2-BD59-A6C34878D82A}">
                    <a16:rowId xmlns:a16="http://schemas.microsoft.com/office/drawing/2014/main" val="2299662473"/>
                  </a:ext>
                </a:extLst>
              </a:tr>
              <a:tr h="335786">
                <a:tc>
                  <a:txBody>
                    <a:bodyPr/>
                    <a:lstStyle/>
                    <a:p>
                      <a:pPr algn="l" fontAlgn="ctr">
                        <a:buNone/>
                      </a:pPr>
                      <a:r>
                        <a:rPr lang="en-US" sz="1100" u="none" strike="noStrike">
                          <a:effectLst/>
                        </a:rPr>
                        <a:t>Large Enterprise Owners</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804</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Count of large enterprises, adjusted for domestic-private share and multiple principals</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3698633240"/>
                  </a:ext>
                </a:extLst>
              </a:tr>
              <a:tr h="503233">
                <a:tc>
                  <a:txBody>
                    <a:bodyPr/>
                    <a:lstStyle/>
                    <a:p>
                      <a:pPr algn="l" fontAlgn="ctr">
                        <a:buNone/>
                      </a:pPr>
                      <a:r>
                        <a:rPr lang="en-US" sz="1100" u="none" strike="noStrike">
                          <a:effectLst/>
                        </a:rPr>
                        <a:t>Upper-Medium Enterprise Owners</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895</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Count of medium enterprises in the upper quadrant of the AZN 3-30M band, adjusted for domestic-private share and multiple principals</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1472347206"/>
                  </a:ext>
                </a:extLst>
              </a:tr>
              <a:tr h="335786">
                <a:tc>
                  <a:txBody>
                    <a:bodyPr/>
                    <a:lstStyle/>
                    <a:p>
                      <a:pPr algn="l" fontAlgn="ctr">
                        <a:buNone/>
                      </a:pPr>
                      <a:r>
                        <a:rPr lang="en-US" sz="1100" u="none" strike="noStrike">
                          <a:effectLst/>
                        </a:rPr>
                        <a:t>Oil &amp; Gas Salaried Professionals</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3,500</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Senior salaried oil &amp; gas professionals (SOCAR, BP, other IOCs) above the income/wealth bar</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425151053"/>
                  </a:ext>
                </a:extLst>
              </a:tr>
              <a:tr h="335786">
                <a:tc>
                  <a:txBody>
                    <a:bodyPr/>
                    <a:lstStyle/>
                    <a:p>
                      <a:pPr algn="l" fontAlgn="ctr">
                        <a:buNone/>
                      </a:pPr>
                      <a:r>
                        <a:rPr lang="en-US" sz="1100" u="none" strike="noStrike">
                          <a:effectLst/>
                        </a:rPr>
                        <a:t>Non-Oil Professional HNWIs</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605</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High-net-worth non-oil professionals across international orgs, government, law, real estate and tech</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533061823"/>
                  </a:ext>
                </a:extLst>
              </a:tr>
              <a:tr h="335786">
                <a:tc>
                  <a:txBody>
                    <a:bodyPr/>
                    <a:lstStyle/>
                    <a:p>
                      <a:pPr algn="l" fontAlgn="ctr">
                        <a:buNone/>
                      </a:pPr>
                      <a:r>
                        <a:rPr lang="en-US" sz="1100" u="none" strike="noStrike">
                          <a:effectLst/>
                        </a:rPr>
                        <a:t>Shadow Economy Adjustment</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900</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Informally-held wealth not captured in registries, sized to the shadow economy</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229989970"/>
                  </a:ext>
                </a:extLst>
              </a:tr>
              <a:tr h="201472">
                <a:tc>
                  <a:txBody>
                    <a:bodyPr/>
                    <a:lstStyle/>
                    <a:p>
                      <a:pPr algn="l" fontAlgn="ctr">
                        <a:buNone/>
                      </a:pPr>
                      <a:r>
                        <a:rPr lang="en-US" sz="1100" u="none" strike="noStrike">
                          <a:effectLst/>
                        </a:rPr>
                        <a:t>Gross addressable (sum)</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6,704</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Sum of all qualifying segments before removing double-counting</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342561797"/>
                  </a:ext>
                </a:extLst>
              </a:tr>
              <a:tr h="335488">
                <a:tc>
                  <a:txBody>
                    <a:bodyPr/>
                    <a:lstStyle/>
                    <a:p>
                      <a:pPr algn="l" fontAlgn="ctr">
                        <a:buNone/>
                      </a:pPr>
                      <a:r>
                        <a:rPr lang="en-US" sz="1100" u="none" strike="noStrike">
                          <a:effectLst/>
                        </a:rPr>
                        <a:t>Less: systematic overlaps</a:t>
                      </a:r>
                      <a:endParaRPr lang="en-US" sz="11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500</a:t>
                      </a:r>
                      <a:endParaRPr lang="en-US" sz="1100" b="1"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Individuals appearing in more than one segment, deducted to count once</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2807641459"/>
                  </a:ext>
                </a:extLst>
              </a:tr>
              <a:tr h="335488">
                <a:tc>
                  <a:txBody>
                    <a:bodyPr/>
                    <a:lstStyle/>
                    <a:p>
                      <a:pPr algn="l" fontAlgn="ctr">
                        <a:buNone/>
                      </a:pPr>
                      <a:r>
                        <a:rPr lang="en-US" sz="1100" u="none" strike="noStrike">
                          <a:effectLst/>
                        </a:rPr>
                        <a:t>Net eligible</a:t>
                      </a:r>
                      <a:endParaRPr lang="en-US" sz="110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buNone/>
                      </a:pPr>
                      <a:r>
                        <a:rPr lang="en-US" sz="1100" u="none" strike="noStrike">
                          <a:effectLst/>
                        </a:rPr>
                        <a:t>6,204</a:t>
                      </a:r>
                      <a:endParaRPr lang="en-US" sz="1100" b="1" i="0" u="none" strike="noStrike">
                        <a:solidFill>
                          <a:srgbClr val="000000"/>
                        </a:solidFill>
                        <a:effectLst/>
                        <a:latin typeface="Calibri" panose="020F0502020204030204" pitchFamily="34" charset="0"/>
                      </a:endParaRPr>
                    </a:p>
                  </a:txBody>
                  <a:tcPr marL="0" marR="0" marT="0" marB="0" anchor="ctr"/>
                </a:tc>
                <a:tc>
                  <a:txBody>
                    <a:bodyPr/>
                    <a:lstStyle/>
                    <a:p>
                      <a:pPr algn="l" fontAlgn="ctr">
                        <a:buNone/>
                      </a:pPr>
                      <a:r>
                        <a:rPr lang="en-US" sz="1100" u="none" strike="noStrike">
                          <a:effectLst/>
                        </a:rPr>
                        <a:t>Net unique private-banking-eligible individuals after overlap adjustment</a:t>
                      </a:r>
                      <a:endParaRPr lang="en-US" sz="1100" b="0" i="1" u="none" strike="noStrike">
                        <a:solidFill>
                          <a:srgbClr val="7A7A7A"/>
                        </a:solidFill>
                        <a:effectLst/>
                        <a:latin typeface="Calibri" panose="020F0502020204030204" pitchFamily="34" charset="0"/>
                      </a:endParaRPr>
                    </a:p>
                  </a:txBody>
                  <a:tcPr marL="0" marR="0" marT="0" marB="0" anchor="ctr"/>
                </a:tc>
                <a:extLst>
                  <a:ext uri="{0D108BD9-81ED-4DB2-BD59-A6C34878D82A}">
                    <a16:rowId xmlns:a16="http://schemas.microsoft.com/office/drawing/2014/main" val="4018201456"/>
                  </a:ext>
                </a:extLst>
              </a:tr>
            </a:tbl>
          </a:graphicData>
        </a:graphic>
      </p:graphicFrame>
      <p:pic>
        <p:nvPicPr>
          <p:cNvPr id="31" name="CustomIcon">
            <a:extLst>
              <a:ext uri="{FF2B5EF4-FFF2-40B4-BE49-F238E27FC236}">
                <a16:creationId xmlns:a16="http://schemas.microsoft.com/office/drawing/2014/main" id="{F3FD73CD-FFCF-D5E7-AB90-D6F8299EFDE1}"/>
              </a:ext>
            </a:extLst>
          </p:cNvPr>
          <p:cNvPicPr>
            <a:picLocks/>
          </p:cNvPicPr>
          <p:nvPr>
            <p:custDataLst>
              <p:tags r:id="rId4"/>
            </p:custDataLst>
          </p:nvPr>
        </p:nvPicPr>
        <p:blipFill>
          <a:blip>
            <a:extLst>
              <a:ext uri="{96DAC541-7B7A-43D3-8B79-37D633B846F1}">
                <asvg:svgBlip xmlns:asvg="http://schemas.microsoft.com/office/drawing/2016/SVG/main" r:embed="rId13"/>
              </a:ext>
            </a:extLst>
          </a:blip>
          <a:stretch>
            <a:fillRect/>
          </a:stretch>
        </p:blipFill>
        <p:spPr>
          <a:xfrm>
            <a:off x="1112889" y="1967208"/>
            <a:ext cx="338886" cy="338886"/>
          </a:xfrm>
          <a:prstGeom prst="rect">
            <a:avLst/>
          </a:prstGeom>
        </p:spPr>
      </p:pic>
      <p:sp>
        <p:nvSpPr>
          <p:cNvPr id="32" name="TrackerAlphaWhite 36">
            <a:extLst>
              <a:ext uri="{FF2B5EF4-FFF2-40B4-BE49-F238E27FC236}">
                <a16:creationId xmlns:a16="http://schemas.microsoft.com/office/drawing/2014/main" id="{04261BFA-6168-18CB-A8D0-C4B7C95241E7}"/>
              </a:ext>
            </a:extLst>
          </p:cNvPr>
          <p:cNvSpPr>
            <a:spLocks/>
          </p:cNvSpPr>
          <p:nvPr>
            <p:custDataLst>
              <p:tags r:id="rId5"/>
            </p:custDataLst>
          </p:nvPr>
        </p:nvSpPr>
        <p:spPr>
          <a:xfrm>
            <a:off x="676693" y="1996981"/>
            <a:ext cx="279340" cy="279340"/>
          </a:xfrm>
          <a:prstGeom prst="ellipse">
            <a:avLst/>
          </a:prstGeom>
          <a:solidFill>
            <a:srgbClr val="F7D147"/>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b="1">
                <a:solidFill>
                  <a:schemeClr val="accent1"/>
                </a:solidFill>
              </a:rPr>
              <a:t>A</a:t>
            </a:r>
          </a:p>
        </p:txBody>
      </p:sp>
      <p:sp>
        <p:nvSpPr>
          <p:cNvPr id="68" name="TextBox 67">
            <a:extLst>
              <a:ext uri="{FF2B5EF4-FFF2-40B4-BE49-F238E27FC236}">
                <a16:creationId xmlns:a16="http://schemas.microsoft.com/office/drawing/2014/main" id="{0F0666E5-55C4-2495-1B63-2DF07A553C98}"/>
              </a:ext>
            </a:extLst>
          </p:cNvPr>
          <p:cNvSpPr txBox="1">
            <a:spLocks/>
          </p:cNvSpPr>
          <p:nvPr/>
        </p:nvSpPr>
        <p:spPr>
          <a:xfrm>
            <a:off x="676693" y="2448375"/>
            <a:ext cx="1515308"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latin typeface="+mn-lt"/>
                <a:ea typeface="+mn-ea"/>
                <a:cs typeface="+mn-cs"/>
              </a:rPr>
              <a:t>Bottom-Up</a:t>
            </a:r>
          </a:p>
          <a:p>
            <a:r>
              <a:rPr lang="en-US" b="1">
                <a:latin typeface="+mn-lt"/>
                <a:ea typeface="+mn-ea"/>
                <a:cs typeface="+mn-cs"/>
              </a:rPr>
              <a:t>Calculation</a:t>
            </a:r>
          </a:p>
        </p:txBody>
      </p:sp>
      <p:pic>
        <p:nvPicPr>
          <p:cNvPr id="25" name="CustomIcon">
            <a:extLst>
              <a:ext uri="{FF2B5EF4-FFF2-40B4-BE49-F238E27FC236}">
                <a16:creationId xmlns:a16="http://schemas.microsoft.com/office/drawing/2014/main" id="{72D2F319-A5BF-93FA-FE80-FB8855C7361A}"/>
              </a:ext>
            </a:extLst>
          </p:cNvPr>
          <p:cNvPicPr>
            <a:picLocks/>
          </p:cNvPicPr>
          <p:nvPr>
            <p:custDataLst>
              <p:tags r:id="rId6"/>
            </p:custDataLst>
          </p:nvPr>
        </p:nvPicPr>
        <p:blipFill>
          <a:blip>
            <a:extLst>
              <a:ext uri="{96DAC541-7B7A-43D3-8B79-37D633B846F1}">
                <asvg:svgBlip xmlns:asvg="http://schemas.microsoft.com/office/drawing/2016/SVG/main" r:embed="rId14"/>
              </a:ext>
            </a:extLst>
          </a:blip>
          <a:stretch>
            <a:fillRect/>
          </a:stretch>
        </p:blipFill>
        <p:spPr>
          <a:xfrm>
            <a:off x="1112889" y="3419326"/>
            <a:ext cx="338886" cy="338886"/>
          </a:xfrm>
          <a:prstGeom prst="rect">
            <a:avLst/>
          </a:prstGeom>
        </p:spPr>
      </p:pic>
      <p:sp>
        <p:nvSpPr>
          <p:cNvPr id="33" name="TrackerAlphaWhite 36">
            <a:extLst>
              <a:ext uri="{FF2B5EF4-FFF2-40B4-BE49-F238E27FC236}">
                <a16:creationId xmlns:a16="http://schemas.microsoft.com/office/drawing/2014/main" id="{66FE7A7D-9922-D2A9-535B-FC97A153BDE4}"/>
              </a:ext>
            </a:extLst>
          </p:cNvPr>
          <p:cNvSpPr>
            <a:spLocks/>
          </p:cNvSpPr>
          <p:nvPr>
            <p:custDataLst>
              <p:tags r:id="rId7"/>
            </p:custDataLst>
          </p:nvPr>
        </p:nvSpPr>
        <p:spPr>
          <a:xfrm>
            <a:off x="676693" y="3449099"/>
            <a:ext cx="279340" cy="279340"/>
          </a:xfrm>
          <a:prstGeom prst="ellipse">
            <a:avLst/>
          </a:prstGeom>
          <a:solidFill>
            <a:srgbClr val="74A09B"/>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b="1">
                <a:solidFill>
                  <a:schemeClr val="accent1"/>
                </a:solidFill>
              </a:rPr>
              <a:t>B</a:t>
            </a:r>
          </a:p>
        </p:txBody>
      </p:sp>
      <p:sp>
        <p:nvSpPr>
          <p:cNvPr id="70" name="TextBox 69">
            <a:extLst>
              <a:ext uri="{FF2B5EF4-FFF2-40B4-BE49-F238E27FC236}">
                <a16:creationId xmlns:a16="http://schemas.microsoft.com/office/drawing/2014/main" id="{7DD4E488-2E66-4115-7D5A-831A3BF6DDBE}"/>
              </a:ext>
            </a:extLst>
          </p:cNvPr>
          <p:cNvSpPr txBox="1">
            <a:spLocks/>
          </p:cNvSpPr>
          <p:nvPr/>
        </p:nvSpPr>
        <p:spPr>
          <a:xfrm>
            <a:off x="676693" y="3900493"/>
            <a:ext cx="1515308" cy="50783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latin typeface="+mn-lt"/>
                <a:ea typeface="+mn-ea"/>
                <a:cs typeface="+mn-cs"/>
              </a:rPr>
              <a:t>Investable </a:t>
            </a:r>
          </a:p>
          <a:p>
            <a:r>
              <a:rPr lang="en-US" b="1">
                <a:solidFill>
                  <a:schemeClr val="bg1"/>
                </a:solidFill>
                <a:latin typeface="+mn-lt"/>
                <a:ea typeface="+mn-ea"/>
                <a:cs typeface="+mn-cs"/>
              </a:rPr>
              <a:t>Wealth Lens</a:t>
            </a:r>
          </a:p>
        </p:txBody>
      </p:sp>
      <p:pic>
        <p:nvPicPr>
          <p:cNvPr id="20" name="CustomIcon">
            <a:extLst>
              <a:ext uri="{FF2B5EF4-FFF2-40B4-BE49-F238E27FC236}">
                <a16:creationId xmlns:a16="http://schemas.microsoft.com/office/drawing/2014/main" id="{4160F896-08DA-E00E-F161-8D3082270BA2}"/>
              </a:ext>
            </a:extLst>
          </p:cNvPr>
          <p:cNvPicPr>
            <a:picLocks/>
          </p:cNvPicPr>
          <p:nvPr>
            <p:custDataLst>
              <p:tags r:id="rId8"/>
            </p:custDataLst>
          </p:nvPr>
        </p:nvPicPr>
        <p:blipFill>
          <a:blip>
            <a:extLst>
              <a:ext uri="{96DAC541-7B7A-43D3-8B79-37D633B846F1}">
                <asvg:svgBlip xmlns:asvg="http://schemas.microsoft.com/office/drawing/2016/SVG/main" r:embed="rId15"/>
              </a:ext>
            </a:extLst>
          </a:blip>
          <a:stretch>
            <a:fillRect/>
          </a:stretch>
        </p:blipFill>
        <p:spPr>
          <a:xfrm>
            <a:off x="1112889" y="4871446"/>
            <a:ext cx="338886" cy="338886"/>
          </a:xfrm>
          <a:prstGeom prst="rect">
            <a:avLst/>
          </a:prstGeom>
        </p:spPr>
      </p:pic>
      <p:sp>
        <p:nvSpPr>
          <p:cNvPr id="34" name="TrackerAlphaWhite 36">
            <a:extLst>
              <a:ext uri="{FF2B5EF4-FFF2-40B4-BE49-F238E27FC236}">
                <a16:creationId xmlns:a16="http://schemas.microsoft.com/office/drawing/2014/main" id="{FA8297D5-238E-EF34-A9A8-495FAA2F8145}"/>
              </a:ext>
            </a:extLst>
          </p:cNvPr>
          <p:cNvSpPr>
            <a:spLocks/>
          </p:cNvSpPr>
          <p:nvPr>
            <p:custDataLst>
              <p:tags r:id="rId9"/>
            </p:custDataLst>
          </p:nvPr>
        </p:nvSpPr>
        <p:spPr>
          <a:xfrm>
            <a:off x="676693" y="4901219"/>
            <a:ext cx="279340" cy="279340"/>
          </a:xfrm>
          <a:prstGeom prst="ellipse">
            <a:avLst/>
          </a:prstGeom>
          <a:solidFill>
            <a:srgbClr val="1C863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b="1">
                <a:solidFill>
                  <a:schemeClr val="accent1"/>
                </a:solidFill>
              </a:rPr>
              <a:t>C</a:t>
            </a:r>
          </a:p>
        </p:txBody>
      </p:sp>
      <p:sp>
        <p:nvSpPr>
          <p:cNvPr id="72" name="TextBox 71">
            <a:extLst>
              <a:ext uri="{FF2B5EF4-FFF2-40B4-BE49-F238E27FC236}">
                <a16:creationId xmlns:a16="http://schemas.microsoft.com/office/drawing/2014/main" id="{1864001E-0545-2493-1419-56DF9FD5EBDE}"/>
              </a:ext>
            </a:extLst>
          </p:cNvPr>
          <p:cNvSpPr txBox="1">
            <a:spLocks/>
          </p:cNvSpPr>
          <p:nvPr/>
        </p:nvSpPr>
        <p:spPr>
          <a:xfrm>
            <a:off x="676693" y="5429557"/>
            <a:ext cx="151530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latin typeface="+mn-lt"/>
                <a:ea typeface="+mn-ea"/>
                <a:cs typeface="+mn-cs"/>
              </a:rPr>
              <a:t>Total Wealth Lens</a:t>
            </a:r>
          </a:p>
        </p:txBody>
      </p:sp>
      <p:sp>
        <p:nvSpPr>
          <p:cNvPr id="74" name="TextBox 73">
            <a:extLst>
              <a:ext uri="{FF2B5EF4-FFF2-40B4-BE49-F238E27FC236}">
                <a16:creationId xmlns:a16="http://schemas.microsoft.com/office/drawing/2014/main" id="{053F7C54-AC2E-021B-1620-F71FB1BA4D15}"/>
              </a:ext>
            </a:extLst>
          </p:cNvPr>
          <p:cNvSpPr txBox="1">
            <a:spLocks/>
          </p:cNvSpPr>
          <p:nvPr/>
        </p:nvSpPr>
        <p:spPr>
          <a:xfrm>
            <a:off x="2522574" y="4773475"/>
            <a:ext cx="2200841" cy="118494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200">
                <a:latin typeface="+mn-lt"/>
                <a:ea typeface="+mn-ea"/>
                <a:cs typeface="+mn-cs"/>
              </a:rPr>
              <a:t>Uses total net worth distribution</a:t>
            </a:r>
          </a:p>
          <a:p>
            <a:pPr lvl="1"/>
            <a:r>
              <a:rPr lang="en-US" sz="1200">
                <a:latin typeface="+mn-lt"/>
                <a:ea typeface="+mn-ea"/>
                <a:cs typeface="+mn-cs"/>
              </a:rPr>
              <a:t>Includes real estate and illiquid assets</a:t>
            </a:r>
          </a:p>
          <a:p>
            <a:pPr lvl="1"/>
            <a:r>
              <a:rPr lang="en-US" sz="1200">
                <a:latin typeface="+mn-lt"/>
                <a:ea typeface="+mn-ea"/>
                <a:cs typeface="+mn-cs"/>
              </a:rPr>
              <a:t>Broadest measure of market potential</a:t>
            </a:r>
          </a:p>
        </p:txBody>
      </p:sp>
      <p:sp>
        <p:nvSpPr>
          <p:cNvPr id="76" name="TextBox 75">
            <a:extLst>
              <a:ext uri="{FF2B5EF4-FFF2-40B4-BE49-F238E27FC236}">
                <a16:creationId xmlns:a16="http://schemas.microsoft.com/office/drawing/2014/main" id="{0B201431-1BE5-BBB7-CD53-86AB5A432726}"/>
              </a:ext>
            </a:extLst>
          </p:cNvPr>
          <p:cNvSpPr txBox="1">
            <a:spLocks/>
          </p:cNvSpPr>
          <p:nvPr/>
        </p:nvSpPr>
        <p:spPr>
          <a:xfrm>
            <a:off x="2522574" y="3525257"/>
            <a:ext cx="2200841" cy="77713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200">
                <a:latin typeface="+mn-lt"/>
                <a:ea typeface="+mn-ea"/>
                <a:cs typeface="+mn-cs"/>
              </a:rPr>
              <a:t>Narrows wealth distribution to bankable assets</a:t>
            </a:r>
          </a:p>
          <a:p>
            <a:pPr lvl="1"/>
            <a:r>
              <a:rPr lang="en-US" sz="1200">
                <a:latin typeface="+mn-lt"/>
                <a:ea typeface="+mn-ea"/>
                <a:cs typeface="+mn-cs"/>
              </a:rPr>
              <a:t>Focuses on liquid and investable holdings</a:t>
            </a:r>
          </a:p>
        </p:txBody>
      </p:sp>
      <p:sp>
        <p:nvSpPr>
          <p:cNvPr id="78" name="TextBox 77">
            <a:extLst>
              <a:ext uri="{FF2B5EF4-FFF2-40B4-BE49-F238E27FC236}">
                <a16:creationId xmlns:a16="http://schemas.microsoft.com/office/drawing/2014/main" id="{D9CBB80A-CA0A-3675-AF2F-FD1A6C783AFC}"/>
              </a:ext>
            </a:extLst>
          </p:cNvPr>
          <p:cNvSpPr txBox="1">
            <a:spLocks/>
          </p:cNvSpPr>
          <p:nvPr/>
        </p:nvSpPr>
        <p:spPr>
          <a:xfrm>
            <a:off x="2522574" y="1961570"/>
            <a:ext cx="2200841" cy="100027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200">
                <a:latin typeface="+mn-lt"/>
                <a:ea typeface="+mn-ea"/>
                <a:cs typeface="+mn-cs"/>
              </a:rPr>
              <a:t>Enumerates identifiable wealth-holders</a:t>
            </a:r>
          </a:p>
          <a:p>
            <a:pPr lvl="1"/>
            <a:r>
              <a:rPr lang="en-US" sz="1200">
                <a:latin typeface="+mn-lt"/>
                <a:ea typeface="+mn-ea"/>
                <a:cs typeface="+mn-cs"/>
              </a:rPr>
              <a:t>Includes enterprise owners and senior professionals</a:t>
            </a:r>
          </a:p>
          <a:p>
            <a:pPr lvl="1"/>
            <a:r>
              <a:rPr lang="en-US" sz="1200">
                <a:latin typeface="+mn-lt"/>
                <a:ea typeface="+mn-ea"/>
                <a:cs typeface="+mn-cs"/>
              </a:rPr>
              <a:t>Adjusts for shadow economy</a:t>
            </a:r>
          </a:p>
        </p:txBody>
      </p:sp>
      <p:sp>
        <p:nvSpPr>
          <p:cNvPr id="66" name="TextBox 65">
            <a:extLst>
              <a:ext uri="{FF2B5EF4-FFF2-40B4-BE49-F238E27FC236}">
                <a16:creationId xmlns:a16="http://schemas.microsoft.com/office/drawing/2014/main" id="{18165E4F-662C-C97D-0410-E959D434EDA0}"/>
              </a:ext>
            </a:extLst>
          </p:cNvPr>
          <p:cNvSpPr txBox="1">
            <a:spLocks/>
          </p:cNvSpPr>
          <p:nvPr/>
        </p:nvSpPr>
        <p:spPr>
          <a:xfrm>
            <a:off x="554733" y="1531078"/>
            <a:ext cx="1783080" cy="21544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latin typeface="+mn-lt"/>
                <a:ea typeface="+mn-ea"/>
                <a:cs typeface="+mn-cs"/>
              </a:rPr>
              <a:t>Approach Name</a:t>
            </a:r>
          </a:p>
        </p:txBody>
      </p:sp>
      <p:sp>
        <p:nvSpPr>
          <p:cNvPr id="80" name="TextBox 79">
            <a:extLst>
              <a:ext uri="{FF2B5EF4-FFF2-40B4-BE49-F238E27FC236}">
                <a16:creationId xmlns:a16="http://schemas.microsoft.com/office/drawing/2014/main" id="{B4D54A47-62D3-AB39-9525-1709B30B8BF3}"/>
              </a:ext>
            </a:extLst>
          </p:cNvPr>
          <p:cNvSpPr txBox="1">
            <a:spLocks/>
          </p:cNvSpPr>
          <p:nvPr/>
        </p:nvSpPr>
        <p:spPr>
          <a:xfrm>
            <a:off x="2522574" y="1531078"/>
            <a:ext cx="2200841"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latin typeface="+mn-lt"/>
                <a:ea typeface="+mn-ea"/>
                <a:cs typeface="+mn-cs"/>
              </a:rPr>
              <a:t>Description</a:t>
            </a:r>
          </a:p>
        </p:txBody>
      </p:sp>
      <p:sp>
        <p:nvSpPr>
          <p:cNvPr id="171" name="Rectangle 170">
            <a:extLst>
              <a:ext uri="{FF2B5EF4-FFF2-40B4-BE49-F238E27FC236}">
                <a16:creationId xmlns:a16="http://schemas.microsoft.com/office/drawing/2014/main" id="{52956CC2-1A5B-8BC2-5E01-51750C6B4A82}"/>
              </a:ext>
            </a:extLst>
          </p:cNvPr>
          <p:cNvSpPr>
            <a:spLocks/>
          </p:cNvSpPr>
          <p:nvPr/>
        </p:nvSpPr>
        <p:spPr>
          <a:xfrm>
            <a:off x="5140643" y="1203750"/>
            <a:ext cx="6496619" cy="5126036"/>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183" name="Trapezoid 182">
            <a:extLst>
              <a:ext uri="{FF2B5EF4-FFF2-40B4-BE49-F238E27FC236}">
                <a16:creationId xmlns:a16="http://schemas.microsoft.com/office/drawing/2014/main" id="{A16E7833-961D-F6EC-0DE3-022DE67B26DA}"/>
              </a:ext>
            </a:extLst>
          </p:cNvPr>
          <p:cNvSpPr/>
          <p:nvPr/>
        </p:nvSpPr>
        <p:spPr>
          <a:xfrm rot="16200000" flipH="1">
            <a:off x="2429603" y="3618742"/>
            <a:ext cx="5126030" cy="296046"/>
          </a:xfrm>
          <a:custGeom>
            <a:avLst/>
            <a:gdLst>
              <a:gd name="csX0" fmla="*/ 0 w 5126030"/>
              <a:gd name="csY0" fmla="*/ 292871 h 292871"/>
              <a:gd name="csX1" fmla="*/ 610247 w 5126030"/>
              <a:gd name="csY1" fmla="*/ 0 h 292871"/>
              <a:gd name="csX2" fmla="*/ 4515783 w 5126030"/>
              <a:gd name="csY2" fmla="*/ 0 h 292871"/>
              <a:gd name="csX3" fmla="*/ 5126030 w 5126030"/>
              <a:gd name="csY3" fmla="*/ 292871 h 292871"/>
              <a:gd name="csX4" fmla="*/ 0 w 5126030"/>
              <a:gd name="csY4" fmla="*/ 292871 h 292871"/>
              <a:gd name="csX0" fmla="*/ 0 w 5126030"/>
              <a:gd name="csY0" fmla="*/ 292871 h 292871"/>
              <a:gd name="csX1" fmla="*/ 610247 w 5126030"/>
              <a:gd name="csY1" fmla="*/ 0 h 292871"/>
              <a:gd name="csX2" fmla="*/ 2972736 w 5126030"/>
              <a:gd name="csY2" fmla="*/ 98425 h 292871"/>
              <a:gd name="csX3" fmla="*/ 5126030 w 5126030"/>
              <a:gd name="csY3" fmla="*/ 292871 h 292871"/>
              <a:gd name="csX4" fmla="*/ 0 w 5126030"/>
              <a:gd name="csY4" fmla="*/ 292871 h 292871"/>
              <a:gd name="csX0" fmla="*/ 0 w 5126030"/>
              <a:gd name="csY0" fmla="*/ 296046 h 296046"/>
              <a:gd name="csX1" fmla="*/ 610247 w 5126030"/>
              <a:gd name="csY1" fmla="*/ 3175 h 296046"/>
              <a:gd name="csX2" fmla="*/ 1985314 w 5126030"/>
              <a:gd name="csY2" fmla="*/ 0 h 296046"/>
              <a:gd name="csX3" fmla="*/ 5126030 w 5126030"/>
              <a:gd name="csY3" fmla="*/ 296046 h 296046"/>
              <a:gd name="csX4" fmla="*/ 0 w 5126030"/>
              <a:gd name="csY4" fmla="*/ 296046 h 296046"/>
            </a:gdLst>
            <a:ahLst/>
            <a:cxnLst>
              <a:cxn ang="0">
                <a:pos x="csX0" y="csY0"/>
              </a:cxn>
              <a:cxn ang="0">
                <a:pos x="csX1" y="csY1"/>
              </a:cxn>
              <a:cxn ang="0">
                <a:pos x="csX2" y="csY2"/>
              </a:cxn>
              <a:cxn ang="0">
                <a:pos x="csX3" y="csY3"/>
              </a:cxn>
              <a:cxn ang="0">
                <a:pos x="csX4" y="csY4"/>
              </a:cxn>
            </a:cxnLst>
            <a:rect l="l" t="t" r="r" b="b"/>
            <a:pathLst>
              <a:path w="5126030" h="296046">
                <a:moveTo>
                  <a:pt x="0" y="296046"/>
                </a:moveTo>
                <a:lnTo>
                  <a:pt x="610247" y="3175"/>
                </a:lnTo>
                <a:lnTo>
                  <a:pt x="1985314" y="0"/>
                </a:lnTo>
                <a:lnTo>
                  <a:pt x="5126030" y="296046"/>
                </a:lnTo>
                <a:lnTo>
                  <a:pt x="0" y="296046"/>
                </a:lnTo>
                <a:close/>
              </a:path>
            </a:pathLst>
          </a:custGeom>
          <a:solidFill>
            <a:schemeClr val="accent6">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11" name="Connector 1008">
            <a:extLst>
              <a:ext uri="{FF2B5EF4-FFF2-40B4-BE49-F238E27FC236}">
                <a16:creationId xmlns:a16="http://schemas.microsoft.com/office/drawing/2014/main" id="{BE2F4132-EEE9-0008-2AE0-CFC7F90AC17D}"/>
              </a:ext>
            </a:extLst>
          </p:cNvPr>
          <p:cNvCxnSpPr>
            <a:cxnSpLocks/>
          </p:cNvCxnSpPr>
          <p:nvPr/>
        </p:nvCxnSpPr>
        <p:spPr>
          <a:xfrm>
            <a:off x="554734" y="3187766"/>
            <a:ext cx="429303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2" name="Connector 1012">
            <a:extLst>
              <a:ext uri="{FF2B5EF4-FFF2-40B4-BE49-F238E27FC236}">
                <a16:creationId xmlns:a16="http://schemas.microsoft.com/office/drawing/2014/main" id="{659F231E-8C53-12CD-6315-2521D7EA7300}"/>
              </a:ext>
            </a:extLst>
          </p:cNvPr>
          <p:cNvCxnSpPr>
            <a:cxnSpLocks/>
          </p:cNvCxnSpPr>
          <p:nvPr/>
        </p:nvCxnSpPr>
        <p:spPr>
          <a:xfrm>
            <a:off x="554734" y="4639885"/>
            <a:ext cx="429303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2CDF4D61-5319-3DD2-416A-EB239865E408}"/>
              </a:ext>
            </a:extLst>
          </p:cNvPr>
          <p:cNvGrpSpPr/>
          <p:nvPr/>
        </p:nvGrpSpPr>
        <p:grpSpPr>
          <a:xfrm>
            <a:off x="5349257" y="1315635"/>
            <a:ext cx="6079391" cy="4846845"/>
            <a:chOff x="5349257" y="1315635"/>
            <a:chExt cx="6079391" cy="4846845"/>
          </a:xfrm>
        </p:grpSpPr>
        <p:sp>
          <p:nvSpPr>
            <p:cNvPr id="82" name="TextBox 81">
              <a:extLst>
                <a:ext uri="{FF2B5EF4-FFF2-40B4-BE49-F238E27FC236}">
                  <a16:creationId xmlns:a16="http://schemas.microsoft.com/office/drawing/2014/main" id="{A6C9DAD6-E3BC-BCC1-868B-69FB13D0D5A5}"/>
                </a:ext>
              </a:extLst>
            </p:cNvPr>
            <p:cNvSpPr txBox="1">
              <a:spLocks/>
            </p:cNvSpPr>
            <p:nvPr/>
          </p:nvSpPr>
          <p:spPr>
            <a:xfrm>
              <a:off x="5349257" y="1315635"/>
              <a:ext cx="6079391"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latin typeface="+mn-lt"/>
                  <a:ea typeface="+mn-ea"/>
                  <a:cs typeface="+mn-cs"/>
                </a:rPr>
                <a:t>A. Bottom-up approach highlights ~6.2k eligible individuals across key wealth-holder segments  </a:t>
              </a:r>
            </a:p>
          </p:txBody>
        </p:sp>
        <p:sp>
          <p:nvSpPr>
            <p:cNvPr id="86" name="TextBox 85">
              <a:extLst>
                <a:ext uri="{FF2B5EF4-FFF2-40B4-BE49-F238E27FC236}">
                  <a16:creationId xmlns:a16="http://schemas.microsoft.com/office/drawing/2014/main" id="{625429F0-5363-9872-1E04-6618FD2B0537}"/>
                </a:ext>
              </a:extLst>
            </p:cNvPr>
            <p:cNvSpPr txBox="1">
              <a:spLocks/>
            </p:cNvSpPr>
            <p:nvPr/>
          </p:nvSpPr>
          <p:spPr>
            <a:xfrm>
              <a:off x="7086379" y="1869237"/>
              <a:ext cx="968827" cy="430887"/>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latin typeface="+mn-lt"/>
                </a:rPr>
                <a:t># individuals</a:t>
              </a:r>
            </a:p>
          </p:txBody>
        </p:sp>
        <p:sp>
          <p:nvSpPr>
            <p:cNvPr id="84" name="TextBox 83">
              <a:extLst>
                <a:ext uri="{FF2B5EF4-FFF2-40B4-BE49-F238E27FC236}">
                  <a16:creationId xmlns:a16="http://schemas.microsoft.com/office/drawing/2014/main" id="{7974FABF-CAED-FB1B-49AC-00249A8D1175}"/>
                </a:ext>
              </a:extLst>
            </p:cNvPr>
            <p:cNvSpPr txBox="1">
              <a:spLocks/>
            </p:cNvSpPr>
            <p:nvPr/>
          </p:nvSpPr>
          <p:spPr>
            <a:xfrm>
              <a:off x="5349257" y="2084680"/>
              <a:ext cx="1528508" cy="215444"/>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latin typeface="+mn-lt"/>
                </a:rPr>
                <a:t>Component</a:t>
              </a:r>
            </a:p>
          </p:txBody>
        </p:sp>
        <p:sp>
          <p:nvSpPr>
            <p:cNvPr id="88" name="TextBox 87">
              <a:extLst>
                <a:ext uri="{FF2B5EF4-FFF2-40B4-BE49-F238E27FC236}">
                  <a16:creationId xmlns:a16="http://schemas.microsoft.com/office/drawing/2014/main" id="{62A54E58-6282-B614-82C9-829A35476F15}"/>
                </a:ext>
              </a:extLst>
            </p:cNvPr>
            <p:cNvSpPr txBox="1">
              <a:spLocks/>
            </p:cNvSpPr>
            <p:nvPr/>
          </p:nvSpPr>
          <p:spPr>
            <a:xfrm>
              <a:off x="8263820" y="2084680"/>
              <a:ext cx="3164828" cy="215444"/>
            </a:xfrm>
            <a:prstGeom prst="rect">
              <a:avLst/>
            </a:prstGeom>
            <a:ln>
              <a:noFill/>
            </a:ln>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latin typeface="+mn-lt"/>
                </a:rPr>
                <a:t>Estimation base</a:t>
              </a:r>
            </a:p>
          </p:txBody>
        </p:sp>
        <p:sp>
          <p:nvSpPr>
            <p:cNvPr id="92" name="TextBox 91">
              <a:extLst>
                <a:ext uri="{FF2B5EF4-FFF2-40B4-BE49-F238E27FC236}">
                  <a16:creationId xmlns:a16="http://schemas.microsoft.com/office/drawing/2014/main" id="{D4319B8D-F337-CA8B-E912-AD505954A0AA}"/>
                </a:ext>
              </a:extLst>
            </p:cNvPr>
            <p:cNvSpPr txBox="1">
              <a:spLocks/>
            </p:cNvSpPr>
            <p:nvPr/>
          </p:nvSpPr>
          <p:spPr>
            <a:xfrm>
              <a:off x="7086379" y="2367420"/>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804</a:t>
              </a:r>
            </a:p>
          </p:txBody>
        </p:sp>
        <p:sp>
          <p:nvSpPr>
            <p:cNvPr id="90" name="TextBox 89">
              <a:extLst>
                <a:ext uri="{FF2B5EF4-FFF2-40B4-BE49-F238E27FC236}">
                  <a16:creationId xmlns:a16="http://schemas.microsoft.com/office/drawing/2014/main" id="{F30FC1A3-3241-9396-8862-7673BD1B0E77}"/>
                </a:ext>
              </a:extLst>
            </p:cNvPr>
            <p:cNvSpPr txBox="1">
              <a:spLocks/>
            </p:cNvSpPr>
            <p:nvPr/>
          </p:nvSpPr>
          <p:spPr>
            <a:xfrm>
              <a:off x="5349257" y="2367420"/>
              <a:ext cx="152850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Large Enterprise Owners</a:t>
              </a:r>
            </a:p>
          </p:txBody>
        </p:sp>
        <p:sp>
          <p:nvSpPr>
            <p:cNvPr id="94" name="TextBox 93">
              <a:extLst>
                <a:ext uri="{FF2B5EF4-FFF2-40B4-BE49-F238E27FC236}">
                  <a16:creationId xmlns:a16="http://schemas.microsoft.com/office/drawing/2014/main" id="{C1DFE4C9-9D59-1F00-BA86-1754F2816E2D}"/>
                </a:ext>
              </a:extLst>
            </p:cNvPr>
            <p:cNvSpPr txBox="1">
              <a:spLocks/>
            </p:cNvSpPr>
            <p:nvPr/>
          </p:nvSpPr>
          <p:spPr>
            <a:xfrm>
              <a:off x="8263820" y="2367420"/>
              <a:ext cx="316482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Count of large enterprises, adjusted for domestic-private share and multiple principals</a:t>
              </a:r>
            </a:p>
          </p:txBody>
        </p:sp>
        <p:sp>
          <p:nvSpPr>
            <p:cNvPr id="98" name="TextBox 97">
              <a:extLst>
                <a:ext uri="{FF2B5EF4-FFF2-40B4-BE49-F238E27FC236}">
                  <a16:creationId xmlns:a16="http://schemas.microsoft.com/office/drawing/2014/main" id="{551F5BE9-75A4-2DD9-CD5B-26591FDC542F}"/>
                </a:ext>
              </a:extLst>
            </p:cNvPr>
            <p:cNvSpPr txBox="1">
              <a:spLocks/>
            </p:cNvSpPr>
            <p:nvPr/>
          </p:nvSpPr>
          <p:spPr>
            <a:xfrm>
              <a:off x="7086379" y="2804048"/>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895</a:t>
              </a:r>
            </a:p>
          </p:txBody>
        </p:sp>
        <p:sp>
          <p:nvSpPr>
            <p:cNvPr id="96" name="TextBox 95">
              <a:extLst>
                <a:ext uri="{FF2B5EF4-FFF2-40B4-BE49-F238E27FC236}">
                  <a16:creationId xmlns:a16="http://schemas.microsoft.com/office/drawing/2014/main" id="{D4DCAB2A-DF49-3B7A-0337-2022C681389F}"/>
                </a:ext>
              </a:extLst>
            </p:cNvPr>
            <p:cNvSpPr txBox="1">
              <a:spLocks/>
            </p:cNvSpPr>
            <p:nvPr/>
          </p:nvSpPr>
          <p:spPr>
            <a:xfrm>
              <a:off x="5349257" y="2804048"/>
              <a:ext cx="152850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Upper-Medium Enterprise Owners</a:t>
              </a:r>
            </a:p>
          </p:txBody>
        </p:sp>
        <p:sp>
          <p:nvSpPr>
            <p:cNvPr id="100" name="TextBox 99">
              <a:extLst>
                <a:ext uri="{FF2B5EF4-FFF2-40B4-BE49-F238E27FC236}">
                  <a16:creationId xmlns:a16="http://schemas.microsoft.com/office/drawing/2014/main" id="{EBAA0A1B-5EF9-F865-AA91-844D3622399D}"/>
                </a:ext>
              </a:extLst>
            </p:cNvPr>
            <p:cNvSpPr txBox="1">
              <a:spLocks/>
            </p:cNvSpPr>
            <p:nvPr/>
          </p:nvSpPr>
          <p:spPr>
            <a:xfrm>
              <a:off x="8263820" y="2804048"/>
              <a:ext cx="3164828" cy="553998"/>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Count of medium enterprises in the upper quadrant of the AZN 3-30M band, adjusted for domestic-private share and multiple principals</a:t>
              </a:r>
            </a:p>
          </p:txBody>
        </p:sp>
        <p:sp>
          <p:nvSpPr>
            <p:cNvPr id="104" name="TextBox 103">
              <a:extLst>
                <a:ext uri="{FF2B5EF4-FFF2-40B4-BE49-F238E27FC236}">
                  <a16:creationId xmlns:a16="http://schemas.microsoft.com/office/drawing/2014/main" id="{CBA7E3F4-CAEC-451E-E396-11CEE557E527}"/>
                </a:ext>
              </a:extLst>
            </p:cNvPr>
            <p:cNvSpPr txBox="1">
              <a:spLocks/>
            </p:cNvSpPr>
            <p:nvPr/>
          </p:nvSpPr>
          <p:spPr>
            <a:xfrm>
              <a:off x="7086379" y="3425342"/>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3,500</a:t>
              </a:r>
            </a:p>
          </p:txBody>
        </p:sp>
        <p:sp>
          <p:nvSpPr>
            <p:cNvPr id="102" name="TextBox 101">
              <a:extLst>
                <a:ext uri="{FF2B5EF4-FFF2-40B4-BE49-F238E27FC236}">
                  <a16:creationId xmlns:a16="http://schemas.microsoft.com/office/drawing/2014/main" id="{5235C4AB-EE0C-6B5C-861E-CB4386F99DCB}"/>
                </a:ext>
              </a:extLst>
            </p:cNvPr>
            <p:cNvSpPr txBox="1">
              <a:spLocks/>
            </p:cNvSpPr>
            <p:nvPr/>
          </p:nvSpPr>
          <p:spPr>
            <a:xfrm>
              <a:off x="5349257" y="3425342"/>
              <a:ext cx="152850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Oil &amp; Gas Salaried Professionals</a:t>
              </a:r>
            </a:p>
          </p:txBody>
        </p:sp>
        <p:sp>
          <p:nvSpPr>
            <p:cNvPr id="106" name="TextBox 105">
              <a:extLst>
                <a:ext uri="{FF2B5EF4-FFF2-40B4-BE49-F238E27FC236}">
                  <a16:creationId xmlns:a16="http://schemas.microsoft.com/office/drawing/2014/main" id="{FFE5A3B5-3711-4799-482A-E331832478D3}"/>
                </a:ext>
              </a:extLst>
            </p:cNvPr>
            <p:cNvSpPr txBox="1">
              <a:spLocks/>
            </p:cNvSpPr>
            <p:nvPr/>
          </p:nvSpPr>
          <p:spPr>
            <a:xfrm>
              <a:off x="8263820" y="3425342"/>
              <a:ext cx="316482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Senior salaried oil &amp; gas professionals (SOCAR, BP, other IOCs) above the income/wealth bar</a:t>
              </a:r>
            </a:p>
          </p:txBody>
        </p:sp>
        <p:sp>
          <p:nvSpPr>
            <p:cNvPr id="110" name="TextBox 109">
              <a:extLst>
                <a:ext uri="{FF2B5EF4-FFF2-40B4-BE49-F238E27FC236}">
                  <a16:creationId xmlns:a16="http://schemas.microsoft.com/office/drawing/2014/main" id="{65582479-2526-7868-DF39-288A96E37B87}"/>
                </a:ext>
              </a:extLst>
            </p:cNvPr>
            <p:cNvSpPr txBox="1">
              <a:spLocks/>
            </p:cNvSpPr>
            <p:nvPr/>
          </p:nvSpPr>
          <p:spPr>
            <a:xfrm>
              <a:off x="7086379" y="3861970"/>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605</a:t>
              </a:r>
            </a:p>
          </p:txBody>
        </p:sp>
        <p:sp>
          <p:nvSpPr>
            <p:cNvPr id="108" name="TextBox 107">
              <a:extLst>
                <a:ext uri="{FF2B5EF4-FFF2-40B4-BE49-F238E27FC236}">
                  <a16:creationId xmlns:a16="http://schemas.microsoft.com/office/drawing/2014/main" id="{C1A7D60B-29DE-5752-737F-256514D8A4D0}"/>
                </a:ext>
              </a:extLst>
            </p:cNvPr>
            <p:cNvSpPr txBox="1">
              <a:spLocks/>
            </p:cNvSpPr>
            <p:nvPr/>
          </p:nvSpPr>
          <p:spPr>
            <a:xfrm>
              <a:off x="5349257" y="3861970"/>
              <a:ext cx="152850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Non-Oil Professional HNWIs</a:t>
              </a:r>
            </a:p>
          </p:txBody>
        </p:sp>
        <p:sp>
          <p:nvSpPr>
            <p:cNvPr id="112" name="TextBox 111">
              <a:extLst>
                <a:ext uri="{FF2B5EF4-FFF2-40B4-BE49-F238E27FC236}">
                  <a16:creationId xmlns:a16="http://schemas.microsoft.com/office/drawing/2014/main" id="{85DB4803-E83B-4510-B1D1-E62179317266}"/>
                </a:ext>
              </a:extLst>
            </p:cNvPr>
            <p:cNvSpPr txBox="1">
              <a:spLocks/>
            </p:cNvSpPr>
            <p:nvPr/>
          </p:nvSpPr>
          <p:spPr>
            <a:xfrm>
              <a:off x="8263820" y="3861970"/>
              <a:ext cx="3164828" cy="553998"/>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High-net-worth non-oil professionals across international orgs, government, law, real estate and tech</a:t>
              </a:r>
            </a:p>
          </p:txBody>
        </p:sp>
        <p:sp>
          <p:nvSpPr>
            <p:cNvPr id="116" name="TextBox 115">
              <a:extLst>
                <a:ext uri="{FF2B5EF4-FFF2-40B4-BE49-F238E27FC236}">
                  <a16:creationId xmlns:a16="http://schemas.microsoft.com/office/drawing/2014/main" id="{0EFC0B0A-CC1C-EECB-5597-AE59B1ABA627}"/>
                </a:ext>
              </a:extLst>
            </p:cNvPr>
            <p:cNvSpPr txBox="1">
              <a:spLocks/>
            </p:cNvSpPr>
            <p:nvPr/>
          </p:nvSpPr>
          <p:spPr>
            <a:xfrm>
              <a:off x="7086379" y="4483264"/>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900</a:t>
              </a:r>
            </a:p>
          </p:txBody>
        </p:sp>
        <p:sp>
          <p:nvSpPr>
            <p:cNvPr id="114" name="TextBox 113">
              <a:extLst>
                <a:ext uri="{FF2B5EF4-FFF2-40B4-BE49-F238E27FC236}">
                  <a16:creationId xmlns:a16="http://schemas.microsoft.com/office/drawing/2014/main" id="{BA4A4FC5-8506-DF5C-CED1-7D9222B01CE4}"/>
                </a:ext>
              </a:extLst>
            </p:cNvPr>
            <p:cNvSpPr txBox="1">
              <a:spLocks/>
            </p:cNvSpPr>
            <p:nvPr/>
          </p:nvSpPr>
          <p:spPr>
            <a:xfrm>
              <a:off x="5349257" y="4483264"/>
              <a:ext cx="152850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Shadow Economy Adjustment</a:t>
              </a:r>
            </a:p>
          </p:txBody>
        </p:sp>
        <p:sp>
          <p:nvSpPr>
            <p:cNvPr id="118" name="TextBox 117">
              <a:extLst>
                <a:ext uri="{FF2B5EF4-FFF2-40B4-BE49-F238E27FC236}">
                  <a16:creationId xmlns:a16="http://schemas.microsoft.com/office/drawing/2014/main" id="{3C904C33-7F3A-40CC-6361-622ADA23D3CA}"/>
                </a:ext>
              </a:extLst>
            </p:cNvPr>
            <p:cNvSpPr txBox="1">
              <a:spLocks/>
            </p:cNvSpPr>
            <p:nvPr/>
          </p:nvSpPr>
          <p:spPr>
            <a:xfrm>
              <a:off x="8263820" y="4483264"/>
              <a:ext cx="316482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Informally-held wealth not captured in registries, sized to the shadow economy</a:t>
              </a:r>
            </a:p>
          </p:txBody>
        </p:sp>
        <p:sp>
          <p:nvSpPr>
            <p:cNvPr id="122" name="TextBox 121">
              <a:extLst>
                <a:ext uri="{FF2B5EF4-FFF2-40B4-BE49-F238E27FC236}">
                  <a16:creationId xmlns:a16="http://schemas.microsoft.com/office/drawing/2014/main" id="{4CA47C7D-FFEC-D6E1-F78C-59EB957A1B99}"/>
                </a:ext>
              </a:extLst>
            </p:cNvPr>
            <p:cNvSpPr txBox="1">
              <a:spLocks/>
            </p:cNvSpPr>
            <p:nvPr/>
          </p:nvSpPr>
          <p:spPr>
            <a:xfrm>
              <a:off x="7086379" y="4919892"/>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rPr>
                <a:t>6,704</a:t>
              </a:r>
            </a:p>
          </p:txBody>
        </p:sp>
        <p:sp>
          <p:nvSpPr>
            <p:cNvPr id="120" name="TextBox 119">
              <a:extLst>
                <a:ext uri="{FF2B5EF4-FFF2-40B4-BE49-F238E27FC236}">
                  <a16:creationId xmlns:a16="http://schemas.microsoft.com/office/drawing/2014/main" id="{0F796F26-BCEA-173F-AB1E-F299F7294BE1}"/>
                </a:ext>
              </a:extLst>
            </p:cNvPr>
            <p:cNvSpPr txBox="1">
              <a:spLocks/>
            </p:cNvSpPr>
            <p:nvPr/>
          </p:nvSpPr>
          <p:spPr>
            <a:xfrm>
              <a:off x="5349257" y="4919892"/>
              <a:ext cx="1528508"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rPr>
                <a:t>Gross addressable</a:t>
              </a:r>
            </a:p>
          </p:txBody>
        </p:sp>
        <p:sp>
          <p:nvSpPr>
            <p:cNvPr id="124" name="TextBox 123">
              <a:extLst>
                <a:ext uri="{FF2B5EF4-FFF2-40B4-BE49-F238E27FC236}">
                  <a16:creationId xmlns:a16="http://schemas.microsoft.com/office/drawing/2014/main" id="{63D139E7-3147-386F-6044-93AD935906EB}"/>
                </a:ext>
              </a:extLst>
            </p:cNvPr>
            <p:cNvSpPr txBox="1">
              <a:spLocks/>
            </p:cNvSpPr>
            <p:nvPr/>
          </p:nvSpPr>
          <p:spPr>
            <a:xfrm>
              <a:off x="8263820" y="4919892"/>
              <a:ext cx="316482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Sum of all qualifying segments before removing double-counting</a:t>
              </a:r>
            </a:p>
          </p:txBody>
        </p:sp>
        <p:sp>
          <p:nvSpPr>
            <p:cNvPr id="128" name="TextBox 127">
              <a:extLst>
                <a:ext uri="{FF2B5EF4-FFF2-40B4-BE49-F238E27FC236}">
                  <a16:creationId xmlns:a16="http://schemas.microsoft.com/office/drawing/2014/main" id="{F5FE9526-2B83-C0C9-76C8-A62075291552}"/>
                </a:ext>
              </a:extLst>
            </p:cNvPr>
            <p:cNvSpPr txBox="1">
              <a:spLocks/>
            </p:cNvSpPr>
            <p:nvPr/>
          </p:nvSpPr>
          <p:spPr>
            <a:xfrm>
              <a:off x="7086379" y="5356520"/>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(500)</a:t>
              </a:r>
            </a:p>
          </p:txBody>
        </p:sp>
        <p:sp>
          <p:nvSpPr>
            <p:cNvPr id="126" name="TextBox 125">
              <a:extLst>
                <a:ext uri="{FF2B5EF4-FFF2-40B4-BE49-F238E27FC236}">
                  <a16:creationId xmlns:a16="http://schemas.microsoft.com/office/drawing/2014/main" id="{B0EA9EC9-57CA-C2F5-E156-BA7C18DA1209}"/>
                </a:ext>
              </a:extLst>
            </p:cNvPr>
            <p:cNvSpPr txBox="1">
              <a:spLocks/>
            </p:cNvSpPr>
            <p:nvPr/>
          </p:nvSpPr>
          <p:spPr>
            <a:xfrm>
              <a:off x="5349257" y="5356520"/>
              <a:ext cx="1528508"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Systematic overlaps</a:t>
              </a:r>
            </a:p>
          </p:txBody>
        </p:sp>
        <p:sp>
          <p:nvSpPr>
            <p:cNvPr id="130" name="TextBox 129">
              <a:extLst>
                <a:ext uri="{FF2B5EF4-FFF2-40B4-BE49-F238E27FC236}">
                  <a16:creationId xmlns:a16="http://schemas.microsoft.com/office/drawing/2014/main" id="{D43AB478-B31F-4805-F310-C24921A0797D}"/>
                </a:ext>
              </a:extLst>
            </p:cNvPr>
            <p:cNvSpPr txBox="1">
              <a:spLocks/>
            </p:cNvSpPr>
            <p:nvPr/>
          </p:nvSpPr>
          <p:spPr>
            <a:xfrm>
              <a:off x="8263820" y="5356520"/>
              <a:ext cx="316482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Individuals appearing in more than one segment, deducted to count once</a:t>
              </a:r>
            </a:p>
          </p:txBody>
        </p:sp>
        <p:sp>
          <p:nvSpPr>
            <p:cNvPr id="134" name="TextBox 133">
              <a:extLst>
                <a:ext uri="{FF2B5EF4-FFF2-40B4-BE49-F238E27FC236}">
                  <a16:creationId xmlns:a16="http://schemas.microsoft.com/office/drawing/2014/main" id="{3A361AC8-AD93-E79A-A329-2045A66FD6BB}"/>
                </a:ext>
              </a:extLst>
            </p:cNvPr>
            <p:cNvSpPr txBox="1">
              <a:spLocks/>
            </p:cNvSpPr>
            <p:nvPr/>
          </p:nvSpPr>
          <p:spPr>
            <a:xfrm>
              <a:off x="7086379" y="5793148"/>
              <a:ext cx="968827"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rPr>
                <a:t>6,204</a:t>
              </a:r>
            </a:p>
          </p:txBody>
        </p:sp>
        <p:sp>
          <p:nvSpPr>
            <p:cNvPr id="132" name="TextBox 131">
              <a:extLst>
                <a:ext uri="{FF2B5EF4-FFF2-40B4-BE49-F238E27FC236}">
                  <a16:creationId xmlns:a16="http://schemas.microsoft.com/office/drawing/2014/main" id="{DD805D06-5E64-310B-BBFF-A11A190654A6}"/>
                </a:ext>
              </a:extLst>
            </p:cNvPr>
            <p:cNvSpPr txBox="1">
              <a:spLocks/>
            </p:cNvSpPr>
            <p:nvPr/>
          </p:nvSpPr>
          <p:spPr>
            <a:xfrm>
              <a:off x="5349257" y="5793148"/>
              <a:ext cx="1528508" cy="184666"/>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latin typeface="+mn-lt"/>
                </a:rPr>
                <a:t>Net eligible</a:t>
              </a:r>
            </a:p>
          </p:txBody>
        </p:sp>
        <p:sp>
          <p:nvSpPr>
            <p:cNvPr id="136" name="TextBox 135">
              <a:extLst>
                <a:ext uri="{FF2B5EF4-FFF2-40B4-BE49-F238E27FC236}">
                  <a16:creationId xmlns:a16="http://schemas.microsoft.com/office/drawing/2014/main" id="{FE29269B-819A-C0AD-1DF5-F7AAEA13C52B}"/>
                </a:ext>
              </a:extLst>
            </p:cNvPr>
            <p:cNvSpPr txBox="1">
              <a:spLocks/>
            </p:cNvSpPr>
            <p:nvPr/>
          </p:nvSpPr>
          <p:spPr>
            <a:xfrm>
              <a:off x="8263820" y="5793148"/>
              <a:ext cx="3164828" cy="369332"/>
            </a:xfrm>
            <a:prstGeom prst="rect">
              <a:avLst/>
            </a:prstGeom>
            <a:ln>
              <a:noFill/>
            </a:ln>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rPr>
                <a:t>Net unique private-banking-eligible individuals after overlap adjustment</a:t>
              </a:r>
            </a:p>
          </p:txBody>
        </p:sp>
        <p:cxnSp>
          <p:nvCxnSpPr>
            <p:cNvPr id="148" name="Connector 1004">
              <a:extLst>
                <a:ext uri="{FF2B5EF4-FFF2-40B4-BE49-F238E27FC236}">
                  <a16:creationId xmlns:a16="http://schemas.microsoft.com/office/drawing/2014/main" id="{125A8B93-7F0A-050E-C0A1-79921E0607F0}"/>
                </a:ext>
              </a:extLst>
            </p:cNvPr>
            <p:cNvCxnSpPr>
              <a:cxnSpLocks/>
            </p:cNvCxnSpPr>
            <p:nvPr/>
          </p:nvCxnSpPr>
          <p:spPr>
            <a:xfrm>
              <a:off x="5349257" y="1801941"/>
              <a:ext cx="6079391"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59" name="Connector 1004">
              <a:extLst>
                <a:ext uri="{FF2B5EF4-FFF2-40B4-BE49-F238E27FC236}">
                  <a16:creationId xmlns:a16="http://schemas.microsoft.com/office/drawing/2014/main" id="{B0313771-3BB4-F1D9-2E18-41291B1A9710}"/>
                </a:ext>
              </a:extLst>
            </p:cNvPr>
            <p:cNvCxnSpPr>
              <a:cxnSpLocks/>
            </p:cNvCxnSpPr>
            <p:nvPr/>
          </p:nvCxnSpPr>
          <p:spPr>
            <a:xfrm>
              <a:off x="5349257" y="2333772"/>
              <a:ext cx="6079391"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0" name="Connector 1004">
              <a:extLst>
                <a:ext uri="{FF2B5EF4-FFF2-40B4-BE49-F238E27FC236}">
                  <a16:creationId xmlns:a16="http://schemas.microsoft.com/office/drawing/2014/main" id="{7B45A6DE-8EAA-6D74-FDE6-42CE72809BB2}"/>
                </a:ext>
              </a:extLst>
            </p:cNvPr>
            <p:cNvCxnSpPr>
              <a:cxnSpLocks/>
            </p:cNvCxnSpPr>
            <p:nvPr/>
          </p:nvCxnSpPr>
          <p:spPr>
            <a:xfrm>
              <a:off x="5349257" y="2770400"/>
              <a:ext cx="607939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1" name="Connector 1004">
              <a:extLst>
                <a:ext uri="{FF2B5EF4-FFF2-40B4-BE49-F238E27FC236}">
                  <a16:creationId xmlns:a16="http://schemas.microsoft.com/office/drawing/2014/main" id="{83E9BD9D-8369-69F3-78A5-DDEE88377428}"/>
                </a:ext>
              </a:extLst>
            </p:cNvPr>
            <p:cNvCxnSpPr>
              <a:cxnSpLocks/>
            </p:cNvCxnSpPr>
            <p:nvPr/>
          </p:nvCxnSpPr>
          <p:spPr>
            <a:xfrm>
              <a:off x="5349257" y="3391694"/>
              <a:ext cx="607939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2" name="Connector 1004">
              <a:extLst>
                <a:ext uri="{FF2B5EF4-FFF2-40B4-BE49-F238E27FC236}">
                  <a16:creationId xmlns:a16="http://schemas.microsoft.com/office/drawing/2014/main" id="{576C0DC1-3C88-7E63-D3EA-6B451A2FBCE3}"/>
                </a:ext>
              </a:extLst>
            </p:cNvPr>
            <p:cNvCxnSpPr>
              <a:cxnSpLocks/>
            </p:cNvCxnSpPr>
            <p:nvPr/>
          </p:nvCxnSpPr>
          <p:spPr>
            <a:xfrm>
              <a:off x="5349257" y="3828322"/>
              <a:ext cx="607939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3" name="Connector 1004">
              <a:extLst>
                <a:ext uri="{FF2B5EF4-FFF2-40B4-BE49-F238E27FC236}">
                  <a16:creationId xmlns:a16="http://schemas.microsoft.com/office/drawing/2014/main" id="{510EDD8B-C510-B137-BDD4-CB00F5B636F3}"/>
                </a:ext>
              </a:extLst>
            </p:cNvPr>
            <p:cNvCxnSpPr>
              <a:cxnSpLocks/>
            </p:cNvCxnSpPr>
            <p:nvPr/>
          </p:nvCxnSpPr>
          <p:spPr>
            <a:xfrm>
              <a:off x="5349257" y="4449616"/>
              <a:ext cx="607939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4" name="Connector 1004">
              <a:extLst>
                <a:ext uri="{FF2B5EF4-FFF2-40B4-BE49-F238E27FC236}">
                  <a16:creationId xmlns:a16="http://schemas.microsoft.com/office/drawing/2014/main" id="{3DFAD8D7-0320-C47A-E304-C9B1CED4611F}"/>
                </a:ext>
              </a:extLst>
            </p:cNvPr>
            <p:cNvCxnSpPr>
              <a:cxnSpLocks/>
            </p:cNvCxnSpPr>
            <p:nvPr/>
          </p:nvCxnSpPr>
          <p:spPr>
            <a:xfrm>
              <a:off x="5349257" y="4886244"/>
              <a:ext cx="607939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5" name="Connector 1004">
              <a:extLst>
                <a:ext uri="{FF2B5EF4-FFF2-40B4-BE49-F238E27FC236}">
                  <a16:creationId xmlns:a16="http://schemas.microsoft.com/office/drawing/2014/main" id="{639C6881-964A-46C9-9725-AE581EB55946}"/>
                </a:ext>
              </a:extLst>
            </p:cNvPr>
            <p:cNvCxnSpPr>
              <a:cxnSpLocks/>
            </p:cNvCxnSpPr>
            <p:nvPr/>
          </p:nvCxnSpPr>
          <p:spPr>
            <a:xfrm>
              <a:off x="5349257" y="5322872"/>
              <a:ext cx="607939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66" name="Connector 1004">
              <a:extLst>
                <a:ext uri="{FF2B5EF4-FFF2-40B4-BE49-F238E27FC236}">
                  <a16:creationId xmlns:a16="http://schemas.microsoft.com/office/drawing/2014/main" id="{A77EE26D-8263-E944-4DFE-D93D2A45A605}"/>
                </a:ext>
              </a:extLst>
            </p:cNvPr>
            <p:cNvCxnSpPr>
              <a:cxnSpLocks/>
            </p:cNvCxnSpPr>
            <p:nvPr/>
          </p:nvCxnSpPr>
          <p:spPr>
            <a:xfrm>
              <a:off x="5349257" y="5759500"/>
              <a:ext cx="607939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2168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wipe(left)">
                                      <p:cBhvr>
                                        <p:cTn id="7" dur="1000"/>
                                        <p:tgtEl>
                                          <p:spTgt spid="180"/>
                                        </p:tgtEl>
                                      </p:cBhvr>
                                    </p:animEffect>
                                  </p:childTnLst>
                                </p:cTn>
                              </p:par>
                              <p:par>
                                <p:cTn id="8" presetID="1" presetClass="entr" presetSubtype="0" fill="hold" nodeType="withEffect">
                                  <p:stCondLst>
                                    <p:cond delay="0"/>
                                  </p:stCondLst>
                                  <p:childTnLst>
                                    <p:set>
                                      <p:cBhvr>
                                        <p:cTn id="9" dur="1" fill="hold">
                                          <p:stCondLst>
                                            <p:cond delay="999"/>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F42A1-1E54-3D5F-69F0-2A6BCA5702A8}"/>
            </a:ext>
          </a:extLst>
        </p:cNvPr>
        <p:cNvGrpSpPr/>
        <p:nvPr/>
      </p:nvGrpSpPr>
      <p:grpSpPr>
        <a:xfrm>
          <a:off x="0" y="0"/>
          <a:ext cx="0" cy="0"/>
          <a:chOff x="0" y="0"/>
          <a:chExt cx="0" cy="0"/>
        </a:xfrm>
      </p:grpSpPr>
      <p:graphicFrame>
        <p:nvGraphicFramePr>
          <p:cNvPr id="10" name="Object 2" hidden="1">
            <a:extLst>
              <a:ext uri="{FF2B5EF4-FFF2-40B4-BE49-F238E27FC236}">
                <a16:creationId xmlns:a16="http://schemas.microsoft.com/office/drawing/2014/main" id="{43AA4DA1-3C6B-C965-BB5B-CE96A0426687}"/>
              </a:ext>
            </a:extLst>
          </p:cNvPr>
          <p:cNvGraphicFramePr>
            <a:graphicFrameLocks noChangeAspect="1"/>
          </p:cNvGraphicFramePr>
          <p:nvPr>
            <p:custDataLst>
              <p:tags r:id="rId1"/>
            </p:custDataLst>
            <p:extLst>
              <p:ext uri="{D42A27DB-BD31-4B8C-83A1-F6EECF244321}">
                <p14:modId xmlns:p14="http://schemas.microsoft.com/office/powerpoint/2010/main" val="32485278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84" imgH="486" progId="TCLayout.ActiveDocument.1">
                  <p:embed/>
                </p:oleObj>
              </mc:Choice>
              <mc:Fallback>
                <p:oleObj name="think-cell Slide" r:id="rId27" imgW="484" imgH="486" progId="TCLayout.ActiveDocument.1">
                  <p:embed/>
                  <p:pic>
                    <p:nvPicPr>
                      <p:cNvPr id="10" name="Object 2" hidden="1">
                        <a:extLst>
                          <a:ext uri="{FF2B5EF4-FFF2-40B4-BE49-F238E27FC236}">
                            <a16:creationId xmlns:a16="http://schemas.microsoft.com/office/drawing/2014/main" id="{43AA4DA1-3C6B-C965-BB5B-CE96A0426687}"/>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cxnSp>
        <p:nvCxnSpPr>
          <p:cNvPr id="57" name="Connector: Elbow 56">
            <a:extLst>
              <a:ext uri="{FF2B5EF4-FFF2-40B4-BE49-F238E27FC236}">
                <a16:creationId xmlns:a16="http://schemas.microsoft.com/office/drawing/2014/main" id="{7C3219D4-DB10-2025-E5A5-EE47CC93BEB0}"/>
              </a:ext>
            </a:extLst>
          </p:cNvPr>
          <p:cNvCxnSpPr>
            <a:cxnSpLocks/>
          </p:cNvCxnSpPr>
          <p:nvPr/>
        </p:nvCxnSpPr>
        <p:spPr>
          <a:xfrm rot="10800000">
            <a:off x="5459517" y="3757164"/>
            <a:ext cx="279296" cy="1895924"/>
          </a:xfrm>
          <a:prstGeom prst="bentConnector2">
            <a:avLst/>
          </a:prstGeom>
          <a:ln w="6350" cap="sq">
            <a:solidFill>
              <a:schemeClr val="tx1"/>
            </a:solidFill>
            <a:miter lim="800000"/>
            <a:tailEnd type="oval"/>
          </a:ln>
        </p:spPr>
        <p:style>
          <a:lnRef idx="1">
            <a:schemeClr val="accent1"/>
          </a:lnRef>
          <a:fillRef idx="0">
            <a:schemeClr val="accent1"/>
          </a:fillRef>
          <a:effectRef idx="0">
            <a:schemeClr val="accent1"/>
          </a:effectRef>
          <a:fontRef idx="minor">
            <a:schemeClr val="tx1"/>
          </a:fontRef>
        </p:style>
      </p:cxnSp>
      <p:sp>
        <p:nvSpPr>
          <p:cNvPr id="7" name="2. Slide Title">
            <a:extLst>
              <a:ext uri="{FF2B5EF4-FFF2-40B4-BE49-F238E27FC236}">
                <a16:creationId xmlns:a16="http://schemas.microsoft.com/office/drawing/2014/main" id="{E1ECA8AD-071C-6B9F-7AAB-A627E1638A57}"/>
              </a:ext>
            </a:extLst>
          </p:cNvPr>
          <p:cNvSpPr>
            <a:spLocks noGrp="1"/>
          </p:cNvSpPr>
          <p:nvPr>
            <p:ph type="title"/>
            <p:custDataLst>
              <p:tags r:id="rId2"/>
            </p:custDataLst>
          </p:nvPr>
        </p:nvSpPr>
        <p:spPr>
          <a:xfrm>
            <a:off x="554736" y="307914"/>
            <a:ext cx="7918704" cy="738664"/>
          </a:xfrm>
        </p:spPr>
        <p:txBody>
          <a:bodyPr vert="horz" wrap="square" lIns="0" tIns="0" rIns="0" bIns="0" rtlCol="0" anchor="b" anchorCtr="0">
            <a:spAutoFit/>
          </a:bodyPr>
          <a:lstStyle/>
          <a:p>
            <a:pPr>
              <a:spcBef>
                <a:spcPts val="0"/>
              </a:spcBef>
            </a:pPr>
            <a:r>
              <a:rPr lang="en-US">
                <a:latin typeface="Georgia" panose="02040502050405020303" pitchFamily="18" charset="0"/>
                <a:ea typeface="Tahoma" panose="020B0604030504040204" pitchFamily="34" charset="0"/>
                <a:cs typeface="Tahoma" panose="020B0604030504040204" pitchFamily="34" charset="0"/>
              </a:rPr>
              <a:t>Leveraging existing CIB relationships, PB can increase its private banking share to 30% by 2029</a:t>
            </a:r>
            <a:endParaRPr lang="en-GB">
              <a:latin typeface="Georgia" panose="02040502050405020303" pitchFamily="18" charset="0"/>
              <a:ea typeface="Tahoma" panose="020B0604030504040204" pitchFamily="34" charset="0"/>
              <a:cs typeface="Tahoma" panose="020B0604030504040204" pitchFamily="34" charset="0"/>
            </a:endParaRPr>
          </a:p>
        </p:txBody>
      </p:sp>
      <p:grpSp>
        <p:nvGrpSpPr>
          <p:cNvPr id="199" name="Group 198">
            <a:extLst>
              <a:ext uri="{FF2B5EF4-FFF2-40B4-BE49-F238E27FC236}">
                <a16:creationId xmlns:a16="http://schemas.microsoft.com/office/drawing/2014/main" id="{1B765532-BEB0-993B-60BD-92561410B12A}"/>
              </a:ext>
            </a:extLst>
          </p:cNvPr>
          <p:cNvGrpSpPr/>
          <p:nvPr/>
        </p:nvGrpSpPr>
        <p:grpSpPr>
          <a:xfrm>
            <a:off x="557910" y="1953776"/>
            <a:ext cx="1003033" cy="123111"/>
            <a:chOff x="557910" y="1934726"/>
            <a:chExt cx="1003033" cy="123111"/>
          </a:xfrm>
        </p:grpSpPr>
        <p:grpSp>
          <p:nvGrpSpPr>
            <p:cNvPr id="194" name="Group 193">
              <a:extLst>
                <a:ext uri="{FF2B5EF4-FFF2-40B4-BE49-F238E27FC236}">
                  <a16:creationId xmlns:a16="http://schemas.microsoft.com/office/drawing/2014/main" id="{A5A22136-7233-D783-E6C7-B0513BD60AAE}"/>
                </a:ext>
              </a:extLst>
            </p:cNvPr>
            <p:cNvGrpSpPr/>
            <p:nvPr/>
          </p:nvGrpSpPr>
          <p:grpSpPr>
            <a:xfrm>
              <a:off x="557910" y="1934726"/>
              <a:ext cx="405304" cy="123111"/>
              <a:chOff x="557910" y="1934726"/>
              <a:chExt cx="405304" cy="123111"/>
            </a:xfrm>
          </p:grpSpPr>
          <p:sp>
            <p:nvSpPr>
              <p:cNvPr id="121" name="RectangleLegend1">
                <a:extLst>
                  <a:ext uri="{FF2B5EF4-FFF2-40B4-BE49-F238E27FC236}">
                    <a16:creationId xmlns:a16="http://schemas.microsoft.com/office/drawing/2014/main" id="{DB401B94-EEC6-E48D-82CE-5C0BED6813EF}"/>
                  </a:ext>
                </a:extLst>
              </p:cNvPr>
              <p:cNvSpPr>
                <a:spLocks/>
              </p:cNvSpPr>
              <p:nvPr/>
            </p:nvSpPr>
            <p:spPr>
              <a:xfrm>
                <a:off x="557910" y="1942306"/>
                <a:ext cx="107722" cy="107950"/>
              </a:xfrm>
              <a:prstGeom prst="rect">
                <a:avLst/>
              </a:prstGeom>
              <a:solidFill>
                <a:schemeClr val="accent1">
                  <a:lumMod val="25000"/>
                  <a:lumOff val="75000"/>
                </a:schemeClr>
              </a:solidFill>
            </p:spPr>
            <p:txBody>
              <a:bodyPr vert="horz" wrap="square" lIns="91440" tIns="45720" rIns="45720" bIns="45720" rtlCol="0" anchor="t" anchorCtr="0">
                <a:noAutofit/>
              </a:bodyPr>
              <a:lstStyle/>
              <a:p>
                <a:pPr>
                  <a:spcBef>
                    <a:spcPts val="300"/>
                  </a:spcBef>
                  <a:spcAft>
                    <a:spcPts val="300"/>
                  </a:spcAft>
                  <a:buFont typeface="Segoe UI" panose="020B0502040204020203" pitchFamily="34" charset="0"/>
                  <a:buChar char="​"/>
                </a:pPr>
                <a:endParaRPr lang="en-US" sz="800" b="1" err="1">
                  <a:solidFill>
                    <a:srgbClr val="191C1E"/>
                  </a:solidFill>
                  <a:ea typeface="Tahoma" panose="020B0604030504040204" pitchFamily="34" charset="0"/>
                  <a:cs typeface="Tahoma" panose="020B0604030504040204" pitchFamily="34" charset="0"/>
                </a:endParaRPr>
              </a:p>
            </p:txBody>
          </p:sp>
          <p:sp>
            <p:nvSpPr>
              <p:cNvPr id="126" name="Legend1">
                <a:extLst>
                  <a:ext uri="{FF2B5EF4-FFF2-40B4-BE49-F238E27FC236}">
                    <a16:creationId xmlns:a16="http://schemas.microsoft.com/office/drawing/2014/main" id="{54C8119A-1252-4C37-5E0F-D38EB1753978}"/>
                  </a:ext>
                </a:extLst>
              </p:cNvPr>
              <p:cNvSpPr txBox="1"/>
              <p:nvPr/>
            </p:nvSpPr>
            <p:spPr>
              <a:xfrm>
                <a:off x="708336" y="1934726"/>
                <a:ext cx="254878" cy="123111"/>
              </a:xfrm>
              <a:prstGeom prst="rect">
                <a:avLst/>
              </a:prstGeom>
              <a:noFill/>
              <a:ln>
                <a:noFill/>
                <a:miter lim="800000"/>
              </a:ln>
            </p:spPr>
            <p:txBody>
              <a:bodyPr wrap="none" lIns="0" tIns="0" rIns="0" bIns="0" rtlCol="0" anchor="ctr" anchorCtr="0">
                <a:spAutoFit/>
              </a:bodyPr>
              <a:lstStyle/>
              <a:p>
                <a:pPr>
                  <a:spcAft>
                    <a:spcPts val="600"/>
                  </a:spcAft>
                </a:pPr>
                <a:r>
                  <a:rPr lang="en-US" sz="800"/>
                  <a:t>Retail</a:t>
                </a:r>
              </a:p>
            </p:txBody>
          </p:sp>
        </p:grpSp>
        <p:sp>
          <p:nvSpPr>
            <p:cNvPr id="122" name="RectangleLegend2">
              <a:extLst>
                <a:ext uri="{FF2B5EF4-FFF2-40B4-BE49-F238E27FC236}">
                  <a16:creationId xmlns:a16="http://schemas.microsoft.com/office/drawing/2014/main" id="{B7853DB9-E2CF-F556-C996-6BEC0B1B2359}"/>
                </a:ext>
              </a:extLst>
            </p:cNvPr>
            <p:cNvSpPr>
              <a:spLocks/>
            </p:cNvSpPr>
            <p:nvPr/>
          </p:nvSpPr>
          <p:spPr>
            <a:xfrm>
              <a:off x="1101103" y="1942306"/>
              <a:ext cx="107722" cy="107950"/>
            </a:xfrm>
            <a:prstGeom prst="rect">
              <a:avLst/>
            </a:prstGeom>
            <a:solidFill>
              <a:srgbClr val="1C863F"/>
            </a:solidFill>
          </p:spPr>
          <p:txBody>
            <a:bodyPr vert="horz" wrap="square" lIns="91440" tIns="45720" rIns="45720" bIns="45720" rtlCol="0" anchor="t" anchorCtr="0">
              <a:noAutofit/>
            </a:bodyPr>
            <a:lstStyle/>
            <a:p>
              <a:pPr>
                <a:spcBef>
                  <a:spcPts val="300"/>
                </a:spcBef>
                <a:spcAft>
                  <a:spcPts val="300"/>
                </a:spcAft>
                <a:buFont typeface="Segoe UI" panose="020B0502040204020203" pitchFamily="34" charset="0"/>
                <a:buChar char="​"/>
              </a:pPr>
              <a:endParaRPr lang="en-US" sz="800" b="1" err="1">
                <a:solidFill>
                  <a:schemeClr val="bg1"/>
                </a:solidFill>
                <a:ea typeface="Tahoma" panose="020B0604030504040204" pitchFamily="34" charset="0"/>
                <a:cs typeface="Tahoma" panose="020B0604030504040204" pitchFamily="34" charset="0"/>
              </a:endParaRPr>
            </a:p>
          </p:txBody>
        </p:sp>
        <p:sp>
          <p:nvSpPr>
            <p:cNvPr id="127" name="Legend2">
              <a:extLst>
                <a:ext uri="{FF2B5EF4-FFF2-40B4-BE49-F238E27FC236}">
                  <a16:creationId xmlns:a16="http://schemas.microsoft.com/office/drawing/2014/main" id="{B8A6BC23-C108-1516-8C12-3F241D14DAB2}"/>
                </a:ext>
              </a:extLst>
            </p:cNvPr>
            <p:cNvSpPr txBox="1"/>
            <p:nvPr/>
          </p:nvSpPr>
          <p:spPr>
            <a:xfrm>
              <a:off x="1249960" y="1934726"/>
              <a:ext cx="310983" cy="123111"/>
            </a:xfrm>
            <a:prstGeom prst="rect">
              <a:avLst/>
            </a:prstGeom>
            <a:noFill/>
            <a:ln>
              <a:noFill/>
              <a:miter lim="800000"/>
            </a:ln>
          </p:spPr>
          <p:txBody>
            <a:bodyPr wrap="none" lIns="0" tIns="0" rIns="0" bIns="0" rtlCol="0" anchor="ctr" anchorCtr="0">
              <a:spAutoFit/>
            </a:bodyPr>
            <a:lstStyle/>
            <a:p>
              <a:pPr>
                <a:spcAft>
                  <a:spcPts val="600"/>
                </a:spcAft>
              </a:pPr>
              <a:r>
                <a:rPr lang="en-US" sz="800"/>
                <a:t>Private</a:t>
              </a:r>
            </a:p>
          </p:txBody>
        </p:sp>
      </p:grpSp>
      <p:graphicFrame>
        <p:nvGraphicFramePr>
          <p:cNvPr id="26" name="Chart 25">
            <a:extLst>
              <a:ext uri="{FF2B5EF4-FFF2-40B4-BE49-F238E27FC236}">
                <a16:creationId xmlns:a16="http://schemas.microsoft.com/office/drawing/2014/main" id="{23FCB06D-147D-E86F-7012-744401EF2443}"/>
              </a:ext>
            </a:extLst>
          </p:cNvPr>
          <p:cNvGraphicFramePr/>
          <p:nvPr>
            <p:custDataLst>
              <p:tags r:id="rId3"/>
            </p:custDataLst>
            <p:extLst>
              <p:ext uri="{D42A27DB-BD31-4B8C-83A1-F6EECF244321}">
                <p14:modId xmlns:p14="http://schemas.microsoft.com/office/powerpoint/2010/main" val="2986367091"/>
              </p:ext>
            </p:extLst>
          </p:nvPr>
        </p:nvGraphicFramePr>
        <p:xfrm>
          <a:off x="5419725" y="3638550"/>
          <a:ext cx="2008188" cy="2247900"/>
        </p:xfrm>
        <a:graphic>
          <a:graphicData uri="http://schemas.openxmlformats.org/drawingml/2006/chart">
            <c:chart xmlns:c="http://schemas.openxmlformats.org/drawingml/2006/chart" xmlns:r="http://schemas.openxmlformats.org/officeDocument/2006/relationships" r:id="rId29"/>
          </a:graphicData>
        </a:graphic>
      </p:graphicFrame>
      <p:sp useBgFill="1">
        <p:nvSpPr>
          <p:cNvPr id="21" name="Freeform: Shape 20">
            <a:extLst>
              <a:ext uri="{FF2B5EF4-FFF2-40B4-BE49-F238E27FC236}">
                <a16:creationId xmlns:a16="http://schemas.microsoft.com/office/drawing/2014/main" id="{239944EE-02B1-1F69-6891-DAAAD3130201}"/>
              </a:ext>
            </a:extLst>
          </p:cNvPr>
          <p:cNvSpPr/>
          <p:nvPr>
            <p:custDataLst>
              <p:tags r:id="rId4"/>
            </p:custDataLst>
          </p:nvPr>
        </p:nvSpPr>
        <p:spPr bwMode="auto">
          <a:xfrm>
            <a:off x="5588000" y="4170363"/>
            <a:ext cx="750889" cy="258763"/>
          </a:xfrm>
          <a:custGeom>
            <a:avLst/>
            <a:gdLst/>
            <a:ahLst/>
            <a:cxnLst/>
            <a:rect l="0" t="0" r="0" b="0"/>
            <a:pathLst>
              <a:path w="750889" h="258763">
                <a:moveTo>
                  <a:pt x="0" y="201612"/>
                </a:moveTo>
                <a:lnTo>
                  <a:pt x="750888" y="0"/>
                </a:lnTo>
                <a:lnTo>
                  <a:pt x="750888" y="57150"/>
                </a:lnTo>
                <a:lnTo>
                  <a:pt x="0" y="258762"/>
                </a:lnTo>
                <a:close/>
              </a:path>
            </a:pathLst>
          </a:custGeom>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useBgFill="1">
        <p:nvSpPr>
          <p:cNvPr id="25" name="Freeform: Shape 24">
            <a:extLst>
              <a:ext uri="{FF2B5EF4-FFF2-40B4-BE49-F238E27FC236}">
                <a16:creationId xmlns:a16="http://schemas.microsoft.com/office/drawing/2014/main" id="{33829B0F-003D-DF44-FAD5-9D90FCCA0A81}"/>
              </a:ext>
            </a:extLst>
          </p:cNvPr>
          <p:cNvSpPr/>
          <p:nvPr>
            <p:custDataLst>
              <p:tags r:id="rId5"/>
            </p:custDataLst>
          </p:nvPr>
        </p:nvSpPr>
        <p:spPr bwMode="auto">
          <a:xfrm>
            <a:off x="6508750" y="4170363"/>
            <a:ext cx="750889" cy="258763"/>
          </a:xfrm>
          <a:custGeom>
            <a:avLst/>
            <a:gdLst/>
            <a:ahLst/>
            <a:cxnLst/>
            <a:rect l="0" t="0" r="0" b="0"/>
            <a:pathLst>
              <a:path w="750889" h="258763">
                <a:moveTo>
                  <a:pt x="0" y="201612"/>
                </a:moveTo>
                <a:lnTo>
                  <a:pt x="750888" y="0"/>
                </a:lnTo>
                <a:lnTo>
                  <a:pt x="750888" y="57150"/>
                </a:lnTo>
                <a:lnTo>
                  <a:pt x="0" y="258762"/>
                </a:lnTo>
                <a:close/>
              </a:path>
            </a:pathLst>
          </a:custGeom>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9" name="Freeform: Shape 18">
            <a:extLst>
              <a:ext uri="{FF2B5EF4-FFF2-40B4-BE49-F238E27FC236}">
                <a16:creationId xmlns:a16="http://schemas.microsoft.com/office/drawing/2014/main" id="{6C363B51-3AD5-025A-2A8B-810DAB4CD2D5}"/>
              </a:ext>
            </a:extLst>
          </p:cNvPr>
          <p:cNvSpPr/>
          <p:nvPr>
            <p:custDataLst>
              <p:tags r:id="rId6"/>
            </p:custDataLst>
          </p:nvPr>
        </p:nvSpPr>
        <p:spPr bwMode="auto">
          <a:xfrm>
            <a:off x="5588000" y="4170363"/>
            <a:ext cx="750889" cy="201613"/>
          </a:xfrm>
          <a:custGeom>
            <a:avLst/>
            <a:gdLst/>
            <a:ahLst/>
            <a:cxnLst/>
            <a:rect l="0" t="0" r="0" b="0"/>
            <a:pathLst>
              <a:path w="750889" h="201613">
                <a:moveTo>
                  <a:pt x="0" y="201612"/>
                </a:moveTo>
                <a:lnTo>
                  <a:pt x="750888" y="0"/>
                </a:lnTo>
              </a:path>
            </a:pathLst>
          </a:custGeom>
          <a:ln w="9525" cap="sq" cmpd="sng" algn="ctr">
            <a:solidFill>
              <a:srgbClr val="191C1E"/>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0" name="Freeform: Shape 19">
            <a:extLst>
              <a:ext uri="{FF2B5EF4-FFF2-40B4-BE49-F238E27FC236}">
                <a16:creationId xmlns:a16="http://schemas.microsoft.com/office/drawing/2014/main" id="{9C0BE706-3E7D-F2C0-46C0-2C594A681145}"/>
              </a:ext>
            </a:extLst>
          </p:cNvPr>
          <p:cNvSpPr/>
          <p:nvPr>
            <p:custDataLst>
              <p:tags r:id="rId7"/>
            </p:custDataLst>
          </p:nvPr>
        </p:nvSpPr>
        <p:spPr bwMode="auto">
          <a:xfrm>
            <a:off x="5588000" y="4227513"/>
            <a:ext cx="750889" cy="201613"/>
          </a:xfrm>
          <a:custGeom>
            <a:avLst/>
            <a:gdLst/>
            <a:ahLst/>
            <a:cxnLst/>
            <a:rect l="0" t="0" r="0" b="0"/>
            <a:pathLst>
              <a:path w="750889" h="201613">
                <a:moveTo>
                  <a:pt x="0" y="201612"/>
                </a:moveTo>
                <a:lnTo>
                  <a:pt x="750888" y="0"/>
                </a:lnTo>
              </a:path>
            </a:pathLst>
          </a:custGeom>
          <a:ln w="9525" cap="sq" cmpd="sng" algn="ctr">
            <a:solidFill>
              <a:srgbClr val="191C1E"/>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2" name="Freeform: Shape 21">
            <a:extLst>
              <a:ext uri="{FF2B5EF4-FFF2-40B4-BE49-F238E27FC236}">
                <a16:creationId xmlns:a16="http://schemas.microsoft.com/office/drawing/2014/main" id="{7306F9C7-DDD1-33BF-CBBC-080BD7695111}"/>
              </a:ext>
            </a:extLst>
          </p:cNvPr>
          <p:cNvSpPr/>
          <p:nvPr>
            <p:custDataLst>
              <p:tags r:id="rId8"/>
            </p:custDataLst>
          </p:nvPr>
        </p:nvSpPr>
        <p:spPr bwMode="auto">
          <a:xfrm>
            <a:off x="6508750" y="4170363"/>
            <a:ext cx="750889" cy="201613"/>
          </a:xfrm>
          <a:custGeom>
            <a:avLst/>
            <a:gdLst/>
            <a:ahLst/>
            <a:cxnLst/>
            <a:rect l="0" t="0" r="0" b="0"/>
            <a:pathLst>
              <a:path w="750889" h="201613">
                <a:moveTo>
                  <a:pt x="0" y="201612"/>
                </a:moveTo>
                <a:lnTo>
                  <a:pt x="750888" y="0"/>
                </a:lnTo>
              </a:path>
            </a:pathLst>
          </a:custGeom>
          <a:ln w="9525" cap="sq" cmpd="sng" algn="ctr">
            <a:solidFill>
              <a:srgbClr val="191C1E"/>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4" name="Freeform: Shape 23">
            <a:extLst>
              <a:ext uri="{FF2B5EF4-FFF2-40B4-BE49-F238E27FC236}">
                <a16:creationId xmlns:a16="http://schemas.microsoft.com/office/drawing/2014/main" id="{11A5BAA2-4780-B16F-B1F9-436114D13305}"/>
              </a:ext>
            </a:extLst>
          </p:cNvPr>
          <p:cNvSpPr/>
          <p:nvPr>
            <p:custDataLst>
              <p:tags r:id="rId9"/>
            </p:custDataLst>
          </p:nvPr>
        </p:nvSpPr>
        <p:spPr bwMode="auto">
          <a:xfrm>
            <a:off x="6508750" y="4227513"/>
            <a:ext cx="750889" cy="201613"/>
          </a:xfrm>
          <a:custGeom>
            <a:avLst/>
            <a:gdLst/>
            <a:ahLst/>
            <a:cxnLst/>
            <a:rect l="0" t="0" r="0" b="0"/>
            <a:pathLst>
              <a:path w="750889" h="201613">
                <a:moveTo>
                  <a:pt x="0" y="201612"/>
                </a:moveTo>
                <a:lnTo>
                  <a:pt x="750888" y="0"/>
                </a:lnTo>
              </a:path>
            </a:pathLst>
          </a:custGeom>
          <a:ln w="9525" cap="sq" cmpd="sng" algn="ctr">
            <a:solidFill>
              <a:srgbClr val="191C1E"/>
            </a:solidFill>
            <a:prstDash val="solid"/>
            <a:miter lim="800000"/>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9" name="Text Placeholder 4">
            <a:extLst>
              <a:ext uri="{FF2B5EF4-FFF2-40B4-BE49-F238E27FC236}">
                <a16:creationId xmlns:a16="http://schemas.microsoft.com/office/drawing/2014/main" id="{C249936F-8F10-6C90-DB71-810E46F7EC71}"/>
              </a:ext>
            </a:extLst>
          </p:cNvPr>
          <p:cNvSpPr>
            <a:spLocks noGrp="1"/>
          </p:cNvSpPr>
          <p:nvPr>
            <p:custDataLst>
              <p:tags r:id="rId10"/>
            </p:custDataLst>
          </p:nvPr>
        </p:nvSpPr>
        <p:spPr bwMode="gray">
          <a:xfrm>
            <a:off x="5797550" y="4738688"/>
            <a:ext cx="330200" cy="168275"/>
          </a:xfrm>
          <a:prstGeom prst="rect">
            <a:avLst/>
          </a:prstGeom>
          <a:noFill/>
          <a:ln>
            <a:noFill/>
          </a:ln>
          <a:effectLst/>
          <a:extLst>
            <a:ext uri="{909E8E84-426E-40DD-AFC4-6F175D3DCCD1}">
              <a14:hiddenFill xmlns:a14="http://schemas.microsoft.com/office/drawing/2010/main">
                <a:solidFill>
                  <a:srgbClr val="B0B0B0"/>
                </a:solidFill>
              </a14:hiddenFill>
            </a:ext>
          </a:extLst>
        </p:spPr>
        <p:txBody>
          <a:bodyPr vert="horz" wrap="none" lIns="20638" tIns="0" rIns="2063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7D3FD21-2B12-473C-A231-38EA0F97255E}" type="datetime'9''3''''''''''''''%'''''''''''''">
              <a:rPr lang="en-US" altLang="en-US" sz="1100" smtClean="0">
                <a:latin typeface="+mn-lt"/>
              </a:rPr>
              <a:pPr lvl="0" algn="ctr">
                <a:spcBef>
                  <a:spcPct val="0"/>
                </a:spcBef>
                <a:spcAft>
                  <a:spcPct val="0"/>
                </a:spcAft>
              </a:pPr>
              <a:t>93%</a:t>
            </a:fld>
            <a:endParaRPr lang="en-US" sz="1100">
              <a:latin typeface="+mn-lt"/>
            </a:endParaRPr>
          </a:p>
        </p:txBody>
      </p:sp>
      <p:sp>
        <p:nvSpPr>
          <p:cNvPr id="296" name="Text Placeholder 4">
            <a:extLst>
              <a:ext uri="{FF2B5EF4-FFF2-40B4-BE49-F238E27FC236}">
                <a16:creationId xmlns:a16="http://schemas.microsoft.com/office/drawing/2014/main" id="{869F369F-4C0A-CE2E-E629-3E335C8587C4}"/>
              </a:ext>
            </a:extLst>
          </p:cNvPr>
          <p:cNvSpPr>
            <a:spLocks noGrp="1"/>
          </p:cNvSpPr>
          <p:nvPr>
            <p:custDataLst>
              <p:tags r:id="rId11"/>
            </p:custDataLst>
          </p:nvPr>
        </p:nvSpPr>
        <p:spPr bwMode="gray">
          <a:xfrm>
            <a:off x="5738813" y="5568950"/>
            <a:ext cx="44926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sz="1100">
                <a:solidFill>
                  <a:schemeClr val="bg1"/>
                </a:solidFill>
                <a:latin typeface="+mn-lt"/>
              </a:rPr>
              <a:t>7-8%</a:t>
            </a:r>
            <a:r>
              <a:rPr lang="en-US" sz="1100">
                <a:solidFill>
                  <a:schemeClr val="bg1"/>
                </a:solidFill>
              </a:rPr>
              <a:t>¹</a:t>
            </a:r>
            <a:endParaRPr lang="en-US" sz="1100">
              <a:solidFill>
                <a:schemeClr val="bg1"/>
              </a:solidFill>
              <a:latin typeface="+mn-lt"/>
            </a:endParaRPr>
          </a:p>
        </p:txBody>
      </p:sp>
      <p:sp>
        <p:nvSpPr>
          <p:cNvPr id="236" name="Text Placeholder 4">
            <a:extLst>
              <a:ext uri="{FF2B5EF4-FFF2-40B4-BE49-F238E27FC236}">
                <a16:creationId xmlns:a16="http://schemas.microsoft.com/office/drawing/2014/main" id="{1D1D9103-5ACB-B14F-CD4D-D18AF05B9F9D}"/>
              </a:ext>
            </a:extLst>
          </p:cNvPr>
          <p:cNvSpPr>
            <a:spLocks noGrp="1"/>
          </p:cNvSpPr>
          <p:nvPr>
            <p:custDataLst>
              <p:tags r:id="rId12"/>
            </p:custDataLst>
          </p:nvPr>
        </p:nvSpPr>
        <p:spPr bwMode="auto">
          <a:xfrm>
            <a:off x="5803900" y="5849938"/>
            <a:ext cx="3175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30069BB-EB30-4D66-963E-8169D39C2C2D}" type="datetime'2''''''''0''''''''''''''''''25'''''''''''''''''''''''''''''''">
              <a:rPr lang="en-GB" altLang="en-US" sz="1100" smtClean="0">
                <a:latin typeface="+mn-lt"/>
              </a:rPr>
              <a:pPr lvl="0" algn="ctr">
                <a:spcBef>
                  <a:spcPct val="0"/>
                </a:spcBef>
                <a:spcAft>
                  <a:spcPct val="0"/>
                </a:spcAft>
              </a:pPr>
              <a:t>2025</a:t>
            </a:fld>
            <a:endParaRPr lang="en-US" sz="1100">
              <a:latin typeface="+mn-lt"/>
            </a:endParaRPr>
          </a:p>
        </p:txBody>
      </p:sp>
      <p:sp>
        <p:nvSpPr>
          <p:cNvPr id="98" name="Text Placeholder 4">
            <a:extLst>
              <a:ext uri="{FF2B5EF4-FFF2-40B4-BE49-F238E27FC236}">
                <a16:creationId xmlns:a16="http://schemas.microsoft.com/office/drawing/2014/main" id="{ED0E1A85-527A-E5DA-8F75-0FF953383F85}"/>
              </a:ext>
            </a:extLst>
          </p:cNvPr>
          <p:cNvSpPr>
            <a:spLocks noGrp="1"/>
          </p:cNvSpPr>
          <p:nvPr>
            <p:custDataLst>
              <p:tags r:id="rId13"/>
            </p:custDataLst>
          </p:nvPr>
        </p:nvSpPr>
        <p:spPr bwMode="gray">
          <a:xfrm>
            <a:off x="6718300" y="4002088"/>
            <a:ext cx="3302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sz="1100">
                <a:latin typeface="+mn-lt"/>
              </a:rPr>
              <a:t>75%</a:t>
            </a:r>
            <a:endParaRPr lang="en-US" sz="1100">
              <a:latin typeface="+mn-lt"/>
            </a:endParaRPr>
          </a:p>
        </p:txBody>
      </p:sp>
      <p:sp>
        <p:nvSpPr>
          <p:cNvPr id="42" name="Text Placeholder 4">
            <a:extLst>
              <a:ext uri="{FF2B5EF4-FFF2-40B4-BE49-F238E27FC236}">
                <a16:creationId xmlns:a16="http://schemas.microsoft.com/office/drawing/2014/main" id="{EBA2D126-053F-351C-416C-7626D91FBE5D}"/>
              </a:ext>
            </a:extLst>
          </p:cNvPr>
          <p:cNvSpPr>
            <a:spLocks noGrp="1"/>
          </p:cNvSpPr>
          <p:nvPr>
            <p:custDataLst>
              <p:tags r:id="rId14"/>
            </p:custDataLst>
          </p:nvPr>
        </p:nvSpPr>
        <p:spPr bwMode="gray">
          <a:xfrm>
            <a:off x="6662738" y="5045075"/>
            <a:ext cx="4429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sz="1100">
                <a:solidFill>
                  <a:schemeClr val="bg1"/>
                </a:solidFill>
                <a:latin typeface="+mn-lt"/>
              </a:rPr>
              <a:t>25%</a:t>
            </a:r>
            <a:r>
              <a:rPr lang="en-US" sz="1100">
                <a:solidFill>
                  <a:schemeClr val="bg1"/>
                </a:solidFill>
              </a:rPr>
              <a:t>²</a:t>
            </a:r>
            <a:r>
              <a:rPr lang="en-US" sz="1100"/>
              <a:t> </a:t>
            </a:r>
            <a:endParaRPr lang="en-US" sz="1100">
              <a:solidFill>
                <a:schemeClr val="bg1"/>
              </a:solidFill>
              <a:latin typeface="+mn-lt"/>
            </a:endParaRPr>
          </a:p>
        </p:txBody>
      </p:sp>
      <p:sp>
        <p:nvSpPr>
          <p:cNvPr id="238" name="Text Placeholder 4">
            <a:extLst>
              <a:ext uri="{FF2B5EF4-FFF2-40B4-BE49-F238E27FC236}">
                <a16:creationId xmlns:a16="http://schemas.microsoft.com/office/drawing/2014/main" id="{BD8E0B7A-7C8B-FE3B-F6ED-85D2D55D6CA7}"/>
              </a:ext>
            </a:extLst>
          </p:cNvPr>
          <p:cNvSpPr>
            <a:spLocks noGrp="1"/>
          </p:cNvSpPr>
          <p:nvPr>
            <p:custDataLst>
              <p:tags r:id="rId15"/>
            </p:custDataLst>
          </p:nvPr>
        </p:nvSpPr>
        <p:spPr bwMode="auto">
          <a:xfrm>
            <a:off x="6516688" y="5849938"/>
            <a:ext cx="735013" cy="3365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3BE5181-F6FF-425C-A254-964E71203F43}" type="datetime'''''2''0''2''9 (''''''''p''''''r''''o''''j''''''ecti''on'')'">
              <a:rPr lang="en-US" altLang="en-US" sz="1100" smtClean="0">
                <a:latin typeface="+mn-lt"/>
              </a:rPr>
              <a:pPr lvl="0" algn="ctr">
                <a:spcBef>
                  <a:spcPct val="0"/>
                </a:spcBef>
                <a:spcAft>
                  <a:spcPct val="0"/>
                </a:spcAft>
              </a:pPr>
              <a:t>2029 (projection)</a:t>
            </a:fld>
            <a:endParaRPr lang="en-US" sz="1100">
              <a:latin typeface="+mn-lt"/>
            </a:endParaRPr>
          </a:p>
        </p:txBody>
      </p:sp>
      <p:sp>
        <p:nvSpPr>
          <p:cNvPr id="268" name="Text Placeholder 4">
            <a:extLst>
              <a:ext uri="{FF2B5EF4-FFF2-40B4-BE49-F238E27FC236}">
                <a16:creationId xmlns:a16="http://schemas.microsoft.com/office/drawing/2014/main" id="{51DC9DA6-24A7-B744-D950-FD7C0FBBFC24}"/>
              </a:ext>
            </a:extLst>
          </p:cNvPr>
          <p:cNvSpPr>
            <a:spLocks noGrp="1"/>
          </p:cNvSpPr>
          <p:nvPr>
            <p:custDataLst>
              <p:tags r:id="rId16"/>
            </p:custDataLst>
          </p:nvPr>
        </p:nvSpPr>
        <p:spPr bwMode="gray">
          <a:xfrm>
            <a:off x="5738813" y="3951288"/>
            <a:ext cx="44767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GB" sz="1100">
                <a:latin typeface="+mn-lt"/>
              </a:rPr>
              <a:t>~6200</a:t>
            </a:r>
          </a:p>
        </p:txBody>
      </p:sp>
      <p:sp>
        <p:nvSpPr>
          <p:cNvPr id="240" name="Text Placeholder 4">
            <a:extLst>
              <a:ext uri="{FF2B5EF4-FFF2-40B4-BE49-F238E27FC236}">
                <a16:creationId xmlns:a16="http://schemas.microsoft.com/office/drawing/2014/main" id="{B137A29C-BAF3-2703-7185-9672B04B1221}"/>
              </a:ext>
            </a:extLst>
          </p:cNvPr>
          <p:cNvSpPr>
            <a:spLocks noGrp="1"/>
          </p:cNvSpPr>
          <p:nvPr>
            <p:custDataLst>
              <p:tags r:id="rId17"/>
            </p:custDataLst>
          </p:nvPr>
        </p:nvSpPr>
        <p:spPr bwMode="gray">
          <a:xfrm>
            <a:off x="6659563" y="3527425"/>
            <a:ext cx="44767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GB" altLang="en-US" sz="1100">
                <a:latin typeface="+mn-lt"/>
              </a:rPr>
              <a:t>~6800</a:t>
            </a:r>
            <a:endParaRPr lang="en-US" sz="1100">
              <a:latin typeface="+mn-lt"/>
            </a:endParaRPr>
          </a:p>
        </p:txBody>
      </p:sp>
      <p:sp>
        <p:nvSpPr>
          <p:cNvPr id="306" name="Oval 305">
            <a:extLst>
              <a:ext uri="{FF2B5EF4-FFF2-40B4-BE49-F238E27FC236}">
                <a16:creationId xmlns:a16="http://schemas.microsoft.com/office/drawing/2014/main" id="{50B98AB5-45C3-C2CD-2D53-373F297E12C8}"/>
              </a:ext>
            </a:extLst>
          </p:cNvPr>
          <p:cNvSpPr>
            <a:spLocks/>
          </p:cNvSpPr>
          <p:nvPr/>
        </p:nvSpPr>
        <p:spPr>
          <a:xfrm>
            <a:off x="7635744" y="3955583"/>
            <a:ext cx="709285" cy="279400"/>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GB" altLang="en-US" sz="1100">
                <a:solidFill>
                  <a:schemeClr val="tx2"/>
                </a:solidFill>
              </a:rPr>
              <a:t>~</a:t>
            </a:r>
            <a:r>
              <a:rPr lang="en-GB" altLang="en-US" sz="1100">
                <a:solidFill>
                  <a:schemeClr val="tx1"/>
                </a:solidFill>
              </a:rPr>
              <a:t>1240</a:t>
            </a:r>
            <a:endParaRPr lang="en-GB" sz="1100">
              <a:solidFill>
                <a:schemeClr val="tx1"/>
              </a:solidFill>
            </a:endParaRPr>
          </a:p>
        </p:txBody>
      </p:sp>
      <p:sp>
        <p:nvSpPr>
          <p:cNvPr id="307" name="TextBox 271">
            <a:extLst>
              <a:ext uri="{FF2B5EF4-FFF2-40B4-BE49-F238E27FC236}">
                <a16:creationId xmlns:a16="http://schemas.microsoft.com/office/drawing/2014/main" id="{E1D87043-6117-715C-B669-099BB988A040}"/>
              </a:ext>
            </a:extLst>
          </p:cNvPr>
          <p:cNvSpPr txBox="1">
            <a:spLocks/>
          </p:cNvSpPr>
          <p:nvPr/>
        </p:nvSpPr>
        <p:spPr>
          <a:xfrm>
            <a:off x="7635744" y="3161863"/>
            <a:ext cx="998363" cy="677108"/>
          </a:xfrm>
          <a:prstGeom prst="rect">
            <a:avLst/>
          </a:prstGeom>
        </p:spPr>
        <p:txBody>
          <a:bodyPr vert="horz" wrap="square" lIns="0" tIns="0" rIns="0" bIns="0" rtlCol="0" anchor="b" anchorCtr="0">
            <a:spAutoFit/>
          </a:bodyPr>
          <a:lstStyle>
            <a:defPPr>
              <a:defRPr lang="en-US"/>
            </a:defPPr>
            <a:lvl1pPr marL="0" lv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lvl="1"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lvl="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lvl="3"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lvl="4"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100" b="1"/>
              <a:t># additional  customers to capture fair share </a:t>
            </a:r>
            <a:endParaRPr lang="ru-RU" sz="1100" b="1"/>
          </a:p>
        </p:txBody>
      </p:sp>
      <p:sp>
        <p:nvSpPr>
          <p:cNvPr id="12" name="TrackerAlphaBlue 10">
            <a:extLst>
              <a:ext uri="{FF2B5EF4-FFF2-40B4-BE49-F238E27FC236}">
                <a16:creationId xmlns:a16="http://schemas.microsoft.com/office/drawing/2014/main" id="{74128085-2A4C-A660-73CF-4DEB92F392D7}"/>
              </a:ext>
            </a:extLst>
          </p:cNvPr>
          <p:cNvSpPr/>
          <p:nvPr>
            <p:custDataLst>
              <p:tags r:id="rId18"/>
            </p:custDataLst>
          </p:nvPr>
        </p:nvSpPr>
        <p:spPr>
          <a:xfrm>
            <a:off x="9033080" y="1962942"/>
            <a:ext cx="214435" cy="21431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GB" sz="1200">
                <a:solidFill>
                  <a:schemeClr val="bg1"/>
                </a:solidFill>
              </a:rPr>
              <a:t>A</a:t>
            </a:r>
          </a:p>
        </p:txBody>
      </p:sp>
      <p:sp>
        <p:nvSpPr>
          <p:cNvPr id="11" name="Oval 10">
            <a:extLst>
              <a:ext uri="{FF2B5EF4-FFF2-40B4-BE49-F238E27FC236}">
                <a16:creationId xmlns:a16="http://schemas.microsoft.com/office/drawing/2014/main" id="{D9F4F82C-D437-D9ED-8AEE-14C9EC7E5F45}"/>
              </a:ext>
            </a:extLst>
          </p:cNvPr>
          <p:cNvSpPr>
            <a:spLocks/>
          </p:cNvSpPr>
          <p:nvPr/>
        </p:nvSpPr>
        <p:spPr>
          <a:xfrm>
            <a:off x="7635744" y="5337376"/>
            <a:ext cx="709285" cy="279400"/>
          </a:xfrm>
          <a:prstGeom prst="ellipse">
            <a:avLst/>
          </a:prstGeom>
          <a:no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GB" sz="1100">
                <a:solidFill>
                  <a:schemeClr val="tx1"/>
                </a:solidFill>
              </a:rPr>
              <a:t>6</a:t>
            </a:r>
          </a:p>
        </p:txBody>
      </p:sp>
      <p:sp>
        <p:nvSpPr>
          <p:cNvPr id="13" name="TextBox 271">
            <a:extLst>
              <a:ext uri="{FF2B5EF4-FFF2-40B4-BE49-F238E27FC236}">
                <a16:creationId xmlns:a16="http://schemas.microsoft.com/office/drawing/2014/main" id="{24D4F4F1-9609-ED1A-DFAD-5BAB647BDF71}"/>
              </a:ext>
            </a:extLst>
          </p:cNvPr>
          <p:cNvSpPr txBox="1">
            <a:spLocks/>
          </p:cNvSpPr>
          <p:nvPr/>
        </p:nvSpPr>
        <p:spPr>
          <a:xfrm>
            <a:off x="7635744" y="4712932"/>
            <a:ext cx="998363" cy="507831"/>
          </a:xfrm>
          <a:prstGeom prst="rect">
            <a:avLst/>
          </a:prstGeom>
        </p:spPr>
        <p:txBody>
          <a:bodyPr vert="horz" wrap="square" lIns="0" tIns="0" rIns="0" bIns="0" rtlCol="0" anchor="t" anchorCtr="0">
            <a:spAutoFit/>
          </a:bodyPr>
          <a:lstStyle>
            <a:defPPr>
              <a:defRPr lang="en-US"/>
            </a:defPPr>
            <a:lvl1pPr marL="0" lv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lvl="1"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lvl="2"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lvl="3"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lvl="4"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r>
              <a:rPr lang="en-US" sz="1100" b="1"/>
              <a:t># additional  NBI potential, </a:t>
            </a:r>
            <a:r>
              <a:rPr lang="en-US" sz="1100"/>
              <a:t>AZN M</a:t>
            </a:r>
            <a:endParaRPr lang="ru-RU" sz="1100"/>
          </a:p>
        </p:txBody>
      </p:sp>
      <p:grpSp>
        <p:nvGrpSpPr>
          <p:cNvPr id="192" name="Group 191">
            <a:extLst>
              <a:ext uri="{FF2B5EF4-FFF2-40B4-BE49-F238E27FC236}">
                <a16:creationId xmlns:a16="http://schemas.microsoft.com/office/drawing/2014/main" id="{E44DA56D-4660-0698-B0D6-CBA56F712627}"/>
              </a:ext>
            </a:extLst>
          </p:cNvPr>
          <p:cNvGrpSpPr/>
          <p:nvPr/>
        </p:nvGrpSpPr>
        <p:grpSpPr>
          <a:xfrm>
            <a:off x="1698832" y="1950021"/>
            <a:ext cx="1507137" cy="130620"/>
            <a:chOff x="1698832" y="1930971"/>
            <a:chExt cx="1507137" cy="130620"/>
          </a:xfrm>
        </p:grpSpPr>
        <p:sp>
          <p:nvSpPr>
            <p:cNvPr id="39" name="Legend2">
              <a:extLst>
                <a:ext uri="{FF2B5EF4-FFF2-40B4-BE49-F238E27FC236}">
                  <a16:creationId xmlns:a16="http://schemas.microsoft.com/office/drawing/2014/main" id="{15310A4B-BEFD-29CD-0014-CB451D4B69AE}"/>
                </a:ext>
              </a:extLst>
            </p:cNvPr>
            <p:cNvSpPr txBox="1"/>
            <p:nvPr/>
          </p:nvSpPr>
          <p:spPr>
            <a:xfrm>
              <a:off x="1856241" y="1934726"/>
              <a:ext cx="1349728" cy="123111"/>
            </a:xfrm>
            <a:prstGeom prst="rect">
              <a:avLst/>
            </a:prstGeom>
            <a:noFill/>
            <a:ln>
              <a:noFill/>
              <a:miter lim="800000"/>
            </a:ln>
          </p:spPr>
          <p:txBody>
            <a:bodyPr wrap="none" lIns="0" tIns="0" rIns="0" bIns="0" rtlCol="0" anchor="ctr" anchorCtr="0">
              <a:spAutoFit/>
            </a:bodyPr>
            <a:lstStyle/>
            <a:p>
              <a:pPr>
                <a:spcAft>
                  <a:spcPts val="600"/>
                </a:spcAft>
              </a:pPr>
              <a:r>
                <a:rPr lang="en-US" sz="800"/>
                <a:t># customers in deposit bands</a:t>
              </a:r>
            </a:p>
          </p:txBody>
        </p:sp>
        <p:sp>
          <p:nvSpPr>
            <p:cNvPr id="40" name="Oval 39">
              <a:extLst>
                <a:ext uri="{FF2B5EF4-FFF2-40B4-BE49-F238E27FC236}">
                  <a16:creationId xmlns:a16="http://schemas.microsoft.com/office/drawing/2014/main" id="{88D75ABC-7F1C-76DB-FE02-C50632A3323F}"/>
                </a:ext>
              </a:extLst>
            </p:cNvPr>
            <p:cNvSpPr>
              <a:spLocks/>
            </p:cNvSpPr>
            <p:nvPr/>
          </p:nvSpPr>
          <p:spPr>
            <a:xfrm>
              <a:off x="1698832" y="1930971"/>
              <a:ext cx="130343" cy="130620"/>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800">
                <a:solidFill>
                  <a:schemeClr val="tx1"/>
                </a:solidFill>
              </a:endParaRPr>
            </a:p>
          </p:txBody>
        </p:sp>
      </p:grpSp>
      <p:sp>
        <p:nvSpPr>
          <p:cNvPr id="8" name="TrackerAlphaBlue 10">
            <a:extLst>
              <a:ext uri="{FF2B5EF4-FFF2-40B4-BE49-F238E27FC236}">
                <a16:creationId xmlns:a16="http://schemas.microsoft.com/office/drawing/2014/main" id="{F0B17A51-2F37-839F-ACDD-DC1B64E4E0A5}"/>
              </a:ext>
            </a:extLst>
          </p:cNvPr>
          <p:cNvSpPr/>
          <p:nvPr>
            <p:custDataLst>
              <p:tags r:id="rId19"/>
            </p:custDataLst>
          </p:nvPr>
        </p:nvSpPr>
        <p:spPr>
          <a:xfrm>
            <a:off x="9035782" y="3219529"/>
            <a:ext cx="214435" cy="21590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GB" sz="1100">
                <a:solidFill>
                  <a:schemeClr val="bg1"/>
                </a:solidFill>
              </a:rPr>
              <a:t>B</a:t>
            </a:r>
          </a:p>
        </p:txBody>
      </p:sp>
      <p:cxnSp>
        <p:nvCxnSpPr>
          <p:cNvPr id="45" name="Straight Connector 44">
            <a:extLst>
              <a:ext uri="{FF2B5EF4-FFF2-40B4-BE49-F238E27FC236}">
                <a16:creationId xmlns:a16="http://schemas.microsoft.com/office/drawing/2014/main" id="{97CCF4C2-A6C1-87F8-A8D6-99AA7D6BF7F4}"/>
              </a:ext>
            </a:extLst>
          </p:cNvPr>
          <p:cNvCxnSpPr>
            <a:cxnSpLocks/>
          </p:cNvCxnSpPr>
          <p:nvPr/>
        </p:nvCxnSpPr>
        <p:spPr>
          <a:xfrm>
            <a:off x="2559799" y="2688431"/>
            <a:ext cx="0" cy="3515361"/>
          </a:xfrm>
          <a:prstGeom prst="line">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44BBE231-7E22-B6D9-7385-DE6C6943280F}"/>
              </a:ext>
            </a:extLst>
          </p:cNvPr>
          <p:cNvSpPr txBox="1">
            <a:spLocks/>
          </p:cNvSpPr>
          <p:nvPr/>
        </p:nvSpPr>
        <p:spPr>
          <a:xfrm>
            <a:off x="554735" y="3865514"/>
            <a:ext cx="788952" cy="1096904"/>
          </a:xfrm>
          <a:prstGeom prst="rect">
            <a:avLst/>
          </a:prstGeom>
          <a:solidFill>
            <a:srgbClr val="1C863F"/>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solidFill>
                  <a:schemeClr val="bg1"/>
                </a:solidFill>
                <a:latin typeface="+mn-lt"/>
              </a:rPr>
              <a:t>Horizon</a:t>
            </a:r>
          </a:p>
        </p:txBody>
      </p:sp>
      <p:sp>
        <p:nvSpPr>
          <p:cNvPr id="53" name="TextBox 52">
            <a:extLst>
              <a:ext uri="{FF2B5EF4-FFF2-40B4-BE49-F238E27FC236}">
                <a16:creationId xmlns:a16="http://schemas.microsoft.com/office/drawing/2014/main" id="{BA69D203-B37E-0B5F-B6AA-568A856C4207}"/>
              </a:ext>
            </a:extLst>
          </p:cNvPr>
          <p:cNvSpPr txBox="1">
            <a:spLocks/>
          </p:cNvSpPr>
          <p:nvPr/>
        </p:nvSpPr>
        <p:spPr>
          <a:xfrm>
            <a:off x="554735" y="2624138"/>
            <a:ext cx="788952" cy="1096904"/>
          </a:xfrm>
          <a:prstGeom prst="rect">
            <a:avLst/>
          </a:prstGeom>
          <a:solidFill>
            <a:srgbClr val="1C863F"/>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solidFill>
                  <a:schemeClr val="bg1"/>
                </a:solidFill>
                <a:latin typeface="+mn-lt"/>
              </a:rPr>
              <a:t>Origin</a:t>
            </a:r>
          </a:p>
        </p:txBody>
      </p:sp>
      <p:sp>
        <p:nvSpPr>
          <p:cNvPr id="56" name="TextBox 55">
            <a:extLst>
              <a:ext uri="{FF2B5EF4-FFF2-40B4-BE49-F238E27FC236}">
                <a16:creationId xmlns:a16="http://schemas.microsoft.com/office/drawing/2014/main" id="{2A24B4D8-E038-2562-C8C1-46E0560C5D7A}"/>
              </a:ext>
            </a:extLst>
          </p:cNvPr>
          <p:cNvSpPr txBox="1">
            <a:spLocks/>
          </p:cNvSpPr>
          <p:nvPr/>
        </p:nvSpPr>
        <p:spPr>
          <a:xfrm>
            <a:off x="554735" y="5106890"/>
            <a:ext cx="788952" cy="1096902"/>
          </a:xfrm>
          <a:prstGeom prst="rect">
            <a:avLst/>
          </a:prstGeom>
          <a:solidFill>
            <a:srgbClr val="1C863F"/>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solidFill>
                  <a:schemeClr val="bg1"/>
                </a:solidFill>
              </a:rPr>
              <a:t>Heritage</a:t>
            </a:r>
          </a:p>
        </p:txBody>
      </p:sp>
      <p:sp>
        <p:nvSpPr>
          <p:cNvPr id="6" name="TextBox 5">
            <a:extLst>
              <a:ext uri="{FF2B5EF4-FFF2-40B4-BE49-F238E27FC236}">
                <a16:creationId xmlns:a16="http://schemas.microsoft.com/office/drawing/2014/main" id="{89660BB9-58DC-0477-D832-D7095E56C60D}"/>
              </a:ext>
            </a:extLst>
          </p:cNvPr>
          <p:cNvSpPr txBox="1">
            <a:spLocks/>
          </p:cNvSpPr>
          <p:nvPr/>
        </p:nvSpPr>
        <p:spPr>
          <a:xfrm>
            <a:off x="2724175" y="2624138"/>
            <a:ext cx="1112147" cy="576087"/>
          </a:xfrm>
          <a:prstGeom prst="rect">
            <a:avLst/>
          </a:prstGeom>
          <a:solidFill>
            <a:schemeClr val="accent1">
              <a:lumMod val="25000"/>
              <a:lumOff val="75000"/>
            </a:schemeClr>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latin typeface="+mn-lt"/>
              </a:rPr>
              <a:t>Mass affluent</a:t>
            </a:r>
          </a:p>
        </p:txBody>
      </p:sp>
      <p:sp>
        <p:nvSpPr>
          <p:cNvPr id="9" name="TextBox 8">
            <a:extLst>
              <a:ext uri="{FF2B5EF4-FFF2-40B4-BE49-F238E27FC236}">
                <a16:creationId xmlns:a16="http://schemas.microsoft.com/office/drawing/2014/main" id="{7FA1580B-A057-585F-4C57-F951B49819B9}"/>
              </a:ext>
            </a:extLst>
          </p:cNvPr>
          <p:cNvSpPr txBox="1">
            <a:spLocks/>
          </p:cNvSpPr>
          <p:nvPr/>
        </p:nvSpPr>
        <p:spPr>
          <a:xfrm>
            <a:off x="2724175" y="3375029"/>
            <a:ext cx="1112147" cy="576087"/>
          </a:xfrm>
          <a:prstGeom prst="rect">
            <a:avLst/>
          </a:prstGeom>
          <a:solidFill>
            <a:schemeClr val="accent1">
              <a:lumMod val="25000"/>
              <a:lumOff val="75000"/>
            </a:schemeClr>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latin typeface="+mn-lt"/>
              </a:rPr>
              <a:t>Affluent</a:t>
            </a:r>
          </a:p>
        </p:txBody>
      </p:sp>
      <p:sp>
        <p:nvSpPr>
          <p:cNvPr id="73" name="TextBox 72">
            <a:extLst>
              <a:ext uri="{FF2B5EF4-FFF2-40B4-BE49-F238E27FC236}">
                <a16:creationId xmlns:a16="http://schemas.microsoft.com/office/drawing/2014/main" id="{B4983E2E-7920-43F8-D1AA-AF158CEF90A2}"/>
              </a:ext>
            </a:extLst>
          </p:cNvPr>
          <p:cNvSpPr txBox="1">
            <a:spLocks/>
          </p:cNvSpPr>
          <p:nvPr/>
        </p:nvSpPr>
        <p:spPr>
          <a:xfrm>
            <a:off x="2724175" y="2202380"/>
            <a:ext cx="1112147" cy="33855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100" b="1">
                <a:latin typeface="+mn-lt"/>
                <a:ea typeface="+mn-ea"/>
                <a:cs typeface="+mn-cs"/>
                <a:sym typeface=""/>
              </a:rPr>
              <a:t>Proposed segment</a:t>
            </a:r>
            <a:endParaRPr lang="en-US" sz="1100">
              <a:latin typeface="+mn-lt"/>
              <a:ea typeface="+mn-ea"/>
              <a:cs typeface="+mn-cs"/>
              <a:sym typeface=""/>
            </a:endParaRPr>
          </a:p>
        </p:txBody>
      </p:sp>
      <p:sp>
        <p:nvSpPr>
          <p:cNvPr id="74" name="TextBox 73">
            <a:extLst>
              <a:ext uri="{FF2B5EF4-FFF2-40B4-BE49-F238E27FC236}">
                <a16:creationId xmlns:a16="http://schemas.microsoft.com/office/drawing/2014/main" id="{ECAD5E4F-3987-3959-56A7-60E5CEE5C8D2}"/>
              </a:ext>
            </a:extLst>
          </p:cNvPr>
          <p:cNvSpPr txBox="1">
            <a:spLocks/>
          </p:cNvSpPr>
          <p:nvPr/>
        </p:nvSpPr>
        <p:spPr>
          <a:xfrm>
            <a:off x="3900532" y="2202380"/>
            <a:ext cx="1157310" cy="33855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100" b="1">
                <a:latin typeface="+mn-lt"/>
                <a:ea typeface="+mn-ea"/>
                <a:cs typeface="+mn-cs"/>
                <a:sym typeface=""/>
              </a:rPr>
              <a:t>Minimum deposit, </a:t>
            </a:r>
            <a:r>
              <a:rPr lang="en-US" sz="1100">
                <a:latin typeface="+mn-lt"/>
                <a:ea typeface="+mn-ea"/>
                <a:cs typeface="+mn-cs"/>
                <a:sym typeface=""/>
              </a:rPr>
              <a:t>USD</a:t>
            </a:r>
          </a:p>
        </p:txBody>
      </p:sp>
      <p:sp>
        <p:nvSpPr>
          <p:cNvPr id="84" name="TextBox 83">
            <a:extLst>
              <a:ext uri="{FF2B5EF4-FFF2-40B4-BE49-F238E27FC236}">
                <a16:creationId xmlns:a16="http://schemas.microsoft.com/office/drawing/2014/main" id="{9DAEB844-5CB0-9D68-37EE-6ECDE5666C8B}"/>
              </a:ext>
            </a:extLst>
          </p:cNvPr>
          <p:cNvSpPr txBox="1">
            <a:spLocks/>
          </p:cNvSpPr>
          <p:nvPr/>
        </p:nvSpPr>
        <p:spPr>
          <a:xfrm>
            <a:off x="3900532" y="2828044"/>
            <a:ext cx="1157310" cy="16827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100" b="1">
                <a:solidFill>
                  <a:schemeClr val="accent2"/>
                </a:solidFill>
                <a:latin typeface="+mn-lt"/>
              </a:rPr>
              <a:t>10K – 100K</a:t>
            </a:r>
          </a:p>
        </p:txBody>
      </p:sp>
      <p:sp>
        <p:nvSpPr>
          <p:cNvPr id="79" name="TextBox 78">
            <a:extLst>
              <a:ext uri="{FF2B5EF4-FFF2-40B4-BE49-F238E27FC236}">
                <a16:creationId xmlns:a16="http://schemas.microsoft.com/office/drawing/2014/main" id="{507EA86F-FF00-C30E-E598-C4C8A6901B71}"/>
              </a:ext>
            </a:extLst>
          </p:cNvPr>
          <p:cNvSpPr txBox="1">
            <a:spLocks/>
          </p:cNvSpPr>
          <p:nvPr/>
        </p:nvSpPr>
        <p:spPr>
          <a:xfrm>
            <a:off x="3900532" y="3578434"/>
            <a:ext cx="1157310"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100" b="1">
                <a:solidFill>
                  <a:schemeClr val="accent2"/>
                </a:solidFill>
                <a:latin typeface="+mn-lt"/>
              </a:rPr>
              <a:t>100K – 250K</a:t>
            </a:r>
          </a:p>
        </p:txBody>
      </p:sp>
      <p:sp>
        <p:nvSpPr>
          <p:cNvPr id="59" name="TextBox 58">
            <a:extLst>
              <a:ext uri="{FF2B5EF4-FFF2-40B4-BE49-F238E27FC236}">
                <a16:creationId xmlns:a16="http://schemas.microsoft.com/office/drawing/2014/main" id="{B86D71C1-A6C8-207E-C3FF-72B94D13E2F2}"/>
              </a:ext>
            </a:extLst>
          </p:cNvPr>
          <p:cNvSpPr txBox="1">
            <a:spLocks/>
          </p:cNvSpPr>
          <p:nvPr/>
        </p:nvSpPr>
        <p:spPr>
          <a:xfrm>
            <a:off x="554735" y="2202380"/>
            <a:ext cx="788952" cy="33855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100" b="1">
                <a:latin typeface="+mn-lt"/>
                <a:ea typeface="+mn-ea"/>
                <a:cs typeface="+mn-cs"/>
                <a:sym typeface=""/>
              </a:rPr>
              <a:t>Current segment</a:t>
            </a:r>
          </a:p>
        </p:txBody>
      </p:sp>
      <p:sp>
        <p:nvSpPr>
          <p:cNvPr id="60" name="TextBox 59">
            <a:extLst>
              <a:ext uri="{FF2B5EF4-FFF2-40B4-BE49-F238E27FC236}">
                <a16:creationId xmlns:a16="http://schemas.microsoft.com/office/drawing/2014/main" id="{C9F860AA-B3D2-BE38-3AB9-7D19305C1BB4}"/>
              </a:ext>
            </a:extLst>
          </p:cNvPr>
          <p:cNvSpPr txBox="1">
            <a:spLocks/>
          </p:cNvSpPr>
          <p:nvPr/>
        </p:nvSpPr>
        <p:spPr>
          <a:xfrm>
            <a:off x="1426982" y="2371657"/>
            <a:ext cx="968442" cy="1692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100" b="1">
                <a:latin typeface="+mn-lt"/>
                <a:ea typeface="+mn-ea"/>
                <a:cs typeface="+mn-cs"/>
                <a:sym typeface=""/>
              </a:rPr>
              <a:t>Criteria </a:t>
            </a:r>
          </a:p>
        </p:txBody>
      </p:sp>
      <p:sp>
        <p:nvSpPr>
          <p:cNvPr id="88" name="Rectangle 87">
            <a:extLst>
              <a:ext uri="{FF2B5EF4-FFF2-40B4-BE49-F238E27FC236}">
                <a16:creationId xmlns:a16="http://schemas.microsoft.com/office/drawing/2014/main" id="{B8570AE9-67D3-6778-7BFC-181F33A942E4}"/>
              </a:ext>
            </a:extLst>
          </p:cNvPr>
          <p:cNvSpPr>
            <a:spLocks/>
          </p:cNvSpPr>
          <p:nvPr/>
        </p:nvSpPr>
        <p:spPr>
          <a:xfrm>
            <a:off x="2669786" y="4072924"/>
            <a:ext cx="2442445" cy="2183864"/>
          </a:xfrm>
          <a:prstGeom prst="rect">
            <a:avLst/>
          </a:prstGeom>
          <a:noFill/>
          <a:ln w="19050" cap="sq" cmpd="sng">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100" err="1">
              <a:solidFill>
                <a:schemeClr val="bg1"/>
              </a:solidFill>
            </a:endParaRPr>
          </a:p>
        </p:txBody>
      </p:sp>
      <p:sp>
        <p:nvSpPr>
          <p:cNvPr id="23" name="4. Footnote">
            <a:extLst>
              <a:ext uri="{FF2B5EF4-FFF2-40B4-BE49-F238E27FC236}">
                <a16:creationId xmlns:a16="http://schemas.microsoft.com/office/drawing/2014/main" id="{A53C2D1D-B209-D5FE-46D7-518E454AC332}"/>
              </a:ext>
            </a:extLst>
          </p:cNvPr>
          <p:cNvSpPr txBox="1">
            <a:spLocks/>
          </p:cNvSpPr>
          <p:nvPr>
            <p:custDataLst>
              <p:tags r:id="rId20"/>
            </p:custDataLst>
          </p:nvPr>
        </p:nvSpPr>
        <p:spPr>
          <a:xfrm>
            <a:off x="554736" y="6630569"/>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0" lvl="0" indent="0"/>
            <a:r>
              <a:rPr lang="en-US"/>
              <a:t>² Fair-share opportunity is based on PBA’s CIB market share, implying a target of ~30% penetration of the addressable market</a:t>
            </a:r>
          </a:p>
        </p:txBody>
      </p:sp>
      <p:sp>
        <p:nvSpPr>
          <p:cNvPr id="58" name="Freeform: Shape 57">
            <a:extLst>
              <a:ext uri="{FF2B5EF4-FFF2-40B4-BE49-F238E27FC236}">
                <a16:creationId xmlns:a16="http://schemas.microsoft.com/office/drawing/2014/main" id="{AB7FC900-5802-80B7-1DF8-D14A53D04329}"/>
              </a:ext>
            </a:extLst>
          </p:cNvPr>
          <p:cNvSpPr>
            <a:spLocks/>
          </p:cNvSpPr>
          <p:nvPr/>
        </p:nvSpPr>
        <p:spPr>
          <a:xfrm>
            <a:off x="554735" y="1187693"/>
            <a:ext cx="4503107" cy="680795"/>
          </a:xfrm>
          <a:custGeom>
            <a:avLst/>
            <a:gdLst>
              <a:gd name="csX0" fmla="*/ 86652 w 4587175"/>
              <a:gd name="csY0" fmla="*/ 0 h 680795"/>
              <a:gd name="csX1" fmla="*/ 4500523 w 4587175"/>
              <a:gd name="csY1" fmla="*/ 0 h 680795"/>
              <a:gd name="csX2" fmla="*/ 4587175 w 4587175"/>
              <a:gd name="csY2" fmla="*/ 86652 h 680795"/>
              <a:gd name="csX3" fmla="*/ 4587175 w 4587175"/>
              <a:gd name="csY3" fmla="*/ 680795 h 680795"/>
              <a:gd name="csX4" fmla="*/ 0 w 4587175"/>
              <a:gd name="csY4" fmla="*/ 680795 h 680795"/>
              <a:gd name="csX5" fmla="*/ 0 w 4587175"/>
              <a:gd name="csY5" fmla="*/ 86652 h 680795"/>
              <a:gd name="csX6" fmla="*/ 86652 w 4587175"/>
              <a:gd name="csY6" fmla="*/ 0 h 6807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87175" h="680795">
                <a:moveTo>
                  <a:pt x="86652" y="0"/>
                </a:moveTo>
                <a:lnTo>
                  <a:pt x="4500523" y="0"/>
                </a:lnTo>
                <a:cubicBezTo>
                  <a:pt x="4548380" y="0"/>
                  <a:pt x="4587175" y="38795"/>
                  <a:pt x="4587175" y="86652"/>
                </a:cubicBezTo>
                <a:lnTo>
                  <a:pt x="4587175" y="680795"/>
                </a:lnTo>
                <a:lnTo>
                  <a:pt x="0" y="680795"/>
                </a:lnTo>
                <a:lnTo>
                  <a:pt x="0" y="86652"/>
                </a:lnTo>
                <a:cubicBezTo>
                  <a:pt x="0" y="38795"/>
                  <a:pt x="38795" y="0"/>
                  <a:pt x="86652" y="0"/>
                </a:cubicBezTo>
                <a:close/>
              </a:path>
            </a:pathLst>
          </a:cu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buSzPct val="100000"/>
            </a:pPr>
            <a:r>
              <a:rPr lang="en-US" sz="1200" b="1">
                <a:solidFill>
                  <a:schemeClr val="tx1"/>
                </a:solidFill>
              </a:rPr>
              <a:t>A. Current PB segments can be refined by raising thresholds and migrating below-threshold clients into affluent retail</a:t>
            </a:r>
            <a:endParaRPr lang="en-US" sz="1200" b="1">
              <a:solidFill>
                <a:schemeClr val="tx1"/>
              </a:solidFill>
              <a:sym typeface=""/>
            </a:endParaRPr>
          </a:p>
        </p:txBody>
      </p:sp>
      <p:sp>
        <p:nvSpPr>
          <p:cNvPr id="83" name="Freeform: Shape 82">
            <a:extLst>
              <a:ext uri="{FF2B5EF4-FFF2-40B4-BE49-F238E27FC236}">
                <a16:creationId xmlns:a16="http://schemas.microsoft.com/office/drawing/2014/main" id="{7EF08DB6-FE8B-739F-DFE5-CD7D776DB5C6}"/>
              </a:ext>
            </a:extLst>
          </p:cNvPr>
          <p:cNvSpPr>
            <a:spLocks/>
          </p:cNvSpPr>
          <p:nvPr/>
        </p:nvSpPr>
        <p:spPr>
          <a:xfrm>
            <a:off x="5503068" y="1187693"/>
            <a:ext cx="2973387" cy="680795"/>
          </a:xfrm>
          <a:custGeom>
            <a:avLst/>
            <a:gdLst>
              <a:gd name="csX0" fmla="*/ 86652 w 2974816"/>
              <a:gd name="csY0" fmla="*/ 0 h 679206"/>
              <a:gd name="csX1" fmla="*/ 2888164 w 2974816"/>
              <a:gd name="csY1" fmla="*/ 0 h 679206"/>
              <a:gd name="csX2" fmla="*/ 2974816 w 2974816"/>
              <a:gd name="csY2" fmla="*/ 86652 h 679206"/>
              <a:gd name="csX3" fmla="*/ 2974816 w 2974816"/>
              <a:gd name="csY3" fmla="*/ 679206 h 679206"/>
              <a:gd name="csX4" fmla="*/ 0 w 2974816"/>
              <a:gd name="csY4" fmla="*/ 679206 h 679206"/>
              <a:gd name="csX5" fmla="*/ 0 w 2974816"/>
              <a:gd name="csY5" fmla="*/ 86652 h 679206"/>
              <a:gd name="csX6" fmla="*/ 86652 w 2974816"/>
              <a:gd name="csY6" fmla="*/ 0 h 6792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74816" h="679206">
                <a:moveTo>
                  <a:pt x="86652" y="0"/>
                </a:moveTo>
                <a:lnTo>
                  <a:pt x="2888164" y="0"/>
                </a:lnTo>
                <a:cubicBezTo>
                  <a:pt x="2936021" y="0"/>
                  <a:pt x="2974816" y="38795"/>
                  <a:pt x="2974816" y="86652"/>
                </a:cubicBezTo>
                <a:lnTo>
                  <a:pt x="2974816" y="679206"/>
                </a:lnTo>
                <a:lnTo>
                  <a:pt x="0" y="679206"/>
                </a:lnTo>
                <a:lnTo>
                  <a:pt x="0" y="86652"/>
                </a:lnTo>
                <a:cubicBezTo>
                  <a:pt x="0" y="38795"/>
                  <a:pt x="38795" y="0"/>
                  <a:pt x="86652" y="0"/>
                </a:cubicBezTo>
                <a:close/>
              </a:path>
            </a:pathLst>
          </a:cu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buSzPct val="100000"/>
            </a:pPr>
            <a:r>
              <a:rPr lang="en-US" sz="1200" b="1">
                <a:solidFill>
                  <a:schemeClr val="tx1"/>
                </a:solidFill>
              </a:rPr>
              <a:t>B. PBA can pursue ~1250 fair-share clients in private banking</a:t>
            </a:r>
          </a:p>
        </p:txBody>
      </p:sp>
      <p:sp>
        <p:nvSpPr>
          <p:cNvPr id="120" name="TextBox 119">
            <a:extLst>
              <a:ext uri="{FF2B5EF4-FFF2-40B4-BE49-F238E27FC236}">
                <a16:creationId xmlns:a16="http://schemas.microsoft.com/office/drawing/2014/main" id="{4D197AB0-DB6D-19F4-69AC-048E6CEE3B9E}"/>
              </a:ext>
            </a:extLst>
          </p:cNvPr>
          <p:cNvSpPr txBox="1"/>
          <p:nvPr/>
        </p:nvSpPr>
        <p:spPr>
          <a:xfrm>
            <a:off x="9308310" y="1962942"/>
            <a:ext cx="2332002" cy="110799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latin typeface="+mn-lt"/>
                <a:ea typeface="+mn-ea"/>
                <a:cs typeface="Arial" panose="020B0604020202020204" pitchFamily="34" charset="0"/>
              </a:rPr>
              <a:t>~85% of current Private Banking income comes from </a:t>
            </a:r>
            <a:r>
              <a:rPr lang="en-US" sz="1200" i="1">
                <a:latin typeface="+mn-lt"/>
                <a:ea typeface="+mn-ea"/>
                <a:cs typeface="Arial" panose="020B0604020202020204" pitchFamily="34" charset="0"/>
              </a:rPr>
              <a:t>Heritage </a:t>
            </a:r>
            <a:r>
              <a:rPr lang="en-US" sz="1200">
                <a:latin typeface="+mn-lt"/>
                <a:ea typeface="+mn-ea"/>
                <a:cs typeface="Arial" panose="020B0604020202020204" pitchFamily="34" charset="0"/>
              </a:rPr>
              <a:t>clients, so </a:t>
            </a:r>
            <a:r>
              <a:rPr lang="en-US" sz="1200" b="1">
                <a:latin typeface="+mn-lt"/>
                <a:ea typeface="+mn-ea"/>
                <a:cs typeface="Arial" panose="020B0604020202020204" pitchFamily="34" charset="0"/>
              </a:rPr>
              <a:t>serving mass affluent and affluent clients under PB is not economically necessary</a:t>
            </a:r>
            <a:endParaRPr lang="en-US" sz="1200">
              <a:latin typeface="+mn-lt"/>
              <a:ea typeface="+mn-ea"/>
              <a:cs typeface="Arial" panose="020B0604020202020204" pitchFamily="34" charset="0"/>
            </a:endParaRPr>
          </a:p>
        </p:txBody>
      </p:sp>
      <p:sp>
        <p:nvSpPr>
          <p:cNvPr id="124" name="TextBox 123">
            <a:extLst>
              <a:ext uri="{FF2B5EF4-FFF2-40B4-BE49-F238E27FC236}">
                <a16:creationId xmlns:a16="http://schemas.microsoft.com/office/drawing/2014/main" id="{6ECCAA65-B86F-2B5A-60DA-2DDCEAA02F3B}"/>
              </a:ext>
            </a:extLst>
          </p:cNvPr>
          <p:cNvSpPr txBox="1"/>
          <p:nvPr/>
        </p:nvSpPr>
        <p:spPr>
          <a:xfrm>
            <a:off x="9308310" y="3219529"/>
            <a:ext cx="2332002"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cs typeface="Arial" panose="020B0604020202020204" pitchFamily="34" charset="0"/>
              </a:rPr>
              <a:t>Redefining the segments within private banking will reduce pressure on PB RMs and allow </a:t>
            </a:r>
            <a:r>
              <a:rPr lang="en-US" sz="1200" b="1">
                <a:cs typeface="Arial" panose="020B0604020202020204" pitchFamily="34" charset="0"/>
              </a:rPr>
              <a:t>higher-touch coverage for early-PB, HNWI and UHNWI through deeper advisory</a:t>
            </a:r>
            <a:r>
              <a:rPr lang="en-US" sz="1200">
                <a:cs typeface="Arial" panose="020B0604020202020204" pitchFamily="34" charset="0"/>
              </a:rPr>
              <a:t>, better product access and more exclusive service</a:t>
            </a:r>
          </a:p>
        </p:txBody>
      </p:sp>
      <p:grpSp>
        <p:nvGrpSpPr>
          <p:cNvPr id="200" name="Group 199">
            <a:extLst>
              <a:ext uri="{FF2B5EF4-FFF2-40B4-BE49-F238E27FC236}">
                <a16:creationId xmlns:a16="http://schemas.microsoft.com/office/drawing/2014/main" id="{B7DCA40D-BE0F-ACCD-7A5D-2D336006C8FF}"/>
              </a:ext>
            </a:extLst>
          </p:cNvPr>
          <p:cNvGrpSpPr/>
          <p:nvPr/>
        </p:nvGrpSpPr>
        <p:grpSpPr>
          <a:xfrm>
            <a:off x="5503068" y="1953776"/>
            <a:ext cx="869984" cy="123111"/>
            <a:chOff x="557910" y="1934726"/>
            <a:chExt cx="869984" cy="123111"/>
          </a:xfrm>
        </p:grpSpPr>
        <p:grpSp>
          <p:nvGrpSpPr>
            <p:cNvPr id="204" name="Group 203">
              <a:extLst>
                <a:ext uri="{FF2B5EF4-FFF2-40B4-BE49-F238E27FC236}">
                  <a16:creationId xmlns:a16="http://schemas.microsoft.com/office/drawing/2014/main" id="{BC16778F-168A-F83B-681F-63D425F33701}"/>
                </a:ext>
              </a:extLst>
            </p:cNvPr>
            <p:cNvGrpSpPr/>
            <p:nvPr/>
          </p:nvGrpSpPr>
          <p:grpSpPr>
            <a:xfrm>
              <a:off x="557910" y="1934726"/>
              <a:ext cx="459806" cy="123111"/>
              <a:chOff x="557910" y="1934726"/>
              <a:chExt cx="459806" cy="123111"/>
            </a:xfrm>
          </p:grpSpPr>
          <p:sp>
            <p:nvSpPr>
              <p:cNvPr id="207" name="RectangleLegend1">
                <a:extLst>
                  <a:ext uri="{FF2B5EF4-FFF2-40B4-BE49-F238E27FC236}">
                    <a16:creationId xmlns:a16="http://schemas.microsoft.com/office/drawing/2014/main" id="{76B31842-B4C0-CBBC-86D3-D35325DB384F}"/>
                  </a:ext>
                </a:extLst>
              </p:cNvPr>
              <p:cNvSpPr>
                <a:spLocks/>
              </p:cNvSpPr>
              <p:nvPr/>
            </p:nvSpPr>
            <p:spPr>
              <a:xfrm>
                <a:off x="557910" y="1942306"/>
                <a:ext cx="107722" cy="107950"/>
              </a:xfrm>
              <a:prstGeom prst="rect">
                <a:avLst/>
              </a:prstGeom>
              <a:solidFill>
                <a:srgbClr val="B0B0B0"/>
              </a:solidFill>
            </p:spPr>
            <p:txBody>
              <a:bodyPr vert="horz" wrap="square" lIns="91440" tIns="45720" rIns="45720" bIns="45720" rtlCol="0" anchor="t" anchorCtr="0">
                <a:noAutofit/>
              </a:bodyPr>
              <a:lstStyle/>
              <a:p>
                <a:pPr>
                  <a:spcBef>
                    <a:spcPts val="300"/>
                  </a:spcBef>
                  <a:spcAft>
                    <a:spcPts val="300"/>
                  </a:spcAft>
                  <a:buFont typeface="Segoe UI" panose="020B0502040204020203" pitchFamily="34" charset="0"/>
                  <a:buChar char="​"/>
                </a:pPr>
                <a:endParaRPr lang="en-US" sz="800" b="1" err="1">
                  <a:solidFill>
                    <a:srgbClr val="191C1E"/>
                  </a:solidFill>
                  <a:ea typeface="Tahoma" panose="020B0604030504040204" pitchFamily="34" charset="0"/>
                  <a:cs typeface="Tahoma" panose="020B0604030504040204" pitchFamily="34" charset="0"/>
                </a:endParaRPr>
              </a:p>
            </p:txBody>
          </p:sp>
          <p:sp>
            <p:nvSpPr>
              <p:cNvPr id="208" name="Legend1">
                <a:extLst>
                  <a:ext uri="{FF2B5EF4-FFF2-40B4-BE49-F238E27FC236}">
                    <a16:creationId xmlns:a16="http://schemas.microsoft.com/office/drawing/2014/main" id="{89C580C1-15DA-8E59-8C77-7B922ED8C5E0}"/>
                  </a:ext>
                </a:extLst>
              </p:cNvPr>
              <p:cNvSpPr txBox="1"/>
              <p:nvPr/>
            </p:nvSpPr>
            <p:spPr>
              <a:xfrm>
                <a:off x="708336" y="1934726"/>
                <a:ext cx="309380" cy="123111"/>
              </a:xfrm>
              <a:prstGeom prst="rect">
                <a:avLst/>
              </a:prstGeom>
              <a:noFill/>
              <a:ln>
                <a:noFill/>
                <a:miter lim="800000"/>
              </a:ln>
            </p:spPr>
            <p:txBody>
              <a:bodyPr wrap="none" lIns="0" tIns="0" rIns="0" bIns="0" rtlCol="0" anchor="ctr" anchorCtr="0">
                <a:spAutoFit/>
              </a:bodyPr>
              <a:lstStyle/>
              <a:p>
                <a:pPr>
                  <a:spcAft>
                    <a:spcPts val="600"/>
                  </a:spcAft>
                </a:pPr>
                <a:r>
                  <a:rPr lang="en-US" sz="800"/>
                  <a:t>Market</a:t>
                </a:r>
              </a:p>
            </p:txBody>
          </p:sp>
        </p:grpSp>
        <p:sp>
          <p:nvSpPr>
            <p:cNvPr id="205" name="RectangleLegend2">
              <a:extLst>
                <a:ext uri="{FF2B5EF4-FFF2-40B4-BE49-F238E27FC236}">
                  <a16:creationId xmlns:a16="http://schemas.microsoft.com/office/drawing/2014/main" id="{ED63F443-A998-3626-98DD-518D18B9C2D4}"/>
                </a:ext>
              </a:extLst>
            </p:cNvPr>
            <p:cNvSpPr>
              <a:spLocks/>
            </p:cNvSpPr>
            <p:nvPr/>
          </p:nvSpPr>
          <p:spPr>
            <a:xfrm>
              <a:off x="1101103" y="1942306"/>
              <a:ext cx="107722" cy="107950"/>
            </a:xfrm>
            <a:prstGeom prst="rect">
              <a:avLst/>
            </a:prstGeom>
            <a:solidFill>
              <a:srgbClr val="1C863F"/>
            </a:solidFill>
          </p:spPr>
          <p:txBody>
            <a:bodyPr vert="horz" wrap="square" lIns="91440" tIns="45720" rIns="45720" bIns="45720" rtlCol="0" anchor="t" anchorCtr="0">
              <a:noAutofit/>
            </a:bodyPr>
            <a:lstStyle/>
            <a:p>
              <a:pPr>
                <a:spcBef>
                  <a:spcPts val="300"/>
                </a:spcBef>
                <a:spcAft>
                  <a:spcPts val="300"/>
                </a:spcAft>
                <a:buFont typeface="Segoe UI" panose="020B0502040204020203" pitchFamily="34" charset="0"/>
                <a:buChar char="​"/>
              </a:pPr>
              <a:endParaRPr lang="en-US" sz="800" b="1" err="1">
                <a:solidFill>
                  <a:schemeClr val="bg1"/>
                </a:solidFill>
                <a:ea typeface="Tahoma" panose="020B0604030504040204" pitchFamily="34" charset="0"/>
                <a:cs typeface="Tahoma" panose="020B0604030504040204" pitchFamily="34" charset="0"/>
              </a:endParaRPr>
            </a:p>
          </p:txBody>
        </p:sp>
        <p:sp>
          <p:nvSpPr>
            <p:cNvPr id="206" name="Legend2">
              <a:extLst>
                <a:ext uri="{FF2B5EF4-FFF2-40B4-BE49-F238E27FC236}">
                  <a16:creationId xmlns:a16="http://schemas.microsoft.com/office/drawing/2014/main" id="{597A63C4-CEED-B52A-0B0F-5FA9FC9881FD}"/>
                </a:ext>
              </a:extLst>
            </p:cNvPr>
            <p:cNvSpPr txBox="1"/>
            <p:nvPr/>
          </p:nvSpPr>
          <p:spPr>
            <a:xfrm>
              <a:off x="1249960" y="1934726"/>
              <a:ext cx="177934" cy="123111"/>
            </a:xfrm>
            <a:prstGeom prst="rect">
              <a:avLst/>
            </a:prstGeom>
            <a:noFill/>
            <a:ln>
              <a:noFill/>
              <a:miter lim="800000"/>
            </a:ln>
          </p:spPr>
          <p:txBody>
            <a:bodyPr wrap="none" lIns="0" tIns="0" rIns="0" bIns="0" rtlCol="0" anchor="ctr" anchorCtr="0">
              <a:spAutoFit/>
            </a:bodyPr>
            <a:lstStyle/>
            <a:p>
              <a:pPr>
                <a:spcAft>
                  <a:spcPts val="600"/>
                </a:spcAft>
              </a:pPr>
              <a:r>
                <a:rPr lang="en-US" sz="800"/>
                <a:t>PBA</a:t>
              </a:r>
            </a:p>
          </p:txBody>
        </p:sp>
      </p:grpSp>
      <p:grpSp>
        <p:nvGrpSpPr>
          <p:cNvPr id="209" name="ChevronWhite 82">
            <a:extLst>
              <a:ext uri="{FF2B5EF4-FFF2-40B4-BE49-F238E27FC236}">
                <a16:creationId xmlns:a16="http://schemas.microsoft.com/office/drawing/2014/main" id="{77900121-9E07-4EFE-07CE-77D211E74F58}"/>
              </a:ext>
            </a:extLst>
          </p:cNvPr>
          <p:cNvGrpSpPr>
            <a:grpSpLocks noChangeAspect="1"/>
          </p:cNvGrpSpPr>
          <p:nvPr>
            <p:custDataLst>
              <p:tags r:id="rId21"/>
            </p:custDataLst>
          </p:nvPr>
        </p:nvGrpSpPr>
        <p:grpSpPr>
          <a:xfrm>
            <a:off x="5145269" y="1392905"/>
            <a:ext cx="270371" cy="270371"/>
            <a:chOff x="1016000" y="1016000"/>
            <a:chExt cx="396228" cy="396228"/>
          </a:xfrm>
        </p:grpSpPr>
        <p:sp>
          <p:nvSpPr>
            <p:cNvPr id="210" name="Oval 209">
              <a:extLst>
                <a:ext uri="{FF2B5EF4-FFF2-40B4-BE49-F238E27FC236}">
                  <a16:creationId xmlns:a16="http://schemas.microsoft.com/office/drawing/2014/main" id="{ED79DD58-2813-AA84-5617-DBF66D097CE3}"/>
                </a:ext>
              </a:extLst>
            </p:cNvPr>
            <p:cNvSpPr/>
            <p:nvPr/>
          </p:nvSpPr>
          <p:spPr>
            <a:xfrm>
              <a:off x="1016000" y="1016000"/>
              <a:ext cx="396228" cy="396228"/>
            </a:xfrm>
            <a:prstGeom prst="ellipse">
              <a:avLst/>
            </a:prstGeom>
            <a:solidFill>
              <a:schemeClr val="bg1"/>
            </a:solidFill>
            <a:ln w="12700" cap="sq" cmpd="sng">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211" name="Graphic 210">
              <a:extLst>
                <a:ext uri="{FF2B5EF4-FFF2-40B4-BE49-F238E27FC236}">
                  <a16:creationId xmlns:a16="http://schemas.microsoft.com/office/drawing/2014/main" id="{E0849F50-8239-6D09-470F-8423CC0D7A1F}"/>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023614" y="1023614"/>
              <a:ext cx="381000" cy="381000"/>
            </a:xfrm>
            <a:prstGeom prst="rect">
              <a:avLst/>
            </a:prstGeom>
          </p:spPr>
        </p:pic>
      </p:grpSp>
      <p:cxnSp>
        <p:nvCxnSpPr>
          <p:cNvPr id="214" name="Straight Arrow Connector 213">
            <a:extLst>
              <a:ext uri="{FF2B5EF4-FFF2-40B4-BE49-F238E27FC236}">
                <a16:creationId xmlns:a16="http://schemas.microsoft.com/office/drawing/2014/main" id="{4EF997B0-E41E-8BBD-5B5A-936A587449A7}"/>
              </a:ext>
            </a:extLst>
          </p:cNvPr>
          <p:cNvCxnSpPr>
            <a:cxnSpLocks/>
          </p:cNvCxnSpPr>
          <p:nvPr/>
        </p:nvCxnSpPr>
        <p:spPr>
          <a:xfrm>
            <a:off x="554735" y="2565570"/>
            <a:ext cx="4503107" cy="0"/>
          </a:xfrm>
          <a:prstGeom prst="straightConnector1">
            <a:avLst/>
          </a:prstGeom>
          <a:ln w="12700" cap="sq" cmpd="sng">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7" name="TextBox 216">
            <a:extLst>
              <a:ext uri="{FF2B5EF4-FFF2-40B4-BE49-F238E27FC236}">
                <a16:creationId xmlns:a16="http://schemas.microsoft.com/office/drawing/2014/main" id="{AECAE15F-15E2-1A3C-7FD5-423C3E4EC6BA}"/>
              </a:ext>
            </a:extLst>
          </p:cNvPr>
          <p:cNvSpPr txBox="1">
            <a:spLocks/>
          </p:cNvSpPr>
          <p:nvPr/>
        </p:nvSpPr>
        <p:spPr>
          <a:xfrm>
            <a:off x="1426982" y="2624138"/>
            <a:ext cx="968442" cy="71558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100">
                <a:latin typeface="+mn-lt"/>
              </a:rPr>
              <a:t>100k AZN deposit or </a:t>
            </a:r>
          </a:p>
          <a:p>
            <a:pPr lvl="1"/>
            <a:r>
              <a:rPr lang="en-GB" sz="1100">
                <a:latin typeface="+mn-lt"/>
              </a:rPr>
              <a:t>100k USD investment</a:t>
            </a:r>
          </a:p>
        </p:txBody>
      </p:sp>
      <p:sp>
        <p:nvSpPr>
          <p:cNvPr id="90" name="Oval 89">
            <a:extLst>
              <a:ext uri="{FF2B5EF4-FFF2-40B4-BE49-F238E27FC236}">
                <a16:creationId xmlns:a16="http://schemas.microsoft.com/office/drawing/2014/main" id="{2BC626F2-1BDA-5F78-341A-B5758AB1BD7A}"/>
              </a:ext>
            </a:extLst>
          </p:cNvPr>
          <p:cNvSpPr>
            <a:spLocks/>
          </p:cNvSpPr>
          <p:nvPr/>
        </p:nvSpPr>
        <p:spPr>
          <a:xfrm>
            <a:off x="1426982" y="3411955"/>
            <a:ext cx="709285" cy="309087"/>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GB" sz="1100">
                <a:solidFill>
                  <a:schemeClr val="tx1"/>
                </a:solidFill>
              </a:rPr>
              <a:t>531</a:t>
            </a:r>
          </a:p>
        </p:txBody>
      </p:sp>
      <p:sp>
        <p:nvSpPr>
          <p:cNvPr id="219" name="TextBox 218">
            <a:extLst>
              <a:ext uri="{FF2B5EF4-FFF2-40B4-BE49-F238E27FC236}">
                <a16:creationId xmlns:a16="http://schemas.microsoft.com/office/drawing/2014/main" id="{C85B844C-E9F0-2C5B-0BD6-78BA6AC6AE8A}"/>
              </a:ext>
            </a:extLst>
          </p:cNvPr>
          <p:cNvSpPr txBox="1">
            <a:spLocks/>
          </p:cNvSpPr>
          <p:nvPr/>
        </p:nvSpPr>
        <p:spPr>
          <a:xfrm>
            <a:off x="1426982" y="3865514"/>
            <a:ext cx="968442" cy="71558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100">
                <a:latin typeface="+mn-lt"/>
              </a:rPr>
              <a:t>300k AZN deposit or </a:t>
            </a:r>
          </a:p>
          <a:p>
            <a:pPr lvl="1"/>
            <a:r>
              <a:rPr lang="en-GB" sz="1100">
                <a:latin typeface="+mn-lt"/>
              </a:rPr>
              <a:t>300k AZN investment</a:t>
            </a:r>
          </a:p>
        </p:txBody>
      </p:sp>
      <p:sp>
        <p:nvSpPr>
          <p:cNvPr id="93" name="Oval 92">
            <a:extLst>
              <a:ext uri="{FF2B5EF4-FFF2-40B4-BE49-F238E27FC236}">
                <a16:creationId xmlns:a16="http://schemas.microsoft.com/office/drawing/2014/main" id="{68BBC011-10CB-A585-E07B-B31BBE81FAFB}"/>
              </a:ext>
            </a:extLst>
          </p:cNvPr>
          <p:cNvSpPr>
            <a:spLocks/>
          </p:cNvSpPr>
          <p:nvPr/>
        </p:nvSpPr>
        <p:spPr>
          <a:xfrm>
            <a:off x="1426982" y="4664761"/>
            <a:ext cx="709285" cy="309087"/>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GB" sz="1100">
                <a:solidFill>
                  <a:schemeClr val="tx1"/>
                </a:solidFill>
              </a:rPr>
              <a:t>339</a:t>
            </a:r>
          </a:p>
        </p:txBody>
      </p:sp>
      <p:sp>
        <p:nvSpPr>
          <p:cNvPr id="221" name="TextBox 220">
            <a:extLst>
              <a:ext uri="{FF2B5EF4-FFF2-40B4-BE49-F238E27FC236}">
                <a16:creationId xmlns:a16="http://schemas.microsoft.com/office/drawing/2014/main" id="{550FDA02-4071-8A36-B793-4E93C5766A0E}"/>
              </a:ext>
            </a:extLst>
          </p:cNvPr>
          <p:cNvSpPr txBox="1">
            <a:spLocks/>
          </p:cNvSpPr>
          <p:nvPr/>
        </p:nvSpPr>
        <p:spPr>
          <a:xfrm>
            <a:off x="1426982" y="5106890"/>
            <a:ext cx="968442" cy="71558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GB" sz="1100">
                <a:latin typeface="+mn-lt"/>
              </a:rPr>
              <a:t>1M AZN deposit or </a:t>
            </a:r>
          </a:p>
          <a:p>
            <a:pPr lvl="1"/>
            <a:r>
              <a:rPr lang="en-GB" sz="1100">
                <a:latin typeface="+mn-lt"/>
              </a:rPr>
              <a:t>1M AZN investment</a:t>
            </a:r>
          </a:p>
        </p:txBody>
      </p:sp>
      <p:sp>
        <p:nvSpPr>
          <p:cNvPr id="95" name="Oval 94">
            <a:extLst>
              <a:ext uri="{FF2B5EF4-FFF2-40B4-BE49-F238E27FC236}">
                <a16:creationId xmlns:a16="http://schemas.microsoft.com/office/drawing/2014/main" id="{61E285EF-783E-4371-F821-C8C58CB5A0AD}"/>
              </a:ext>
            </a:extLst>
          </p:cNvPr>
          <p:cNvSpPr>
            <a:spLocks/>
          </p:cNvSpPr>
          <p:nvPr/>
        </p:nvSpPr>
        <p:spPr>
          <a:xfrm>
            <a:off x="1426982" y="5894705"/>
            <a:ext cx="709285" cy="309087"/>
          </a:xfrm>
          <a:prstGeom prst="ellipse">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GB" sz="1100">
                <a:solidFill>
                  <a:schemeClr val="tx1"/>
                </a:solidFill>
              </a:rPr>
              <a:t>187</a:t>
            </a:r>
          </a:p>
        </p:txBody>
      </p:sp>
      <p:cxnSp>
        <p:nvCxnSpPr>
          <p:cNvPr id="228" name="Straight Arrow Connector 227">
            <a:extLst>
              <a:ext uri="{FF2B5EF4-FFF2-40B4-BE49-F238E27FC236}">
                <a16:creationId xmlns:a16="http://schemas.microsoft.com/office/drawing/2014/main" id="{9AE22DC9-B966-CAD4-38F7-B3FB94B7F02B}"/>
              </a:ext>
            </a:extLst>
          </p:cNvPr>
          <p:cNvCxnSpPr>
            <a:cxnSpLocks/>
          </p:cNvCxnSpPr>
          <p:nvPr/>
        </p:nvCxnSpPr>
        <p:spPr>
          <a:xfrm>
            <a:off x="554735" y="3793278"/>
            <a:ext cx="1840689"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3AF6F19E-FAA5-5C38-3B73-D1ED5F0CBFD2}"/>
              </a:ext>
            </a:extLst>
          </p:cNvPr>
          <p:cNvCxnSpPr>
            <a:cxnSpLocks/>
          </p:cNvCxnSpPr>
          <p:nvPr/>
        </p:nvCxnSpPr>
        <p:spPr>
          <a:xfrm>
            <a:off x="554735" y="5034654"/>
            <a:ext cx="1840689"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8B1CBDA4-B3B1-DFF3-79A1-ED9125088B17}"/>
              </a:ext>
            </a:extLst>
          </p:cNvPr>
          <p:cNvCxnSpPr>
            <a:cxnSpLocks/>
          </p:cNvCxnSpPr>
          <p:nvPr/>
        </p:nvCxnSpPr>
        <p:spPr>
          <a:xfrm>
            <a:off x="2724175" y="3287627"/>
            <a:ext cx="2333667"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46" name="ChevronWhite 82">
            <a:extLst>
              <a:ext uri="{FF2B5EF4-FFF2-40B4-BE49-F238E27FC236}">
                <a16:creationId xmlns:a16="http://schemas.microsoft.com/office/drawing/2014/main" id="{4D0AF258-9B7E-B332-11CF-EF41895F4493}"/>
              </a:ext>
            </a:extLst>
          </p:cNvPr>
          <p:cNvGrpSpPr>
            <a:grpSpLocks noChangeAspect="1"/>
          </p:cNvGrpSpPr>
          <p:nvPr>
            <p:custDataLst>
              <p:tags r:id="rId22"/>
            </p:custDataLst>
          </p:nvPr>
        </p:nvGrpSpPr>
        <p:grpSpPr>
          <a:xfrm>
            <a:off x="2467466" y="2473237"/>
            <a:ext cx="184667" cy="184667"/>
            <a:chOff x="1016000" y="1016000"/>
            <a:chExt cx="396228" cy="396228"/>
          </a:xfrm>
        </p:grpSpPr>
        <p:sp>
          <p:nvSpPr>
            <p:cNvPr id="247" name="Oval 246">
              <a:extLst>
                <a:ext uri="{FF2B5EF4-FFF2-40B4-BE49-F238E27FC236}">
                  <a16:creationId xmlns:a16="http://schemas.microsoft.com/office/drawing/2014/main" id="{1675E38A-CD22-0C30-7ADC-689A87E3231A}"/>
                </a:ext>
              </a:extLst>
            </p:cNvPr>
            <p:cNvSpPr/>
            <p:nvPr/>
          </p:nvSpPr>
          <p:spPr>
            <a:xfrm>
              <a:off x="1016000" y="1016000"/>
              <a:ext cx="396228" cy="396228"/>
            </a:xfrm>
            <a:prstGeom prst="ellipse">
              <a:avLst/>
            </a:prstGeom>
            <a:solidFill>
              <a:schemeClr val="bg1"/>
            </a:solidFill>
            <a:ln w="9525" cap="sq" cmpd="sng">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100" err="1">
                <a:solidFill>
                  <a:schemeClr val="bg1"/>
                </a:solidFill>
              </a:endParaRPr>
            </a:p>
          </p:txBody>
        </p:sp>
        <p:pic>
          <p:nvPicPr>
            <p:cNvPr id="248" name="Graphic 247">
              <a:extLst>
                <a:ext uri="{FF2B5EF4-FFF2-40B4-BE49-F238E27FC236}">
                  <a16:creationId xmlns:a16="http://schemas.microsoft.com/office/drawing/2014/main" id="{F611E9B6-FF45-ED84-9D97-DC43F6105C8A}"/>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1023614" y="1023614"/>
              <a:ext cx="381000" cy="381000"/>
            </a:xfrm>
            <a:prstGeom prst="rect">
              <a:avLst/>
            </a:prstGeom>
          </p:spPr>
        </p:pic>
      </p:grpSp>
      <p:cxnSp>
        <p:nvCxnSpPr>
          <p:cNvPr id="251" name="Straight Arrow Connector 250">
            <a:extLst>
              <a:ext uri="{FF2B5EF4-FFF2-40B4-BE49-F238E27FC236}">
                <a16:creationId xmlns:a16="http://schemas.microsoft.com/office/drawing/2014/main" id="{F08FBDFA-1E6D-7181-F34C-A975E64034BB}"/>
              </a:ext>
            </a:extLst>
          </p:cNvPr>
          <p:cNvCxnSpPr>
            <a:cxnSpLocks/>
          </p:cNvCxnSpPr>
          <p:nvPr/>
        </p:nvCxnSpPr>
        <p:spPr>
          <a:xfrm>
            <a:off x="2724175" y="4038518"/>
            <a:ext cx="2333667"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B774105-A602-DC80-3378-73A38DCA517D}"/>
              </a:ext>
            </a:extLst>
          </p:cNvPr>
          <p:cNvSpPr txBox="1">
            <a:spLocks/>
          </p:cNvSpPr>
          <p:nvPr/>
        </p:nvSpPr>
        <p:spPr>
          <a:xfrm>
            <a:off x="2724175" y="4125920"/>
            <a:ext cx="1112147" cy="576087"/>
          </a:xfrm>
          <a:prstGeom prst="rect">
            <a:avLst/>
          </a:prstGeom>
          <a:solidFill>
            <a:srgbClr val="1C863F"/>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solidFill>
                  <a:schemeClr val="bg1"/>
                </a:solidFill>
                <a:latin typeface="+mn-lt"/>
              </a:rPr>
              <a:t>Origin</a:t>
            </a:r>
          </a:p>
        </p:txBody>
      </p:sp>
      <p:sp>
        <p:nvSpPr>
          <p:cNvPr id="4" name="TextBox 3">
            <a:extLst>
              <a:ext uri="{FF2B5EF4-FFF2-40B4-BE49-F238E27FC236}">
                <a16:creationId xmlns:a16="http://schemas.microsoft.com/office/drawing/2014/main" id="{111AE9ED-538D-3099-9F5A-AB7CC9EFAFC3}"/>
              </a:ext>
            </a:extLst>
          </p:cNvPr>
          <p:cNvSpPr txBox="1">
            <a:spLocks/>
          </p:cNvSpPr>
          <p:nvPr/>
        </p:nvSpPr>
        <p:spPr>
          <a:xfrm>
            <a:off x="2724175" y="4876811"/>
            <a:ext cx="1112147" cy="576087"/>
          </a:xfrm>
          <a:prstGeom prst="rect">
            <a:avLst/>
          </a:prstGeom>
          <a:solidFill>
            <a:srgbClr val="1C863F"/>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solidFill>
                  <a:schemeClr val="bg1"/>
                </a:solidFill>
                <a:latin typeface="+mn-lt"/>
              </a:rPr>
              <a:t>Horizon</a:t>
            </a:r>
          </a:p>
        </p:txBody>
      </p:sp>
      <p:sp>
        <p:nvSpPr>
          <p:cNvPr id="5" name="TextBox 4">
            <a:extLst>
              <a:ext uri="{FF2B5EF4-FFF2-40B4-BE49-F238E27FC236}">
                <a16:creationId xmlns:a16="http://schemas.microsoft.com/office/drawing/2014/main" id="{06CF5A59-5EC6-17C3-3938-04EE3C8BB2BF}"/>
              </a:ext>
            </a:extLst>
          </p:cNvPr>
          <p:cNvSpPr txBox="1">
            <a:spLocks/>
          </p:cNvSpPr>
          <p:nvPr/>
        </p:nvSpPr>
        <p:spPr>
          <a:xfrm>
            <a:off x="2724175" y="5627705"/>
            <a:ext cx="1112147" cy="576087"/>
          </a:xfrm>
          <a:prstGeom prst="rect">
            <a:avLst/>
          </a:prstGeom>
          <a:solidFill>
            <a:srgbClr val="1C863F"/>
          </a:solidFill>
        </p:spPr>
        <p:txBody>
          <a:bodyPr vert="horz" wrap="square" lIns="91440" tIns="45720" rIns="45720" bIns="4572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solidFill>
                  <a:schemeClr val="bg1"/>
                </a:solidFill>
              </a:rPr>
              <a:t>Heritage</a:t>
            </a:r>
          </a:p>
        </p:txBody>
      </p:sp>
      <p:sp>
        <p:nvSpPr>
          <p:cNvPr id="76" name="TextBox 75">
            <a:extLst>
              <a:ext uri="{FF2B5EF4-FFF2-40B4-BE49-F238E27FC236}">
                <a16:creationId xmlns:a16="http://schemas.microsoft.com/office/drawing/2014/main" id="{487FF965-D8A3-9785-EDF4-0957F91E8C05}"/>
              </a:ext>
            </a:extLst>
          </p:cNvPr>
          <p:cNvSpPr txBox="1">
            <a:spLocks/>
          </p:cNvSpPr>
          <p:nvPr/>
        </p:nvSpPr>
        <p:spPr>
          <a:xfrm>
            <a:off x="3900532" y="4329325"/>
            <a:ext cx="1157310"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100" b="1">
                <a:solidFill>
                  <a:schemeClr val="accent2"/>
                </a:solidFill>
                <a:latin typeface="+mn-lt"/>
              </a:rPr>
              <a:t>250K – 500K</a:t>
            </a:r>
          </a:p>
        </p:txBody>
      </p:sp>
      <p:sp>
        <p:nvSpPr>
          <p:cNvPr id="77" name="TextBox 76">
            <a:extLst>
              <a:ext uri="{FF2B5EF4-FFF2-40B4-BE49-F238E27FC236}">
                <a16:creationId xmlns:a16="http://schemas.microsoft.com/office/drawing/2014/main" id="{AF3D4EB2-B2B3-B2A1-D93D-EB0E822FF22D}"/>
              </a:ext>
            </a:extLst>
          </p:cNvPr>
          <p:cNvSpPr txBox="1">
            <a:spLocks/>
          </p:cNvSpPr>
          <p:nvPr/>
        </p:nvSpPr>
        <p:spPr>
          <a:xfrm>
            <a:off x="3900532" y="5077542"/>
            <a:ext cx="1157310" cy="17462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100" b="1">
                <a:solidFill>
                  <a:schemeClr val="accent2"/>
                </a:solidFill>
                <a:latin typeface="+mn-lt"/>
              </a:rPr>
              <a:t>500K - 1Mn</a:t>
            </a:r>
          </a:p>
        </p:txBody>
      </p:sp>
      <p:sp>
        <p:nvSpPr>
          <p:cNvPr id="78" name="TextBox 77">
            <a:extLst>
              <a:ext uri="{FF2B5EF4-FFF2-40B4-BE49-F238E27FC236}">
                <a16:creationId xmlns:a16="http://schemas.microsoft.com/office/drawing/2014/main" id="{35D52350-3AA5-B612-43DA-37F2F7128F11}"/>
              </a:ext>
            </a:extLst>
          </p:cNvPr>
          <p:cNvSpPr txBox="1">
            <a:spLocks/>
          </p:cNvSpPr>
          <p:nvPr/>
        </p:nvSpPr>
        <p:spPr>
          <a:xfrm>
            <a:off x="3900532" y="5831110"/>
            <a:ext cx="1157310"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1100" b="1">
                <a:solidFill>
                  <a:schemeClr val="accent2"/>
                </a:solidFill>
                <a:latin typeface="+mn-lt"/>
              </a:rPr>
              <a:t>1Mn+</a:t>
            </a:r>
          </a:p>
        </p:txBody>
      </p:sp>
      <p:cxnSp>
        <p:nvCxnSpPr>
          <p:cNvPr id="252" name="Straight Arrow Connector 251">
            <a:extLst>
              <a:ext uri="{FF2B5EF4-FFF2-40B4-BE49-F238E27FC236}">
                <a16:creationId xmlns:a16="http://schemas.microsoft.com/office/drawing/2014/main" id="{F94500DB-E027-76A3-8B41-1CE00E95311E}"/>
              </a:ext>
            </a:extLst>
          </p:cNvPr>
          <p:cNvCxnSpPr>
            <a:cxnSpLocks/>
          </p:cNvCxnSpPr>
          <p:nvPr/>
        </p:nvCxnSpPr>
        <p:spPr>
          <a:xfrm>
            <a:off x="2724175" y="4789409"/>
            <a:ext cx="2333667"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45CFC9BD-AAAF-642F-D56C-0D5D0B17EDF3}"/>
              </a:ext>
            </a:extLst>
          </p:cNvPr>
          <p:cNvCxnSpPr>
            <a:cxnSpLocks/>
          </p:cNvCxnSpPr>
          <p:nvPr/>
        </p:nvCxnSpPr>
        <p:spPr>
          <a:xfrm>
            <a:off x="2724175" y="5540300"/>
            <a:ext cx="2333667"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6D9F41A8-ADF3-4AFA-1073-42D63CC704CA}"/>
              </a:ext>
            </a:extLst>
          </p:cNvPr>
          <p:cNvCxnSpPr>
            <a:cxnSpLocks/>
          </p:cNvCxnSpPr>
          <p:nvPr/>
        </p:nvCxnSpPr>
        <p:spPr>
          <a:xfrm>
            <a:off x="5502274" y="2565400"/>
            <a:ext cx="1843088" cy="1588"/>
          </a:xfrm>
          <a:prstGeom prst="straightConnector1">
            <a:avLst/>
          </a:prstGeom>
          <a:ln w="12700" cap="sq" cmpd="sng">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BBF9E506-3B68-D902-010A-4F0322F67B37}"/>
              </a:ext>
            </a:extLst>
          </p:cNvPr>
          <p:cNvCxnSpPr>
            <a:cxnSpLocks/>
          </p:cNvCxnSpPr>
          <p:nvPr/>
        </p:nvCxnSpPr>
        <p:spPr>
          <a:xfrm>
            <a:off x="5280454" y="1724764"/>
            <a:ext cx="0" cy="4532024"/>
          </a:xfrm>
          <a:prstGeom prst="line">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CD147B63-AA2E-766A-571D-4F9C2E62E73E}"/>
              </a:ext>
            </a:extLst>
          </p:cNvPr>
          <p:cNvSpPr txBox="1">
            <a:spLocks/>
          </p:cNvSpPr>
          <p:nvPr/>
        </p:nvSpPr>
        <p:spPr>
          <a:xfrm>
            <a:off x="5502274" y="2371657"/>
            <a:ext cx="1843088" cy="1692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100" b="1">
                <a:latin typeface="+mn-lt"/>
                <a:ea typeface="+mn-ea"/>
                <a:cs typeface="+mn-cs"/>
                <a:sym typeface=""/>
              </a:rPr>
              <a:t>NBI market potential</a:t>
            </a:r>
          </a:p>
        </p:txBody>
      </p:sp>
      <p:cxnSp>
        <p:nvCxnSpPr>
          <p:cNvPr id="289" name="Straight Arrow Connector 288">
            <a:extLst>
              <a:ext uri="{FF2B5EF4-FFF2-40B4-BE49-F238E27FC236}">
                <a16:creationId xmlns:a16="http://schemas.microsoft.com/office/drawing/2014/main" id="{9DBC1713-DDCE-9A0D-B5A6-2577B335BE6D}"/>
              </a:ext>
            </a:extLst>
          </p:cNvPr>
          <p:cNvCxnSpPr>
            <a:cxnSpLocks/>
          </p:cNvCxnSpPr>
          <p:nvPr/>
        </p:nvCxnSpPr>
        <p:spPr>
          <a:xfrm>
            <a:off x="7635744" y="4473958"/>
            <a:ext cx="998363"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3" name="TextBox 302">
            <a:extLst>
              <a:ext uri="{FF2B5EF4-FFF2-40B4-BE49-F238E27FC236}">
                <a16:creationId xmlns:a16="http://schemas.microsoft.com/office/drawing/2014/main" id="{7CE025B8-ADF8-E563-7DE5-D01E2FFA1560}"/>
              </a:ext>
            </a:extLst>
          </p:cNvPr>
          <p:cNvSpPr txBox="1">
            <a:spLocks/>
          </p:cNvSpPr>
          <p:nvPr/>
        </p:nvSpPr>
        <p:spPr>
          <a:xfrm>
            <a:off x="5621211" y="2662657"/>
            <a:ext cx="682879" cy="169277"/>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100" b="1">
                <a:solidFill>
                  <a:schemeClr val="tx1"/>
                </a:solidFill>
                <a:latin typeface="+mn-lt"/>
              </a:rPr>
              <a:t>39 M AZN</a:t>
            </a:r>
          </a:p>
        </p:txBody>
      </p:sp>
      <p:sp>
        <p:nvSpPr>
          <p:cNvPr id="304" name="TextBox 303">
            <a:extLst>
              <a:ext uri="{FF2B5EF4-FFF2-40B4-BE49-F238E27FC236}">
                <a16:creationId xmlns:a16="http://schemas.microsoft.com/office/drawing/2014/main" id="{2B9A824E-5C81-3726-5A0D-9557650A37C1}"/>
              </a:ext>
            </a:extLst>
          </p:cNvPr>
          <p:cNvSpPr txBox="1">
            <a:spLocks/>
          </p:cNvSpPr>
          <p:nvPr/>
        </p:nvSpPr>
        <p:spPr>
          <a:xfrm>
            <a:off x="6545235" y="2662657"/>
            <a:ext cx="682879" cy="169277"/>
          </a:xfrm>
          <a:prstGeom prst="rect">
            <a:avLst/>
          </a:prstGeom>
        </p:spPr>
        <p:txBody>
          <a:bodyPr vert="horz" wrap="non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100" b="1">
                <a:solidFill>
                  <a:schemeClr val="tx1"/>
                </a:solidFill>
                <a:latin typeface="+mn-lt"/>
              </a:rPr>
              <a:t>51 M AZN</a:t>
            </a:r>
          </a:p>
        </p:txBody>
      </p:sp>
      <p:cxnSp>
        <p:nvCxnSpPr>
          <p:cNvPr id="2" name="Straight Arrow Connector 1">
            <a:extLst>
              <a:ext uri="{FF2B5EF4-FFF2-40B4-BE49-F238E27FC236}">
                <a16:creationId xmlns:a16="http://schemas.microsoft.com/office/drawing/2014/main" id="{FA7C10A7-08BB-64AA-01A0-9B435BF3B907}"/>
              </a:ext>
            </a:extLst>
          </p:cNvPr>
          <p:cNvCxnSpPr>
            <a:cxnSpLocks/>
          </p:cNvCxnSpPr>
          <p:nvPr/>
        </p:nvCxnSpPr>
        <p:spPr>
          <a:xfrm>
            <a:off x="554735" y="1868488"/>
            <a:ext cx="4503107" cy="0"/>
          </a:xfrm>
          <a:prstGeom prst="straightConnector1">
            <a:avLst/>
          </a:prstGeom>
          <a:ln w="12700" cap="sq" cmpd="sng">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8D7AB7C-27BA-E2E3-D8D2-7552AA8C28E3}"/>
              </a:ext>
            </a:extLst>
          </p:cNvPr>
          <p:cNvCxnSpPr>
            <a:cxnSpLocks/>
            <a:stCxn id="83" idx="4"/>
          </p:cNvCxnSpPr>
          <p:nvPr/>
        </p:nvCxnSpPr>
        <p:spPr>
          <a:xfrm>
            <a:off x="5503068" y="1868488"/>
            <a:ext cx="3124584" cy="0"/>
          </a:xfrm>
          <a:prstGeom prst="straightConnector1">
            <a:avLst/>
          </a:prstGeom>
          <a:ln w="12700" cap="sq" cmpd="sng">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75F5BFB6-FDEA-B3CC-5385-FB961EF5C4E2}"/>
              </a:ext>
            </a:extLst>
          </p:cNvPr>
          <p:cNvGrpSpPr/>
          <p:nvPr/>
        </p:nvGrpSpPr>
        <p:grpSpPr>
          <a:xfrm>
            <a:off x="9119860" y="1645722"/>
            <a:ext cx="2520451" cy="222766"/>
            <a:chOff x="9119860" y="1564759"/>
            <a:chExt cx="2520451" cy="222766"/>
          </a:xfrm>
        </p:grpSpPr>
        <p:sp>
          <p:nvSpPr>
            <p:cNvPr id="16" name="TextBox 15">
              <a:extLst>
                <a:ext uri="{FF2B5EF4-FFF2-40B4-BE49-F238E27FC236}">
                  <a16:creationId xmlns:a16="http://schemas.microsoft.com/office/drawing/2014/main" id="{06ED5D8C-388F-E8AA-FC91-84D18238B131}"/>
                </a:ext>
              </a:extLst>
            </p:cNvPr>
            <p:cNvSpPr txBox="1"/>
            <p:nvPr/>
          </p:nvSpPr>
          <p:spPr>
            <a:xfrm>
              <a:off x="9119860" y="1564759"/>
              <a:ext cx="2520451"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Key Insights</a:t>
              </a:r>
            </a:p>
          </p:txBody>
        </p:sp>
        <p:cxnSp>
          <p:nvCxnSpPr>
            <p:cNvPr id="17" name="Straight Connector 16">
              <a:extLst>
                <a:ext uri="{FF2B5EF4-FFF2-40B4-BE49-F238E27FC236}">
                  <a16:creationId xmlns:a16="http://schemas.microsoft.com/office/drawing/2014/main" id="{1FBAA913-FA3F-CA78-63EF-849AB79A7250}"/>
                </a:ext>
              </a:extLst>
            </p:cNvPr>
            <p:cNvCxnSpPr>
              <a:cxnSpLocks/>
            </p:cNvCxnSpPr>
            <p:nvPr/>
          </p:nvCxnSpPr>
          <p:spPr>
            <a:xfrm>
              <a:off x="9119860" y="1787525"/>
              <a:ext cx="2520450"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
        <p:nvSpPr>
          <p:cNvPr id="55" name="TrackerAlphaBlue 10">
            <a:extLst>
              <a:ext uri="{FF2B5EF4-FFF2-40B4-BE49-F238E27FC236}">
                <a16:creationId xmlns:a16="http://schemas.microsoft.com/office/drawing/2014/main" id="{60143F8A-FE01-E58A-0027-FE743E0C668C}"/>
              </a:ext>
            </a:extLst>
          </p:cNvPr>
          <p:cNvSpPr/>
          <p:nvPr>
            <p:custDataLst>
              <p:tags r:id="rId23"/>
            </p:custDataLst>
          </p:nvPr>
        </p:nvSpPr>
        <p:spPr>
          <a:xfrm>
            <a:off x="447517" y="5021824"/>
            <a:ext cx="214435" cy="214313"/>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GB" sz="1200">
                <a:solidFill>
                  <a:schemeClr val="bg1"/>
                </a:solidFill>
              </a:rPr>
              <a:t>A</a:t>
            </a:r>
          </a:p>
        </p:txBody>
      </p:sp>
      <p:sp>
        <p:nvSpPr>
          <p:cNvPr id="108" name="4. Footnote">
            <a:extLst>
              <a:ext uri="{FF2B5EF4-FFF2-40B4-BE49-F238E27FC236}">
                <a16:creationId xmlns:a16="http://schemas.microsoft.com/office/drawing/2014/main" id="{33B568ED-3662-FAE0-CEB2-8FA67167DFFA}"/>
              </a:ext>
            </a:extLst>
          </p:cNvPr>
          <p:cNvSpPr txBox="1">
            <a:spLocks/>
          </p:cNvSpPr>
          <p:nvPr>
            <p:custDataLst>
              <p:tags r:id="rId24"/>
            </p:custDataLst>
          </p:nvPr>
        </p:nvSpPr>
        <p:spPr>
          <a:xfrm>
            <a:off x="554736" y="6469771"/>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0" lvl="0" indent="0" rtl="0"/>
            <a:r>
              <a:rPr lang="en-US"/>
              <a:t>¹ 460 current customers in the 250K+ USD band, based on existing segment distribution and additional uncaptured PASHA Capital clients</a:t>
            </a:r>
          </a:p>
        </p:txBody>
      </p:sp>
      <p:cxnSp>
        <p:nvCxnSpPr>
          <p:cNvPr id="49" name="Straight Arrow Connector 48">
            <a:extLst>
              <a:ext uri="{FF2B5EF4-FFF2-40B4-BE49-F238E27FC236}">
                <a16:creationId xmlns:a16="http://schemas.microsoft.com/office/drawing/2014/main" id="{4E8E132F-D346-F7FD-8FB9-6188AE0DC35F}"/>
              </a:ext>
            </a:extLst>
          </p:cNvPr>
          <p:cNvCxnSpPr>
            <a:cxnSpLocks/>
          </p:cNvCxnSpPr>
          <p:nvPr/>
        </p:nvCxnSpPr>
        <p:spPr>
          <a:xfrm flipV="1">
            <a:off x="7567310" y="2565103"/>
            <a:ext cx="1082181" cy="297"/>
          </a:xfrm>
          <a:prstGeom prst="straightConnector1">
            <a:avLst/>
          </a:prstGeom>
          <a:ln w="12700" cap="sq" cmpd="sng">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FD44CDFF-D38B-B0CC-6FFF-43AB782F4C52}"/>
              </a:ext>
            </a:extLst>
          </p:cNvPr>
          <p:cNvSpPr txBox="1">
            <a:spLocks/>
          </p:cNvSpPr>
          <p:nvPr/>
        </p:nvSpPr>
        <p:spPr>
          <a:xfrm>
            <a:off x="7567310" y="2339953"/>
            <a:ext cx="1082181" cy="20098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100" b="1">
                <a:latin typeface="+mn-lt"/>
                <a:ea typeface="+mn-ea"/>
                <a:cs typeface="+mn-cs"/>
                <a:sym typeface=""/>
              </a:rPr>
              <a:t>Uplift potential</a:t>
            </a:r>
          </a:p>
        </p:txBody>
      </p:sp>
      <p:cxnSp>
        <p:nvCxnSpPr>
          <p:cNvPr id="65" name="Straight Connector 64">
            <a:extLst>
              <a:ext uri="{FF2B5EF4-FFF2-40B4-BE49-F238E27FC236}">
                <a16:creationId xmlns:a16="http://schemas.microsoft.com/office/drawing/2014/main" id="{540B89BD-4A4C-91BD-A9A9-7479C01D6F81}"/>
              </a:ext>
            </a:extLst>
          </p:cNvPr>
          <p:cNvCxnSpPr/>
          <p:nvPr/>
        </p:nvCxnSpPr>
        <p:spPr>
          <a:xfrm>
            <a:off x="5341323" y="3747711"/>
            <a:ext cx="1043289"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D208109-298A-C8C0-27AB-5D7DE3EB47BA}"/>
              </a:ext>
            </a:extLst>
          </p:cNvPr>
          <p:cNvSpPr txBox="1"/>
          <p:nvPr/>
        </p:nvSpPr>
        <p:spPr>
          <a:xfrm>
            <a:off x="5353758" y="3213523"/>
            <a:ext cx="1074650" cy="507831"/>
          </a:xfrm>
          <a:prstGeom prst="rect">
            <a:avLst/>
          </a:prstGeom>
          <a:solidFill>
            <a:schemeClr val="bg1">
              <a:lumMod val="95000"/>
            </a:schemeClr>
          </a:solidFill>
        </p:spPr>
        <p:txBody>
          <a:bodyPr vert="horz" wrap="square" lIns="45720" tIns="45720" rIns="45720" bIns="4572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900" i="1"/>
              <a:t>Includes 23 private banking customers of PASHA Capital</a:t>
            </a:r>
          </a:p>
        </p:txBody>
      </p:sp>
    </p:spTree>
    <p:extLst>
      <p:ext uri="{BB962C8B-B14F-4D97-AF65-F5344CB8AC3E}">
        <p14:creationId xmlns:p14="http://schemas.microsoft.com/office/powerpoint/2010/main" val="4213822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9C3EB694-ED6C-66DB-6B67-A0D37D035B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8" imgW="540" imgH="541" progId="TCLayout.ActiveDocument.1">
                  <p:embed/>
                </p:oleObj>
              </mc:Choice>
              <mc:Fallback>
                <p:oleObj name="think-cell Slide" r:id="rId148" imgW="540" imgH="541" progId="TCLayout.ActiveDocument.1">
                  <p:embed/>
                  <p:pic>
                    <p:nvPicPr>
                      <p:cNvPr id="5" name="Object 2" hidden="1">
                        <a:extLst>
                          <a:ext uri="{FF2B5EF4-FFF2-40B4-BE49-F238E27FC236}">
                            <a16:creationId xmlns:a16="http://schemas.microsoft.com/office/drawing/2014/main" id="{9C3EB694-ED6C-66DB-6B67-A0D37D035B5E}"/>
                          </a:ext>
                        </a:extLst>
                      </p:cNvPr>
                      <p:cNvPicPr/>
                      <p:nvPr/>
                    </p:nvPicPr>
                    <p:blipFill>
                      <a:blip r:embed="rId149"/>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17088CD2-7734-EE30-093A-AEB2FEA8B9F8}"/>
              </a:ext>
            </a:extLst>
          </p:cNvPr>
          <p:cNvSpPr>
            <a:spLocks noGrp="1"/>
          </p:cNvSpPr>
          <p:nvPr>
            <p:ph type="title"/>
          </p:nvPr>
        </p:nvSpPr>
        <p:spPr>
          <a:xfrm>
            <a:off x="554736" y="96821"/>
            <a:ext cx="7918704" cy="1107996"/>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a:t>Banks focus on enriching product offer and developing complementary services for private banking customers…</a:t>
            </a:r>
          </a:p>
        </p:txBody>
      </p:sp>
      <p:sp>
        <p:nvSpPr>
          <p:cNvPr id="12" name="5. Source">
            <a:extLst>
              <a:ext uri="{FF2B5EF4-FFF2-40B4-BE49-F238E27FC236}">
                <a16:creationId xmlns:a16="http://schemas.microsoft.com/office/drawing/2014/main" id="{E7D82191-C419-7372-F65B-17C64F9FC707}"/>
              </a:ext>
            </a:extLst>
          </p:cNvPr>
          <p:cNvSpPr txBox="1"/>
          <p:nvPr>
            <p:custDataLst>
              <p:tags r:id="rId2"/>
            </p:custDataLst>
          </p:nvPr>
        </p:nvSpPr>
        <p:spPr>
          <a:xfrm>
            <a:off x="554736" y="6514142"/>
            <a:ext cx="7918704"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l"/>
            <a:r>
              <a:rPr lang="en-US" sz="800">
                <a:solidFill>
                  <a:schemeClr val="tx1"/>
                </a:solidFill>
                <a:cs typeface="Arial" panose="020B0604020202020204" pitchFamily="34" charset="0"/>
              </a:rPr>
              <a:t>Source: Company website, Press search, Expert input</a:t>
            </a:r>
          </a:p>
        </p:txBody>
      </p:sp>
      <p:cxnSp>
        <p:nvCxnSpPr>
          <p:cNvPr id="454" name="Connector 1022">
            <a:extLst>
              <a:ext uri="{FF2B5EF4-FFF2-40B4-BE49-F238E27FC236}">
                <a16:creationId xmlns:a16="http://schemas.microsoft.com/office/drawing/2014/main" id="{F62DAC2C-38CA-768A-83F2-416554914956}"/>
              </a:ext>
            </a:extLst>
          </p:cNvPr>
          <p:cNvCxnSpPr>
            <a:cxnSpLocks/>
          </p:cNvCxnSpPr>
          <p:nvPr/>
        </p:nvCxnSpPr>
        <p:spPr>
          <a:xfrm>
            <a:off x="554736" y="1674559"/>
            <a:ext cx="7918704"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461" name="TextBox 460">
            <a:extLst>
              <a:ext uri="{FF2B5EF4-FFF2-40B4-BE49-F238E27FC236}">
                <a16:creationId xmlns:a16="http://schemas.microsoft.com/office/drawing/2014/main" id="{89CF312D-D4AF-04B3-1FF9-5E73390BA26D}"/>
              </a:ext>
            </a:extLst>
          </p:cNvPr>
          <p:cNvSpPr txBox="1">
            <a:spLocks/>
          </p:cNvSpPr>
          <p:nvPr/>
        </p:nvSpPr>
        <p:spPr>
          <a:xfrm>
            <a:off x="670708" y="2473652"/>
            <a:ext cx="1230663" cy="524429"/>
          </a:xfrm>
          <a:prstGeom prst="rect">
            <a:avLst/>
          </a:prstGeom>
          <a:solidFill>
            <a:schemeClr val="tx2">
              <a:lumMod val="10000"/>
              <a:lumOff val="90000"/>
            </a:schemeClr>
          </a:solidFill>
        </p:spPr>
        <p:txBody>
          <a:bodyPr vert="horz" wrap="square" lIns="91440" tIns="27432" rIns="91440" bIns="27432"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900" b="1">
                <a:solidFill>
                  <a:srgbClr val="051C2C"/>
                </a:solidFill>
                <a:ea typeface="+mn-ea"/>
                <a:cs typeface="+mn-cs"/>
                <a:sym typeface=""/>
              </a:rPr>
              <a:t>Cards &amp; payments</a:t>
            </a:r>
          </a:p>
        </p:txBody>
      </p:sp>
      <p:sp>
        <p:nvSpPr>
          <p:cNvPr id="462" name="TextBox 461">
            <a:extLst>
              <a:ext uri="{FF2B5EF4-FFF2-40B4-BE49-F238E27FC236}">
                <a16:creationId xmlns:a16="http://schemas.microsoft.com/office/drawing/2014/main" id="{9CB2C009-A8A8-534C-F7FE-1BD379744689}"/>
              </a:ext>
            </a:extLst>
          </p:cNvPr>
          <p:cNvSpPr txBox="1">
            <a:spLocks/>
          </p:cNvSpPr>
          <p:nvPr/>
        </p:nvSpPr>
        <p:spPr>
          <a:xfrm>
            <a:off x="670708" y="3052547"/>
            <a:ext cx="1230663" cy="331464"/>
          </a:xfrm>
          <a:prstGeom prst="rect">
            <a:avLst/>
          </a:prstGeom>
          <a:solidFill>
            <a:schemeClr val="tx2">
              <a:lumMod val="10000"/>
              <a:lumOff val="90000"/>
            </a:schemeClr>
          </a:solidFill>
        </p:spPr>
        <p:txBody>
          <a:bodyPr vert="horz" wrap="square" lIns="91440" tIns="27432" rIns="91440" bIns="27432"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900" b="1">
                <a:solidFill>
                  <a:srgbClr val="051C2C"/>
                </a:solidFill>
                <a:ea typeface="+mn-ea"/>
                <a:cs typeface="+mn-cs"/>
                <a:sym typeface=""/>
              </a:rPr>
              <a:t>Credit &amp; liquidity</a:t>
            </a:r>
          </a:p>
        </p:txBody>
      </p:sp>
      <p:sp>
        <p:nvSpPr>
          <p:cNvPr id="463" name="TextBox 462">
            <a:extLst>
              <a:ext uri="{FF2B5EF4-FFF2-40B4-BE49-F238E27FC236}">
                <a16:creationId xmlns:a16="http://schemas.microsoft.com/office/drawing/2014/main" id="{14ABF71E-6B47-8772-8FA1-2C6A06EB57B4}"/>
              </a:ext>
            </a:extLst>
          </p:cNvPr>
          <p:cNvSpPr txBox="1">
            <a:spLocks/>
          </p:cNvSpPr>
          <p:nvPr/>
        </p:nvSpPr>
        <p:spPr>
          <a:xfrm>
            <a:off x="670708" y="1701792"/>
            <a:ext cx="1230663" cy="717394"/>
          </a:xfrm>
          <a:prstGeom prst="rect">
            <a:avLst/>
          </a:prstGeom>
          <a:solidFill>
            <a:schemeClr val="tx2">
              <a:lumMod val="10000"/>
              <a:lumOff val="90000"/>
            </a:schemeClr>
          </a:solidFill>
        </p:spPr>
        <p:txBody>
          <a:bodyPr vert="horz" wrap="square" lIns="91440" tIns="27432" rIns="91440" bIns="27432"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900" b="1">
                <a:solidFill>
                  <a:srgbClr val="051C2C"/>
                </a:solidFill>
                <a:ea typeface="+mn-ea"/>
                <a:cs typeface="+mn-cs"/>
                <a:sym typeface=""/>
              </a:rPr>
              <a:t>Core banking</a:t>
            </a:r>
          </a:p>
        </p:txBody>
      </p:sp>
      <p:sp>
        <p:nvSpPr>
          <p:cNvPr id="464" name="Rectangle 463">
            <a:extLst>
              <a:ext uri="{FF2B5EF4-FFF2-40B4-BE49-F238E27FC236}">
                <a16:creationId xmlns:a16="http://schemas.microsoft.com/office/drawing/2014/main" id="{9950B020-109A-8740-D0E8-20BAC953B524}"/>
              </a:ext>
            </a:extLst>
          </p:cNvPr>
          <p:cNvSpPr>
            <a:spLocks/>
          </p:cNvSpPr>
          <p:nvPr/>
        </p:nvSpPr>
        <p:spPr>
          <a:xfrm>
            <a:off x="554736" y="1701792"/>
            <a:ext cx="64100" cy="168221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65" name="Rectangle 464">
            <a:extLst>
              <a:ext uri="{FF2B5EF4-FFF2-40B4-BE49-F238E27FC236}">
                <a16:creationId xmlns:a16="http://schemas.microsoft.com/office/drawing/2014/main" id="{E45CDA0F-54CC-7E7B-363F-EA875362848D}"/>
              </a:ext>
            </a:extLst>
          </p:cNvPr>
          <p:cNvSpPr>
            <a:spLocks/>
          </p:cNvSpPr>
          <p:nvPr/>
        </p:nvSpPr>
        <p:spPr>
          <a:xfrm>
            <a:off x="554736" y="3438477"/>
            <a:ext cx="64100" cy="2840959"/>
          </a:xfrm>
          <a:prstGeom prst="rect">
            <a:avLst/>
          </a:prstGeom>
          <a:solidFill>
            <a:schemeClr val="accent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66" name="TextBox 465">
            <a:extLst>
              <a:ext uri="{FF2B5EF4-FFF2-40B4-BE49-F238E27FC236}">
                <a16:creationId xmlns:a16="http://schemas.microsoft.com/office/drawing/2014/main" id="{5A7BFCD5-ACF1-98A2-C804-433FCA0ACF18}"/>
              </a:ext>
            </a:extLst>
          </p:cNvPr>
          <p:cNvSpPr txBox="1">
            <a:spLocks/>
          </p:cNvSpPr>
          <p:nvPr/>
        </p:nvSpPr>
        <p:spPr>
          <a:xfrm>
            <a:off x="670708" y="3438477"/>
            <a:ext cx="1230663" cy="910359"/>
          </a:xfrm>
          <a:prstGeom prst="rect">
            <a:avLst/>
          </a:prstGeom>
          <a:solidFill>
            <a:schemeClr val="tx2">
              <a:lumMod val="10000"/>
              <a:lumOff val="90000"/>
            </a:schemeClr>
          </a:solidFill>
        </p:spPr>
        <p:txBody>
          <a:bodyPr vert="horz" wrap="square" lIns="91440" tIns="27432" rIns="91440" bIns="27432"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900" b="1">
                <a:solidFill>
                  <a:srgbClr val="051C2C"/>
                </a:solidFill>
                <a:ea typeface="+mn-ea"/>
                <a:cs typeface="+mn-cs"/>
                <a:sym typeface=""/>
              </a:rPr>
              <a:t>Investments &amp; wealth</a:t>
            </a:r>
          </a:p>
        </p:txBody>
      </p:sp>
      <p:sp>
        <p:nvSpPr>
          <p:cNvPr id="467" name="TextBox 466">
            <a:extLst>
              <a:ext uri="{FF2B5EF4-FFF2-40B4-BE49-F238E27FC236}">
                <a16:creationId xmlns:a16="http://schemas.microsoft.com/office/drawing/2014/main" id="{49752AF1-B8B0-42FD-8055-77AE450994C3}"/>
              </a:ext>
            </a:extLst>
          </p:cNvPr>
          <p:cNvSpPr txBox="1">
            <a:spLocks/>
          </p:cNvSpPr>
          <p:nvPr/>
        </p:nvSpPr>
        <p:spPr>
          <a:xfrm>
            <a:off x="670708" y="4403302"/>
            <a:ext cx="1230663" cy="524429"/>
          </a:xfrm>
          <a:prstGeom prst="rect">
            <a:avLst/>
          </a:prstGeom>
          <a:solidFill>
            <a:schemeClr val="tx2">
              <a:lumMod val="10000"/>
              <a:lumOff val="90000"/>
            </a:schemeClr>
          </a:solidFill>
        </p:spPr>
        <p:txBody>
          <a:bodyPr vert="horz" wrap="square" lIns="91440" tIns="27432" rIns="91440" bIns="27432"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900" b="1">
                <a:solidFill>
                  <a:srgbClr val="051C2C"/>
                </a:solidFill>
                <a:ea typeface="+mn-ea"/>
                <a:cs typeface="+mn-cs"/>
                <a:sym typeface=""/>
              </a:rPr>
              <a:t>Protection &amp; planning</a:t>
            </a:r>
          </a:p>
        </p:txBody>
      </p:sp>
      <p:sp>
        <p:nvSpPr>
          <p:cNvPr id="468" name="TextBox 467">
            <a:extLst>
              <a:ext uri="{FF2B5EF4-FFF2-40B4-BE49-F238E27FC236}">
                <a16:creationId xmlns:a16="http://schemas.microsoft.com/office/drawing/2014/main" id="{3130E30B-7EFF-34C0-D968-B04E5EB936FC}"/>
              </a:ext>
            </a:extLst>
          </p:cNvPr>
          <p:cNvSpPr txBox="1">
            <a:spLocks/>
          </p:cNvSpPr>
          <p:nvPr/>
        </p:nvSpPr>
        <p:spPr>
          <a:xfrm>
            <a:off x="670708" y="4982197"/>
            <a:ext cx="1230663" cy="910359"/>
          </a:xfrm>
          <a:prstGeom prst="rect">
            <a:avLst/>
          </a:prstGeom>
          <a:solidFill>
            <a:schemeClr val="tx2">
              <a:lumMod val="10000"/>
              <a:lumOff val="90000"/>
            </a:schemeClr>
          </a:solidFill>
        </p:spPr>
        <p:txBody>
          <a:bodyPr vert="horz" wrap="square" lIns="91440" tIns="27432" rIns="91440" bIns="27432"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900" b="1">
                <a:solidFill>
                  <a:srgbClr val="051C2C"/>
                </a:solidFill>
                <a:ea typeface="+mn-ea"/>
                <a:cs typeface="+mn-cs"/>
                <a:sym typeface=""/>
              </a:rPr>
              <a:t>Lifestyle &amp; privileges</a:t>
            </a:r>
          </a:p>
        </p:txBody>
      </p:sp>
      <p:sp>
        <p:nvSpPr>
          <p:cNvPr id="469" name="TextBox 468">
            <a:extLst>
              <a:ext uri="{FF2B5EF4-FFF2-40B4-BE49-F238E27FC236}">
                <a16:creationId xmlns:a16="http://schemas.microsoft.com/office/drawing/2014/main" id="{7150739B-1128-E567-70ED-72B6E0CD1E94}"/>
              </a:ext>
            </a:extLst>
          </p:cNvPr>
          <p:cNvSpPr txBox="1">
            <a:spLocks/>
          </p:cNvSpPr>
          <p:nvPr/>
        </p:nvSpPr>
        <p:spPr>
          <a:xfrm>
            <a:off x="670708" y="5947037"/>
            <a:ext cx="1230663" cy="332399"/>
          </a:xfrm>
          <a:prstGeom prst="rect">
            <a:avLst/>
          </a:prstGeom>
          <a:solidFill>
            <a:schemeClr val="tx2">
              <a:lumMod val="10000"/>
              <a:lumOff val="90000"/>
            </a:schemeClr>
          </a:solidFill>
        </p:spPr>
        <p:txBody>
          <a:bodyPr vert="horz" wrap="square" lIns="91440" tIns="27432" rIns="91440" bIns="27432" rtlCol="0" anchor="ctr">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900" b="1">
                <a:solidFill>
                  <a:srgbClr val="051C2C"/>
                </a:solidFill>
                <a:ea typeface="+mn-ea"/>
                <a:cs typeface="+mn-cs"/>
                <a:sym typeface=""/>
              </a:rPr>
              <a:t>Family / entrepreneur</a:t>
            </a:r>
          </a:p>
        </p:txBody>
      </p:sp>
      <p:sp>
        <p:nvSpPr>
          <p:cNvPr id="455" name="TextBox 454">
            <a:extLst>
              <a:ext uri="{FF2B5EF4-FFF2-40B4-BE49-F238E27FC236}">
                <a16:creationId xmlns:a16="http://schemas.microsoft.com/office/drawing/2014/main" id="{24D6E813-99AC-589B-B355-D9E310F38300}"/>
              </a:ext>
            </a:extLst>
          </p:cNvPr>
          <p:cNvSpPr txBox="1">
            <a:spLocks/>
          </p:cNvSpPr>
          <p:nvPr/>
        </p:nvSpPr>
        <p:spPr>
          <a:xfrm>
            <a:off x="670708" y="1493438"/>
            <a:ext cx="1230663" cy="153888"/>
          </a:xfrm>
          <a:prstGeom prst="rect">
            <a:avLst/>
          </a:prstGeom>
          <a:noFill/>
        </p:spPr>
        <p:txBody>
          <a:bodyPr vert="horz" wrap="square" lIns="0" tIns="0" rIns="0" bIns="0" anchor="b">
            <a:spAutoFit/>
          </a:bodyPr>
          <a:lstStyle/>
          <a:p>
            <a:pPr algn="l">
              <a:lnSpc>
                <a:spcPct val="100000"/>
              </a:lnSpc>
              <a:spcBef>
                <a:spcPts val="0"/>
              </a:spcBef>
              <a:spcAft>
                <a:spcPts val="0"/>
              </a:spcAft>
            </a:pPr>
            <a:r>
              <a:rPr sz="1000" b="1" i="0">
                <a:solidFill>
                  <a:srgbClr val="051C2C"/>
                </a:solidFill>
              </a:rPr>
              <a:t>Parent category</a:t>
            </a:r>
          </a:p>
        </p:txBody>
      </p:sp>
      <p:sp>
        <p:nvSpPr>
          <p:cNvPr id="482" name="TextBox 481">
            <a:extLst>
              <a:ext uri="{FF2B5EF4-FFF2-40B4-BE49-F238E27FC236}">
                <a16:creationId xmlns:a16="http://schemas.microsoft.com/office/drawing/2014/main" id="{4BC721C0-EDC2-E305-E6F4-D1172B248030}"/>
              </a:ext>
            </a:extLst>
          </p:cNvPr>
          <p:cNvSpPr txBox="1">
            <a:spLocks/>
          </p:cNvSpPr>
          <p:nvPr/>
        </p:nvSpPr>
        <p:spPr>
          <a:xfrm>
            <a:off x="1987084" y="189475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Deposits / term deposits</a:t>
            </a:r>
          </a:p>
        </p:txBody>
      </p:sp>
      <p:sp>
        <p:nvSpPr>
          <p:cNvPr id="483" name="TextBox 482">
            <a:extLst>
              <a:ext uri="{FF2B5EF4-FFF2-40B4-BE49-F238E27FC236}">
                <a16:creationId xmlns:a16="http://schemas.microsoft.com/office/drawing/2014/main" id="{F4CDB774-0DDC-57ED-B977-99A103AFB5E1}"/>
              </a:ext>
            </a:extLst>
          </p:cNvPr>
          <p:cNvSpPr txBox="1">
            <a:spLocks/>
          </p:cNvSpPr>
          <p:nvPr/>
        </p:nvSpPr>
        <p:spPr>
          <a:xfrm>
            <a:off x="1987084" y="208772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Multi-currency accounts / FX</a:t>
            </a:r>
          </a:p>
        </p:txBody>
      </p:sp>
      <p:sp>
        <p:nvSpPr>
          <p:cNvPr id="481" name="TextBox 480">
            <a:extLst>
              <a:ext uri="{FF2B5EF4-FFF2-40B4-BE49-F238E27FC236}">
                <a16:creationId xmlns:a16="http://schemas.microsoft.com/office/drawing/2014/main" id="{CDCFD881-58CD-3668-AC2E-4E4E636CF527}"/>
              </a:ext>
            </a:extLst>
          </p:cNvPr>
          <p:cNvSpPr txBox="1">
            <a:spLocks/>
          </p:cNvSpPr>
          <p:nvPr/>
        </p:nvSpPr>
        <p:spPr>
          <a:xfrm>
            <a:off x="1987084" y="1701792"/>
            <a:ext cx="2351606" cy="13849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Premium current accounts / everyday banking</a:t>
            </a:r>
          </a:p>
        </p:txBody>
      </p:sp>
      <p:sp>
        <p:nvSpPr>
          <p:cNvPr id="484" name="TextBox 483">
            <a:extLst>
              <a:ext uri="{FF2B5EF4-FFF2-40B4-BE49-F238E27FC236}">
                <a16:creationId xmlns:a16="http://schemas.microsoft.com/office/drawing/2014/main" id="{B18B55BD-A187-AA89-4FA0-FE34C58DFE95}"/>
              </a:ext>
            </a:extLst>
          </p:cNvPr>
          <p:cNvSpPr txBox="1">
            <a:spLocks/>
          </p:cNvSpPr>
          <p:nvPr/>
        </p:nvSpPr>
        <p:spPr>
          <a:xfrm>
            <a:off x="1987084" y="228068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Digital / mobile banking for affluent clients</a:t>
            </a:r>
          </a:p>
        </p:txBody>
      </p:sp>
      <p:sp>
        <p:nvSpPr>
          <p:cNvPr id="486" name="TextBox 485">
            <a:extLst>
              <a:ext uri="{FF2B5EF4-FFF2-40B4-BE49-F238E27FC236}">
                <a16:creationId xmlns:a16="http://schemas.microsoft.com/office/drawing/2014/main" id="{A458A032-324D-2466-8D41-9E13C5012A27}"/>
              </a:ext>
            </a:extLst>
          </p:cNvPr>
          <p:cNvSpPr txBox="1">
            <a:spLocks/>
          </p:cNvSpPr>
          <p:nvPr/>
        </p:nvSpPr>
        <p:spPr>
          <a:xfrm>
            <a:off x="1987084" y="266661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Cashback / rewards</a:t>
            </a:r>
          </a:p>
        </p:txBody>
      </p:sp>
      <p:sp>
        <p:nvSpPr>
          <p:cNvPr id="487" name="TextBox 486">
            <a:extLst>
              <a:ext uri="{FF2B5EF4-FFF2-40B4-BE49-F238E27FC236}">
                <a16:creationId xmlns:a16="http://schemas.microsoft.com/office/drawing/2014/main" id="{1C437A92-3220-9524-F308-4D1FA7156F93}"/>
              </a:ext>
            </a:extLst>
          </p:cNvPr>
          <p:cNvSpPr txBox="1">
            <a:spLocks/>
          </p:cNvSpPr>
          <p:nvPr/>
        </p:nvSpPr>
        <p:spPr>
          <a:xfrm>
            <a:off x="1987084" y="285958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Preferential transfers or cash withdrawal</a:t>
            </a:r>
          </a:p>
        </p:txBody>
      </p:sp>
      <p:sp>
        <p:nvSpPr>
          <p:cNvPr id="485" name="TextBox 484">
            <a:extLst>
              <a:ext uri="{FF2B5EF4-FFF2-40B4-BE49-F238E27FC236}">
                <a16:creationId xmlns:a16="http://schemas.microsoft.com/office/drawing/2014/main" id="{0348A21A-23C7-2281-7BAB-58D1E94DC17D}"/>
              </a:ext>
            </a:extLst>
          </p:cNvPr>
          <p:cNvSpPr txBox="1">
            <a:spLocks/>
          </p:cNvSpPr>
          <p:nvPr/>
        </p:nvSpPr>
        <p:spPr>
          <a:xfrm>
            <a:off x="1987084" y="247365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Miles / travel card proposition</a:t>
            </a:r>
          </a:p>
        </p:txBody>
      </p:sp>
      <p:sp>
        <p:nvSpPr>
          <p:cNvPr id="488" name="TextBox 487">
            <a:extLst>
              <a:ext uri="{FF2B5EF4-FFF2-40B4-BE49-F238E27FC236}">
                <a16:creationId xmlns:a16="http://schemas.microsoft.com/office/drawing/2014/main" id="{0F962FBF-7646-FEEB-D96E-392840E61F23}"/>
              </a:ext>
            </a:extLst>
          </p:cNvPr>
          <p:cNvSpPr txBox="1">
            <a:spLocks/>
          </p:cNvSpPr>
          <p:nvPr/>
        </p:nvSpPr>
        <p:spPr>
          <a:xfrm>
            <a:off x="1987084" y="305254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Deposit-backed / cash-covered lending</a:t>
            </a:r>
          </a:p>
        </p:txBody>
      </p:sp>
      <p:sp>
        <p:nvSpPr>
          <p:cNvPr id="489" name="TextBox 488">
            <a:extLst>
              <a:ext uri="{FF2B5EF4-FFF2-40B4-BE49-F238E27FC236}">
                <a16:creationId xmlns:a16="http://schemas.microsoft.com/office/drawing/2014/main" id="{3A9602B9-B692-FA7D-BCB3-FF61935E7551}"/>
              </a:ext>
            </a:extLst>
          </p:cNvPr>
          <p:cNvSpPr txBox="1">
            <a:spLocks/>
          </p:cNvSpPr>
          <p:nvPr/>
        </p:nvSpPr>
        <p:spPr>
          <a:xfrm>
            <a:off x="1987084" y="324551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Mortgage / real estate finance</a:t>
            </a:r>
          </a:p>
        </p:txBody>
      </p:sp>
      <p:sp>
        <p:nvSpPr>
          <p:cNvPr id="491" name="TextBox 490">
            <a:extLst>
              <a:ext uri="{FF2B5EF4-FFF2-40B4-BE49-F238E27FC236}">
                <a16:creationId xmlns:a16="http://schemas.microsoft.com/office/drawing/2014/main" id="{99C431C1-18A3-A1CD-CC53-692AFE3206F2}"/>
              </a:ext>
            </a:extLst>
          </p:cNvPr>
          <p:cNvSpPr txBox="1">
            <a:spLocks/>
          </p:cNvSpPr>
          <p:nvPr/>
        </p:nvSpPr>
        <p:spPr>
          <a:xfrm>
            <a:off x="1987084" y="363144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Portfolio management</a:t>
            </a:r>
          </a:p>
        </p:txBody>
      </p:sp>
      <p:sp>
        <p:nvSpPr>
          <p:cNvPr id="492" name="TextBox 491">
            <a:extLst>
              <a:ext uri="{FF2B5EF4-FFF2-40B4-BE49-F238E27FC236}">
                <a16:creationId xmlns:a16="http://schemas.microsoft.com/office/drawing/2014/main" id="{0EB24D9A-DEC9-305D-286E-2D68A5E242C0}"/>
              </a:ext>
            </a:extLst>
          </p:cNvPr>
          <p:cNvSpPr txBox="1">
            <a:spLocks/>
          </p:cNvSpPr>
          <p:nvPr/>
        </p:nvSpPr>
        <p:spPr>
          <a:xfrm>
            <a:off x="1987084" y="382440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Structured products </a:t>
            </a:r>
          </a:p>
        </p:txBody>
      </p:sp>
      <p:sp>
        <p:nvSpPr>
          <p:cNvPr id="493" name="TextBox 492">
            <a:extLst>
              <a:ext uri="{FF2B5EF4-FFF2-40B4-BE49-F238E27FC236}">
                <a16:creationId xmlns:a16="http://schemas.microsoft.com/office/drawing/2014/main" id="{29BD0F8F-46EF-27B3-B2EE-63B1162D0BF7}"/>
              </a:ext>
            </a:extLst>
          </p:cNvPr>
          <p:cNvSpPr txBox="1">
            <a:spLocks/>
          </p:cNvSpPr>
          <p:nvPr/>
        </p:nvSpPr>
        <p:spPr>
          <a:xfrm>
            <a:off x="1987084" y="401737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Brokerage / securities trading</a:t>
            </a:r>
          </a:p>
        </p:txBody>
      </p:sp>
      <p:sp>
        <p:nvSpPr>
          <p:cNvPr id="490" name="TextBox 489">
            <a:extLst>
              <a:ext uri="{FF2B5EF4-FFF2-40B4-BE49-F238E27FC236}">
                <a16:creationId xmlns:a16="http://schemas.microsoft.com/office/drawing/2014/main" id="{73AEBCC9-C528-A250-66EB-DAFEB34E02A7}"/>
              </a:ext>
            </a:extLst>
          </p:cNvPr>
          <p:cNvSpPr txBox="1">
            <a:spLocks/>
          </p:cNvSpPr>
          <p:nvPr/>
        </p:nvSpPr>
        <p:spPr>
          <a:xfrm>
            <a:off x="1987084" y="343847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Investment advisory / financial planning</a:t>
            </a:r>
          </a:p>
        </p:txBody>
      </p:sp>
      <p:sp>
        <p:nvSpPr>
          <p:cNvPr id="494" name="TextBox 493">
            <a:extLst>
              <a:ext uri="{FF2B5EF4-FFF2-40B4-BE49-F238E27FC236}">
                <a16:creationId xmlns:a16="http://schemas.microsoft.com/office/drawing/2014/main" id="{4A86A7F4-CF98-3644-AD7B-251FECC8DF65}"/>
              </a:ext>
            </a:extLst>
          </p:cNvPr>
          <p:cNvSpPr txBox="1">
            <a:spLocks/>
          </p:cNvSpPr>
          <p:nvPr/>
        </p:nvSpPr>
        <p:spPr>
          <a:xfrm>
            <a:off x="1987084" y="421033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Gold / precious metals / metal accounts</a:t>
            </a:r>
          </a:p>
        </p:txBody>
      </p:sp>
      <p:sp>
        <p:nvSpPr>
          <p:cNvPr id="496" name="TextBox 495">
            <a:extLst>
              <a:ext uri="{FF2B5EF4-FFF2-40B4-BE49-F238E27FC236}">
                <a16:creationId xmlns:a16="http://schemas.microsoft.com/office/drawing/2014/main" id="{22A9AD57-E37F-E7DC-91DA-007F39E9AD00}"/>
              </a:ext>
            </a:extLst>
          </p:cNvPr>
          <p:cNvSpPr txBox="1">
            <a:spLocks/>
          </p:cNvSpPr>
          <p:nvPr/>
        </p:nvSpPr>
        <p:spPr>
          <a:xfrm>
            <a:off x="1987084" y="459626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Tax advisory</a:t>
            </a:r>
          </a:p>
        </p:txBody>
      </p:sp>
      <p:sp>
        <p:nvSpPr>
          <p:cNvPr id="495" name="TextBox 494">
            <a:extLst>
              <a:ext uri="{FF2B5EF4-FFF2-40B4-BE49-F238E27FC236}">
                <a16:creationId xmlns:a16="http://schemas.microsoft.com/office/drawing/2014/main" id="{780AF8CE-1AB9-1A95-28D6-E7727A494D6C}"/>
              </a:ext>
            </a:extLst>
          </p:cNvPr>
          <p:cNvSpPr txBox="1">
            <a:spLocks/>
          </p:cNvSpPr>
          <p:nvPr/>
        </p:nvSpPr>
        <p:spPr>
          <a:xfrm>
            <a:off x="1987084" y="440330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Insurance / travel insurance</a:t>
            </a:r>
          </a:p>
        </p:txBody>
      </p:sp>
      <p:sp>
        <p:nvSpPr>
          <p:cNvPr id="497" name="TextBox 496">
            <a:extLst>
              <a:ext uri="{FF2B5EF4-FFF2-40B4-BE49-F238E27FC236}">
                <a16:creationId xmlns:a16="http://schemas.microsoft.com/office/drawing/2014/main" id="{C2D1012B-179A-2A70-BB41-5DDA83BEDB38}"/>
              </a:ext>
            </a:extLst>
          </p:cNvPr>
          <p:cNvSpPr txBox="1">
            <a:spLocks/>
          </p:cNvSpPr>
          <p:nvPr/>
        </p:nvSpPr>
        <p:spPr>
          <a:xfrm>
            <a:off x="1987084" y="478923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Legal / estate / inheritance planning</a:t>
            </a:r>
          </a:p>
        </p:txBody>
      </p:sp>
      <p:sp>
        <p:nvSpPr>
          <p:cNvPr id="499" name="TextBox 498">
            <a:extLst>
              <a:ext uri="{FF2B5EF4-FFF2-40B4-BE49-F238E27FC236}">
                <a16:creationId xmlns:a16="http://schemas.microsoft.com/office/drawing/2014/main" id="{63A8FDBF-EFC7-C636-56C6-F58C8291384C}"/>
              </a:ext>
            </a:extLst>
          </p:cNvPr>
          <p:cNvSpPr txBox="1">
            <a:spLocks/>
          </p:cNvSpPr>
          <p:nvPr/>
        </p:nvSpPr>
        <p:spPr>
          <a:xfrm>
            <a:off x="1987084" y="517516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Airport lounge access</a:t>
            </a:r>
          </a:p>
        </p:txBody>
      </p:sp>
      <p:sp>
        <p:nvSpPr>
          <p:cNvPr id="500" name="TextBox 499">
            <a:extLst>
              <a:ext uri="{FF2B5EF4-FFF2-40B4-BE49-F238E27FC236}">
                <a16:creationId xmlns:a16="http://schemas.microsoft.com/office/drawing/2014/main" id="{2F9DF0E2-3FBB-C478-DE16-3BB33C42AFE0}"/>
              </a:ext>
            </a:extLst>
          </p:cNvPr>
          <p:cNvSpPr txBox="1">
            <a:spLocks/>
          </p:cNvSpPr>
          <p:nvPr/>
        </p:nvSpPr>
        <p:spPr>
          <a:xfrm>
            <a:off x="1987084" y="536812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Fast track / airport transfer / meet &amp; assist</a:t>
            </a:r>
          </a:p>
        </p:txBody>
      </p:sp>
      <p:sp>
        <p:nvSpPr>
          <p:cNvPr id="501" name="TextBox 500">
            <a:extLst>
              <a:ext uri="{FF2B5EF4-FFF2-40B4-BE49-F238E27FC236}">
                <a16:creationId xmlns:a16="http://schemas.microsoft.com/office/drawing/2014/main" id="{E7283DAB-40EE-2433-851E-DCF2DEB889EA}"/>
              </a:ext>
            </a:extLst>
          </p:cNvPr>
          <p:cNvSpPr txBox="1">
            <a:spLocks/>
          </p:cNvSpPr>
          <p:nvPr/>
        </p:nvSpPr>
        <p:spPr>
          <a:xfrm>
            <a:off x="1987084" y="5561092"/>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Events / art / culture / exclusive gatherings</a:t>
            </a:r>
          </a:p>
        </p:txBody>
      </p:sp>
      <p:sp>
        <p:nvSpPr>
          <p:cNvPr id="498" name="TextBox 497">
            <a:extLst>
              <a:ext uri="{FF2B5EF4-FFF2-40B4-BE49-F238E27FC236}">
                <a16:creationId xmlns:a16="http://schemas.microsoft.com/office/drawing/2014/main" id="{150D6C24-5D84-2AFD-597A-E513F2566C63}"/>
              </a:ext>
            </a:extLst>
          </p:cNvPr>
          <p:cNvSpPr txBox="1">
            <a:spLocks/>
          </p:cNvSpPr>
          <p:nvPr/>
        </p:nvSpPr>
        <p:spPr>
          <a:xfrm>
            <a:off x="1987084" y="498219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Safe deposit boxes</a:t>
            </a:r>
          </a:p>
        </p:txBody>
      </p:sp>
      <p:sp>
        <p:nvSpPr>
          <p:cNvPr id="502" name="TextBox 501">
            <a:extLst>
              <a:ext uri="{FF2B5EF4-FFF2-40B4-BE49-F238E27FC236}">
                <a16:creationId xmlns:a16="http://schemas.microsoft.com/office/drawing/2014/main" id="{D7214AE1-6B92-3B8C-D3E2-FEBBF8C54146}"/>
              </a:ext>
            </a:extLst>
          </p:cNvPr>
          <p:cNvSpPr txBox="1">
            <a:spLocks/>
          </p:cNvSpPr>
          <p:nvPr/>
        </p:nvSpPr>
        <p:spPr>
          <a:xfrm>
            <a:off x="1987084" y="575405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Medical check-up / wellness perks</a:t>
            </a:r>
          </a:p>
        </p:txBody>
      </p:sp>
      <p:sp>
        <p:nvSpPr>
          <p:cNvPr id="503" name="TextBox 502">
            <a:extLst>
              <a:ext uri="{FF2B5EF4-FFF2-40B4-BE49-F238E27FC236}">
                <a16:creationId xmlns:a16="http://schemas.microsoft.com/office/drawing/2014/main" id="{6C525941-7510-B37E-4CDD-5A9B31B2178D}"/>
              </a:ext>
            </a:extLst>
          </p:cNvPr>
          <p:cNvSpPr txBox="1">
            <a:spLocks/>
          </p:cNvSpPr>
          <p:nvPr/>
        </p:nvSpPr>
        <p:spPr>
          <a:xfrm>
            <a:off x="1987084" y="5947037"/>
            <a:ext cx="2351606" cy="138499"/>
          </a:xfrm>
          <a:prstGeom prst="rect">
            <a:avLst/>
          </a:prstGeom>
          <a:noFill/>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latin typeface="+mn-lt"/>
              </a:rPr>
              <a:t>Education advisory</a:t>
            </a:r>
          </a:p>
        </p:txBody>
      </p:sp>
      <p:cxnSp>
        <p:nvCxnSpPr>
          <p:cNvPr id="515" name="Connector 1022">
            <a:extLst>
              <a:ext uri="{FF2B5EF4-FFF2-40B4-BE49-F238E27FC236}">
                <a16:creationId xmlns:a16="http://schemas.microsoft.com/office/drawing/2014/main" id="{EC8C1D42-0465-341E-D324-64B86FE7BA8C}"/>
              </a:ext>
            </a:extLst>
          </p:cNvPr>
          <p:cNvCxnSpPr>
            <a:cxnSpLocks/>
          </p:cNvCxnSpPr>
          <p:nvPr/>
        </p:nvCxnSpPr>
        <p:spPr>
          <a:xfrm>
            <a:off x="554736" y="3411244"/>
            <a:ext cx="7918704"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0" name="Connector 1022">
            <a:extLst>
              <a:ext uri="{FF2B5EF4-FFF2-40B4-BE49-F238E27FC236}">
                <a16:creationId xmlns:a16="http://schemas.microsoft.com/office/drawing/2014/main" id="{B142DAC7-5EF6-84E7-5FDB-6077E7843A88}"/>
              </a:ext>
            </a:extLst>
          </p:cNvPr>
          <p:cNvCxnSpPr>
            <a:cxnSpLocks/>
          </p:cNvCxnSpPr>
          <p:nvPr/>
        </p:nvCxnSpPr>
        <p:spPr>
          <a:xfrm>
            <a:off x="670709" y="2446419"/>
            <a:ext cx="780273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3" name="Connector 1022">
            <a:extLst>
              <a:ext uri="{FF2B5EF4-FFF2-40B4-BE49-F238E27FC236}">
                <a16:creationId xmlns:a16="http://schemas.microsoft.com/office/drawing/2014/main" id="{B6716177-FD75-98BE-891C-7FBD390D11D5}"/>
              </a:ext>
            </a:extLst>
          </p:cNvPr>
          <p:cNvCxnSpPr>
            <a:cxnSpLocks/>
          </p:cNvCxnSpPr>
          <p:nvPr/>
        </p:nvCxnSpPr>
        <p:spPr>
          <a:xfrm>
            <a:off x="670709" y="3025314"/>
            <a:ext cx="780273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0" name="Connector 1022">
            <a:extLst>
              <a:ext uri="{FF2B5EF4-FFF2-40B4-BE49-F238E27FC236}">
                <a16:creationId xmlns:a16="http://schemas.microsoft.com/office/drawing/2014/main" id="{F20905CC-D210-0544-33A0-C3568C1E5322}"/>
              </a:ext>
            </a:extLst>
          </p:cNvPr>
          <p:cNvCxnSpPr>
            <a:cxnSpLocks/>
          </p:cNvCxnSpPr>
          <p:nvPr/>
        </p:nvCxnSpPr>
        <p:spPr>
          <a:xfrm>
            <a:off x="670709" y="4376069"/>
            <a:ext cx="780273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3" name="Connector 1022">
            <a:extLst>
              <a:ext uri="{FF2B5EF4-FFF2-40B4-BE49-F238E27FC236}">
                <a16:creationId xmlns:a16="http://schemas.microsoft.com/office/drawing/2014/main" id="{170DA0EC-473A-A7A4-5C9E-0D70C0C90E4B}"/>
              </a:ext>
            </a:extLst>
          </p:cNvPr>
          <p:cNvCxnSpPr>
            <a:cxnSpLocks/>
          </p:cNvCxnSpPr>
          <p:nvPr/>
        </p:nvCxnSpPr>
        <p:spPr>
          <a:xfrm>
            <a:off x="670709" y="4954964"/>
            <a:ext cx="780273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05" name="Connector 1022">
            <a:extLst>
              <a:ext uri="{FF2B5EF4-FFF2-40B4-BE49-F238E27FC236}">
                <a16:creationId xmlns:a16="http://schemas.microsoft.com/office/drawing/2014/main" id="{C093FDC1-376A-D7D8-4627-E3288F73E1E2}"/>
              </a:ext>
            </a:extLst>
          </p:cNvPr>
          <p:cNvCxnSpPr>
            <a:cxnSpLocks/>
          </p:cNvCxnSpPr>
          <p:nvPr/>
        </p:nvCxnSpPr>
        <p:spPr>
          <a:xfrm>
            <a:off x="1987084" y="186752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06" name="Connector 1022">
            <a:extLst>
              <a:ext uri="{FF2B5EF4-FFF2-40B4-BE49-F238E27FC236}">
                <a16:creationId xmlns:a16="http://schemas.microsoft.com/office/drawing/2014/main" id="{88997214-CF8A-398A-E6EF-CAC237F274BB}"/>
              </a:ext>
            </a:extLst>
          </p:cNvPr>
          <p:cNvCxnSpPr>
            <a:cxnSpLocks/>
          </p:cNvCxnSpPr>
          <p:nvPr/>
        </p:nvCxnSpPr>
        <p:spPr>
          <a:xfrm>
            <a:off x="1987084" y="206048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09" name="Connector 1022">
            <a:extLst>
              <a:ext uri="{FF2B5EF4-FFF2-40B4-BE49-F238E27FC236}">
                <a16:creationId xmlns:a16="http://schemas.microsoft.com/office/drawing/2014/main" id="{F674C9C0-54B0-9B3A-B390-544ABA28EAC7}"/>
              </a:ext>
            </a:extLst>
          </p:cNvPr>
          <p:cNvCxnSpPr>
            <a:cxnSpLocks/>
          </p:cNvCxnSpPr>
          <p:nvPr/>
        </p:nvCxnSpPr>
        <p:spPr>
          <a:xfrm>
            <a:off x="1987084" y="225345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1" name="Connector 1022">
            <a:extLst>
              <a:ext uri="{FF2B5EF4-FFF2-40B4-BE49-F238E27FC236}">
                <a16:creationId xmlns:a16="http://schemas.microsoft.com/office/drawing/2014/main" id="{12AEE0D2-AE48-7590-CB64-3D6438E35C9F}"/>
              </a:ext>
            </a:extLst>
          </p:cNvPr>
          <p:cNvCxnSpPr>
            <a:cxnSpLocks/>
          </p:cNvCxnSpPr>
          <p:nvPr/>
        </p:nvCxnSpPr>
        <p:spPr>
          <a:xfrm>
            <a:off x="1987084" y="263938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2" name="Connector 1022">
            <a:extLst>
              <a:ext uri="{FF2B5EF4-FFF2-40B4-BE49-F238E27FC236}">
                <a16:creationId xmlns:a16="http://schemas.microsoft.com/office/drawing/2014/main" id="{AE0420C9-9CD2-571C-ADEE-7E0DE7122D42}"/>
              </a:ext>
            </a:extLst>
          </p:cNvPr>
          <p:cNvCxnSpPr>
            <a:cxnSpLocks/>
          </p:cNvCxnSpPr>
          <p:nvPr/>
        </p:nvCxnSpPr>
        <p:spPr>
          <a:xfrm>
            <a:off x="1987084" y="283234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4" name="Connector 1022">
            <a:extLst>
              <a:ext uri="{FF2B5EF4-FFF2-40B4-BE49-F238E27FC236}">
                <a16:creationId xmlns:a16="http://schemas.microsoft.com/office/drawing/2014/main" id="{3B50881A-722D-AAED-4309-A3BE4CA9CEE0}"/>
              </a:ext>
            </a:extLst>
          </p:cNvPr>
          <p:cNvCxnSpPr>
            <a:cxnSpLocks/>
          </p:cNvCxnSpPr>
          <p:nvPr/>
        </p:nvCxnSpPr>
        <p:spPr>
          <a:xfrm>
            <a:off x="1987084" y="321827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6" name="Connector 1022">
            <a:extLst>
              <a:ext uri="{FF2B5EF4-FFF2-40B4-BE49-F238E27FC236}">
                <a16:creationId xmlns:a16="http://schemas.microsoft.com/office/drawing/2014/main" id="{82394BC9-03A7-FAFB-9A42-074C06805F6F}"/>
              </a:ext>
            </a:extLst>
          </p:cNvPr>
          <p:cNvCxnSpPr>
            <a:cxnSpLocks/>
          </p:cNvCxnSpPr>
          <p:nvPr/>
        </p:nvCxnSpPr>
        <p:spPr>
          <a:xfrm>
            <a:off x="1987084" y="360420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7" name="Connector 1022">
            <a:extLst>
              <a:ext uri="{FF2B5EF4-FFF2-40B4-BE49-F238E27FC236}">
                <a16:creationId xmlns:a16="http://schemas.microsoft.com/office/drawing/2014/main" id="{674B74AE-0E27-8C3C-C211-F259FF9D8369}"/>
              </a:ext>
            </a:extLst>
          </p:cNvPr>
          <p:cNvCxnSpPr>
            <a:cxnSpLocks/>
          </p:cNvCxnSpPr>
          <p:nvPr/>
        </p:nvCxnSpPr>
        <p:spPr>
          <a:xfrm>
            <a:off x="1987084" y="379717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8" name="Connector 1022">
            <a:extLst>
              <a:ext uri="{FF2B5EF4-FFF2-40B4-BE49-F238E27FC236}">
                <a16:creationId xmlns:a16="http://schemas.microsoft.com/office/drawing/2014/main" id="{0083911C-D5BE-E7E9-7D19-0DB9BEDF30B3}"/>
              </a:ext>
            </a:extLst>
          </p:cNvPr>
          <p:cNvCxnSpPr>
            <a:cxnSpLocks/>
          </p:cNvCxnSpPr>
          <p:nvPr/>
        </p:nvCxnSpPr>
        <p:spPr>
          <a:xfrm>
            <a:off x="1987084" y="399013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9" name="Connector 1022">
            <a:extLst>
              <a:ext uri="{FF2B5EF4-FFF2-40B4-BE49-F238E27FC236}">
                <a16:creationId xmlns:a16="http://schemas.microsoft.com/office/drawing/2014/main" id="{5F8C15EB-0DEE-5642-B717-E2C33A4341AB}"/>
              </a:ext>
            </a:extLst>
          </p:cNvPr>
          <p:cNvCxnSpPr>
            <a:cxnSpLocks/>
          </p:cNvCxnSpPr>
          <p:nvPr/>
        </p:nvCxnSpPr>
        <p:spPr>
          <a:xfrm>
            <a:off x="1987084" y="418310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1" name="Connector 1022">
            <a:extLst>
              <a:ext uri="{FF2B5EF4-FFF2-40B4-BE49-F238E27FC236}">
                <a16:creationId xmlns:a16="http://schemas.microsoft.com/office/drawing/2014/main" id="{796F84AF-0635-A1C4-19B2-5AF6A01CC0C1}"/>
              </a:ext>
            </a:extLst>
          </p:cNvPr>
          <p:cNvCxnSpPr>
            <a:cxnSpLocks/>
          </p:cNvCxnSpPr>
          <p:nvPr/>
        </p:nvCxnSpPr>
        <p:spPr>
          <a:xfrm>
            <a:off x="1987084" y="456903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2" name="Connector 1022">
            <a:extLst>
              <a:ext uri="{FF2B5EF4-FFF2-40B4-BE49-F238E27FC236}">
                <a16:creationId xmlns:a16="http://schemas.microsoft.com/office/drawing/2014/main" id="{1601BE5F-3B87-A93A-48B8-8DA820EF758D}"/>
              </a:ext>
            </a:extLst>
          </p:cNvPr>
          <p:cNvCxnSpPr>
            <a:cxnSpLocks/>
          </p:cNvCxnSpPr>
          <p:nvPr/>
        </p:nvCxnSpPr>
        <p:spPr>
          <a:xfrm>
            <a:off x="1987084" y="476199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4" name="Connector 1022">
            <a:extLst>
              <a:ext uri="{FF2B5EF4-FFF2-40B4-BE49-F238E27FC236}">
                <a16:creationId xmlns:a16="http://schemas.microsoft.com/office/drawing/2014/main" id="{EE8047AC-908D-FBFA-00F6-2F2D2AA0E539}"/>
              </a:ext>
            </a:extLst>
          </p:cNvPr>
          <p:cNvCxnSpPr>
            <a:cxnSpLocks/>
          </p:cNvCxnSpPr>
          <p:nvPr/>
        </p:nvCxnSpPr>
        <p:spPr>
          <a:xfrm>
            <a:off x="1987084" y="514792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5" name="Connector 1022">
            <a:extLst>
              <a:ext uri="{FF2B5EF4-FFF2-40B4-BE49-F238E27FC236}">
                <a16:creationId xmlns:a16="http://schemas.microsoft.com/office/drawing/2014/main" id="{CE14E05D-D94A-9FA4-A455-EC68AA1A89ED}"/>
              </a:ext>
            </a:extLst>
          </p:cNvPr>
          <p:cNvCxnSpPr>
            <a:cxnSpLocks/>
          </p:cNvCxnSpPr>
          <p:nvPr/>
        </p:nvCxnSpPr>
        <p:spPr>
          <a:xfrm>
            <a:off x="1987084" y="534089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6" name="Connector 1022">
            <a:extLst>
              <a:ext uri="{FF2B5EF4-FFF2-40B4-BE49-F238E27FC236}">
                <a16:creationId xmlns:a16="http://schemas.microsoft.com/office/drawing/2014/main" id="{9606BB7F-6C6D-C870-A23A-58ED07AE3D66}"/>
              </a:ext>
            </a:extLst>
          </p:cNvPr>
          <p:cNvCxnSpPr>
            <a:cxnSpLocks/>
          </p:cNvCxnSpPr>
          <p:nvPr/>
        </p:nvCxnSpPr>
        <p:spPr>
          <a:xfrm>
            <a:off x="1987084" y="5533859"/>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7" name="Connector 1022">
            <a:extLst>
              <a:ext uri="{FF2B5EF4-FFF2-40B4-BE49-F238E27FC236}">
                <a16:creationId xmlns:a16="http://schemas.microsoft.com/office/drawing/2014/main" id="{224998AC-4804-C284-7BE7-D7C209BAC215}"/>
              </a:ext>
            </a:extLst>
          </p:cNvPr>
          <p:cNvCxnSpPr>
            <a:cxnSpLocks/>
          </p:cNvCxnSpPr>
          <p:nvPr/>
        </p:nvCxnSpPr>
        <p:spPr>
          <a:xfrm>
            <a:off x="1987084" y="5726824"/>
            <a:ext cx="6486357"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28" name="Connector 1022">
            <a:extLst>
              <a:ext uri="{FF2B5EF4-FFF2-40B4-BE49-F238E27FC236}">
                <a16:creationId xmlns:a16="http://schemas.microsoft.com/office/drawing/2014/main" id="{A61F81BF-2BA2-9DD7-DF86-1186146BC12F}"/>
              </a:ext>
            </a:extLst>
          </p:cNvPr>
          <p:cNvCxnSpPr>
            <a:cxnSpLocks/>
          </p:cNvCxnSpPr>
          <p:nvPr/>
        </p:nvCxnSpPr>
        <p:spPr>
          <a:xfrm>
            <a:off x="670709" y="5919789"/>
            <a:ext cx="7802731" cy="0"/>
          </a:xfrm>
          <a:prstGeom prst="line">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544" name="TextBox 543">
            <a:extLst>
              <a:ext uri="{FF2B5EF4-FFF2-40B4-BE49-F238E27FC236}">
                <a16:creationId xmlns:a16="http://schemas.microsoft.com/office/drawing/2014/main" id="{0CB7ABF6-39F4-1396-58AD-5E296096D351}"/>
              </a:ext>
            </a:extLst>
          </p:cNvPr>
          <p:cNvSpPr txBox="1">
            <a:spLocks/>
          </p:cNvSpPr>
          <p:nvPr/>
        </p:nvSpPr>
        <p:spPr>
          <a:xfrm>
            <a:off x="4598575" y="2087722"/>
            <a:ext cx="456394"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45" name="TextBox 544">
            <a:extLst>
              <a:ext uri="{FF2B5EF4-FFF2-40B4-BE49-F238E27FC236}">
                <a16:creationId xmlns:a16="http://schemas.microsoft.com/office/drawing/2014/main" id="{DC278714-A5E9-A556-CD61-4241026EEA62}"/>
              </a:ext>
            </a:extLst>
          </p:cNvPr>
          <p:cNvSpPr txBox="1">
            <a:spLocks/>
          </p:cNvSpPr>
          <p:nvPr/>
        </p:nvSpPr>
        <p:spPr>
          <a:xfrm>
            <a:off x="6776924" y="2473657"/>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46" name="TextBox 545">
            <a:extLst>
              <a:ext uri="{FF2B5EF4-FFF2-40B4-BE49-F238E27FC236}">
                <a16:creationId xmlns:a16="http://schemas.microsoft.com/office/drawing/2014/main" id="{FA41FD74-5828-4402-70D3-185851B2F89C}"/>
              </a:ext>
            </a:extLst>
          </p:cNvPr>
          <p:cNvSpPr txBox="1">
            <a:spLocks/>
          </p:cNvSpPr>
          <p:nvPr/>
        </p:nvSpPr>
        <p:spPr>
          <a:xfrm>
            <a:off x="4598575" y="2666623"/>
            <a:ext cx="456394" cy="138499"/>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47" name="TextBox 546">
            <a:extLst>
              <a:ext uri="{FF2B5EF4-FFF2-40B4-BE49-F238E27FC236}">
                <a16:creationId xmlns:a16="http://schemas.microsoft.com/office/drawing/2014/main" id="{B9F789D4-3363-388C-3673-2703133DE165}"/>
              </a:ext>
            </a:extLst>
          </p:cNvPr>
          <p:cNvSpPr txBox="1">
            <a:spLocks/>
          </p:cNvSpPr>
          <p:nvPr/>
        </p:nvSpPr>
        <p:spPr>
          <a:xfrm>
            <a:off x="6072189" y="3052555"/>
            <a:ext cx="4448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48" name="TextBox 547">
            <a:extLst>
              <a:ext uri="{FF2B5EF4-FFF2-40B4-BE49-F238E27FC236}">
                <a16:creationId xmlns:a16="http://schemas.microsoft.com/office/drawing/2014/main" id="{486C39DC-B0B6-3C68-F4E1-638C012C87B0}"/>
              </a:ext>
            </a:extLst>
          </p:cNvPr>
          <p:cNvSpPr txBox="1">
            <a:spLocks/>
          </p:cNvSpPr>
          <p:nvPr/>
        </p:nvSpPr>
        <p:spPr>
          <a:xfrm>
            <a:off x="6776924" y="3052555"/>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49" name="TextBox 548">
            <a:extLst>
              <a:ext uri="{FF2B5EF4-FFF2-40B4-BE49-F238E27FC236}">
                <a16:creationId xmlns:a16="http://schemas.microsoft.com/office/drawing/2014/main" id="{082E4077-49B7-A855-0C08-4371B58E38BA}"/>
              </a:ext>
            </a:extLst>
          </p:cNvPr>
          <p:cNvSpPr txBox="1">
            <a:spLocks/>
          </p:cNvSpPr>
          <p:nvPr/>
        </p:nvSpPr>
        <p:spPr>
          <a:xfrm>
            <a:off x="7613481" y="3052555"/>
            <a:ext cx="85996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0" name="TextBox 549">
            <a:extLst>
              <a:ext uri="{FF2B5EF4-FFF2-40B4-BE49-F238E27FC236}">
                <a16:creationId xmlns:a16="http://schemas.microsoft.com/office/drawing/2014/main" id="{58A1C939-A2C4-480E-ACB3-175BE843595D}"/>
              </a:ext>
            </a:extLst>
          </p:cNvPr>
          <p:cNvSpPr txBox="1">
            <a:spLocks/>
          </p:cNvSpPr>
          <p:nvPr/>
        </p:nvSpPr>
        <p:spPr>
          <a:xfrm>
            <a:off x="5314854" y="3245512"/>
            <a:ext cx="4974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1" name="TextBox 550">
            <a:extLst>
              <a:ext uri="{FF2B5EF4-FFF2-40B4-BE49-F238E27FC236}">
                <a16:creationId xmlns:a16="http://schemas.microsoft.com/office/drawing/2014/main" id="{7CFA387B-CC60-E8B6-8897-021B5618EE53}"/>
              </a:ext>
            </a:extLst>
          </p:cNvPr>
          <p:cNvSpPr txBox="1">
            <a:spLocks/>
          </p:cNvSpPr>
          <p:nvPr/>
        </p:nvSpPr>
        <p:spPr>
          <a:xfrm>
            <a:off x="5314854" y="3824419"/>
            <a:ext cx="4974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2" name="TextBox 551">
            <a:extLst>
              <a:ext uri="{FF2B5EF4-FFF2-40B4-BE49-F238E27FC236}">
                <a16:creationId xmlns:a16="http://schemas.microsoft.com/office/drawing/2014/main" id="{AAF5E589-DCB5-A9DA-F507-A7812B038A31}"/>
              </a:ext>
            </a:extLst>
          </p:cNvPr>
          <p:cNvSpPr txBox="1">
            <a:spLocks/>
          </p:cNvSpPr>
          <p:nvPr/>
        </p:nvSpPr>
        <p:spPr>
          <a:xfrm>
            <a:off x="6776924" y="3824419"/>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3" name="TextBox 552">
            <a:extLst>
              <a:ext uri="{FF2B5EF4-FFF2-40B4-BE49-F238E27FC236}">
                <a16:creationId xmlns:a16="http://schemas.microsoft.com/office/drawing/2014/main" id="{930FDEC9-F285-9D0E-39B7-7972076F3897}"/>
              </a:ext>
            </a:extLst>
          </p:cNvPr>
          <p:cNvSpPr txBox="1">
            <a:spLocks/>
          </p:cNvSpPr>
          <p:nvPr/>
        </p:nvSpPr>
        <p:spPr>
          <a:xfrm>
            <a:off x="5314854" y="4210351"/>
            <a:ext cx="4974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4" name="TextBox 553">
            <a:extLst>
              <a:ext uri="{FF2B5EF4-FFF2-40B4-BE49-F238E27FC236}">
                <a16:creationId xmlns:a16="http://schemas.microsoft.com/office/drawing/2014/main" id="{2526DA20-959E-886E-5977-1C0D2C966487}"/>
              </a:ext>
            </a:extLst>
          </p:cNvPr>
          <p:cNvSpPr txBox="1">
            <a:spLocks/>
          </p:cNvSpPr>
          <p:nvPr/>
        </p:nvSpPr>
        <p:spPr>
          <a:xfrm>
            <a:off x="5314854" y="4596283"/>
            <a:ext cx="4974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5" name="TextBox 554">
            <a:extLst>
              <a:ext uri="{FF2B5EF4-FFF2-40B4-BE49-F238E27FC236}">
                <a16:creationId xmlns:a16="http://schemas.microsoft.com/office/drawing/2014/main" id="{F523D99B-527A-87F1-ED8F-761BFCC04D24}"/>
              </a:ext>
            </a:extLst>
          </p:cNvPr>
          <p:cNvSpPr txBox="1">
            <a:spLocks/>
          </p:cNvSpPr>
          <p:nvPr/>
        </p:nvSpPr>
        <p:spPr>
          <a:xfrm>
            <a:off x="6776924" y="4596283"/>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6" name="TextBox 555">
            <a:extLst>
              <a:ext uri="{FF2B5EF4-FFF2-40B4-BE49-F238E27FC236}">
                <a16:creationId xmlns:a16="http://schemas.microsoft.com/office/drawing/2014/main" id="{1717B086-B16F-A134-15B6-102BB09E4A71}"/>
              </a:ext>
            </a:extLst>
          </p:cNvPr>
          <p:cNvSpPr txBox="1">
            <a:spLocks/>
          </p:cNvSpPr>
          <p:nvPr/>
        </p:nvSpPr>
        <p:spPr>
          <a:xfrm>
            <a:off x="5314854" y="4789249"/>
            <a:ext cx="4974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7" name="TextBox 556">
            <a:extLst>
              <a:ext uri="{FF2B5EF4-FFF2-40B4-BE49-F238E27FC236}">
                <a16:creationId xmlns:a16="http://schemas.microsoft.com/office/drawing/2014/main" id="{A9BD8793-1172-3894-E1E3-E4FC29D5DD11}"/>
              </a:ext>
            </a:extLst>
          </p:cNvPr>
          <p:cNvSpPr txBox="1">
            <a:spLocks/>
          </p:cNvSpPr>
          <p:nvPr/>
        </p:nvSpPr>
        <p:spPr>
          <a:xfrm>
            <a:off x="6776924" y="4789249"/>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8" name="TextBox 557">
            <a:extLst>
              <a:ext uri="{FF2B5EF4-FFF2-40B4-BE49-F238E27FC236}">
                <a16:creationId xmlns:a16="http://schemas.microsoft.com/office/drawing/2014/main" id="{282A66F4-66A1-75C0-9354-EF190F50D18C}"/>
              </a:ext>
            </a:extLst>
          </p:cNvPr>
          <p:cNvSpPr txBox="1">
            <a:spLocks/>
          </p:cNvSpPr>
          <p:nvPr/>
        </p:nvSpPr>
        <p:spPr>
          <a:xfrm>
            <a:off x="7613481" y="4789249"/>
            <a:ext cx="85996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59" name="TextBox 558">
            <a:extLst>
              <a:ext uri="{FF2B5EF4-FFF2-40B4-BE49-F238E27FC236}">
                <a16:creationId xmlns:a16="http://schemas.microsoft.com/office/drawing/2014/main" id="{EE647F53-0E4E-2C0B-91FA-2FEEC266DB66}"/>
              </a:ext>
            </a:extLst>
          </p:cNvPr>
          <p:cNvSpPr txBox="1">
            <a:spLocks/>
          </p:cNvSpPr>
          <p:nvPr/>
        </p:nvSpPr>
        <p:spPr>
          <a:xfrm>
            <a:off x="6776924" y="5561113"/>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0" name="TextBox 559">
            <a:extLst>
              <a:ext uri="{FF2B5EF4-FFF2-40B4-BE49-F238E27FC236}">
                <a16:creationId xmlns:a16="http://schemas.microsoft.com/office/drawing/2014/main" id="{E4ED9821-1E35-299B-60F4-C5FF346FE202}"/>
              </a:ext>
            </a:extLst>
          </p:cNvPr>
          <p:cNvSpPr txBox="1">
            <a:spLocks/>
          </p:cNvSpPr>
          <p:nvPr/>
        </p:nvSpPr>
        <p:spPr>
          <a:xfrm>
            <a:off x="5314854" y="5754079"/>
            <a:ext cx="4974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1" name="TextBox 560">
            <a:extLst>
              <a:ext uri="{FF2B5EF4-FFF2-40B4-BE49-F238E27FC236}">
                <a16:creationId xmlns:a16="http://schemas.microsoft.com/office/drawing/2014/main" id="{9CC7EF9F-9A62-8BA0-86F3-1E6D1875F2A4}"/>
              </a:ext>
            </a:extLst>
          </p:cNvPr>
          <p:cNvSpPr txBox="1">
            <a:spLocks/>
          </p:cNvSpPr>
          <p:nvPr/>
        </p:nvSpPr>
        <p:spPr>
          <a:xfrm>
            <a:off x="6072189" y="5754079"/>
            <a:ext cx="4448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2" name="TextBox 561">
            <a:extLst>
              <a:ext uri="{FF2B5EF4-FFF2-40B4-BE49-F238E27FC236}">
                <a16:creationId xmlns:a16="http://schemas.microsoft.com/office/drawing/2014/main" id="{DC747BD7-9DE3-AF02-AC6B-1C4C75139536}"/>
              </a:ext>
            </a:extLst>
          </p:cNvPr>
          <p:cNvSpPr txBox="1">
            <a:spLocks/>
          </p:cNvSpPr>
          <p:nvPr/>
        </p:nvSpPr>
        <p:spPr>
          <a:xfrm>
            <a:off x="6776924" y="5754079"/>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3" name="TextBox 562">
            <a:extLst>
              <a:ext uri="{FF2B5EF4-FFF2-40B4-BE49-F238E27FC236}">
                <a16:creationId xmlns:a16="http://schemas.microsoft.com/office/drawing/2014/main" id="{688E9146-5C33-AFB2-8073-E95F00F1D063}"/>
              </a:ext>
            </a:extLst>
          </p:cNvPr>
          <p:cNvSpPr txBox="1">
            <a:spLocks/>
          </p:cNvSpPr>
          <p:nvPr/>
        </p:nvSpPr>
        <p:spPr>
          <a:xfrm>
            <a:off x="7613481" y="5754079"/>
            <a:ext cx="85996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4" name="TextBox 563">
            <a:extLst>
              <a:ext uri="{FF2B5EF4-FFF2-40B4-BE49-F238E27FC236}">
                <a16:creationId xmlns:a16="http://schemas.microsoft.com/office/drawing/2014/main" id="{AE708F91-70A4-ACA1-1005-18DD1045FED8}"/>
              </a:ext>
            </a:extLst>
          </p:cNvPr>
          <p:cNvSpPr txBox="1">
            <a:spLocks/>
          </p:cNvSpPr>
          <p:nvPr/>
        </p:nvSpPr>
        <p:spPr>
          <a:xfrm>
            <a:off x="5314854" y="5947037"/>
            <a:ext cx="4974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5" name="TextBox 564">
            <a:extLst>
              <a:ext uri="{FF2B5EF4-FFF2-40B4-BE49-F238E27FC236}">
                <a16:creationId xmlns:a16="http://schemas.microsoft.com/office/drawing/2014/main" id="{9FB04BFA-9873-B2AD-C6A4-7A9D059FC2B8}"/>
              </a:ext>
            </a:extLst>
          </p:cNvPr>
          <p:cNvSpPr txBox="1">
            <a:spLocks/>
          </p:cNvSpPr>
          <p:nvPr/>
        </p:nvSpPr>
        <p:spPr>
          <a:xfrm>
            <a:off x="6072189" y="5947037"/>
            <a:ext cx="44485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6" name="TextBox 565">
            <a:extLst>
              <a:ext uri="{FF2B5EF4-FFF2-40B4-BE49-F238E27FC236}">
                <a16:creationId xmlns:a16="http://schemas.microsoft.com/office/drawing/2014/main" id="{07B45D9D-0C4C-30BA-7044-9F7F5AA38DE8}"/>
              </a:ext>
            </a:extLst>
          </p:cNvPr>
          <p:cNvSpPr txBox="1">
            <a:spLocks/>
          </p:cNvSpPr>
          <p:nvPr/>
        </p:nvSpPr>
        <p:spPr>
          <a:xfrm>
            <a:off x="6776924" y="5947037"/>
            <a:ext cx="576673"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sp>
        <p:nvSpPr>
          <p:cNvPr id="567" name="TextBox 566">
            <a:extLst>
              <a:ext uri="{FF2B5EF4-FFF2-40B4-BE49-F238E27FC236}">
                <a16:creationId xmlns:a16="http://schemas.microsoft.com/office/drawing/2014/main" id="{8111BB67-D33F-E77E-59DB-60D3A4B9D18F}"/>
              </a:ext>
            </a:extLst>
          </p:cNvPr>
          <p:cNvSpPr txBox="1">
            <a:spLocks/>
          </p:cNvSpPr>
          <p:nvPr/>
        </p:nvSpPr>
        <p:spPr>
          <a:xfrm>
            <a:off x="7613481" y="5947037"/>
            <a:ext cx="859960" cy="138499"/>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900">
                <a:latin typeface="+mn-lt"/>
              </a:rPr>
              <a:t>—</a:t>
            </a:r>
          </a:p>
        </p:txBody>
      </p:sp>
      <p:grpSp>
        <p:nvGrpSpPr>
          <p:cNvPr id="568" name="CheckmarkBlue 1522">
            <a:extLst>
              <a:ext uri="{FF2B5EF4-FFF2-40B4-BE49-F238E27FC236}">
                <a16:creationId xmlns:a16="http://schemas.microsoft.com/office/drawing/2014/main" id="{D84A2A81-EF47-2BA3-2849-8393A0C8405E}"/>
              </a:ext>
            </a:extLst>
          </p:cNvPr>
          <p:cNvGrpSpPr>
            <a:grpSpLocks/>
          </p:cNvGrpSpPr>
          <p:nvPr>
            <p:custDataLst>
              <p:tags r:id="rId3"/>
            </p:custDataLst>
          </p:nvPr>
        </p:nvGrpSpPr>
        <p:grpSpPr>
          <a:xfrm>
            <a:off x="4767336" y="1711606"/>
            <a:ext cx="118872" cy="118872"/>
            <a:chOff x="1016000" y="1016000"/>
            <a:chExt cx="396228" cy="396228"/>
          </a:xfrm>
          <a:solidFill>
            <a:schemeClr val="accent2"/>
          </a:solidFill>
        </p:grpSpPr>
        <p:sp>
          <p:nvSpPr>
            <p:cNvPr id="569" name="Oval 568">
              <a:extLst>
                <a:ext uri="{FF2B5EF4-FFF2-40B4-BE49-F238E27FC236}">
                  <a16:creationId xmlns:a16="http://schemas.microsoft.com/office/drawing/2014/main" id="{74019EF6-6CE2-283F-DD90-7822AB777915}"/>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70" name="Graphic 569">
              <a:extLst>
                <a:ext uri="{FF2B5EF4-FFF2-40B4-BE49-F238E27FC236}">
                  <a16:creationId xmlns:a16="http://schemas.microsoft.com/office/drawing/2014/main" id="{038078E0-6375-1AED-91F6-B0756A5EE3B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71" name="CheckmarkBlue 1522">
            <a:extLst>
              <a:ext uri="{FF2B5EF4-FFF2-40B4-BE49-F238E27FC236}">
                <a16:creationId xmlns:a16="http://schemas.microsoft.com/office/drawing/2014/main" id="{783D0576-7B56-E4FC-05E1-05F1457FB56D}"/>
              </a:ext>
            </a:extLst>
          </p:cNvPr>
          <p:cNvGrpSpPr>
            <a:grpSpLocks/>
          </p:cNvGrpSpPr>
          <p:nvPr>
            <p:custDataLst>
              <p:tags r:id="rId4"/>
            </p:custDataLst>
          </p:nvPr>
        </p:nvGrpSpPr>
        <p:grpSpPr>
          <a:xfrm>
            <a:off x="5504143" y="1711606"/>
            <a:ext cx="118872" cy="118872"/>
            <a:chOff x="1016000" y="1016000"/>
            <a:chExt cx="396228" cy="396228"/>
          </a:xfrm>
          <a:solidFill>
            <a:schemeClr val="accent2"/>
          </a:solidFill>
        </p:grpSpPr>
        <p:sp>
          <p:nvSpPr>
            <p:cNvPr id="572" name="Oval 571">
              <a:extLst>
                <a:ext uri="{FF2B5EF4-FFF2-40B4-BE49-F238E27FC236}">
                  <a16:creationId xmlns:a16="http://schemas.microsoft.com/office/drawing/2014/main" id="{6E7FE2EF-FF5C-0154-8552-7BDCBCA88DEB}"/>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73" name="Graphic 572">
              <a:extLst>
                <a:ext uri="{FF2B5EF4-FFF2-40B4-BE49-F238E27FC236}">
                  <a16:creationId xmlns:a16="http://schemas.microsoft.com/office/drawing/2014/main" id="{A2C6A847-5852-D844-E84A-B6D41C3C4F45}"/>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74" name="CheckmarkBlue 1522">
            <a:extLst>
              <a:ext uri="{FF2B5EF4-FFF2-40B4-BE49-F238E27FC236}">
                <a16:creationId xmlns:a16="http://schemas.microsoft.com/office/drawing/2014/main" id="{3D55608F-D74F-D2AD-F906-E938229A0551}"/>
              </a:ext>
            </a:extLst>
          </p:cNvPr>
          <p:cNvGrpSpPr>
            <a:grpSpLocks/>
          </p:cNvGrpSpPr>
          <p:nvPr>
            <p:custDataLst>
              <p:tags r:id="rId5"/>
            </p:custDataLst>
          </p:nvPr>
        </p:nvGrpSpPr>
        <p:grpSpPr>
          <a:xfrm>
            <a:off x="6235178" y="1711606"/>
            <a:ext cx="118872" cy="118872"/>
            <a:chOff x="1016000" y="1016000"/>
            <a:chExt cx="396228" cy="396228"/>
          </a:xfrm>
          <a:solidFill>
            <a:schemeClr val="accent2"/>
          </a:solidFill>
        </p:grpSpPr>
        <p:sp>
          <p:nvSpPr>
            <p:cNvPr id="575" name="Oval 574">
              <a:extLst>
                <a:ext uri="{FF2B5EF4-FFF2-40B4-BE49-F238E27FC236}">
                  <a16:creationId xmlns:a16="http://schemas.microsoft.com/office/drawing/2014/main" id="{DD65EB14-3CD0-FEAF-B998-2317F5559F4A}"/>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76" name="Graphic 575">
              <a:extLst>
                <a:ext uri="{FF2B5EF4-FFF2-40B4-BE49-F238E27FC236}">
                  <a16:creationId xmlns:a16="http://schemas.microsoft.com/office/drawing/2014/main" id="{368F3A42-E9A6-6E31-3610-2C260182E4F7}"/>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77" name="CheckmarkBlue 1522">
            <a:extLst>
              <a:ext uri="{FF2B5EF4-FFF2-40B4-BE49-F238E27FC236}">
                <a16:creationId xmlns:a16="http://schemas.microsoft.com/office/drawing/2014/main" id="{D43D35F6-94EE-6511-2969-EE9D15C5D8CD}"/>
              </a:ext>
            </a:extLst>
          </p:cNvPr>
          <p:cNvGrpSpPr>
            <a:grpSpLocks/>
          </p:cNvGrpSpPr>
          <p:nvPr>
            <p:custDataLst>
              <p:tags r:id="rId6"/>
            </p:custDataLst>
          </p:nvPr>
        </p:nvGrpSpPr>
        <p:grpSpPr>
          <a:xfrm>
            <a:off x="7005825" y="1711606"/>
            <a:ext cx="118872" cy="118872"/>
            <a:chOff x="1016000" y="1016000"/>
            <a:chExt cx="396228" cy="396228"/>
          </a:xfrm>
          <a:solidFill>
            <a:schemeClr val="accent2"/>
          </a:solidFill>
        </p:grpSpPr>
        <p:sp>
          <p:nvSpPr>
            <p:cNvPr id="578" name="Oval 577">
              <a:extLst>
                <a:ext uri="{FF2B5EF4-FFF2-40B4-BE49-F238E27FC236}">
                  <a16:creationId xmlns:a16="http://schemas.microsoft.com/office/drawing/2014/main" id="{17EEA56C-EF70-C6EA-5858-15779EFFADC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79" name="Graphic 578">
              <a:extLst>
                <a:ext uri="{FF2B5EF4-FFF2-40B4-BE49-F238E27FC236}">
                  <a16:creationId xmlns:a16="http://schemas.microsoft.com/office/drawing/2014/main" id="{5E3370D3-6D8B-C3C8-81A8-27BF6E7C39B8}"/>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80" name="CheckmarkBlue 1522">
            <a:extLst>
              <a:ext uri="{FF2B5EF4-FFF2-40B4-BE49-F238E27FC236}">
                <a16:creationId xmlns:a16="http://schemas.microsoft.com/office/drawing/2014/main" id="{C7D4D209-5365-74B9-3926-6272B4154AC0}"/>
              </a:ext>
            </a:extLst>
          </p:cNvPr>
          <p:cNvGrpSpPr>
            <a:grpSpLocks/>
          </p:cNvGrpSpPr>
          <p:nvPr>
            <p:custDataLst>
              <p:tags r:id="rId7"/>
            </p:custDataLst>
          </p:nvPr>
        </p:nvGrpSpPr>
        <p:grpSpPr>
          <a:xfrm>
            <a:off x="7984025" y="1711606"/>
            <a:ext cx="118872" cy="118872"/>
            <a:chOff x="1016000" y="1016000"/>
            <a:chExt cx="396228" cy="396228"/>
          </a:xfrm>
          <a:solidFill>
            <a:schemeClr val="accent2"/>
          </a:solidFill>
        </p:grpSpPr>
        <p:sp>
          <p:nvSpPr>
            <p:cNvPr id="581" name="Oval 580">
              <a:extLst>
                <a:ext uri="{FF2B5EF4-FFF2-40B4-BE49-F238E27FC236}">
                  <a16:creationId xmlns:a16="http://schemas.microsoft.com/office/drawing/2014/main" id="{6066BE08-4CA8-9073-E96F-6FCBA52C8B46}"/>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82" name="Graphic 581">
              <a:extLst>
                <a:ext uri="{FF2B5EF4-FFF2-40B4-BE49-F238E27FC236}">
                  <a16:creationId xmlns:a16="http://schemas.microsoft.com/office/drawing/2014/main" id="{F8CF3582-472B-7970-AF13-DD830185FD0C}"/>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83" name="CheckmarkBlue 1522">
            <a:extLst>
              <a:ext uri="{FF2B5EF4-FFF2-40B4-BE49-F238E27FC236}">
                <a16:creationId xmlns:a16="http://schemas.microsoft.com/office/drawing/2014/main" id="{D19E8C22-D061-E599-70D2-E668938A65B9}"/>
              </a:ext>
            </a:extLst>
          </p:cNvPr>
          <p:cNvGrpSpPr>
            <a:grpSpLocks/>
          </p:cNvGrpSpPr>
          <p:nvPr>
            <p:custDataLst>
              <p:tags r:id="rId8"/>
            </p:custDataLst>
          </p:nvPr>
        </p:nvGrpSpPr>
        <p:grpSpPr>
          <a:xfrm>
            <a:off x="4767336" y="1904572"/>
            <a:ext cx="118872" cy="118872"/>
            <a:chOff x="1016000" y="1016000"/>
            <a:chExt cx="396228" cy="396228"/>
          </a:xfrm>
          <a:solidFill>
            <a:schemeClr val="accent2"/>
          </a:solidFill>
        </p:grpSpPr>
        <p:sp>
          <p:nvSpPr>
            <p:cNvPr id="584" name="Oval 583">
              <a:extLst>
                <a:ext uri="{FF2B5EF4-FFF2-40B4-BE49-F238E27FC236}">
                  <a16:creationId xmlns:a16="http://schemas.microsoft.com/office/drawing/2014/main" id="{EF396367-124D-CECE-FF27-A9C3641ABEA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85" name="Graphic 584">
              <a:extLst>
                <a:ext uri="{FF2B5EF4-FFF2-40B4-BE49-F238E27FC236}">
                  <a16:creationId xmlns:a16="http://schemas.microsoft.com/office/drawing/2014/main" id="{1DD5C4C4-AF82-E813-9360-8D7B04253FE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86" name="CheckmarkBlue 1522">
            <a:extLst>
              <a:ext uri="{FF2B5EF4-FFF2-40B4-BE49-F238E27FC236}">
                <a16:creationId xmlns:a16="http://schemas.microsoft.com/office/drawing/2014/main" id="{EC114E71-2127-9349-7E79-C3872698BA0D}"/>
              </a:ext>
            </a:extLst>
          </p:cNvPr>
          <p:cNvGrpSpPr>
            <a:grpSpLocks/>
          </p:cNvGrpSpPr>
          <p:nvPr>
            <p:custDataLst>
              <p:tags r:id="rId9"/>
            </p:custDataLst>
          </p:nvPr>
        </p:nvGrpSpPr>
        <p:grpSpPr>
          <a:xfrm>
            <a:off x="4767336" y="3062368"/>
            <a:ext cx="118872" cy="118872"/>
            <a:chOff x="1016000" y="1016000"/>
            <a:chExt cx="396228" cy="396228"/>
          </a:xfrm>
          <a:solidFill>
            <a:schemeClr val="accent2"/>
          </a:solidFill>
        </p:grpSpPr>
        <p:sp>
          <p:nvSpPr>
            <p:cNvPr id="587" name="Oval 586">
              <a:extLst>
                <a:ext uri="{FF2B5EF4-FFF2-40B4-BE49-F238E27FC236}">
                  <a16:creationId xmlns:a16="http://schemas.microsoft.com/office/drawing/2014/main" id="{41619763-89CE-3BF3-130B-4167B0C598EE}"/>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88" name="Graphic 587">
              <a:extLst>
                <a:ext uri="{FF2B5EF4-FFF2-40B4-BE49-F238E27FC236}">
                  <a16:creationId xmlns:a16="http://schemas.microsoft.com/office/drawing/2014/main" id="{746A3E34-0EE4-D8A0-C4A4-ECC132267EB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89" name="CheckmarkBlue 1522">
            <a:extLst>
              <a:ext uri="{FF2B5EF4-FFF2-40B4-BE49-F238E27FC236}">
                <a16:creationId xmlns:a16="http://schemas.microsoft.com/office/drawing/2014/main" id="{8BB5D165-CF18-C475-D1F2-DD2E9434CC90}"/>
              </a:ext>
            </a:extLst>
          </p:cNvPr>
          <p:cNvGrpSpPr>
            <a:grpSpLocks/>
          </p:cNvGrpSpPr>
          <p:nvPr>
            <p:custDataLst>
              <p:tags r:id="rId10"/>
            </p:custDataLst>
          </p:nvPr>
        </p:nvGrpSpPr>
        <p:grpSpPr>
          <a:xfrm>
            <a:off x="4767336" y="3448290"/>
            <a:ext cx="118872" cy="118872"/>
            <a:chOff x="1016000" y="1016000"/>
            <a:chExt cx="396228" cy="396228"/>
          </a:xfrm>
          <a:solidFill>
            <a:schemeClr val="accent2"/>
          </a:solidFill>
        </p:grpSpPr>
        <p:sp>
          <p:nvSpPr>
            <p:cNvPr id="590" name="Oval 589">
              <a:extLst>
                <a:ext uri="{FF2B5EF4-FFF2-40B4-BE49-F238E27FC236}">
                  <a16:creationId xmlns:a16="http://schemas.microsoft.com/office/drawing/2014/main" id="{1453A385-FD1B-242A-4AF7-1C24841AEC93}"/>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91" name="Graphic 590">
              <a:extLst>
                <a:ext uri="{FF2B5EF4-FFF2-40B4-BE49-F238E27FC236}">
                  <a16:creationId xmlns:a16="http://schemas.microsoft.com/office/drawing/2014/main" id="{B9161F66-8956-9C09-F243-560455E6C02A}"/>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92" name="CheckmarkBlue 1522">
            <a:extLst>
              <a:ext uri="{FF2B5EF4-FFF2-40B4-BE49-F238E27FC236}">
                <a16:creationId xmlns:a16="http://schemas.microsoft.com/office/drawing/2014/main" id="{1BBAEFD5-984B-7C7B-6C27-C6EAF72E5049}"/>
              </a:ext>
            </a:extLst>
          </p:cNvPr>
          <p:cNvGrpSpPr>
            <a:grpSpLocks/>
          </p:cNvGrpSpPr>
          <p:nvPr>
            <p:custDataLst>
              <p:tags r:id="rId11"/>
            </p:custDataLst>
          </p:nvPr>
        </p:nvGrpSpPr>
        <p:grpSpPr>
          <a:xfrm>
            <a:off x="4767336" y="3641266"/>
            <a:ext cx="118872" cy="118872"/>
            <a:chOff x="1016000" y="1016000"/>
            <a:chExt cx="396228" cy="396228"/>
          </a:xfrm>
          <a:solidFill>
            <a:schemeClr val="accent2"/>
          </a:solidFill>
        </p:grpSpPr>
        <p:sp>
          <p:nvSpPr>
            <p:cNvPr id="593" name="Oval 592">
              <a:extLst>
                <a:ext uri="{FF2B5EF4-FFF2-40B4-BE49-F238E27FC236}">
                  <a16:creationId xmlns:a16="http://schemas.microsoft.com/office/drawing/2014/main" id="{893DC59C-B93A-74B5-8972-60463CA2ADDA}"/>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94" name="Graphic 593">
              <a:extLst>
                <a:ext uri="{FF2B5EF4-FFF2-40B4-BE49-F238E27FC236}">
                  <a16:creationId xmlns:a16="http://schemas.microsoft.com/office/drawing/2014/main" id="{0C441434-1113-9752-5A88-A452F50ECBB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95" name="CheckmarkBlue 1522">
            <a:extLst>
              <a:ext uri="{FF2B5EF4-FFF2-40B4-BE49-F238E27FC236}">
                <a16:creationId xmlns:a16="http://schemas.microsoft.com/office/drawing/2014/main" id="{B3BD2BB1-081A-6316-69F5-50368974AB4B}"/>
              </a:ext>
            </a:extLst>
          </p:cNvPr>
          <p:cNvGrpSpPr>
            <a:grpSpLocks/>
          </p:cNvGrpSpPr>
          <p:nvPr>
            <p:custDataLst>
              <p:tags r:id="rId12"/>
            </p:custDataLst>
          </p:nvPr>
        </p:nvGrpSpPr>
        <p:grpSpPr>
          <a:xfrm>
            <a:off x="4767336" y="3834232"/>
            <a:ext cx="118872" cy="118872"/>
            <a:chOff x="1016000" y="1016000"/>
            <a:chExt cx="396228" cy="396228"/>
          </a:xfrm>
          <a:solidFill>
            <a:schemeClr val="accent2"/>
          </a:solidFill>
        </p:grpSpPr>
        <p:sp>
          <p:nvSpPr>
            <p:cNvPr id="596" name="Oval 595">
              <a:extLst>
                <a:ext uri="{FF2B5EF4-FFF2-40B4-BE49-F238E27FC236}">
                  <a16:creationId xmlns:a16="http://schemas.microsoft.com/office/drawing/2014/main" id="{74AA5C77-4DDF-2CA1-C2AC-2DEC4254FC28}"/>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597" name="Graphic 596">
              <a:extLst>
                <a:ext uri="{FF2B5EF4-FFF2-40B4-BE49-F238E27FC236}">
                  <a16:creationId xmlns:a16="http://schemas.microsoft.com/office/drawing/2014/main" id="{F6B88EBD-00D4-0AE7-BAF3-D3472114317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598" name="CheckmarkBlue 1522">
            <a:extLst>
              <a:ext uri="{FF2B5EF4-FFF2-40B4-BE49-F238E27FC236}">
                <a16:creationId xmlns:a16="http://schemas.microsoft.com/office/drawing/2014/main" id="{8DABFA43-A904-B208-3BBF-1525EABF1B65}"/>
              </a:ext>
            </a:extLst>
          </p:cNvPr>
          <p:cNvGrpSpPr>
            <a:grpSpLocks/>
          </p:cNvGrpSpPr>
          <p:nvPr>
            <p:custDataLst>
              <p:tags r:id="rId13"/>
            </p:custDataLst>
          </p:nvPr>
        </p:nvGrpSpPr>
        <p:grpSpPr>
          <a:xfrm>
            <a:off x="4767336" y="4027198"/>
            <a:ext cx="118872" cy="118872"/>
            <a:chOff x="1016000" y="1016000"/>
            <a:chExt cx="396228" cy="396228"/>
          </a:xfrm>
          <a:solidFill>
            <a:schemeClr val="accent2"/>
          </a:solidFill>
        </p:grpSpPr>
        <p:sp>
          <p:nvSpPr>
            <p:cNvPr id="599" name="Oval 598">
              <a:extLst>
                <a:ext uri="{FF2B5EF4-FFF2-40B4-BE49-F238E27FC236}">
                  <a16:creationId xmlns:a16="http://schemas.microsoft.com/office/drawing/2014/main" id="{44F42759-7345-1C9F-5E0F-8E0CE6923F8A}"/>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00" name="Graphic 599">
              <a:extLst>
                <a:ext uri="{FF2B5EF4-FFF2-40B4-BE49-F238E27FC236}">
                  <a16:creationId xmlns:a16="http://schemas.microsoft.com/office/drawing/2014/main" id="{90284311-143E-06C7-3067-9798024C9A94}"/>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01" name="CheckmarkBlue 1522">
            <a:extLst>
              <a:ext uri="{FF2B5EF4-FFF2-40B4-BE49-F238E27FC236}">
                <a16:creationId xmlns:a16="http://schemas.microsoft.com/office/drawing/2014/main" id="{19202505-7786-1BDD-43E1-20F720E8EE46}"/>
              </a:ext>
            </a:extLst>
          </p:cNvPr>
          <p:cNvGrpSpPr>
            <a:grpSpLocks/>
          </p:cNvGrpSpPr>
          <p:nvPr>
            <p:custDataLst>
              <p:tags r:id="rId14"/>
            </p:custDataLst>
          </p:nvPr>
        </p:nvGrpSpPr>
        <p:grpSpPr>
          <a:xfrm>
            <a:off x="4767336" y="4220164"/>
            <a:ext cx="118872" cy="118872"/>
            <a:chOff x="1016000" y="1016000"/>
            <a:chExt cx="396228" cy="396228"/>
          </a:xfrm>
          <a:solidFill>
            <a:schemeClr val="accent2"/>
          </a:solidFill>
        </p:grpSpPr>
        <p:sp>
          <p:nvSpPr>
            <p:cNvPr id="602" name="Oval 601">
              <a:extLst>
                <a:ext uri="{FF2B5EF4-FFF2-40B4-BE49-F238E27FC236}">
                  <a16:creationId xmlns:a16="http://schemas.microsoft.com/office/drawing/2014/main" id="{FCBAC73B-43FA-FDB7-E417-411F85051B03}"/>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03" name="Graphic 602">
              <a:extLst>
                <a:ext uri="{FF2B5EF4-FFF2-40B4-BE49-F238E27FC236}">
                  <a16:creationId xmlns:a16="http://schemas.microsoft.com/office/drawing/2014/main" id="{7EB391E2-46BD-6C62-D856-2BE1B8CAE3DC}"/>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04" name="CheckmarkBlue 1522">
            <a:extLst>
              <a:ext uri="{FF2B5EF4-FFF2-40B4-BE49-F238E27FC236}">
                <a16:creationId xmlns:a16="http://schemas.microsoft.com/office/drawing/2014/main" id="{635A78C8-2458-C62E-1552-CEFC5B00BBDC}"/>
              </a:ext>
            </a:extLst>
          </p:cNvPr>
          <p:cNvGrpSpPr>
            <a:grpSpLocks/>
          </p:cNvGrpSpPr>
          <p:nvPr>
            <p:custDataLst>
              <p:tags r:id="rId15"/>
            </p:custDataLst>
          </p:nvPr>
        </p:nvGrpSpPr>
        <p:grpSpPr>
          <a:xfrm>
            <a:off x="4767336" y="4992028"/>
            <a:ext cx="118872" cy="118872"/>
            <a:chOff x="1016000" y="1016000"/>
            <a:chExt cx="396228" cy="396228"/>
          </a:xfrm>
          <a:solidFill>
            <a:schemeClr val="accent2"/>
          </a:solidFill>
        </p:grpSpPr>
        <p:sp>
          <p:nvSpPr>
            <p:cNvPr id="605" name="Oval 604">
              <a:extLst>
                <a:ext uri="{FF2B5EF4-FFF2-40B4-BE49-F238E27FC236}">
                  <a16:creationId xmlns:a16="http://schemas.microsoft.com/office/drawing/2014/main" id="{C75DD47C-62EA-010F-918E-4BE39E2EACBF}"/>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06" name="Graphic 605">
              <a:extLst>
                <a:ext uri="{FF2B5EF4-FFF2-40B4-BE49-F238E27FC236}">
                  <a16:creationId xmlns:a16="http://schemas.microsoft.com/office/drawing/2014/main" id="{7BB8CD1C-3472-579D-C916-B6BF48F991B9}"/>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07" name="CheckmarkBlue 1522">
            <a:extLst>
              <a:ext uri="{FF2B5EF4-FFF2-40B4-BE49-F238E27FC236}">
                <a16:creationId xmlns:a16="http://schemas.microsoft.com/office/drawing/2014/main" id="{08E14446-8B79-687D-B9E9-B590913160DF}"/>
              </a:ext>
            </a:extLst>
          </p:cNvPr>
          <p:cNvGrpSpPr>
            <a:grpSpLocks/>
          </p:cNvGrpSpPr>
          <p:nvPr>
            <p:custDataLst>
              <p:tags r:id="rId16"/>
            </p:custDataLst>
          </p:nvPr>
        </p:nvGrpSpPr>
        <p:grpSpPr>
          <a:xfrm>
            <a:off x="4767336" y="5184994"/>
            <a:ext cx="118872" cy="118872"/>
            <a:chOff x="1016000" y="1016000"/>
            <a:chExt cx="396228" cy="396228"/>
          </a:xfrm>
          <a:solidFill>
            <a:schemeClr val="accent2"/>
          </a:solidFill>
        </p:grpSpPr>
        <p:sp>
          <p:nvSpPr>
            <p:cNvPr id="608" name="Oval 607">
              <a:extLst>
                <a:ext uri="{FF2B5EF4-FFF2-40B4-BE49-F238E27FC236}">
                  <a16:creationId xmlns:a16="http://schemas.microsoft.com/office/drawing/2014/main" id="{3B9CE25B-DD84-8F90-22AD-CC5CA80E4CDB}"/>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09" name="Graphic 608">
              <a:extLst>
                <a:ext uri="{FF2B5EF4-FFF2-40B4-BE49-F238E27FC236}">
                  <a16:creationId xmlns:a16="http://schemas.microsoft.com/office/drawing/2014/main" id="{FD89DD77-8C07-A2FD-9D60-D230A87631B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10" name="CheckmarkBlue 1522">
            <a:extLst>
              <a:ext uri="{FF2B5EF4-FFF2-40B4-BE49-F238E27FC236}">
                <a16:creationId xmlns:a16="http://schemas.microsoft.com/office/drawing/2014/main" id="{5042C24D-F793-EF78-7E5E-6366A1F8C47F}"/>
              </a:ext>
            </a:extLst>
          </p:cNvPr>
          <p:cNvGrpSpPr>
            <a:grpSpLocks/>
          </p:cNvGrpSpPr>
          <p:nvPr>
            <p:custDataLst>
              <p:tags r:id="rId17"/>
            </p:custDataLst>
          </p:nvPr>
        </p:nvGrpSpPr>
        <p:grpSpPr>
          <a:xfrm>
            <a:off x="4767336" y="5377960"/>
            <a:ext cx="118872" cy="118872"/>
            <a:chOff x="1016000" y="1016000"/>
            <a:chExt cx="396228" cy="396228"/>
          </a:xfrm>
          <a:solidFill>
            <a:schemeClr val="accent2"/>
          </a:solidFill>
        </p:grpSpPr>
        <p:sp>
          <p:nvSpPr>
            <p:cNvPr id="611" name="Oval 610">
              <a:extLst>
                <a:ext uri="{FF2B5EF4-FFF2-40B4-BE49-F238E27FC236}">
                  <a16:creationId xmlns:a16="http://schemas.microsoft.com/office/drawing/2014/main" id="{E6EE781D-71BF-953B-7960-63FBD6775737}"/>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12" name="Graphic 611">
              <a:extLst>
                <a:ext uri="{FF2B5EF4-FFF2-40B4-BE49-F238E27FC236}">
                  <a16:creationId xmlns:a16="http://schemas.microsoft.com/office/drawing/2014/main" id="{0116ADA9-3120-BD3D-383E-190AAF25A32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13" name="CheckmarkBlue 1522">
            <a:extLst>
              <a:ext uri="{FF2B5EF4-FFF2-40B4-BE49-F238E27FC236}">
                <a16:creationId xmlns:a16="http://schemas.microsoft.com/office/drawing/2014/main" id="{418B3F44-7486-82C3-FADE-1AA907CDCAC5}"/>
              </a:ext>
            </a:extLst>
          </p:cNvPr>
          <p:cNvGrpSpPr>
            <a:grpSpLocks/>
          </p:cNvGrpSpPr>
          <p:nvPr>
            <p:custDataLst>
              <p:tags r:id="rId18"/>
            </p:custDataLst>
          </p:nvPr>
        </p:nvGrpSpPr>
        <p:grpSpPr>
          <a:xfrm>
            <a:off x="4767336" y="5956850"/>
            <a:ext cx="118872" cy="118872"/>
            <a:chOff x="1016000" y="1016000"/>
            <a:chExt cx="396228" cy="396228"/>
          </a:xfrm>
          <a:solidFill>
            <a:schemeClr val="accent2"/>
          </a:solidFill>
        </p:grpSpPr>
        <p:sp>
          <p:nvSpPr>
            <p:cNvPr id="614" name="Oval 613">
              <a:extLst>
                <a:ext uri="{FF2B5EF4-FFF2-40B4-BE49-F238E27FC236}">
                  <a16:creationId xmlns:a16="http://schemas.microsoft.com/office/drawing/2014/main" id="{BFBEF203-D5BB-0B23-CEFD-DBEC7A470659}"/>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15" name="Graphic 614">
              <a:extLst>
                <a:ext uri="{FF2B5EF4-FFF2-40B4-BE49-F238E27FC236}">
                  <a16:creationId xmlns:a16="http://schemas.microsoft.com/office/drawing/2014/main" id="{5E9CA3EC-7886-03DB-6FEF-9DCAAE36630F}"/>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16" name="CheckmarkBlue 1522">
            <a:extLst>
              <a:ext uri="{FF2B5EF4-FFF2-40B4-BE49-F238E27FC236}">
                <a16:creationId xmlns:a16="http://schemas.microsoft.com/office/drawing/2014/main" id="{79BD8D2D-2250-8CEF-C1AD-A75EE28A8ED7}"/>
              </a:ext>
            </a:extLst>
          </p:cNvPr>
          <p:cNvGrpSpPr>
            <a:grpSpLocks/>
          </p:cNvGrpSpPr>
          <p:nvPr>
            <p:custDataLst>
              <p:tags r:id="rId19"/>
            </p:custDataLst>
          </p:nvPr>
        </p:nvGrpSpPr>
        <p:grpSpPr>
          <a:xfrm>
            <a:off x="5504143" y="1904572"/>
            <a:ext cx="118872" cy="118872"/>
            <a:chOff x="1016000" y="1016000"/>
            <a:chExt cx="396228" cy="396228"/>
          </a:xfrm>
          <a:solidFill>
            <a:schemeClr val="accent2"/>
          </a:solidFill>
        </p:grpSpPr>
        <p:sp>
          <p:nvSpPr>
            <p:cNvPr id="617" name="Oval 616">
              <a:extLst>
                <a:ext uri="{FF2B5EF4-FFF2-40B4-BE49-F238E27FC236}">
                  <a16:creationId xmlns:a16="http://schemas.microsoft.com/office/drawing/2014/main" id="{AE7F893D-5DB0-2D15-DAAD-09DD246C6665}"/>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18" name="Graphic 617">
              <a:extLst>
                <a:ext uri="{FF2B5EF4-FFF2-40B4-BE49-F238E27FC236}">
                  <a16:creationId xmlns:a16="http://schemas.microsoft.com/office/drawing/2014/main" id="{B83A2CE9-0E0B-AB11-DBBC-3477CDD08AA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19" name="CheckmarkBlue 1522">
            <a:extLst>
              <a:ext uri="{FF2B5EF4-FFF2-40B4-BE49-F238E27FC236}">
                <a16:creationId xmlns:a16="http://schemas.microsoft.com/office/drawing/2014/main" id="{5533098E-3B59-3433-FE58-1AC79EEB821A}"/>
              </a:ext>
            </a:extLst>
          </p:cNvPr>
          <p:cNvGrpSpPr>
            <a:grpSpLocks/>
          </p:cNvGrpSpPr>
          <p:nvPr>
            <p:custDataLst>
              <p:tags r:id="rId20"/>
            </p:custDataLst>
          </p:nvPr>
        </p:nvGrpSpPr>
        <p:grpSpPr>
          <a:xfrm>
            <a:off x="5504143" y="2097536"/>
            <a:ext cx="118872" cy="118872"/>
            <a:chOff x="1016000" y="1016000"/>
            <a:chExt cx="396228" cy="396228"/>
          </a:xfrm>
          <a:solidFill>
            <a:schemeClr val="accent2"/>
          </a:solidFill>
        </p:grpSpPr>
        <p:sp>
          <p:nvSpPr>
            <p:cNvPr id="620" name="Oval 619">
              <a:extLst>
                <a:ext uri="{FF2B5EF4-FFF2-40B4-BE49-F238E27FC236}">
                  <a16:creationId xmlns:a16="http://schemas.microsoft.com/office/drawing/2014/main" id="{74990AEE-24B1-F48A-3659-16D019547B9E}"/>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21" name="Graphic 620">
              <a:extLst>
                <a:ext uri="{FF2B5EF4-FFF2-40B4-BE49-F238E27FC236}">
                  <a16:creationId xmlns:a16="http://schemas.microsoft.com/office/drawing/2014/main" id="{686BE79C-42C8-D9EE-4117-3FFBE6A4DFC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22" name="CheckmarkBlue 1522">
            <a:extLst>
              <a:ext uri="{FF2B5EF4-FFF2-40B4-BE49-F238E27FC236}">
                <a16:creationId xmlns:a16="http://schemas.microsoft.com/office/drawing/2014/main" id="{1E1B39A8-540E-0423-E1E1-57D0929595B2}"/>
              </a:ext>
            </a:extLst>
          </p:cNvPr>
          <p:cNvGrpSpPr>
            <a:grpSpLocks/>
          </p:cNvGrpSpPr>
          <p:nvPr>
            <p:custDataLst>
              <p:tags r:id="rId21"/>
            </p:custDataLst>
          </p:nvPr>
        </p:nvGrpSpPr>
        <p:grpSpPr>
          <a:xfrm>
            <a:off x="5504143" y="2290504"/>
            <a:ext cx="118872" cy="118872"/>
            <a:chOff x="1016000" y="1016000"/>
            <a:chExt cx="396228" cy="396228"/>
          </a:xfrm>
          <a:solidFill>
            <a:schemeClr val="accent2"/>
          </a:solidFill>
        </p:grpSpPr>
        <p:sp>
          <p:nvSpPr>
            <p:cNvPr id="623" name="Oval 622">
              <a:extLst>
                <a:ext uri="{FF2B5EF4-FFF2-40B4-BE49-F238E27FC236}">
                  <a16:creationId xmlns:a16="http://schemas.microsoft.com/office/drawing/2014/main" id="{FECA6131-B855-6F2A-46C4-7B0A11E553A6}"/>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24" name="Graphic 623">
              <a:extLst>
                <a:ext uri="{FF2B5EF4-FFF2-40B4-BE49-F238E27FC236}">
                  <a16:creationId xmlns:a16="http://schemas.microsoft.com/office/drawing/2014/main" id="{158E9217-BEA8-A9F5-17FB-3DEFEC32DC5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25" name="CheckmarkBlue 1522">
            <a:extLst>
              <a:ext uri="{FF2B5EF4-FFF2-40B4-BE49-F238E27FC236}">
                <a16:creationId xmlns:a16="http://schemas.microsoft.com/office/drawing/2014/main" id="{0A610A26-0D54-A480-15EA-EA88FBDE4495}"/>
              </a:ext>
            </a:extLst>
          </p:cNvPr>
          <p:cNvGrpSpPr>
            <a:grpSpLocks/>
          </p:cNvGrpSpPr>
          <p:nvPr>
            <p:custDataLst>
              <p:tags r:id="rId22"/>
            </p:custDataLst>
          </p:nvPr>
        </p:nvGrpSpPr>
        <p:grpSpPr>
          <a:xfrm>
            <a:off x="5504143" y="2483470"/>
            <a:ext cx="118872" cy="118872"/>
            <a:chOff x="1016000" y="1016000"/>
            <a:chExt cx="396228" cy="396228"/>
          </a:xfrm>
          <a:solidFill>
            <a:schemeClr val="accent2"/>
          </a:solidFill>
        </p:grpSpPr>
        <p:sp>
          <p:nvSpPr>
            <p:cNvPr id="626" name="Oval 625">
              <a:extLst>
                <a:ext uri="{FF2B5EF4-FFF2-40B4-BE49-F238E27FC236}">
                  <a16:creationId xmlns:a16="http://schemas.microsoft.com/office/drawing/2014/main" id="{B18C6875-6311-1C80-0768-4077DFC1F928}"/>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27" name="Graphic 626">
              <a:extLst>
                <a:ext uri="{FF2B5EF4-FFF2-40B4-BE49-F238E27FC236}">
                  <a16:creationId xmlns:a16="http://schemas.microsoft.com/office/drawing/2014/main" id="{07862F02-6809-F36F-5FD7-EE74EA8C002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28" name="CheckmarkBlue 1522">
            <a:extLst>
              <a:ext uri="{FF2B5EF4-FFF2-40B4-BE49-F238E27FC236}">
                <a16:creationId xmlns:a16="http://schemas.microsoft.com/office/drawing/2014/main" id="{8F3B6C07-55D4-650F-F388-CA6F3643AE70}"/>
              </a:ext>
            </a:extLst>
          </p:cNvPr>
          <p:cNvGrpSpPr>
            <a:grpSpLocks/>
          </p:cNvGrpSpPr>
          <p:nvPr>
            <p:custDataLst>
              <p:tags r:id="rId23"/>
            </p:custDataLst>
          </p:nvPr>
        </p:nvGrpSpPr>
        <p:grpSpPr>
          <a:xfrm>
            <a:off x="5504143" y="2676436"/>
            <a:ext cx="118872" cy="118872"/>
            <a:chOff x="1016000" y="1016000"/>
            <a:chExt cx="396228" cy="396228"/>
          </a:xfrm>
          <a:solidFill>
            <a:schemeClr val="accent2"/>
          </a:solidFill>
        </p:grpSpPr>
        <p:sp>
          <p:nvSpPr>
            <p:cNvPr id="629" name="Oval 628">
              <a:extLst>
                <a:ext uri="{FF2B5EF4-FFF2-40B4-BE49-F238E27FC236}">
                  <a16:creationId xmlns:a16="http://schemas.microsoft.com/office/drawing/2014/main" id="{6636D0E9-B6B4-54B6-FD30-282C8C834EEB}"/>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30" name="Graphic 629">
              <a:extLst>
                <a:ext uri="{FF2B5EF4-FFF2-40B4-BE49-F238E27FC236}">
                  <a16:creationId xmlns:a16="http://schemas.microsoft.com/office/drawing/2014/main" id="{806AFD0E-80A8-376F-C581-9A46836EDBE0}"/>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31" name="CheckmarkBlue 1522">
            <a:extLst>
              <a:ext uri="{FF2B5EF4-FFF2-40B4-BE49-F238E27FC236}">
                <a16:creationId xmlns:a16="http://schemas.microsoft.com/office/drawing/2014/main" id="{1799A8F0-B2EA-9CC4-F62D-4982E5C371CA}"/>
              </a:ext>
            </a:extLst>
          </p:cNvPr>
          <p:cNvGrpSpPr>
            <a:grpSpLocks/>
          </p:cNvGrpSpPr>
          <p:nvPr>
            <p:custDataLst>
              <p:tags r:id="rId24"/>
            </p:custDataLst>
          </p:nvPr>
        </p:nvGrpSpPr>
        <p:grpSpPr>
          <a:xfrm>
            <a:off x="5504143" y="3448290"/>
            <a:ext cx="118872" cy="118872"/>
            <a:chOff x="1016000" y="1016000"/>
            <a:chExt cx="396228" cy="396228"/>
          </a:xfrm>
          <a:solidFill>
            <a:schemeClr val="accent2"/>
          </a:solidFill>
        </p:grpSpPr>
        <p:sp>
          <p:nvSpPr>
            <p:cNvPr id="632" name="Oval 631">
              <a:extLst>
                <a:ext uri="{FF2B5EF4-FFF2-40B4-BE49-F238E27FC236}">
                  <a16:creationId xmlns:a16="http://schemas.microsoft.com/office/drawing/2014/main" id="{785CC9B3-9AE0-8180-17F6-F16316EBA056}"/>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33" name="Graphic 632">
              <a:extLst>
                <a:ext uri="{FF2B5EF4-FFF2-40B4-BE49-F238E27FC236}">
                  <a16:creationId xmlns:a16="http://schemas.microsoft.com/office/drawing/2014/main" id="{0C0366A6-7E53-CF8F-CA4D-17167EF9CC44}"/>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34" name="CheckmarkBlue 1522">
            <a:extLst>
              <a:ext uri="{FF2B5EF4-FFF2-40B4-BE49-F238E27FC236}">
                <a16:creationId xmlns:a16="http://schemas.microsoft.com/office/drawing/2014/main" id="{51AF2D52-2CEB-E8CF-425A-1F2E35178DB1}"/>
              </a:ext>
            </a:extLst>
          </p:cNvPr>
          <p:cNvGrpSpPr>
            <a:grpSpLocks/>
          </p:cNvGrpSpPr>
          <p:nvPr>
            <p:custDataLst>
              <p:tags r:id="rId25"/>
            </p:custDataLst>
          </p:nvPr>
        </p:nvGrpSpPr>
        <p:grpSpPr>
          <a:xfrm>
            <a:off x="5504143" y="3641266"/>
            <a:ext cx="118872" cy="118872"/>
            <a:chOff x="1016000" y="1016000"/>
            <a:chExt cx="396228" cy="396228"/>
          </a:xfrm>
          <a:solidFill>
            <a:schemeClr val="accent2"/>
          </a:solidFill>
        </p:grpSpPr>
        <p:sp>
          <p:nvSpPr>
            <p:cNvPr id="635" name="Oval 634">
              <a:extLst>
                <a:ext uri="{FF2B5EF4-FFF2-40B4-BE49-F238E27FC236}">
                  <a16:creationId xmlns:a16="http://schemas.microsoft.com/office/drawing/2014/main" id="{1D74D80F-1C99-BB72-AFF4-B4ECB58B8F13}"/>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36" name="Graphic 635">
              <a:extLst>
                <a:ext uri="{FF2B5EF4-FFF2-40B4-BE49-F238E27FC236}">
                  <a16:creationId xmlns:a16="http://schemas.microsoft.com/office/drawing/2014/main" id="{7F2D028A-0DB6-CC02-16C4-711FF67B5608}"/>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37" name="CheckmarkBlue 1522">
            <a:extLst>
              <a:ext uri="{FF2B5EF4-FFF2-40B4-BE49-F238E27FC236}">
                <a16:creationId xmlns:a16="http://schemas.microsoft.com/office/drawing/2014/main" id="{9D44B566-224F-D97D-697F-5B3B2AAA0F34}"/>
              </a:ext>
            </a:extLst>
          </p:cNvPr>
          <p:cNvGrpSpPr>
            <a:grpSpLocks/>
          </p:cNvGrpSpPr>
          <p:nvPr>
            <p:custDataLst>
              <p:tags r:id="rId26"/>
            </p:custDataLst>
          </p:nvPr>
        </p:nvGrpSpPr>
        <p:grpSpPr>
          <a:xfrm>
            <a:off x="5504143" y="4027198"/>
            <a:ext cx="118872" cy="118872"/>
            <a:chOff x="1016000" y="1016000"/>
            <a:chExt cx="396228" cy="396228"/>
          </a:xfrm>
          <a:solidFill>
            <a:schemeClr val="accent2"/>
          </a:solidFill>
        </p:grpSpPr>
        <p:sp>
          <p:nvSpPr>
            <p:cNvPr id="638" name="Oval 637">
              <a:extLst>
                <a:ext uri="{FF2B5EF4-FFF2-40B4-BE49-F238E27FC236}">
                  <a16:creationId xmlns:a16="http://schemas.microsoft.com/office/drawing/2014/main" id="{E8080FFB-B84E-0061-F92C-EFE09E31A387}"/>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39" name="Graphic 638">
              <a:extLst>
                <a:ext uri="{FF2B5EF4-FFF2-40B4-BE49-F238E27FC236}">
                  <a16:creationId xmlns:a16="http://schemas.microsoft.com/office/drawing/2014/main" id="{999E4EE8-CEC9-B7D9-C5AF-BA6D6E628DE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40" name="CheckmarkBlue 1522">
            <a:extLst>
              <a:ext uri="{FF2B5EF4-FFF2-40B4-BE49-F238E27FC236}">
                <a16:creationId xmlns:a16="http://schemas.microsoft.com/office/drawing/2014/main" id="{7837C141-EB6D-DADD-A0F0-B108DC7721EC}"/>
              </a:ext>
            </a:extLst>
          </p:cNvPr>
          <p:cNvGrpSpPr>
            <a:grpSpLocks/>
          </p:cNvGrpSpPr>
          <p:nvPr>
            <p:custDataLst>
              <p:tags r:id="rId27"/>
            </p:custDataLst>
          </p:nvPr>
        </p:nvGrpSpPr>
        <p:grpSpPr>
          <a:xfrm>
            <a:off x="5504143" y="4413130"/>
            <a:ext cx="118872" cy="118872"/>
            <a:chOff x="1016000" y="1016000"/>
            <a:chExt cx="396228" cy="396228"/>
          </a:xfrm>
          <a:solidFill>
            <a:schemeClr val="accent2"/>
          </a:solidFill>
        </p:grpSpPr>
        <p:sp>
          <p:nvSpPr>
            <p:cNvPr id="641" name="Oval 640">
              <a:extLst>
                <a:ext uri="{FF2B5EF4-FFF2-40B4-BE49-F238E27FC236}">
                  <a16:creationId xmlns:a16="http://schemas.microsoft.com/office/drawing/2014/main" id="{CFED9115-00DE-A125-1678-61A67BAFB9D4}"/>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42" name="Graphic 641">
              <a:extLst>
                <a:ext uri="{FF2B5EF4-FFF2-40B4-BE49-F238E27FC236}">
                  <a16:creationId xmlns:a16="http://schemas.microsoft.com/office/drawing/2014/main" id="{5E3EEB7C-E3C5-DFC4-8639-4F1E8CA39A04}"/>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43" name="CheckmarkBlue 1522">
            <a:extLst>
              <a:ext uri="{FF2B5EF4-FFF2-40B4-BE49-F238E27FC236}">
                <a16:creationId xmlns:a16="http://schemas.microsoft.com/office/drawing/2014/main" id="{BBB067FE-F18C-2A45-860A-79D759C7D54E}"/>
              </a:ext>
            </a:extLst>
          </p:cNvPr>
          <p:cNvGrpSpPr>
            <a:grpSpLocks/>
          </p:cNvGrpSpPr>
          <p:nvPr>
            <p:custDataLst>
              <p:tags r:id="rId28"/>
            </p:custDataLst>
          </p:nvPr>
        </p:nvGrpSpPr>
        <p:grpSpPr>
          <a:xfrm>
            <a:off x="5504143" y="4992028"/>
            <a:ext cx="118872" cy="118872"/>
            <a:chOff x="1016000" y="1016000"/>
            <a:chExt cx="396228" cy="396228"/>
          </a:xfrm>
          <a:solidFill>
            <a:schemeClr val="accent2"/>
          </a:solidFill>
        </p:grpSpPr>
        <p:sp>
          <p:nvSpPr>
            <p:cNvPr id="644" name="Oval 643">
              <a:extLst>
                <a:ext uri="{FF2B5EF4-FFF2-40B4-BE49-F238E27FC236}">
                  <a16:creationId xmlns:a16="http://schemas.microsoft.com/office/drawing/2014/main" id="{2E97C8A1-2DE6-76FC-2C2A-E5AB45D4C141}"/>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45" name="Graphic 644">
              <a:extLst>
                <a:ext uri="{FF2B5EF4-FFF2-40B4-BE49-F238E27FC236}">
                  <a16:creationId xmlns:a16="http://schemas.microsoft.com/office/drawing/2014/main" id="{D2ADCF84-2A11-15AB-093A-FDFA98C91AFE}"/>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46" name="CheckmarkBlue 1522">
            <a:extLst>
              <a:ext uri="{FF2B5EF4-FFF2-40B4-BE49-F238E27FC236}">
                <a16:creationId xmlns:a16="http://schemas.microsoft.com/office/drawing/2014/main" id="{B23B5368-F4FD-442C-C397-3A0BB8873EC5}"/>
              </a:ext>
            </a:extLst>
          </p:cNvPr>
          <p:cNvGrpSpPr>
            <a:grpSpLocks/>
          </p:cNvGrpSpPr>
          <p:nvPr>
            <p:custDataLst>
              <p:tags r:id="rId29"/>
            </p:custDataLst>
          </p:nvPr>
        </p:nvGrpSpPr>
        <p:grpSpPr>
          <a:xfrm>
            <a:off x="5504143" y="5184994"/>
            <a:ext cx="118872" cy="118872"/>
            <a:chOff x="1016000" y="1016000"/>
            <a:chExt cx="396228" cy="396228"/>
          </a:xfrm>
          <a:solidFill>
            <a:schemeClr val="accent2"/>
          </a:solidFill>
        </p:grpSpPr>
        <p:sp>
          <p:nvSpPr>
            <p:cNvPr id="647" name="Oval 646">
              <a:extLst>
                <a:ext uri="{FF2B5EF4-FFF2-40B4-BE49-F238E27FC236}">
                  <a16:creationId xmlns:a16="http://schemas.microsoft.com/office/drawing/2014/main" id="{6AB36BBF-A0D8-BEAB-D3E0-578502C1C008}"/>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48" name="Graphic 647">
              <a:extLst>
                <a:ext uri="{FF2B5EF4-FFF2-40B4-BE49-F238E27FC236}">
                  <a16:creationId xmlns:a16="http://schemas.microsoft.com/office/drawing/2014/main" id="{09716D71-6480-1BE0-E340-F606C5A72FF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49" name="CheckmarkBlue 1522">
            <a:extLst>
              <a:ext uri="{FF2B5EF4-FFF2-40B4-BE49-F238E27FC236}">
                <a16:creationId xmlns:a16="http://schemas.microsoft.com/office/drawing/2014/main" id="{BE508EF9-1E93-91DC-B425-8F2E5763F044}"/>
              </a:ext>
            </a:extLst>
          </p:cNvPr>
          <p:cNvGrpSpPr>
            <a:grpSpLocks/>
          </p:cNvGrpSpPr>
          <p:nvPr>
            <p:custDataLst>
              <p:tags r:id="rId30"/>
            </p:custDataLst>
          </p:nvPr>
        </p:nvGrpSpPr>
        <p:grpSpPr>
          <a:xfrm>
            <a:off x="5504143" y="5377960"/>
            <a:ext cx="118872" cy="118872"/>
            <a:chOff x="1016000" y="1016000"/>
            <a:chExt cx="396228" cy="396228"/>
          </a:xfrm>
          <a:solidFill>
            <a:schemeClr val="accent2"/>
          </a:solidFill>
        </p:grpSpPr>
        <p:sp>
          <p:nvSpPr>
            <p:cNvPr id="650" name="Oval 649">
              <a:extLst>
                <a:ext uri="{FF2B5EF4-FFF2-40B4-BE49-F238E27FC236}">
                  <a16:creationId xmlns:a16="http://schemas.microsoft.com/office/drawing/2014/main" id="{D6A321E5-39EC-AA8E-98C9-8F22C3100B30}"/>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51" name="Graphic 650">
              <a:extLst>
                <a:ext uri="{FF2B5EF4-FFF2-40B4-BE49-F238E27FC236}">
                  <a16:creationId xmlns:a16="http://schemas.microsoft.com/office/drawing/2014/main" id="{2BE18086-D584-F05A-A896-36D3E0DE4A84}"/>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52" name="CheckmarkBlue 1522">
            <a:extLst>
              <a:ext uri="{FF2B5EF4-FFF2-40B4-BE49-F238E27FC236}">
                <a16:creationId xmlns:a16="http://schemas.microsoft.com/office/drawing/2014/main" id="{2EDE2969-3C50-A07E-3C30-870095BD38D1}"/>
              </a:ext>
            </a:extLst>
          </p:cNvPr>
          <p:cNvGrpSpPr>
            <a:grpSpLocks/>
          </p:cNvGrpSpPr>
          <p:nvPr>
            <p:custDataLst>
              <p:tags r:id="rId31"/>
            </p:custDataLst>
          </p:nvPr>
        </p:nvGrpSpPr>
        <p:grpSpPr>
          <a:xfrm>
            <a:off x="6235178" y="1904572"/>
            <a:ext cx="118872" cy="118872"/>
            <a:chOff x="1016000" y="1016000"/>
            <a:chExt cx="396228" cy="396228"/>
          </a:xfrm>
          <a:solidFill>
            <a:schemeClr val="accent2"/>
          </a:solidFill>
        </p:grpSpPr>
        <p:sp>
          <p:nvSpPr>
            <p:cNvPr id="653" name="Oval 652">
              <a:extLst>
                <a:ext uri="{FF2B5EF4-FFF2-40B4-BE49-F238E27FC236}">
                  <a16:creationId xmlns:a16="http://schemas.microsoft.com/office/drawing/2014/main" id="{12FE5DE5-E408-F739-CD11-EBE65D998924}"/>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54" name="Graphic 653">
              <a:extLst>
                <a:ext uri="{FF2B5EF4-FFF2-40B4-BE49-F238E27FC236}">
                  <a16:creationId xmlns:a16="http://schemas.microsoft.com/office/drawing/2014/main" id="{00F2DE4C-17F5-FB55-6A0E-F3764071A28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55" name="CheckmarkBlue 1522">
            <a:extLst>
              <a:ext uri="{FF2B5EF4-FFF2-40B4-BE49-F238E27FC236}">
                <a16:creationId xmlns:a16="http://schemas.microsoft.com/office/drawing/2014/main" id="{F82AC0BB-443E-4AC0-D562-76A37AFEF9E7}"/>
              </a:ext>
            </a:extLst>
          </p:cNvPr>
          <p:cNvGrpSpPr>
            <a:grpSpLocks/>
          </p:cNvGrpSpPr>
          <p:nvPr>
            <p:custDataLst>
              <p:tags r:id="rId32"/>
            </p:custDataLst>
          </p:nvPr>
        </p:nvGrpSpPr>
        <p:grpSpPr>
          <a:xfrm>
            <a:off x="6235178" y="2097536"/>
            <a:ext cx="118872" cy="118872"/>
            <a:chOff x="1016000" y="1016000"/>
            <a:chExt cx="396228" cy="396228"/>
          </a:xfrm>
          <a:solidFill>
            <a:schemeClr val="accent2"/>
          </a:solidFill>
        </p:grpSpPr>
        <p:sp>
          <p:nvSpPr>
            <p:cNvPr id="656" name="Oval 655">
              <a:extLst>
                <a:ext uri="{FF2B5EF4-FFF2-40B4-BE49-F238E27FC236}">
                  <a16:creationId xmlns:a16="http://schemas.microsoft.com/office/drawing/2014/main" id="{632DB700-2167-BDAD-3C38-A7033763E526}"/>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57" name="Graphic 656">
              <a:extLst>
                <a:ext uri="{FF2B5EF4-FFF2-40B4-BE49-F238E27FC236}">
                  <a16:creationId xmlns:a16="http://schemas.microsoft.com/office/drawing/2014/main" id="{071EAB5B-65E8-304E-1B33-87A964F875DA}"/>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58" name="CheckmarkBlue 1522">
            <a:extLst>
              <a:ext uri="{FF2B5EF4-FFF2-40B4-BE49-F238E27FC236}">
                <a16:creationId xmlns:a16="http://schemas.microsoft.com/office/drawing/2014/main" id="{21268FE1-2D17-C8D5-39D9-FD8CD94EC0D0}"/>
              </a:ext>
            </a:extLst>
          </p:cNvPr>
          <p:cNvGrpSpPr>
            <a:grpSpLocks/>
          </p:cNvGrpSpPr>
          <p:nvPr>
            <p:custDataLst>
              <p:tags r:id="rId33"/>
            </p:custDataLst>
          </p:nvPr>
        </p:nvGrpSpPr>
        <p:grpSpPr>
          <a:xfrm>
            <a:off x="6235178" y="2290504"/>
            <a:ext cx="118872" cy="118872"/>
            <a:chOff x="1016000" y="1016000"/>
            <a:chExt cx="396228" cy="396228"/>
          </a:xfrm>
          <a:solidFill>
            <a:schemeClr val="accent2"/>
          </a:solidFill>
        </p:grpSpPr>
        <p:sp>
          <p:nvSpPr>
            <p:cNvPr id="659" name="Oval 658">
              <a:extLst>
                <a:ext uri="{FF2B5EF4-FFF2-40B4-BE49-F238E27FC236}">
                  <a16:creationId xmlns:a16="http://schemas.microsoft.com/office/drawing/2014/main" id="{9D445745-D0E1-361B-7B75-70693EFA3ED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60" name="Graphic 659">
              <a:extLst>
                <a:ext uri="{FF2B5EF4-FFF2-40B4-BE49-F238E27FC236}">
                  <a16:creationId xmlns:a16="http://schemas.microsoft.com/office/drawing/2014/main" id="{D1F9BEA5-E130-C2DD-417C-20EAA796519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61" name="CheckmarkBlue 1522">
            <a:extLst>
              <a:ext uri="{FF2B5EF4-FFF2-40B4-BE49-F238E27FC236}">
                <a16:creationId xmlns:a16="http://schemas.microsoft.com/office/drawing/2014/main" id="{731066C3-E3CE-829F-8FC3-D5DAA8113A9B}"/>
              </a:ext>
            </a:extLst>
          </p:cNvPr>
          <p:cNvGrpSpPr>
            <a:grpSpLocks/>
          </p:cNvGrpSpPr>
          <p:nvPr>
            <p:custDataLst>
              <p:tags r:id="rId34"/>
            </p:custDataLst>
          </p:nvPr>
        </p:nvGrpSpPr>
        <p:grpSpPr>
          <a:xfrm>
            <a:off x="6235178" y="2676436"/>
            <a:ext cx="118872" cy="118872"/>
            <a:chOff x="1016000" y="1016000"/>
            <a:chExt cx="396228" cy="396228"/>
          </a:xfrm>
          <a:solidFill>
            <a:schemeClr val="accent2"/>
          </a:solidFill>
        </p:grpSpPr>
        <p:sp>
          <p:nvSpPr>
            <p:cNvPr id="662" name="Oval 661">
              <a:extLst>
                <a:ext uri="{FF2B5EF4-FFF2-40B4-BE49-F238E27FC236}">
                  <a16:creationId xmlns:a16="http://schemas.microsoft.com/office/drawing/2014/main" id="{6C11947A-4D5C-DAB4-7415-16BD5D734844}"/>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63" name="Graphic 662">
              <a:extLst>
                <a:ext uri="{FF2B5EF4-FFF2-40B4-BE49-F238E27FC236}">
                  <a16:creationId xmlns:a16="http://schemas.microsoft.com/office/drawing/2014/main" id="{8943D173-F5F1-FA38-8AEF-3907056C8DF0}"/>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64" name="CheckmarkBlue 1522">
            <a:extLst>
              <a:ext uri="{FF2B5EF4-FFF2-40B4-BE49-F238E27FC236}">
                <a16:creationId xmlns:a16="http://schemas.microsoft.com/office/drawing/2014/main" id="{B7C0625F-79E3-0B28-66E4-2AEAF46846E4}"/>
              </a:ext>
            </a:extLst>
          </p:cNvPr>
          <p:cNvGrpSpPr>
            <a:grpSpLocks/>
          </p:cNvGrpSpPr>
          <p:nvPr>
            <p:custDataLst>
              <p:tags r:id="rId35"/>
            </p:custDataLst>
          </p:nvPr>
        </p:nvGrpSpPr>
        <p:grpSpPr>
          <a:xfrm>
            <a:off x="6235178" y="3448290"/>
            <a:ext cx="118872" cy="118872"/>
            <a:chOff x="1016000" y="1016000"/>
            <a:chExt cx="396228" cy="396228"/>
          </a:xfrm>
          <a:solidFill>
            <a:schemeClr val="accent2"/>
          </a:solidFill>
        </p:grpSpPr>
        <p:sp>
          <p:nvSpPr>
            <p:cNvPr id="665" name="Oval 664">
              <a:extLst>
                <a:ext uri="{FF2B5EF4-FFF2-40B4-BE49-F238E27FC236}">
                  <a16:creationId xmlns:a16="http://schemas.microsoft.com/office/drawing/2014/main" id="{05153722-D14A-0CB7-CF56-18A460A5FCB1}"/>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66" name="Graphic 665">
              <a:extLst>
                <a:ext uri="{FF2B5EF4-FFF2-40B4-BE49-F238E27FC236}">
                  <a16:creationId xmlns:a16="http://schemas.microsoft.com/office/drawing/2014/main" id="{04B78BEB-704C-1858-5517-781CA9C2B85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67" name="CheckmarkBlue 1522">
            <a:extLst>
              <a:ext uri="{FF2B5EF4-FFF2-40B4-BE49-F238E27FC236}">
                <a16:creationId xmlns:a16="http://schemas.microsoft.com/office/drawing/2014/main" id="{C520291D-A20A-2620-64B6-BF17625F98D5}"/>
              </a:ext>
            </a:extLst>
          </p:cNvPr>
          <p:cNvGrpSpPr>
            <a:grpSpLocks/>
          </p:cNvGrpSpPr>
          <p:nvPr>
            <p:custDataLst>
              <p:tags r:id="rId36"/>
            </p:custDataLst>
          </p:nvPr>
        </p:nvGrpSpPr>
        <p:grpSpPr>
          <a:xfrm>
            <a:off x="6235178" y="3641266"/>
            <a:ext cx="118872" cy="118872"/>
            <a:chOff x="1016000" y="1016000"/>
            <a:chExt cx="396228" cy="396228"/>
          </a:xfrm>
          <a:solidFill>
            <a:schemeClr val="accent2"/>
          </a:solidFill>
        </p:grpSpPr>
        <p:sp>
          <p:nvSpPr>
            <p:cNvPr id="668" name="Oval 667">
              <a:extLst>
                <a:ext uri="{FF2B5EF4-FFF2-40B4-BE49-F238E27FC236}">
                  <a16:creationId xmlns:a16="http://schemas.microsoft.com/office/drawing/2014/main" id="{4974087C-6602-645A-3768-812595AB7401}"/>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69" name="Graphic 668">
              <a:extLst>
                <a:ext uri="{FF2B5EF4-FFF2-40B4-BE49-F238E27FC236}">
                  <a16:creationId xmlns:a16="http://schemas.microsoft.com/office/drawing/2014/main" id="{FB1902EA-DB88-ADE3-6044-FA76D549AA12}"/>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70" name="CheckmarkBlue 1522">
            <a:extLst>
              <a:ext uri="{FF2B5EF4-FFF2-40B4-BE49-F238E27FC236}">
                <a16:creationId xmlns:a16="http://schemas.microsoft.com/office/drawing/2014/main" id="{1D9A42DC-7F5D-767C-81F9-0120C0E7BCC3}"/>
              </a:ext>
            </a:extLst>
          </p:cNvPr>
          <p:cNvGrpSpPr>
            <a:grpSpLocks/>
          </p:cNvGrpSpPr>
          <p:nvPr>
            <p:custDataLst>
              <p:tags r:id="rId37"/>
            </p:custDataLst>
          </p:nvPr>
        </p:nvGrpSpPr>
        <p:grpSpPr>
          <a:xfrm>
            <a:off x="6235178" y="3834232"/>
            <a:ext cx="118872" cy="118872"/>
            <a:chOff x="1016000" y="1016000"/>
            <a:chExt cx="396228" cy="396228"/>
          </a:xfrm>
          <a:solidFill>
            <a:schemeClr val="accent2"/>
          </a:solidFill>
        </p:grpSpPr>
        <p:sp>
          <p:nvSpPr>
            <p:cNvPr id="671" name="Oval 670">
              <a:extLst>
                <a:ext uri="{FF2B5EF4-FFF2-40B4-BE49-F238E27FC236}">
                  <a16:creationId xmlns:a16="http://schemas.microsoft.com/office/drawing/2014/main" id="{ACD90D9B-0B1E-93FB-936D-CE4D474151E0}"/>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72" name="Graphic 671">
              <a:extLst>
                <a:ext uri="{FF2B5EF4-FFF2-40B4-BE49-F238E27FC236}">
                  <a16:creationId xmlns:a16="http://schemas.microsoft.com/office/drawing/2014/main" id="{4E6C1245-6C78-FC0D-B10C-932F40C3179B}"/>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73" name="CheckmarkBlue 1522">
            <a:extLst>
              <a:ext uri="{FF2B5EF4-FFF2-40B4-BE49-F238E27FC236}">
                <a16:creationId xmlns:a16="http://schemas.microsoft.com/office/drawing/2014/main" id="{A79ECDBE-4E3D-9046-6C60-FEAAB6F2B531}"/>
              </a:ext>
            </a:extLst>
          </p:cNvPr>
          <p:cNvGrpSpPr>
            <a:grpSpLocks/>
          </p:cNvGrpSpPr>
          <p:nvPr>
            <p:custDataLst>
              <p:tags r:id="rId38"/>
            </p:custDataLst>
          </p:nvPr>
        </p:nvGrpSpPr>
        <p:grpSpPr>
          <a:xfrm>
            <a:off x="6235178" y="4027198"/>
            <a:ext cx="118872" cy="118872"/>
            <a:chOff x="1016000" y="1016000"/>
            <a:chExt cx="396228" cy="396228"/>
          </a:xfrm>
          <a:solidFill>
            <a:schemeClr val="accent2"/>
          </a:solidFill>
        </p:grpSpPr>
        <p:sp>
          <p:nvSpPr>
            <p:cNvPr id="674" name="Oval 673">
              <a:extLst>
                <a:ext uri="{FF2B5EF4-FFF2-40B4-BE49-F238E27FC236}">
                  <a16:creationId xmlns:a16="http://schemas.microsoft.com/office/drawing/2014/main" id="{472F525E-6F40-632F-E5D1-F6C6F5F11F5A}"/>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75" name="Graphic 674">
              <a:extLst>
                <a:ext uri="{FF2B5EF4-FFF2-40B4-BE49-F238E27FC236}">
                  <a16:creationId xmlns:a16="http://schemas.microsoft.com/office/drawing/2014/main" id="{8DF73E97-15BB-50E8-2B3C-1B999FD0F05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76" name="CheckmarkBlue 1522">
            <a:extLst>
              <a:ext uri="{FF2B5EF4-FFF2-40B4-BE49-F238E27FC236}">
                <a16:creationId xmlns:a16="http://schemas.microsoft.com/office/drawing/2014/main" id="{F35BA422-694B-8010-A536-49EF6F47FCC9}"/>
              </a:ext>
            </a:extLst>
          </p:cNvPr>
          <p:cNvGrpSpPr>
            <a:grpSpLocks/>
          </p:cNvGrpSpPr>
          <p:nvPr>
            <p:custDataLst>
              <p:tags r:id="rId39"/>
            </p:custDataLst>
          </p:nvPr>
        </p:nvGrpSpPr>
        <p:grpSpPr>
          <a:xfrm>
            <a:off x="6235178" y="4220164"/>
            <a:ext cx="118872" cy="118872"/>
            <a:chOff x="1016000" y="1016000"/>
            <a:chExt cx="396228" cy="396228"/>
          </a:xfrm>
          <a:solidFill>
            <a:schemeClr val="accent2"/>
          </a:solidFill>
        </p:grpSpPr>
        <p:sp>
          <p:nvSpPr>
            <p:cNvPr id="677" name="Oval 676">
              <a:extLst>
                <a:ext uri="{FF2B5EF4-FFF2-40B4-BE49-F238E27FC236}">
                  <a16:creationId xmlns:a16="http://schemas.microsoft.com/office/drawing/2014/main" id="{792357B9-BD9F-1832-79D3-59BAF8FDF92F}"/>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78" name="Graphic 677">
              <a:extLst>
                <a:ext uri="{FF2B5EF4-FFF2-40B4-BE49-F238E27FC236}">
                  <a16:creationId xmlns:a16="http://schemas.microsoft.com/office/drawing/2014/main" id="{CBAC0F2C-1EFE-A425-2CB1-7DE57468AB1E}"/>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79" name="CheckmarkBlue 1522">
            <a:extLst>
              <a:ext uri="{FF2B5EF4-FFF2-40B4-BE49-F238E27FC236}">
                <a16:creationId xmlns:a16="http://schemas.microsoft.com/office/drawing/2014/main" id="{E3CB9802-F6D9-DF80-3DBF-CF2207BD335F}"/>
              </a:ext>
            </a:extLst>
          </p:cNvPr>
          <p:cNvGrpSpPr>
            <a:grpSpLocks/>
          </p:cNvGrpSpPr>
          <p:nvPr>
            <p:custDataLst>
              <p:tags r:id="rId40"/>
            </p:custDataLst>
          </p:nvPr>
        </p:nvGrpSpPr>
        <p:grpSpPr>
          <a:xfrm>
            <a:off x="6235178" y="4992028"/>
            <a:ext cx="118872" cy="118872"/>
            <a:chOff x="1016000" y="1016000"/>
            <a:chExt cx="396228" cy="396228"/>
          </a:xfrm>
          <a:solidFill>
            <a:schemeClr val="accent2"/>
          </a:solidFill>
        </p:grpSpPr>
        <p:sp>
          <p:nvSpPr>
            <p:cNvPr id="680" name="Oval 679">
              <a:extLst>
                <a:ext uri="{FF2B5EF4-FFF2-40B4-BE49-F238E27FC236}">
                  <a16:creationId xmlns:a16="http://schemas.microsoft.com/office/drawing/2014/main" id="{A556A2E5-6581-5915-D250-0A21D57F72A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81" name="Graphic 680">
              <a:extLst>
                <a:ext uri="{FF2B5EF4-FFF2-40B4-BE49-F238E27FC236}">
                  <a16:creationId xmlns:a16="http://schemas.microsoft.com/office/drawing/2014/main" id="{478C1866-604E-7C25-2F50-F477BF81900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82" name="CheckmarkBlue 1522">
            <a:extLst>
              <a:ext uri="{FF2B5EF4-FFF2-40B4-BE49-F238E27FC236}">
                <a16:creationId xmlns:a16="http://schemas.microsoft.com/office/drawing/2014/main" id="{948C4D6E-944A-2BED-5624-AFC77E83BBC2}"/>
              </a:ext>
            </a:extLst>
          </p:cNvPr>
          <p:cNvGrpSpPr>
            <a:grpSpLocks/>
          </p:cNvGrpSpPr>
          <p:nvPr>
            <p:custDataLst>
              <p:tags r:id="rId41"/>
            </p:custDataLst>
          </p:nvPr>
        </p:nvGrpSpPr>
        <p:grpSpPr>
          <a:xfrm>
            <a:off x="6235178" y="5570926"/>
            <a:ext cx="118872" cy="118872"/>
            <a:chOff x="1016000" y="1016000"/>
            <a:chExt cx="396228" cy="396228"/>
          </a:xfrm>
          <a:solidFill>
            <a:schemeClr val="accent2"/>
          </a:solidFill>
        </p:grpSpPr>
        <p:sp>
          <p:nvSpPr>
            <p:cNvPr id="683" name="Oval 682">
              <a:extLst>
                <a:ext uri="{FF2B5EF4-FFF2-40B4-BE49-F238E27FC236}">
                  <a16:creationId xmlns:a16="http://schemas.microsoft.com/office/drawing/2014/main" id="{28EAC2D0-96CB-491B-17BA-31BCB32EF456}"/>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84" name="Graphic 683">
              <a:extLst>
                <a:ext uri="{FF2B5EF4-FFF2-40B4-BE49-F238E27FC236}">
                  <a16:creationId xmlns:a16="http://schemas.microsoft.com/office/drawing/2014/main" id="{6925CC69-4AD7-93B8-F54B-01B3532B8C8E}"/>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85" name="CheckmarkBlue 1522">
            <a:extLst>
              <a:ext uri="{FF2B5EF4-FFF2-40B4-BE49-F238E27FC236}">
                <a16:creationId xmlns:a16="http://schemas.microsoft.com/office/drawing/2014/main" id="{CD54ECFD-E587-73BB-5A18-A416E3ACFF70}"/>
              </a:ext>
            </a:extLst>
          </p:cNvPr>
          <p:cNvGrpSpPr>
            <a:grpSpLocks/>
          </p:cNvGrpSpPr>
          <p:nvPr>
            <p:custDataLst>
              <p:tags r:id="rId42"/>
            </p:custDataLst>
          </p:nvPr>
        </p:nvGrpSpPr>
        <p:grpSpPr>
          <a:xfrm>
            <a:off x="7005825" y="5184994"/>
            <a:ext cx="118872" cy="118872"/>
            <a:chOff x="1016000" y="1016000"/>
            <a:chExt cx="396228" cy="396228"/>
          </a:xfrm>
          <a:solidFill>
            <a:schemeClr val="accent2"/>
          </a:solidFill>
        </p:grpSpPr>
        <p:sp>
          <p:nvSpPr>
            <p:cNvPr id="686" name="Oval 685">
              <a:extLst>
                <a:ext uri="{FF2B5EF4-FFF2-40B4-BE49-F238E27FC236}">
                  <a16:creationId xmlns:a16="http://schemas.microsoft.com/office/drawing/2014/main" id="{54236478-006A-6921-04C6-202B48567DF1}"/>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87" name="Graphic 686">
              <a:extLst>
                <a:ext uri="{FF2B5EF4-FFF2-40B4-BE49-F238E27FC236}">
                  <a16:creationId xmlns:a16="http://schemas.microsoft.com/office/drawing/2014/main" id="{48B1CDED-B50F-360A-1063-5F439E91E390}"/>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88" name="CheckmarkBlue 1522">
            <a:extLst>
              <a:ext uri="{FF2B5EF4-FFF2-40B4-BE49-F238E27FC236}">
                <a16:creationId xmlns:a16="http://schemas.microsoft.com/office/drawing/2014/main" id="{7C6A02C8-0886-60D9-60A8-98C140F77B9D}"/>
              </a:ext>
            </a:extLst>
          </p:cNvPr>
          <p:cNvGrpSpPr>
            <a:grpSpLocks/>
          </p:cNvGrpSpPr>
          <p:nvPr>
            <p:custDataLst>
              <p:tags r:id="rId43"/>
            </p:custDataLst>
          </p:nvPr>
        </p:nvGrpSpPr>
        <p:grpSpPr>
          <a:xfrm>
            <a:off x="7005825" y="4992028"/>
            <a:ext cx="118872" cy="118872"/>
            <a:chOff x="1016000" y="1016000"/>
            <a:chExt cx="396228" cy="396228"/>
          </a:xfrm>
          <a:solidFill>
            <a:schemeClr val="accent2"/>
          </a:solidFill>
        </p:grpSpPr>
        <p:sp>
          <p:nvSpPr>
            <p:cNvPr id="689" name="Oval 688">
              <a:extLst>
                <a:ext uri="{FF2B5EF4-FFF2-40B4-BE49-F238E27FC236}">
                  <a16:creationId xmlns:a16="http://schemas.microsoft.com/office/drawing/2014/main" id="{FDE42069-033E-5EBD-2CF0-CC4235844B6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90" name="Graphic 689">
              <a:extLst>
                <a:ext uri="{FF2B5EF4-FFF2-40B4-BE49-F238E27FC236}">
                  <a16:creationId xmlns:a16="http://schemas.microsoft.com/office/drawing/2014/main" id="{62D45E9D-DB07-018D-28EB-C0C3B216941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91" name="CheckmarkBlue 1522">
            <a:extLst>
              <a:ext uri="{FF2B5EF4-FFF2-40B4-BE49-F238E27FC236}">
                <a16:creationId xmlns:a16="http://schemas.microsoft.com/office/drawing/2014/main" id="{E4FB322F-919C-C7AF-E727-48D858C06CBF}"/>
              </a:ext>
            </a:extLst>
          </p:cNvPr>
          <p:cNvGrpSpPr>
            <a:grpSpLocks/>
          </p:cNvGrpSpPr>
          <p:nvPr>
            <p:custDataLst>
              <p:tags r:id="rId44"/>
            </p:custDataLst>
          </p:nvPr>
        </p:nvGrpSpPr>
        <p:grpSpPr>
          <a:xfrm>
            <a:off x="7005825" y="4413130"/>
            <a:ext cx="118872" cy="118872"/>
            <a:chOff x="1016000" y="1016000"/>
            <a:chExt cx="396228" cy="396228"/>
          </a:xfrm>
          <a:solidFill>
            <a:schemeClr val="accent2"/>
          </a:solidFill>
        </p:grpSpPr>
        <p:sp>
          <p:nvSpPr>
            <p:cNvPr id="692" name="Oval 691">
              <a:extLst>
                <a:ext uri="{FF2B5EF4-FFF2-40B4-BE49-F238E27FC236}">
                  <a16:creationId xmlns:a16="http://schemas.microsoft.com/office/drawing/2014/main" id="{6A9C9A24-F97C-0570-ED09-F24D35F02BE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93" name="Graphic 692">
              <a:extLst>
                <a:ext uri="{FF2B5EF4-FFF2-40B4-BE49-F238E27FC236}">
                  <a16:creationId xmlns:a16="http://schemas.microsoft.com/office/drawing/2014/main" id="{430C376C-CEE8-24AC-D7FC-64F5A5FDAC7B}"/>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94" name="CheckmarkBlue 1522">
            <a:extLst>
              <a:ext uri="{FF2B5EF4-FFF2-40B4-BE49-F238E27FC236}">
                <a16:creationId xmlns:a16="http://schemas.microsoft.com/office/drawing/2014/main" id="{DE40CDF2-8CBA-B2E2-DAB7-764BC1C62695}"/>
              </a:ext>
            </a:extLst>
          </p:cNvPr>
          <p:cNvGrpSpPr>
            <a:grpSpLocks/>
          </p:cNvGrpSpPr>
          <p:nvPr>
            <p:custDataLst>
              <p:tags r:id="rId45"/>
            </p:custDataLst>
          </p:nvPr>
        </p:nvGrpSpPr>
        <p:grpSpPr>
          <a:xfrm>
            <a:off x="7005825" y="4220164"/>
            <a:ext cx="118872" cy="118872"/>
            <a:chOff x="1016000" y="1016000"/>
            <a:chExt cx="396228" cy="396228"/>
          </a:xfrm>
          <a:solidFill>
            <a:schemeClr val="accent2"/>
          </a:solidFill>
        </p:grpSpPr>
        <p:sp>
          <p:nvSpPr>
            <p:cNvPr id="695" name="Oval 694">
              <a:extLst>
                <a:ext uri="{FF2B5EF4-FFF2-40B4-BE49-F238E27FC236}">
                  <a16:creationId xmlns:a16="http://schemas.microsoft.com/office/drawing/2014/main" id="{2EF5CB8F-7DD9-ADAC-BEE2-D40F76E0FE7F}"/>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96" name="Graphic 695">
              <a:extLst>
                <a:ext uri="{FF2B5EF4-FFF2-40B4-BE49-F238E27FC236}">
                  <a16:creationId xmlns:a16="http://schemas.microsoft.com/office/drawing/2014/main" id="{E27B8B37-D136-964A-6A3A-00600D0DB71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697" name="CheckmarkBlue 1522">
            <a:extLst>
              <a:ext uri="{FF2B5EF4-FFF2-40B4-BE49-F238E27FC236}">
                <a16:creationId xmlns:a16="http://schemas.microsoft.com/office/drawing/2014/main" id="{A5F4BDE9-F1E0-0565-1820-821F48AC0F30}"/>
              </a:ext>
            </a:extLst>
          </p:cNvPr>
          <p:cNvGrpSpPr>
            <a:grpSpLocks/>
          </p:cNvGrpSpPr>
          <p:nvPr>
            <p:custDataLst>
              <p:tags r:id="rId46"/>
            </p:custDataLst>
          </p:nvPr>
        </p:nvGrpSpPr>
        <p:grpSpPr>
          <a:xfrm>
            <a:off x="7005825" y="4027198"/>
            <a:ext cx="118872" cy="118872"/>
            <a:chOff x="1016000" y="1016000"/>
            <a:chExt cx="396228" cy="396228"/>
          </a:xfrm>
          <a:solidFill>
            <a:schemeClr val="accent2"/>
          </a:solidFill>
        </p:grpSpPr>
        <p:sp>
          <p:nvSpPr>
            <p:cNvPr id="698" name="Oval 697">
              <a:extLst>
                <a:ext uri="{FF2B5EF4-FFF2-40B4-BE49-F238E27FC236}">
                  <a16:creationId xmlns:a16="http://schemas.microsoft.com/office/drawing/2014/main" id="{86B9D724-FA1E-045F-7D91-18894DCC50A7}"/>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699" name="Graphic 698">
              <a:extLst>
                <a:ext uri="{FF2B5EF4-FFF2-40B4-BE49-F238E27FC236}">
                  <a16:creationId xmlns:a16="http://schemas.microsoft.com/office/drawing/2014/main" id="{CF042B5C-55F7-DB1A-8C1F-F4C9A897AC22}"/>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00" name="CheckmarkBlue 1522">
            <a:extLst>
              <a:ext uri="{FF2B5EF4-FFF2-40B4-BE49-F238E27FC236}">
                <a16:creationId xmlns:a16="http://schemas.microsoft.com/office/drawing/2014/main" id="{2345C237-4AE8-CC17-182B-53F05F51C842}"/>
              </a:ext>
            </a:extLst>
          </p:cNvPr>
          <p:cNvGrpSpPr>
            <a:grpSpLocks/>
          </p:cNvGrpSpPr>
          <p:nvPr>
            <p:custDataLst>
              <p:tags r:id="rId47"/>
            </p:custDataLst>
          </p:nvPr>
        </p:nvGrpSpPr>
        <p:grpSpPr>
          <a:xfrm>
            <a:off x="7005825" y="3255325"/>
            <a:ext cx="118872" cy="118872"/>
            <a:chOff x="1016000" y="1016000"/>
            <a:chExt cx="396228" cy="396228"/>
          </a:xfrm>
          <a:solidFill>
            <a:schemeClr val="accent2"/>
          </a:solidFill>
        </p:grpSpPr>
        <p:sp>
          <p:nvSpPr>
            <p:cNvPr id="701" name="Oval 700">
              <a:extLst>
                <a:ext uri="{FF2B5EF4-FFF2-40B4-BE49-F238E27FC236}">
                  <a16:creationId xmlns:a16="http://schemas.microsoft.com/office/drawing/2014/main" id="{403838DD-014F-5C3E-BDFB-FACA601801BD}"/>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02" name="Graphic 701">
              <a:extLst>
                <a:ext uri="{FF2B5EF4-FFF2-40B4-BE49-F238E27FC236}">
                  <a16:creationId xmlns:a16="http://schemas.microsoft.com/office/drawing/2014/main" id="{D6DF36B5-C214-328B-C4EC-B286EB43F68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03" name="CheckmarkBlue 1522">
            <a:extLst>
              <a:ext uri="{FF2B5EF4-FFF2-40B4-BE49-F238E27FC236}">
                <a16:creationId xmlns:a16="http://schemas.microsoft.com/office/drawing/2014/main" id="{587E22BA-CA39-9768-8E87-D16E741198E8}"/>
              </a:ext>
            </a:extLst>
          </p:cNvPr>
          <p:cNvGrpSpPr>
            <a:grpSpLocks/>
          </p:cNvGrpSpPr>
          <p:nvPr>
            <p:custDataLst>
              <p:tags r:id="rId48"/>
            </p:custDataLst>
          </p:nvPr>
        </p:nvGrpSpPr>
        <p:grpSpPr>
          <a:xfrm>
            <a:off x="7005825" y="2676436"/>
            <a:ext cx="118872" cy="118872"/>
            <a:chOff x="1016000" y="1016000"/>
            <a:chExt cx="396228" cy="396228"/>
          </a:xfrm>
          <a:solidFill>
            <a:schemeClr val="accent2"/>
          </a:solidFill>
        </p:grpSpPr>
        <p:sp>
          <p:nvSpPr>
            <p:cNvPr id="704" name="Oval 703">
              <a:extLst>
                <a:ext uri="{FF2B5EF4-FFF2-40B4-BE49-F238E27FC236}">
                  <a16:creationId xmlns:a16="http://schemas.microsoft.com/office/drawing/2014/main" id="{BC3187E8-7185-890D-36F7-671C5B877103}"/>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05" name="Graphic 704">
              <a:extLst>
                <a:ext uri="{FF2B5EF4-FFF2-40B4-BE49-F238E27FC236}">
                  <a16:creationId xmlns:a16="http://schemas.microsoft.com/office/drawing/2014/main" id="{DCE90F44-7491-FAA3-C35F-6E4FD99BAE72}"/>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06" name="CheckmarkBlue 1522">
            <a:extLst>
              <a:ext uri="{FF2B5EF4-FFF2-40B4-BE49-F238E27FC236}">
                <a16:creationId xmlns:a16="http://schemas.microsoft.com/office/drawing/2014/main" id="{7FFB53F4-5FBB-4FF3-ADE5-356C61E9504A}"/>
              </a:ext>
            </a:extLst>
          </p:cNvPr>
          <p:cNvGrpSpPr>
            <a:grpSpLocks/>
          </p:cNvGrpSpPr>
          <p:nvPr>
            <p:custDataLst>
              <p:tags r:id="rId49"/>
            </p:custDataLst>
          </p:nvPr>
        </p:nvGrpSpPr>
        <p:grpSpPr>
          <a:xfrm>
            <a:off x="7005825" y="2290504"/>
            <a:ext cx="118872" cy="118872"/>
            <a:chOff x="1016000" y="1016000"/>
            <a:chExt cx="396228" cy="396228"/>
          </a:xfrm>
          <a:solidFill>
            <a:schemeClr val="accent2"/>
          </a:solidFill>
        </p:grpSpPr>
        <p:sp>
          <p:nvSpPr>
            <p:cNvPr id="707" name="Oval 706">
              <a:extLst>
                <a:ext uri="{FF2B5EF4-FFF2-40B4-BE49-F238E27FC236}">
                  <a16:creationId xmlns:a16="http://schemas.microsoft.com/office/drawing/2014/main" id="{6BF9307D-9C1B-A7C6-5DE9-B8B1C048776C}"/>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08" name="Graphic 707">
              <a:extLst>
                <a:ext uri="{FF2B5EF4-FFF2-40B4-BE49-F238E27FC236}">
                  <a16:creationId xmlns:a16="http://schemas.microsoft.com/office/drawing/2014/main" id="{136E246E-444D-5FED-BC1F-CF5AD9B3A63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09" name="CheckmarkBlue 1522">
            <a:extLst>
              <a:ext uri="{FF2B5EF4-FFF2-40B4-BE49-F238E27FC236}">
                <a16:creationId xmlns:a16="http://schemas.microsoft.com/office/drawing/2014/main" id="{6F16463C-1F5A-A32C-1B1C-64FE26CED325}"/>
              </a:ext>
            </a:extLst>
          </p:cNvPr>
          <p:cNvGrpSpPr>
            <a:grpSpLocks/>
          </p:cNvGrpSpPr>
          <p:nvPr>
            <p:custDataLst>
              <p:tags r:id="rId50"/>
            </p:custDataLst>
          </p:nvPr>
        </p:nvGrpSpPr>
        <p:grpSpPr>
          <a:xfrm>
            <a:off x="7005825" y="2097536"/>
            <a:ext cx="118872" cy="118872"/>
            <a:chOff x="1016000" y="1016000"/>
            <a:chExt cx="396228" cy="396228"/>
          </a:xfrm>
          <a:solidFill>
            <a:schemeClr val="accent2"/>
          </a:solidFill>
        </p:grpSpPr>
        <p:sp>
          <p:nvSpPr>
            <p:cNvPr id="710" name="Oval 709">
              <a:extLst>
                <a:ext uri="{FF2B5EF4-FFF2-40B4-BE49-F238E27FC236}">
                  <a16:creationId xmlns:a16="http://schemas.microsoft.com/office/drawing/2014/main" id="{6C654B46-E904-4233-BDBA-BB4C33FF89E5}"/>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11" name="Graphic 710">
              <a:extLst>
                <a:ext uri="{FF2B5EF4-FFF2-40B4-BE49-F238E27FC236}">
                  <a16:creationId xmlns:a16="http://schemas.microsoft.com/office/drawing/2014/main" id="{8FE9D1F7-0FC4-5CB7-14DC-B40335733209}"/>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12" name="CheckmarkBlue 1522">
            <a:extLst>
              <a:ext uri="{FF2B5EF4-FFF2-40B4-BE49-F238E27FC236}">
                <a16:creationId xmlns:a16="http://schemas.microsoft.com/office/drawing/2014/main" id="{554F89E4-D135-99FF-5653-B3CE9BE50045}"/>
              </a:ext>
            </a:extLst>
          </p:cNvPr>
          <p:cNvGrpSpPr>
            <a:grpSpLocks/>
          </p:cNvGrpSpPr>
          <p:nvPr>
            <p:custDataLst>
              <p:tags r:id="rId51"/>
            </p:custDataLst>
          </p:nvPr>
        </p:nvGrpSpPr>
        <p:grpSpPr>
          <a:xfrm>
            <a:off x="7005825" y="1904572"/>
            <a:ext cx="118872" cy="118872"/>
            <a:chOff x="1016000" y="1016000"/>
            <a:chExt cx="396228" cy="396228"/>
          </a:xfrm>
          <a:solidFill>
            <a:schemeClr val="accent2"/>
          </a:solidFill>
        </p:grpSpPr>
        <p:sp>
          <p:nvSpPr>
            <p:cNvPr id="713" name="Oval 712">
              <a:extLst>
                <a:ext uri="{FF2B5EF4-FFF2-40B4-BE49-F238E27FC236}">
                  <a16:creationId xmlns:a16="http://schemas.microsoft.com/office/drawing/2014/main" id="{086C2CC5-5104-02AC-6C1B-F9602A67AD9A}"/>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14" name="Graphic 713">
              <a:extLst>
                <a:ext uri="{FF2B5EF4-FFF2-40B4-BE49-F238E27FC236}">
                  <a16:creationId xmlns:a16="http://schemas.microsoft.com/office/drawing/2014/main" id="{4DA15ED1-12B2-F2BC-7111-AF3AB73A452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15" name="CheckmarkBlue 1522">
            <a:extLst>
              <a:ext uri="{FF2B5EF4-FFF2-40B4-BE49-F238E27FC236}">
                <a16:creationId xmlns:a16="http://schemas.microsoft.com/office/drawing/2014/main" id="{8163637C-4CEB-8C6F-E23D-A8A78203C754}"/>
              </a:ext>
            </a:extLst>
          </p:cNvPr>
          <p:cNvGrpSpPr>
            <a:grpSpLocks/>
          </p:cNvGrpSpPr>
          <p:nvPr>
            <p:custDataLst>
              <p:tags r:id="rId52"/>
            </p:custDataLst>
          </p:nvPr>
        </p:nvGrpSpPr>
        <p:grpSpPr>
          <a:xfrm>
            <a:off x="7984025" y="1904572"/>
            <a:ext cx="118872" cy="118872"/>
            <a:chOff x="1016000" y="1016000"/>
            <a:chExt cx="396228" cy="396228"/>
          </a:xfrm>
          <a:solidFill>
            <a:schemeClr val="accent2"/>
          </a:solidFill>
        </p:grpSpPr>
        <p:sp>
          <p:nvSpPr>
            <p:cNvPr id="716" name="Oval 715">
              <a:extLst>
                <a:ext uri="{FF2B5EF4-FFF2-40B4-BE49-F238E27FC236}">
                  <a16:creationId xmlns:a16="http://schemas.microsoft.com/office/drawing/2014/main" id="{BEDEC8C4-AD1E-BCE7-B7D4-D2128236E5A2}"/>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17" name="Graphic 716">
              <a:extLst>
                <a:ext uri="{FF2B5EF4-FFF2-40B4-BE49-F238E27FC236}">
                  <a16:creationId xmlns:a16="http://schemas.microsoft.com/office/drawing/2014/main" id="{5519FD6C-4961-058F-944B-909AAA023EDE}"/>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18" name="CheckmarkBlue 1522">
            <a:extLst>
              <a:ext uri="{FF2B5EF4-FFF2-40B4-BE49-F238E27FC236}">
                <a16:creationId xmlns:a16="http://schemas.microsoft.com/office/drawing/2014/main" id="{2CC58FF3-FDD4-FB34-F0FF-C032FC62D597}"/>
              </a:ext>
            </a:extLst>
          </p:cNvPr>
          <p:cNvGrpSpPr>
            <a:grpSpLocks/>
          </p:cNvGrpSpPr>
          <p:nvPr>
            <p:custDataLst>
              <p:tags r:id="rId53"/>
            </p:custDataLst>
          </p:nvPr>
        </p:nvGrpSpPr>
        <p:grpSpPr>
          <a:xfrm>
            <a:off x="7984025" y="2097536"/>
            <a:ext cx="118872" cy="118872"/>
            <a:chOff x="1016000" y="1016000"/>
            <a:chExt cx="396228" cy="396228"/>
          </a:xfrm>
          <a:solidFill>
            <a:schemeClr val="accent2"/>
          </a:solidFill>
        </p:grpSpPr>
        <p:sp>
          <p:nvSpPr>
            <p:cNvPr id="719" name="Oval 718">
              <a:extLst>
                <a:ext uri="{FF2B5EF4-FFF2-40B4-BE49-F238E27FC236}">
                  <a16:creationId xmlns:a16="http://schemas.microsoft.com/office/drawing/2014/main" id="{BE0490FD-0E73-AE61-5034-D1E8E3373685}"/>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20" name="Graphic 719">
              <a:extLst>
                <a:ext uri="{FF2B5EF4-FFF2-40B4-BE49-F238E27FC236}">
                  <a16:creationId xmlns:a16="http://schemas.microsoft.com/office/drawing/2014/main" id="{FA405DFE-943C-F739-2D89-902F003D1DA6}"/>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21" name="CheckmarkBlue 1522">
            <a:extLst>
              <a:ext uri="{FF2B5EF4-FFF2-40B4-BE49-F238E27FC236}">
                <a16:creationId xmlns:a16="http://schemas.microsoft.com/office/drawing/2014/main" id="{068C4DA8-C9E7-2F50-D391-F14793C80248}"/>
              </a:ext>
            </a:extLst>
          </p:cNvPr>
          <p:cNvGrpSpPr>
            <a:grpSpLocks/>
          </p:cNvGrpSpPr>
          <p:nvPr>
            <p:custDataLst>
              <p:tags r:id="rId54"/>
            </p:custDataLst>
          </p:nvPr>
        </p:nvGrpSpPr>
        <p:grpSpPr>
          <a:xfrm>
            <a:off x="7984025" y="2290504"/>
            <a:ext cx="118872" cy="118872"/>
            <a:chOff x="1016000" y="1016000"/>
            <a:chExt cx="396228" cy="396228"/>
          </a:xfrm>
          <a:solidFill>
            <a:schemeClr val="accent2"/>
          </a:solidFill>
        </p:grpSpPr>
        <p:sp>
          <p:nvSpPr>
            <p:cNvPr id="722" name="Oval 721">
              <a:extLst>
                <a:ext uri="{FF2B5EF4-FFF2-40B4-BE49-F238E27FC236}">
                  <a16:creationId xmlns:a16="http://schemas.microsoft.com/office/drawing/2014/main" id="{37D73E4C-45B0-A043-8C88-82B0C0776B37}"/>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23" name="Graphic 722">
              <a:extLst>
                <a:ext uri="{FF2B5EF4-FFF2-40B4-BE49-F238E27FC236}">
                  <a16:creationId xmlns:a16="http://schemas.microsoft.com/office/drawing/2014/main" id="{5AEAD99E-4826-560D-A5D0-E8CF00A23885}"/>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24" name="CheckmarkBlue 1522">
            <a:extLst>
              <a:ext uri="{FF2B5EF4-FFF2-40B4-BE49-F238E27FC236}">
                <a16:creationId xmlns:a16="http://schemas.microsoft.com/office/drawing/2014/main" id="{38569E7D-07DA-83B0-595D-DFBF6131B99F}"/>
              </a:ext>
            </a:extLst>
          </p:cNvPr>
          <p:cNvGrpSpPr>
            <a:grpSpLocks/>
          </p:cNvGrpSpPr>
          <p:nvPr>
            <p:custDataLst>
              <p:tags r:id="rId55"/>
            </p:custDataLst>
          </p:nvPr>
        </p:nvGrpSpPr>
        <p:grpSpPr>
          <a:xfrm>
            <a:off x="7984025" y="2483470"/>
            <a:ext cx="118872" cy="118872"/>
            <a:chOff x="1016000" y="1016000"/>
            <a:chExt cx="396228" cy="396228"/>
          </a:xfrm>
          <a:solidFill>
            <a:schemeClr val="accent2"/>
          </a:solidFill>
        </p:grpSpPr>
        <p:sp>
          <p:nvSpPr>
            <p:cNvPr id="725" name="Oval 724">
              <a:extLst>
                <a:ext uri="{FF2B5EF4-FFF2-40B4-BE49-F238E27FC236}">
                  <a16:creationId xmlns:a16="http://schemas.microsoft.com/office/drawing/2014/main" id="{ABB1C97C-9AE1-F402-9405-1E13312AC634}"/>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26" name="Graphic 725">
              <a:extLst>
                <a:ext uri="{FF2B5EF4-FFF2-40B4-BE49-F238E27FC236}">
                  <a16:creationId xmlns:a16="http://schemas.microsoft.com/office/drawing/2014/main" id="{D26009D5-44A1-D0A8-3D0A-C8FF5D375C8C}"/>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27" name="CheckmarkBlue 1522">
            <a:extLst>
              <a:ext uri="{FF2B5EF4-FFF2-40B4-BE49-F238E27FC236}">
                <a16:creationId xmlns:a16="http://schemas.microsoft.com/office/drawing/2014/main" id="{52CFD6C4-6D8B-6EC7-E4AB-B9E707F956BB}"/>
              </a:ext>
            </a:extLst>
          </p:cNvPr>
          <p:cNvGrpSpPr>
            <a:grpSpLocks/>
          </p:cNvGrpSpPr>
          <p:nvPr>
            <p:custDataLst>
              <p:tags r:id="rId56"/>
            </p:custDataLst>
          </p:nvPr>
        </p:nvGrpSpPr>
        <p:grpSpPr>
          <a:xfrm>
            <a:off x="7984025" y="3255325"/>
            <a:ext cx="118872" cy="118872"/>
            <a:chOff x="1016000" y="1016000"/>
            <a:chExt cx="396228" cy="396228"/>
          </a:xfrm>
          <a:solidFill>
            <a:schemeClr val="accent2"/>
          </a:solidFill>
        </p:grpSpPr>
        <p:sp>
          <p:nvSpPr>
            <p:cNvPr id="728" name="Oval 727">
              <a:extLst>
                <a:ext uri="{FF2B5EF4-FFF2-40B4-BE49-F238E27FC236}">
                  <a16:creationId xmlns:a16="http://schemas.microsoft.com/office/drawing/2014/main" id="{35B45DCB-AF7B-F2C5-C09D-DD62EC959F23}"/>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29" name="Graphic 728">
              <a:extLst>
                <a:ext uri="{FF2B5EF4-FFF2-40B4-BE49-F238E27FC236}">
                  <a16:creationId xmlns:a16="http://schemas.microsoft.com/office/drawing/2014/main" id="{19C188EB-573A-804E-677A-A417ED8A3E57}"/>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30" name="CheckmarkBlue 1522">
            <a:extLst>
              <a:ext uri="{FF2B5EF4-FFF2-40B4-BE49-F238E27FC236}">
                <a16:creationId xmlns:a16="http://schemas.microsoft.com/office/drawing/2014/main" id="{381F817B-CF30-2834-2817-42ADF35B9846}"/>
              </a:ext>
            </a:extLst>
          </p:cNvPr>
          <p:cNvGrpSpPr>
            <a:grpSpLocks/>
          </p:cNvGrpSpPr>
          <p:nvPr>
            <p:custDataLst>
              <p:tags r:id="rId57"/>
            </p:custDataLst>
          </p:nvPr>
        </p:nvGrpSpPr>
        <p:grpSpPr>
          <a:xfrm>
            <a:off x="7984025" y="3448290"/>
            <a:ext cx="118872" cy="118872"/>
            <a:chOff x="1016000" y="1016000"/>
            <a:chExt cx="396228" cy="396228"/>
          </a:xfrm>
          <a:solidFill>
            <a:schemeClr val="accent2"/>
          </a:solidFill>
        </p:grpSpPr>
        <p:sp>
          <p:nvSpPr>
            <p:cNvPr id="731" name="Oval 730">
              <a:extLst>
                <a:ext uri="{FF2B5EF4-FFF2-40B4-BE49-F238E27FC236}">
                  <a16:creationId xmlns:a16="http://schemas.microsoft.com/office/drawing/2014/main" id="{B75B77D9-0F66-032D-EDDB-185CE7857954}"/>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32" name="Graphic 731">
              <a:extLst>
                <a:ext uri="{FF2B5EF4-FFF2-40B4-BE49-F238E27FC236}">
                  <a16:creationId xmlns:a16="http://schemas.microsoft.com/office/drawing/2014/main" id="{B2A03761-EE3B-56A5-967B-3F463BA89A2C}"/>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33" name="CheckmarkBlue 1522">
            <a:extLst>
              <a:ext uri="{FF2B5EF4-FFF2-40B4-BE49-F238E27FC236}">
                <a16:creationId xmlns:a16="http://schemas.microsoft.com/office/drawing/2014/main" id="{891ED37C-65EA-AC02-D715-5EFEFA9CA661}"/>
              </a:ext>
            </a:extLst>
          </p:cNvPr>
          <p:cNvGrpSpPr>
            <a:grpSpLocks/>
          </p:cNvGrpSpPr>
          <p:nvPr>
            <p:custDataLst>
              <p:tags r:id="rId58"/>
            </p:custDataLst>
          </p:nvPr>
        </p:nvGrpSpPr>
        <p:grpSpPr>
          <a:xfrm>
            <a:off x="7984025" y="3641266"/>
            <a:ext cx="118872" cy="118872"/>
            <a:chOff x="1016000" y="1016000"/>
            <a:chExt cx="396228" cy="396228"/>
          </a:xfrm>
          <a:solidFill>
            <a:schemeClr val="accent2"/>
          </a:solidFill>
        </p:grpSpPr>
        <p:sp>
          <p:nvSpPr>
            <p:cNvPr id="734" name="Oval 733">
              <a:extLst>
                <a:ext uri="{FF2B5EF4-FFF2-40B4-BE49-F238E27FC236}">
                  <a16:creationId xmlns:a16="http://schemas.microsoft.com/office/drawing/2014/main" id="{8B4F5946-F9CC-7901-16A0-9D80D3E9851D}"/>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35" name="Graphic 734">
              <a:extLst>
                <a:ext uri="{FF2B5EF4-FFF2-40B4-BE49-F238E27FC236}">
                  <a16:creationId xmlns:a16="http://schemas.microsoft.com/office/drawing/2014/main" id="{0E57581B-913F-A75D-838D-75F476B4A94D}"/>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36" name="CheckmarkBlue 1522">
            <a:extLst>
              <a:ext uri="{FF2B5EF4-FFF2-40B4-BE49-F238E27FC236}">
                <a16:creationId xmlns:a16="http://schemas.microsoft.com/office/drawing/2014/main" id="{4B8589B1-F3D5-E837-6197-A1EB3973FF46}"/>
              </a:ext>
            </a:extLst>
          </p:cNvPr>
          <p:cNvGrpSpPr>
            <a:grpSpLocks/>
          </p:cNvGrpSpPr>
          <p:nvPr>
            <p:custDataLst>
              <p:tags r:id="rId59"/>
            </p:custDataLst>
          </p:nvPr>
        </p:nvGrpSpPr>
        <p:grpSpPr>
          <a:xfrm>
            <a:off x="7984025" y="3834232"/>
            <a:ext cx="118872" cy="118872"/>
            <a:chOff x="1016000" y="1016000"/>
            <a:chExt cx="396228" cy="396228"/>
          </a:xfrm>
          <a:solidFill>
            <a:schemeClr val="accent2"/>
          </a:solidFill>
        </p:grpSpPr>
        <p:sp>
          <p:nvSpPr>
            <p:cNvPr id="737" name="Oval 736">
              <a:extLst>
                <a:ext uri="{FF2B5EF4-FFF2-40B4-BE49-F238E27FC236}">
                  <a16:creationId xmlns:a16="http://schemas.microsoft.com/office/drawing/2014/main" id="{4F8BC981-FA3B-B18D-F454-2A088E85601B}"/>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38" name="Graphic 737">
              <a:extLst>
                <a:ext uri="{FF2B5EF4-FFF2-40B4-BE49-F238E27FC236}">
                  <a16:creationId xmlns:a16="http://schemas.microsoft.com/office/drawing/2014/main" id="{F1EB00DC-9D97-1CFE-C77E-F44FB9C268F1}"/>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39" name="CheckmarkBlue 1522">
            <a:extLst>
              <a:ext uri="{FF2B5EF4-FFF2-40B4-BE49-F238E27FC236}">
                <a16:creationId xmlns:a16="http://schemas.microsoft.com/office/drawing/2014/main" id="{00396CD1-187F-2E7C-EA20-92547B3FF325}"/>
              </a:ext>
            </a:extLst>
          </p:cNvPr>
          <p:cNvGrpSpPr>
            <a:grpSpLocks/>
          </p:cNvGrpSpPr>
          <p:nvPr>
            <p:custDataLst>
              <p:tags r:id="rId60"/>
            </p:custDataLst>
          </p:nvPr>
        </p:nvGrpSpPr>
        <p:grpSpPr>
          <a:xfrm>
            <a:off x="7984025" y="4027198"/>
            <a:ext cx="118872" cy="118872"/>
            <a:chOff x="1016000" y="1016000"/>
            <a:chExt cx="396228" cy="396228"/>
          </a:xfrm>
          <a:solidFill>
            <a:schemeClr val="accent2"/>
          </a:solidFill>
        </p:grpSpPr>
        <p:sp>
          <p:nvSpPr>
            <p:cNvPr id="740" name="Oval 739">
              <a:extLst>
                <a:ext uri="{FF2B5EF4-FFF2-40B4-BE49-F238E27FC236}">
                  <a16:creationId xmlns:a16="http://schemas.microsoft.com/office/drawing/2014/main" id="{0B42DCB7-98C9-DA9F-F07D-EA48096A2D63}"/>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41" name="Graphic 740">
              <a:extLst>
                <a:ext uri="{FF2B5EF4-FFF2-40B4-BE49-F238E27FC236}">
                  <a16:creationId xmlns:a16="http://schemas.microsoft.com/office/drawing/2014/main" id="{E60C92AB-489F-7E7E-BD12-56F46B7BBE20}"/>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42" name="CheckmarkBlue 1522">
            <a:extLst>
              <a:ext uri="{FF2B5EF4-FFF2-40B4-BE49-F238E27FC236}">
                <a16:creationId xmlns:a16="http://schemas.microsoft.com/office/drawing/2014/main" id="{FBAB1246-E36F-1BFF-EF7F-7A1BCABB9DCD}"/>
              </a:ext>
            </a:extLst>
          </p:cNvPr>
          <p:cNvGrpSpPr>
            <a:grpSpLocks/>
          </p:cNvGrpSpPr>
          <p:nvPr>
            <p:custDataLst>
              <p:tags r:id="rId61"/>
            </p:custDataLst>
          </p:nvPr>
        </p:nvGrpSpPr>
        <p:grpSpPr>
          <a:xfrm>
            <a:off x="7984025" y="4220164"/>
            <a:ext cx="118872" cy="118872"/>
            <a:chOff x="1016000" y="1016000"/>
            <a:chExt cx="396228" cy="396228"/>
          </a:xfrm>
          <a:solidFill>
            <a:schemeClr val="accent2"/>
          </a:solidFill>
        </p:grpSpPr>
        <p:sp>
          <p:nvSpPr>
            <p:cNvPr id="743" name="Oval 742">
              <a:extLst>
                <a:ext uri="{FF2B5EF4-FFF2-40B4-BE49-F238E27FC236}">
                  <a16:creationId xmlns:a16="http://schemas.microsoft.com/office/drawing/2014/main" id="{98D3156A-3123-727C-0F6C-C81E476D338E}"/>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44" name="Graphic 743">
              <a:extLst>
                <a:ext uri="{FF2B5EF4-FFF2-40B4-BE49-F238E27FC236}">
                  <a16:creationId xmlns:a16="http://schemas.microsoft.com/office/drawing/2014/main" id="{D21223F5-ADB2-5F79-7829-B4B4CFB1FF73}"/>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45" name="CheckmarkBlue 1522">
            <a:extLst>
              <a:ext uri="{FF2B5EF4-FFF2-40B4-BE49-F238E27FC236}">
                <a16:creationId xmlns:a16="http://schemas.microsoft.com/office/drawing/2014/main" id="{91319F8A-E60D-A150-9820-C7425D9CE728}"/>
              </a:ext>
            </a:extLst>
          </p:cNvPr>
          <p:cNvGrpSpPr>
            <a:grpSpLocks/>
          </p:cNvGrpSpPr>
          <p:nvPr>
            <p:custDataLst>
              <p:tags r:id="rId62"/>
            </p:custDataLst>
          </p:nvPr>
        </p:nvGrpSpPr>
        <p:grpSpPr>
          <a:xfrm>
            <a:off x="7984025" y="4413130"/>
            <a:ext cx="118872" cy="118872"/>
            <a:chOff x="1016000" y="1016000"/>
            <a:chExt cx="396228" cy="396228"/>
          </a:xfrm>
          <a:solidFill>
            <a:schemeClr val="accent2"/>
          </a:solidFill>
        </p:grpSpPr>
        <p:sp>
          <p:nvSpPr>
            <p:cNvPr id="746" name="Oval 745">
              <a:extLst>
                <a:ext uri="{FF2B5EF4-FFF2-40B4-BE49-F238E27FC236}">
                  <a16:creationId xmlns:a16="http://schemas.microsoft.com/office/drawing/2014/main" id="{B2828468-07A7-3A2E-DB63-E7595DD54CB8}"/>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47" name="Graphic 746">
              <a:extLst>
                <a:ext uri="{FF2B5EF4-FFF2-40B4-BE49-F238E27FC236}">
                  <a16:creationId xmlns:a16="http://schemas.microsoft.com/office/drawing/2014/main" id="{99AD991B-ED92-17FC-FFD2-FDB1B83A5A00}"/>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48" name="CheckmarkBlue 1522">
            <a:extLst>
              <a:ext uri="{FF2B5EF4-FFF2-40B4-BE49-F238E27FC236}">
                <a16:creationId xmlns:a16="http://schemas.microsoft.com/office/drawing/2014/main" id="{68CC83E3-AE7C-9012-9952-903F1E54B1ED}"/>
              </a:ext>
            </a:extLst>
          </p:cNvPr>
          <p:cNvGrpSpPr>
            <a:grpSpLocks/>
          </p:cNvGrpSpPr>
          <p:nvPr>
            <p:custDataLst>
              <p:tags r:id="rId63"/>
            </p:custDataLst>
          </p:nvPr>
        </p:nvGrpSpPr>
        <p:grpSpPr>
          <a:xfrm>
            <a:off x="7984025" y="4606096"/>
            <a:ext cx="118872" cy="118872"/>
            <a:chOff x="1016000" y="1016000"/>
            <a:chExt cx="396228" cy="396228"/>
          </a:xfrm>
          <a:solidFill>
            <a:schemeClr val="accent2"/>
          </a:solidFill>
        </p:grpSpPr>
        <p:sp>
          <p:nvSpPr>
            <p:cNvPr id="749" name="Oval 748">
              <a:extLst>
                <a:ext uri="{FF2B5EF4-FFF2-40B4-BE49-F238E27FC236}">
                  <a16:creationId xmlns:a16="http://schemas.microsoft.com/office/drawing/2014/main" id="{D603D4D0-0409-A780-2E7B-8B02CBB91FD7}"/>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50" name="Graphic 749">
              <a:extLst>
                <a:ext uri="{FF2B5EF4-FFF2-40B4-BE49-F238E27FC236}">
                  <a16:creationId xmlns:a16="http://schemas.microsoft.com/office/drawing/2014/main" id="{7D0E3A36-B208-F8F6-ED89-3A9B9FC52A6F}"/>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51" name="CheckmarkBlue 1522">
            <a:extLst>
              <a:ext uri="{FF2B5EF4-FFF2-40B4-BE49-F238E27FC236}">
                <a16:creationId xmlns:a16="http://schemas.microsoft.com/office/drawing/2014/main" id="{1E840AEF-9D8E-A8F2-10A5-1ACA630F9B3B}"/>
              </a:ext>
            </a:extLst>
          </p:cNvPr>
          <p:cNvGrpSpPr>
            <a:grpSpLocks/>
          </p:cNvGrpSpPr>
          <p:nvPr>
            <p:custDataLst>
              <p:tags r:id="rId64"/>
            </p:custDataLst>
          </p:nvPr>
        </p:nvGrpSpPr>
        <p:grpSpPr>
          <a:xfrm>
            <a:off x="7984025" y="4992028"/>
            <a:ext cx="118872" cy="118872"/>
            <a:chOff x="1016000" y="1016000"/>
            <a:chExt cx="396228" cy="396228"/>
          </a:xfrm>
          <a:solidFill>
            <a:schemeClr val="accent2"/>
          </a:solidFill>
        </p:grpSpPr>
        <p:sp>
          <p:nvSpPr>
            <p:cNvPr id="752" name="Oval 751">
              <a:extLst>
                <a:ext uri="{FF2B5EF4-FFF2-40B4-BE49-F238E27FC236}">
                  <a16:creationId xmlns:a16="http://schemas.microsoft.com/office/drawing/2014/main" id="{E6013F29-DDC2-B54C-25E1-2E663EDAC2FA}"/>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53" name="Graphic 752">
              <a:extLst>
                <a:ext uri="{FF2B5EF4-FFF2-40B4-BE49-F238E27FC236}">
                  <a16:creationId xmlns:a16="http://schemas.microsoft.com/office/drawing/2014/main" id="{2E8510A3-B15E-AD4C-DEE5-629F1D1B8409}"/>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54" name="CheckmarkBlue 1522">
            <a:extLst>
              <a:ext uri="{FF2B5EF4-FFF2-40B4-BE49-F238E27FC236}">
                <a16:creationId xmlns:a16="http://schemas.microsoft.com/office/drawing/2014/main" id="{5A31A280-9A32-407D-88F7-B075DC50E393}"/>
              </a:ext>
            </a:extLst>
          </p:cNvPr>
          <p:cNvGrpSpPr>
            <a:grpSpLocks/>
          </p:cNvGrpSpPr>
          <p:nvPr>
            <p:custDataLst>
              <p:tags r:id="rId65"/>
            </p:custDataLst>
          </p:nvPr>
        </p:nvGrpSpPr>
        <p:grpSpPr>
          <a:xfrm>
            <a:off x="7984025" y="5184994"/>
            <a:ext cx="118872" cy="118872"/>
            <a:chOff x="1016000" y="1016000"/>
            <a:chExt cx="396228" cy="396228"/>
          </a:xfrm>
          <a:solidFill>
            <a:schemeClr val="accent2"/>
          </a:solidFill>
        </p:grpSpPr>
        <p:sp>
          <p:nvSpPr>
            <p:cNvPr id="755" name="Oval 754">
              <a:extLst>
                <a:ext uri="{FF2B5EF4-FFF2-40B4-BE49-F238E27FC236}">
                  <a16:creationId xmlns:a16="http://schemas.microsoft.com/office/drawing/2014/main" id="{19B0331E-28B4-ABA1-1E84-315DAFC92ED5}"/>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56" name="Graphic 755">
              <a:extLst>
                <a:ext uri="{FF2B5EF4-FFF2-40B4-BE49-F238E27FC236}">
                  <a16:creationId xmlns:a16="http://schemas.microsoft.com/office/drawing/2014/main" id="{FCB53191-6886-E272-402C-93FE26243A3C}"/>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57" name="CheckmarkBlue 1522">
            <a:extLst>
              <a:ext uri="{FF2B5EF4-FFF2-40B4-BE49-F238E27FC236}">
                <a16:creationId xmlns:a16="http://schemas.microsoft.com/office/drawing/2014/main" id="{955E65FC-E3B4-DD22-DFD2-AA2820870331}"/>
              </a:ext>
            </a:extLst>
          </p:cNvPr>
          <p:cNvGrpSpPr>
            <a:grpSpLocks/>
          </p:cNvGrpSpPr>
          <p:nvPr>
            <p:custDataLst>
              <p:tags r:id="rId66"/>
            </p:custDataLst>
          </p:nvPr>
        </p:nvGrpSpPr>
        <p:grpSpPr>
          <a:xfrm>
            <a:off x="7984025" y="5377960"/>
            <a:ext cx="118872" cy="118872"/>
            <a:chOff x="1016000" y="1016000"/>
            <a:chExt cx="396228" cy="396228"/>
          </a:xfrm>
          <a:solidFill>
            <a:schemeClr val="accent2"/>
          </a:solidFill>
        </p:grpSpPr>
        <p:sp>
          <p:nvSpPr>
            <p:cNvPr id="758" name="Oval 757">
              <a:extLst>
                <a:ext uri="{FF2B5EF4-FFF2-40B4-BE49-F238E27FC236}">
                  <a16:creationId xmlns:a16="http://schemas.microsoft.com/office/drawing/2014/main" id="{9AF79617-9A8C-6785-D768-167ABF2BD4BD}"/>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59" name="Graphic 758">
              <a:extLst>
                <a:ext uri="{FF2B5EF4-FFF2-40B4-BE49-F238E27FC236}">
                  <a16:creationId xmlns:a16="http://schemas.microsoft.com/office/drawing/2014/main" id="{7FC968DA-62EC-E8DE-EBA4-A5660084B869}"/>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60" name="CheckmarkBlue 1522">
            <a:extLst>
              <a:ext uri="{FF2B5EF4-FFF2-40B4-BE49-F238E27FC236}">
                <a16:creationId xmlns:a16="http://schemas.microsoft.com/office/drawing/2014/main" id="{D43821E9-1F46-B4A6-E09D-407206455013}"/>
              </a:ext>
            </a:extLst>
          </p:cNvPr>
          <p:cNvGrpSpPr>
            <a:grpSpLocks/>
          </p:cNvGrpSpPr>
          <p:nvPr>
            <p:custDataLst>
              <p:tags r:id="rId67"/>
            </p:custDataLst>
          </p:nvPr>
        </p:nvGrpSpPr>
        <p:grpSpPr>
          <a:xfrm>
            <a:off x="7984025" y="5570926"/>
            <a:ext cx="118872" cy="118872"/>
            <a:chOff x="1016000" y="1016000"/>
            <a:chExt cx="396228" cy="396228"/>
          </a:xfrm>
          <a:solidFill>
            <a:schemeClr val="accent2"/>
          </a:solidFill>
        </p:grpSpPr>
        <p:sp>
          <p:nvSpPr>
            <p:cNvPr id="761" name="Oval 760">
              <a:extLst>
                <a:ext uri="{FF2B5EF4-FFF2-40B4-BE49-F238E27FC236}">
                  <a16:creationId xmlns:a16="http://schemas.microsoft.com/office/drawing/2014/main" id="{B56809C3-8C7B-710F-8173-372F9442EE9B}"/>
                </a:ext>
              </a:extLst>
            </p:cNvPr>
            <p:cNvSpPr/>
            <p:nvPr/>
          </p:nvSpPr>
          <p:spPr>
            <a:xfrm>
              <a:off x="1016000" y="1016000"/>
              <a:ext cx="396228" cy="396228"/>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62" name="Graphic 761">
              <a:extLst>
                <a:ext uri="{FF2B5EF4-FFF2-40B4-BE49-F238E27FC236}">
                  <a16:creationId xmlns:a16="http://schemas.microsoft.com/office/drawing/2014/main" id="{9C3B6344-31C0-416B-D7E1-D0FEF3AFD544}"/>
                </a:ext>
              </a:extLst>
            </p:cNvPr>
            <p:cNvPicPr>
              <a:picLocks noChangeAspect="1"/>
            </p:cNvPicPr>
            <p:nvPr/>
          </p:nvPicPr>
          <p:blipFill>
            <a:blip>
              <a:extLst>
                <a:ext uri="{96DAC541-7B7A-43D3-8B79-37D633B846F1}">
                  <asvg:svgBlip xmlns:asvg="http://schemas.microsoft.com/office/drawing/2016/SVG/main" r:embed="rId150"/>
                </a:ext>
              </a:extLst>
            </a:blip>
            <a:stretch>
              <a:fillRect/>
            </a:stretch>
          </p:blipFill>
          <p:spPr>
            <a:xfrm>
              <a:off x="1023614" y="1023614"/>
              <a:ext cx="381000" cy="381000"/>
            </a:xfrm>
            <a:prstGeom prst="rect">
              <a:avLst/>
            </a:prstGeom>
          </p:spPr>
        </p:pic>
      </p:grpSp>
      <p:grpSp>
        <p:nvGrpSpPr>
          <p:cNvPr id="763" name="MoonHalf">
            <a:extLst>
              <a:ext uri="{FF2B5EF4-FFF2-40B4-BE49-F238E27FC236}">
                <a16:creationId xmlns:a16="http://schemas.microsoft.com/office/drawing/2014/main" id="{09271A89-024B-DC1E-77C2-9E6AF10D07D9}"/>
              </a:ext>
            </a:extLst>
          </p:cNvPr>
          <p:cNvGrpSpPr>
            <a:grpSpLocks/>
          </p:cNvGrpSpPr>
          <p:nvPr>
            <p:custDataLst>
              <p:tags r:id="rId68"/>
            </p:custDataLst>
          </p:nvPr>
        </p:nvGrpSpPr>
        <p:grpSpPr>
          <a:xfrm>
            <a:off x="4767336" y="2290504"/>
            <a:ext cx="118872" cy="118872"/>
            <a:chOff x="762000" y="1270000"/>
            <a:chExt cx="254000" cy="254000"/>
          </a:xfrm>
        </p:grpSpPr>
        <p:sp>
          <p:nvSpPr>
            <p:cNvPr id="764" name="Oval 763">
              <a:extLst>
                <a:ext uri="{FF2B5EF4-FFF2-40B4-BE49-F238E27FC236}">
                  <a16:creationId xmlns:a16="http://schemas.microsoft.com/office/drawing/2014/main" id="{51E1CA49-DEAE-267D-AF51-9A711BD56E42}"/>
                </a:ext>
              </a:extLst>
            </p:cNvPr>
            <p:cNvSpPr/>
            <p:nvPr>
              <p:custDataLst>
                <p:tags r:id="rId14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65" name="Arc 764">
              <a:extLst>
                <a:ext uri="{FF2B5EF4-FFF2-40B4-BE49-F238E27FC236}">
                  <a16:creationId xmlns:a16="http://schemas.microsoft.com/office/drawing/2014/main" id="{8ADAA14A-6B89-0E83-7DB0-D5A052DCEDEB}"/>
                </a:ext>
              </a:extLst>
            </p:cNvPr>
            <p:cNvSpPr/>
            <p:nvPr>
              <p:custDataLst>
                <p:tags r:id="rId146"/>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66" name="MoonHalf">
            <a:extLst>
              <a:ext uri="{FF2B5EF4-FFF2-40B4-BE49-F238E27FC236}">
                <a16:creationId xmlns:a16="http://schemas.microsoft.com/office/drawing/2014/main" id="{29A77F92-55CF-DCAC-70EE-F11CB948057F}"/>
              </a:ext>
            </a:extLst>
          </p:cNvPr>
          <p:cNvGrpSpPr>
            <a:grpSpLocks/>
          </p:cNvGrpSpPr>
          <p:nvPr>
            <p:custDataLst>
              <p:tags r:id="rId69"/>
            </p:custDataLst>
          </p:nvPr>
        </p:nvGrpSpPr>
        <p:grpSpPr>
          <a:xfrm>
            <a:off x="4767336" y="2483470"/>
            <a:ext cx="118872" cy="118872"/>
            <a:chOff x="762000" y="1270000"/>
            <a:chExt cx="254000" cy="254000"/>
          </a:xfrm>
        </p:grpSpPr>
        <p:sp>
          <p:nvSpPr>
            <p:cNvPr id="767" name="Oval 766">
              <a:extLst>
                <a:ext uri="{FF2B5EF4-FFF2-40B4-BE49-F238E27FC236}">
                  <a16:creationId xmlns:a16="http://schemas.microsoft.com/office/drawing/2014/main" id="{2246EDCF-4ED7-9EFF-8CC9-CE8E05857335}"/>
                </a:ext>
              </a:extLst>
            </p:cNvPr>
            <p:cNvSpPr/>
            <p:nvPr>
              <p:custDataLst>
                <p:tags r:id="rId14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68" name="Arc 767">
              <a:extLst>
                <a:ext uri="{FF2B5EF4-FFF2-40B4-BE49-F238E27FC236}">
                  <a16:creationId xmlns:a16="http://schemas.microsoft.com/office/drawing/2014/main" id="{2E45556C-37F2-7D49-1B35-16647C014995}"/>
                </a:ext>
              </a:extLst>
            </p:cNvPr>
            <p:cNvSpPr/>
            <p:nvPr>
              <p:custDataLst>
                <p:tags r:id="rId144"/>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69" name="MoonHalf">
            <a:extLst>
              <a:ext uri="{FF2B5EF4-FFF2-40B4-BE49-F238E27FC236}">
                <a16:creationId xmlns:a16="http://schemas.microsoft.com/office/drawing/2014/main" id="{5DDF1191-81D9-28C0-F8D7-8BC23EBB9749}"/>
              </a:ext>
            </a:extLst>
          </p:cNvPr>
          <p:cNvGrpSpPr>
            <a:grpSpLocks/>
          </p:cNvGrpSpPr>
          <p:nvPr>
            <p:custDataLst>
              <p:tags r:id="rId70"/>
            </p:custDataLst>
          </p:nvPr>
        </p:nvGrpSpPr>
        <p:grpSpPr>
          <a:xfrm>
            <a:off x="4767336" y="2869402"/>
            <a:ext cx="118872" cy="118872"/>
            <a:chOff x="762000" y="1270000"/>
            <a:chExt cx="254000" cy="254000"/>
          </a:xfrm>
        </p:grpSpPr>
        <p:sp>
          <p:nvSpPr>
            <p:cNvPr id="770" name="Oval 769">
              <a:extLst>
                <a:ext uri="{FF2B5EF4-FFF2-40B4-BE49-F238E27FC236}">
                  <a16:creationId xmlns:a16="http://schemas.microsoft.com/office/drawing/2014/main" id="{2D97179A-12AB-3D1E-731C-23497E18F030}"/>
                </a:ext>
              </a:extLst>
            </p:cNvPr>
            <p:cNvSpPr/>
            <p:nvPr>
              <p:custDataLst>
                <p:tags r:id="rId14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71" name="Arc 770">
              <a:extLst>
                <a:ext uri="{FF2B5EF4-FFF2-40B4-BE49-F238E27FC236}">
                  <a16:creationId xmlns:a16="http://schemas.microsoft.com/office/drawing/2014/main" id="{1D41D104-BF95-94B6-B582-3C043E963963}"/>
                </a:ext>
              </a:extLst>
            </p:cNvPr>
            <p:cNvSpPr/>
            <p:nvPr>
              <p:custDataLst>
                <p:tags r:id="rId142"/>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72" name="MoonHalf">
            <a:extLst>
              <a:ext uri="{FF2B5EF4-FFF2-40B4-BE49-F238E27FC236}">
                <a16:creationId xmlns:a16="http://schemas.microsoft.com/office/drawing/2014/main" id="{8BBA20D9-9E4E-766A-78DC-55B5FAB31E93}"/>
              </a:ext>
            </a:extLst>
          </p:cNvPr>
          <p:cNvGrpSpPr>
            <a:grpSpLocks/>
          </p:cNvGrpSpPr>
          <p:nvPr>
            <p:custDataLst>
              <p:tags r:id="rId71"/>
            </p:custDataLst>
          </p:nvPr>
        </p:nvGrpSpPr>
        <p:grpSpPr>
          <a:xfrm>
            <a:off x="4767336" y="3255325"/>
            <a:ext cx="118872" cy="118872"/>
            <a:chOff x="762000" y="1270000"/>
            <a:chExt cx="254000" cy="254000"/>
          </a:xfrm>
        </p:grpSpPr>
        <p:sp>
          <p:nvSpPr>
            <p:cNvPr id="773" name="Oval 772">
              <a:extLst>
                <a:ext uri="{FF2B5EF4-FFF2-40B4-BE49-F238E27FC236}">
                  <a16:creationId xmlns:a16="http://schemas.microsoft.com/office/drawing/2014/main" id="{9DD26140-68DB-7D50-AE59-13D1941F38D9}"/>
                </a:ext>
              </a:extLst>
            </p:cNvPr>
            <p:cNvSpPr/>
            <p:nvPr>
              <p:custDataLst>
                <p:tags r:id="rId139"/>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74" name="Arc 773">
              <a:extLst>
                <a:ext uri="{FF2B5EF4-FFF2-40B4-BE49-F238E27FC236}">
                  <a16:creationId xmlns:a16="http://schemas.microsoft.com/office/drawing/2014/main" id="{B093D6B1-2F92-161C-1DAB-4DBADBA31AD0}"/>
                </a:ext>
              </a:extLst>
            </p:cNvPr>
            <p:cNvSpPr/>
            <p:nvPr>
              <p:custDataLst>
                <p:tags r:id="rId140"/>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75" name="MoonHalf">
            <a:extLst>
              <a:ext uri="{FF2B5EF4-FFF2-40B4-BE49-F238E27FC236}">
                <a16:creationId xmlns:a16="http://schemas.microsoft.com/office/drawing/2014/main" id="{895E3434-331C-ECE2-0525-1B296066687C}"/>
              </a:ext>
            </a:extLst>
          </p:cNvPr>
          <p:cNvGrpSpPr>
            <a:grpSpLocks/>
          </p:cNvGrpSpPr>
          <p:nvPr>
            <p:custDataLst>
              <p:tags r:id="rId72"/>
            </p:custDataLst>
          </p:nvPr>
        </p:nvGrpSpPr>
        <p:grpSpPr>
          <a:xfrm>
            <a:off x="4767336" y="4413130"/>
            <a:ext cx="118872" cy="118872"/>
            <a:chOff x="762000" y="1270000"/>
            <a:chExt cx="254000" cy="254000"/>
          </a:xfrm>
        </p:grpSpPr>
        <p:sp>
          <p:nvSpPr>
            <p:cNvPr id="776" name="Oval 775">
              <a:extLst>
                <a:ext uri="{FF2B5EF4-FFF2-40B4-BE49-F238E27FC236}">
                  <a16:creationId xmlns:a16="http://schemas.microsoft.com/office/drawing/2014/main" id="{F417FBC8-5324-9599-A5BC-838C6650C6FD}"/>
                </a:ext>
              </a:extLst>
            </p:cNvPr>
            <p:cNvSpPr/>
            <p:nvPr>
              <p:custDataLst>
                <p:tags r:id="rId137"/>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77" name="Arc 776">
              <a:extLst>
                <a:ext uri="{FF2B5EF4-FFF2-40B4-BE49-F238E27FC236}">
                  <a16:creationId xmlns:a16="http://schemas.microsoft.com/office/drawing/2014/main" id="{2C61E599-993D-9B0F-8352-6D777D0E2D89}"/>
                </a:ext>
              </a:extLst>
            </p:cNvPr>
            <p:cNvSpPr/>
            <p:nvPr>
              <p:custDataLst>
                <p:tags r:id="rId138"/>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78" name="MoonHalf">
            <a:extLst>
              <a:ext uri="{FF2B5EF4-FFF2-40B4-BE49-F238E27FC236}">
                <a16:creationId xmlns:a16="http://schemas.microsoft.com/office/drawing/2014/main" id="{454E0BE9-A610-B8B3-630D-91BF042E6AF4}"/>
              </a:ext>
            </a:extLst>
          </p:cNvPr>
          <p:cNvGrpSpPr>
            <a:grpSpLocks/>
          </p:cNvGrpSpPr>
          <p:nvPr>
            <p:custDataLst>
              <p:tags r:id="rId73"/>
            </p:custDataLst>
          </p:nvPr>
        </p:nvGrpSpPr>
        <p:grpSpPr>
          <a:xfrm>
            <a:off x="4767336" y="4606096"/>
            <a:ext cx="118872" cy="118872"/>
            <a:chOff x="762000" y="1270000"/>
            <a:chExt cx="254000" cy="254000"/>
          </a:xfrm>
        </p:grpSpPr>
        <p:sp>
          <p:nvSpPr>
            <p:cNvPr id="779" name="Oval 778">
              <a:extLst>
                <a:ext uri="{FF2B5EF4-FFF2-40B4-BE49-F238E27FC236}">
                  <a16:creationId xmlns:a16="http://schemas.microsoft.com/office/drawing/2014/main" id="{667FE155-D4E1-926A-8CFC-AAD3470FBE33}"/>
                </a:ext>
              </a:extLst>
            </p:cNvPr>
            <p:cNvSpPr/>
            <p:nvPr>
              <p:custDataLst>
                <p:tags r:id="rId13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80" name="Arc 779">
              <a:extLst>
                <a:ext uri="{FF2B5EF4-FFF2-40B4-BE49-F238E27FC236}">
                  <a16:creationId xmlns:a16="http://schemas.microsoft.com/office/drawing/2014/main" id="{3B3FB96D-AB90-F183-8AFF-17F55F94FDFB}"/>
                </a:ext>
              </a:extLst>
            </p:cNvPr>
            <p:cNvSpPr/>
            <p:nvPr>
              <p:custDataLst>
                <p:tags r:id="rId136"/>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81" name="MoonHalf">
            <a:extLst>
              <a:ext uri="{FF2B5EF4-FFF2-40B4-BE49-F238E27FC236}">
                <a16:creationId xmlns:a16="http://schemas.microsoft.com/office/drawing/2014/main" id="{1B9E6D2D-8C56-A9B0-226C-1C8C0C2805DC}"/>
              </a:ext>
            </a:extLst>
          </p:cNvPr>
          <p:cNvGrpSpPr>
            <a:grpSpLocks/>
          </p:cNvGrpSpPr>
          <p:nvPr>
            <p:custDataLst>
              <p:tags r:id="rId74"/>
            </p:custDataLst>
          </p:nvPr>
        </p:nvGrpSpPr>
        <p:grpSpPr>
          <a:xfrm>
            <a:off x="4767336" y="4799062"/>
            <a:ext cx="118872" cy="118872"/>
            <a:chOff x="762000" y="1270000"/>
            <a:chExt cx="254000" cy="254000"/>
          </a:xfrm>
        </p:grpSpPr>
        <p:sp>
          <p:nvSpPr>
            <p:cNvPr id="782" name="Oval 781">
              <a:extLst>
                <a:ext uri="{FF2B5EF4-FFF2-40B4-BE49-F238E27FC236}">
                  <a16:creationId xmlns:a16="http://schemas.microsoft.com/office/drawing/2014/main" id="{2E67C42A-4314-096A-9465-EED3E48370BB}"/>
                </a:ext>
              </a:extLst>
            </p:cNvPr>
            <p:cNvSpPr/>
            <p:nvPr>
              <p:custDataLst>
                <p:tags r:id="rId13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83" name="Arc 782">
              <a:extLst>
                <a:ext uri="{FF2B5EF4-FFF2-40B4-BE49-F238E27FC236}">
                  <a16:creationId xmlns:a16="http://schemas.microsoft.com/office/drawing/2014/main" id="{BC07AF07-3DE5-9E6C-7BBB-0379DEB2E7F2}"/>
                </a:ext>
              </a:extLst>
            </p:cNvPr>
            <p:cNvSpPr/>
            <p:nvPr>
              <p:custDataLst>
                <p:tags r:id="rId134"/>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84" name="MoonHalf">
            <a:extLst>
              <a:ext uri="{FF2B5EF4-FFF2-40B4-BE49-F238E27FC236}">
                <a16:creationId xmlns:a16="http://schemas.microsoft.com/office/drawing/2014/main" id="{4848AE25-773B-2810-970D-27340272C572}"/>
              </a:ext>
            </a:extLst>
          </p:cNvPr>
          <p:cNvGrpSpPr>
            <a:grpSpLocks/>
          </p:cNvGrpSpPr>
          <p:nvPr>
            <p:custDataLst>
              <p:tags r:id="rId75"/>
            </p:custDataLst>
          </p:nvPr>
        </p:nvGrpSpPr>
        <p:grpSpPr>
          <a:xfrm>
            <a:off x="4767336" y="5570926"/>
            <a:ext cx="118872" cy="118872"/>
            <a:chOff x="762000" y="1270000"/>
            <a:chExt cx="254000" cy="254000"/>
          </a:xfrm>
        </p:grpSpPr>
        <p:sp>
          <p:nvSpPr>
            <p:cNvPr id="785" name="Oval 784">
              <a:extLst>
                <a:ext uri="{FF2B5EF4-FFF2-40B4-BE49-F238E27FC236}">
                  <a16:creationId xmlns:a16="http://schemas.microsoft.com/office/drawing/2014/main" id="{BE134560-17B5-7DDB-A554-D0BCA59A1212}"/>
                </a:ext>
              </a:extLst>
            </p:cNvPr>
            <p:cNvSpPr/>
            <p:nvPr>
              <p:custDataLst>
                <p:tags r:id="rId13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86" name="Arc 785">
              <a:extLst>
                <a:ext uri="{FF2B5EF4-FFF2-40B4-BE49-F238E27FC236}">
                  <a16:creationId xmlns:a16="http://schemas.microsoft.com/office/drawing/2014/main" id="{891309EA-0C0F-A9F1-A3CE-D2DA6FA8329E}"/>
                </a:ext>
              </a:extLst>
            </p:cNvPr>
            <p:cNvSpPr/>
            <p:nvPr>
              <p:custDataLst>
                <p:tags r:id="rId132"/>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87" name="MoonHalf">
            <a:extLst>
              <a:ext uri="{FF2B5EF4-FFF2-40B4-BE49-F238E27FC236}">
                <a16:creationId xmlns:a16="http://schemas.microsoft.com/office/drawing/2014/main" id="{77855BA2-1862-AAF6-89E1-FC2B89D582DB}"/>
              </a:ext>
            </a:extLst>
          </p:cNvPr>
          <p:cNvGrpSpPr>
            <a:grpSpLocks/>
          </p:cNvGrpSpPr>
          <p:nvPr>
            <p:custDataLst>
              <p:tags r:id="rId76"/>
            </p:custDataLst>
          </p:nvPr>
        </p:nvGrpSpPr>
        <p:grpSpPr>
          <a:xfrm>
            <a:off x="4767336" y="5763892"/>
            <a:ext cx="118872" cy="118872"/>
            <a:chOff x="762000" y="1270000"/>
            <a:chExt cx="254000" cy="254000"/>
          </a:xfrm>
        </p:grpSpPr>
        <p:sp>
          <p:nvSpPr>
            <p:cNvPr id="788" name="Oval 787">
              <a:extLst>
                <a:ext uri="{FF2B5EF4-FFF2-40B4-BE49-F238E27FC236}">
                  <a16:creationId xmlns:a16="http://schemas.microsoft.com/office/drawing/2014/main" id="{E3F76128-65E4-7F87-8725-536A69B10559}"/>
                </a:ext>
              </a:extLst>
            </p:cNvPr>
            <p:cNvSpPr/>
            <p:nvPr>
              <p:custDataLst>
                <p:tags r:id="rId129"/>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89" name="Arc 788">
              <a:extLst>
                <a:ext uri="{FF2B5EF4-FFF2-40B4-BE49-F238E27FC236}">
                  <a16:creationId xmlns:a16="http://schemas.microsoft.com/office/drawing/2014/main" id="{BC108F1A-B539-A82A-B2C5-3C756C5A6C0C}"/>
                </a:ext>
              </a:extLst>
            </p:cNvPr>
            <p:cNvSpPr/>
            <p:nvPr>
              <p:custDataLst>
                <p:tags r:id="rId130"/>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90" name="MoonHalf">
            <a:extLst>
              <a:ext uri="{FF2B5EF4-FFF2-40B4-BE49-F238E27FC236}">
                <a16:creationId xmlns:a16="http://schemas.microsoft.com/office/drawing/2014/main" id="{15895E5D-E20C-1BF7-9444-1EFE0CB978F9}"/>
              </a:ext>
            </a:extLst>
          </p:cNvPr>
          <p:cNvGrpSpPr>
            <a:grpSpLocks/>
          </p:cNvGrpSpPr>
          <p:nvPr>
            <p:custDataLst>
              <p:tags r:id="rId77"/>
            </p:custDataLst>
          </p:nvPr>
        </p:nvGrpSpPr>
        <p:grpSpPr>
          <a:xfrm>
            <a:off x="5504143" y="5570926"/>
            <a:ext cx="118872" cy="118872"/>
            <a:chOff x="762000" y="1270000"/>
            <a:chExt cx="254000" cy="254000"/>
          </a:xfrm>
        </p:grpSpPr>
        <p:sp>
          <p:nvSpPr>
            <p:cNvPr id="791" name="Oval 790">
              <a:extLst>
                <a:ext uri="{FF2B5EF4-FFF2-40B4-BE49-F238E27FC236}">
                  <a16:creationId xmlns:a16="http://schemas.microsoft.com/office/drawing/2014/main" id="{4022ECAF-188A-EA8E-10BA-A680CF5F2035}"/>
                </a:ext>
              </a:extLst>
            </p:cNvPr>
            <p:cNvSpPr/>
            <p:nvPr>
              <p:custDataLst>
                <p:tags r:id="rId127"/>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92" name="Arc 791">
              <a:extLst>
                <a:ext uri="{FF2B5EF4-FFF2-40B4-BE49-F238E27FC236}">
                  <a16:creationId xmlns:a16="http://schemas.microsoft.com/office/drawing/2014/main" id="{5BA4B53D-FF3F-3FB4-1E79-28CA49E6AC82}"/>
                </a:ext>
              </a:extLst>
            </p:cNvPr>
            <p:cNvSpPr/>
            <p:nvPr>
              <p:custDataLst>
                <p:tags r:id="rId128"/>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93" name="MoonHalf">
            <a:extLst>
              <a:ext uri="{FF2B5EF4-FFF2-40B4-BE49-F238E27FC236}">
                <a16:creationId xmlns:a16="http://schemas.microsoft.com/office/drawing/2014/main" id="{B5B19279-5CCB-96A0-0D72-775868CE5196}"/>
              </a:ext>
            </a:extLst>
          </p:cNvPr>
          <p:cNvGrpSpPr>
            <a:grpSpLocks/>
          </p:cNvGrpSpPr>
          <p:nvPr>
            <p:custDataLst>
              <p:tags r:id="rId78"/>
            </p:custDataLst>
          </p:nvPr>
        </p:nvGrpSpPr>
        <p:grpSpPr>
          <a:xfrm>
            <a:off x="6235178" y="5377960"/>
            <a:ext cx="118872" cy="118872"/>
            <a:chOff x="762000" y="1270000"/>
            <a:chExt cx="254000" cy="254000"/>
          </a:xfrm>
        </p:grpSpPr>
        <p:sp>
          <p:nvSpPr>
            <p:cNvPr id="794" name="Oval 793">
              <a:extLst>
                <a:ext uri="{FF2B5EF4-FFF2-40B4-BE49-F238E27FC236}">
                  <a16:creationId xmlns:a16="http://schemas.microsoft.com/office/drawing/2014/main" id="{CA2F9963-6745-872E-5D95-361132353A6C}"/>
                </a:ext>
              </a:extLst>
            </p:cNvPr>
            <p:cNvSpPr/>
            <p:nvPr>
              <p:custDataLst>
                <p:tags r:id="rId12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95" name="Arc 794">
              <a:extLst>
                <a:ext uri="{FF2B5EF4-FFF2-40B4-BE49-F238E27FC236}">
                  <a16:creationId xmlns:a16="http://schemas.microsoft.com/office/drawing/2014/main" id="{D53CD472-B980-3324-10E6-6860DB3A917E}"/>
                </a:ext>
              </a:extLst>
            </p:cNvPr>
            <p:cNvSpPr/>
            <p:nvPr>
              <p:custDataLst>
                <p:tags r:id="rId126"/>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96" name="MoonHalf">
            <a:extLst>
              <a:ext uri="{FF2B5EF4-FFF2-40B4-BE49-F238E27FC236}">
                <a16:creationId xmlns:a16="http://schemas.microsoft.com/office/drawing/2014/main" id="{848415E4-B422-17AD-BE95-E5D6CA6AF4CB}"/>
              </a:ext>
            </a:extLst>
          </p:cNvPr>
          <p:cNvGrpSpPr>
            <a:grpSpLocks/>
          </p:cNvGrpSpPr>
          <p:nvPr>
            <p:custDataLst>
              <p:tags r:id="rId79"/>
            </p:custDataLst>
          </p:nvPr>
        </p:nvGrpSpPr>
        <p:grpSpPr>
          <a:xfrm>
            <a:off x="6235178" y="5184994"/>
            <a:ext cx="118872" cy="118872"/>
            <a:chOff x="762000" y="1270000"/>
            <a:chExt cx="254000" cy="254000"/>
          </a:xfrm>
        </p:grpSpPr>
        <p:sp>
          <p:nvSpPr>
            <p:cNvPr id="797" name="Oval 796">
              <a:extLst>
                <a:ext uri="{FF2B5EF4-FFF2-40B4-BE49-F238E27FC236}">
                  <a16:creationId xmlns:a16="http://schemas.microsoft.com/office/drawing/2014/main" id="{52426FFF-ACD2-07ED-430B-CACCB5488F36}"/>
                </a:ext>
              </a:extLst>
            </p:cNvPr>
            <p:cNvSpPr/>
            <p:nvPr>
              <p:custDataLst>
                <p:tags r:id="rId12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798" name="Arc 797">
              <a:extLst>
                <a:ext uri="{FF2B5EF4-FFF2-40B4-BE49-F238E27FC236}">
                  <a16:creationId xmlns:a16="http://schemas.microsoft.com/office/drawing/2014/main" id="{0A44EBB9-70CB-99C3-C1BD-959ACE6766EB}"/>
                </a:ext>
              </a:extLst>
            </p:cNvPr>
            <p:cNvSpPr/>
            <p:nvPr>
              <p:custDataLst>
                <p:tags r:id="rId124"/>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799" name="MoonHalf">
            <a:extLst>
              <a:ext uri="{FF2B5EF4-FFF2-40B4-BE49-F238E27FC236}">
                <a16:creationId xmlns:a16="http://schemas.microsoft.com/office/drawing/2014/main" id="{9014A162-B9A9-9665-3D53-5F7F76BDCD20}"/>
              </a:ext>
            </a:extLst>
          </p:cNvPr>
          <p:cNvGrpSpPr>
            <a:grpSpLocks/>
          </p:cNvGrpSpPr>
          <p:nvPr>
            <p:custDataLst>
              <p:tags r:id="rId80"/>
            </p:custDataLst>
          </p:nvPr>
        </p:nvGrpSpPr>
        <p:grpSpPr>
          <a:xfrm>
            <a:off x="7005825" y="5377960"/>
            <a:ext cx="118872" cy="118872"/>
            <a:chOff x="762000" y="1270000"/>
            <a:chExt cx="254000" cy="254000"/>
          </a:xfrm>
        </p:grpSpPr>
        <p:sp>
          <p:nvSpPr>
            <p:cNvPr id="800" name="Oval 799">
              <a:extLst>
                <a:ext uri="{FF2B5EF4-FFF2-40B4-BE49-F238E27FC236}">
                  <a16:creationId xmlns:a16="http://schemas.microsoft.com/office/drawing/2014/main" id="{342DFD0A-716F-47DD-6747-09540A33FB5E}"/>
                </a:ext>
              </a:extLst>
            </p:cNvPr>
            <p:cNvSpPr/>
            <p:nvPr>
              <p:custDataLst>
                <p:tags r:id="rId12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01" name="Arc 800">
              <a:extLst>
                <a:ext uri="{FF2B5EF4-FFF2-40B4-BE49-F238E27FC236}">
                  <a16:creationId xmlns:a16="http://schemas.microsoft.com/office/drawing/2014/main" id="{20F36B9A-750C-3429-4259-57E11F25B652}"/>
                </a:ext>
              </a:extLst>
            </p:cNvPr>
            <p:cNvSpPr/>
            <p:nvPr>
              <p:custDataLst>
                <p:tags r:id="rId122"/>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02" name="MoonHalf">
            <a:extLst>
              <a:ext uri="{FF2B5EF4-FFF2-40B4-BE49-F238E27FC236}">
                <a16:creationId xmlns:a16="http://schemas.microsoft.com/office/drawing/2014/main" id="{F4672CCF-C091-1315-3434-F48A999BB7FA}"/>
              </a:ext>
            </a:extLst>
          </p:cNvPr>
          <p:cNvGrpSpPr>
            <a:grpSpLocks/>
          </p:cNvGrpSpPr>
          <p:nvPr>
            <p:custDataLst>
              <p:tags r:id="rId81"/>
            </p:custDataLst>
          </p:nvPr>
        </p:nvGrpSpPr>
        <p:grpSpPr>
          <a:xfrm>
            <a:off x="6235178" y="4799062"/>
            <a:ext cx="118872" cy="118872"/>
            <a:chOff x="762000" y="1270000"/>
            <a:chExt cx="254000" cy="254000"/>
          </a:xfrm>
        </p:grpSpPr>
        <p:sp>
          <p:nvSpPr>
            <p:cNvPr id="803" name="Oval 802">
              <a:extLst>
                <a:ext uri="{FF2B5EF4-FFF2-40B4-BE49-F238E27FC236}">
                  <a16:creationId xmlns:a16="http://schemas.microsoft.com/office/drawing/2014/main" id="{D652F0A3-F98C-DE56-6D2E-0C6B23CAEC95}"/>
                </a:ext>
              </a:extLst>
            </p:cNvPr>
            <p:cNvSpPr/>
            <p:nvPr>
              <p:custDataLst>
                <p:tags r:id="rId119"/>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04" name="Arc 803">
              <a:extLst>
                <a:ext uri="{FF2B5EF4-FFF2-40B4-BE49-F238E27FC236}">
                  <a16:creationId xmlns:a16="http://schemas.microsoft.com/office/drawing/2014/main" id="{2C0204F2-FBF3-DD9A-5516-BBED99DE5539}"/>
                </a:ext>
              </a:extLst>
            </p:cNvPr>
            <p:cNvSpPr/>
            <p:nvPr>
              <p:custDataLst>
                <p:tags r:id="rId120"/>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05" name="MoonHalf">
            <a:extLst>
              <a:ext uri="{FF2B5EF4-FFF2-40B4-BE49-F238E27FC236}">
                <a16:creationId xmlns:a16="http://schemas.microsoft.com/office/drawing/2014/main" id="{755D22B0-40C4-BDD3-2BE2-833859F7F7E7}"/>
              </a:ext>
            </a:extLst>
          </p:cNvPr>
          <p:cNvGrpSpPr>
            <a:grpSpLocks/>
          </p:cNvGrpSpPr>
          <p:nvPr>
            <p:custDataLst>
              <p:tags r:id="rId82"/>
            </p:custDataLst>
          </p:nvPr>
        </p:nvGrpSpPr>
        <p:grpSpPr>
          <a:xfrm>
            <a:off x="6235178" y="4606096"/>
            <a:ext cx="118872" cy="118872"/>
            <a:chOff x="762000" y="1270000"/>
            <a:chExt cx="254000" cy="254000"/>
          </a:xfrm>
        </p:grpSpPr>
        <p:sp>
          <p:nvSpPr>
            <p:cNvPr id="806" name="Oval 805">
              <a:extLst>
                <a:ext uri="{FF2B5EF4-FFF2-40B4-BE49-F238E27FC236}">
                  <a16:creationId xmlns:a16="http://schemas.microsoft.com/office/drawing/2014/main" id="{8E18FED7-E5D7-833A-813B-5E2D3E5B2EB9}"/>
                </a:ext>
              </a:extLst>
            </p:cNvPr>
            <p:cNvSpPr/>
            <p:nvPr>
              <p:custDataLst>
                <p:tags r:id="rId117"/>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07" name="Arc 806">
              <a:extLst>
                <a:ext uri="{FF2B5EF4-FFF2-40B4-BE49-F238E27FC236}">
                  <a16:creationId xmlns:a16="http://schemas.microsoft.com/office/drawing/2014/main" id="{A9E1F1BA-AE0F-719E-2536-B77A98B2DEE0}"/>
                </a:ext>
              </a:extLst>
            </p:cNvPr>
            <p:cNvSpPr/>
            <p:nvPr>
              <p:custDataLst>
                <p:tags r:id="rId118"/>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08" name="MoonHalf">
            <a:extLst>
              <a:ext uri="{FF2B5EF4-FFF2-40B4-BE49-F238E27FC236}">
                <a16:creationId xmlns:a16="http://schemas.microsoft.com/office/drawing/2014/main" id="{6DFF91AA-96E3-2936-AE69-EC63D1DCDC3D}"/>
              </a:ext>
            </a:extLst>
          </p:cNvPr>
          <p:cNvGrpSpPr>
            <a:grpSpLocks/>
          </p:cNvGrpSpPr>
          <p:nvPr>
            <p:custDataLst>
              <p:tags r:id="rId83"/>
            </p:custDataLst>
          </p:nvPr>
        </p:nvGrpSpPr>
        <p:grpSpPr>
          <a:xfrm>
            <a:off x="6235178" y="4413130"/>
            <a:ext cx="118872" cy="118872"/>
            <a:chOff x="762000" y="1270000"/>
            <a:chExt cx="254000" cy="254000"/>
          </a:xfrm>
        </p:grpSpPr>
        <p:sp>
          <p:nvSpPr>
            <p:cNvPr id="809" name="Oval 808">
              <a:extLst>
                <a:ext uri="{FF2B5EF4-FFF2-40B4-BE49-F238E27FC236}">
                  <a16:creationId xmlns:a16="http://schemas.microsoft.com/office/drawing/2014/main" id="{050AB700-17AD-34C2-74FC-2E3FEA9C739F}"/>
                </a:ext>
              </a:extLst>
            </p:cNvPr>
            <p:cNvSpPr/>
            <p:nvPr>
              <p:custDataLst>
                <p:tags r:id="rId11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10" name="Arc 809">
              <a:extLst>
                <a:ext uri="{FF2B5EF4-FFF2-40B4-BE49-F238E27FC236}">
                  <a16:creationId xmlns:a16="http://schemas.microsoft.com/office/drawing/2014/main" id="{CDDD3C02-FC2E-47D0-CBE1-CA4B40316123}"/>
                </a:ext>
              </a:extLst>
            </p:cNvPr>
            <p:cNvSpPr/>
            <p:nvPr>
              <p:custDataLst>
                <p:tags r:id="rId116"/>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11" name="MoonHalf">
            <a:extLst>
              <a:ext uri="{FF2B5EF4-FFF2-40B4-BE49-F238E27FC236}">
                <a16:creationId xmlns:a16="http://schemas.microsoft.com/office/drawing/2014/main" id="{048ED2A6-2CF3-D67E-C83D-0EC1857096C6}"/>
              </a:ext>
            </a:extLst>
          </p:cNvPr>
          <p:cNvGrpSpPr>
            <a:grpSpLocks/>
          </p:cNvGrpSpPr>
          <p:nvPr>
            <p:custDataLst>
              <p:tags r:id="rId84"/>
            </p:custDataLst>
          </p:nvPr>
        </p:nvGrpSpPr>
        <p:grpSpPr>
          <a:xfrm>
            <a:off x="7005825" y="3641266"/>
            <a:ext cx="118872" cy="118872"/>
            <a:chOff x="762000" y="1270000"/>
            <a:chExt cx="254000" cy="254000"/>
          </a:xfrm>
        </p:grpSpPr>
        <p:sp>
          <p:nvSpPr>
            <p:cNvPr id="812" name="Oval 811">
              <a:extLst>
                <a:ext uri="{FF2B5EF4-FFF2-40B4-BE49-F238E27FC236}">
                  <a16:creationId xmlns:a16="http://schemas.microsoft.com/office/drawing/2014/main" id="{6EC2C75F-C556-A768-C2D2-C8BB86FA89EB}"/>
                </a:ext>
              </a:extLst>
            </p:cNvPr>
            <p:cNvSpPr/>
            <p:nvPr>
              <p:custDataLst>
                <p:tags r:id="rId11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13" name="Arc 812">
              <a:extLst>
                <a:ext uri="{FF2B5EF4-FFF2-40B4-BE49-F238E27FC236}">
                  <a16:creationId xmlns:a16="http://schemas.microsoft.com/office/drawing/2014/main" id="{74A8B7B4-75F5-C4A4-BFE0-C7643F838335}"/>
                </a:ext>
              </a:extLst>
            </p:cNvPr>
            <p:cNvSpPr/>
            <p:nvPr>
              <p:custDataLst>
                <p:tags r:id="rId114"/>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14" name="MoonHalf">
            <a:extLst>
              <a:ext uri="{FF2B5EF4-FFF2-40B4-BE49-F238E27FC236}">
                <a16:creationId xmlns:a16="http://schemas.microsoft.com/office/drawing/2014/main" id="{EAF46A9C-32B5-C9BE-26BE-1046668053FD}"/>
              </a:ext>
            </a:extLst>
          </p:cNvPr>
          <p:cNvGrpSpPr>
            <a:grpSpLocks/>
          </p:cNvGrpSpPr>
          <p:nvPr>
            <p:custDataLst>
              <p:tags r:id="rId85"/>
            </p:custDataLst>
          </p:nvPr>
        </p:nvGrpSpPr>
        <p:grpSpPr>
          <a:xfrm>
            <a:off x="7005825" y="3448290"/>
            <a:ext cx="118872" cy="118872"/>
            <a:chOff x="762000" y="1270000"/>
            <a:chExt cx="254000" cy="254000"/>
          </a:xfrm>
        </p:grpSpPr>
        <p:sp>
          <p:nvSpPr>
            <p:cNvPr id="815" name="Oval 814">
              <a:extLst>
                <a:ext uri="{FF2B5EF4-FFF2-40B4-BE49-F238E27FC236}">
                  <a16:creationId xmlns:a16="http://schemas.microsoft.com/office/drawing/2014/main" id="{F3EB1DC2-E52E-7FCB-0477-B63053844F79}"/>
                </a:ext>
              </a:extLst>
            </p:cNvPr>
            <p:cNvSpPr/>
            <p:nvPr>
              <p:custDataLst>
                <p:tags r:id="rId11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16" name="Arc 815">
              <a:extLst>
                <a:ext uri="{FF2B5EF4-FFF2-40B4-BE49-F238E27FC236}">
                  <a16:creationId xmlns:a16="http://schemas.microsoft.com/office/drawing/2014/main" id="{1D71E7E0-81D5-F936-54B2-4A089644C439}"/>
                </a:ext>
              </a:extLst>
            </p:cNvPr>
            <p:cNvSpPr/>
            <p:nvPr>
              <p:custDataLst>
                <p:tags r:id="rId112"/>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17" name="MoonHalf">
            <a:extLst>
              <a:ext uri="{FF2B5EF4-FFF2-40B4-BE49-F238E27FC236}">
                <a16:creationId xmlns:a16="http://schemas.microsoft.com/office/drawing/2014/main" id="{1DA3BE30-0724-8F74-5FF6-E6567C253C07}"/>
              </a:ext>
            </a:extLst>
          </p:cNvPr>
          <p:cNvGrpSpPr>
            <a:grpSpLocks/>
          </p:cNvGrpSpPr>
          <p:nvPr>
            <p:custDataLst>
              <p:tags r:id="rId86"/>
            </p:custDataLst>
          </p:nvPr>
        </p:nvGrpSpPr>
        <p:grpSpPr>
          <a:xfrm>
            <a:off x="6235178" y="3255325"/>
            <a:ext cx="118872" cy="118872"/>
            <a:chOff x="762000" y="1270000"/>
            <a:chExt cx="254000" cy="254000"/>
          </a:xfrm>
        </p:grpSpPr>
        <p:sp>
          <p:nvSpPr>
            <p:cNvPr id="818" name="Oval 817">
              <a:extLst>
                <a:ext uri="{FF2B5EF4-FFF2-40B4-BE49-F238E27FC236}">
                  <a16:creationId xmlns:a16="http://schemas.microsoft.com/office/drawing/2014/main" id="{99C45268-0961-3179-2A73-A58384A2C496}"/>
                </a:ext>
              </a:extLst>
            </p:cNvPr>
            <p:cNvSpPr/>
            <p:nvPr>
              <p:custDataLst>
                <p:tags r:id="rId109"/>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19" name="Arc 818">
              <a:extLst>
                <a:ext uri="{FF2B5EF4-FFF2-40B4-BE49-F238E27FC236}">
                  <a16:creationId xmlns:a16="http://schemas.microsoft.com/office/drawing/2014/main" id="{EABFDD3A-6EBF-C719-B6C2-0A6F87BF3E25}"/>
                </a:ext>
              </a:extLst>
            </p:cNvPr>
            <p:cNvSpPr/>
            <p:nvPr>
              <p:custDataLst>
                <p:tags r:id="rId110"/>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20" name="MoonHalf">
            <a:extLst>
              <a:ext uri="{FF2B5EF4-FFF2-40B4-BE49-F238E27FC236}">
                <a16:creationId xmlns:a16="http://schemas.microsoft.com/office/drawing/2014/main" id="{1F9CA320-6012-F976-3858-B08DE1A7D7FF}"/>
              </a:ext>
            </a:extLst>
          </p:cNvPr>
          <p:cNvGrpSpPr>
            <a:grpSpLocks/>
          </p:cNvGrpSpPr>
          <p:nvPr>
            <p:custDataLst>
              <p:tags r:id="rId87"/>
            </p:custDataLst>
          </p:nvPr>
        </p:nvGrpSpPr>
        <p:grpSpPr>
          <a:xfrm>
            <a:off x="6235178" y="2869402"/>
            <a:ext cx="118872" cy="118872"/>
            <a:chOff x="762000" y="1270000"/>
            <a:chExt cx="254000" cy="254000"/>
          </a:xfrm>
        </p:grpSpPr>
        <p:sp>
          <p:nvSpPr>
            <p:cNvPr id="821" name="Oval 820">
              <a:extLst>
                <a:ext uri="{FF2B5EF4-FFF2-40B4-BE49-F238E27FC236}">
                  <a16:creationId xmlns:a16="http://schemas.microsoft.com/office/drawing/2014/main" id="{DD668334-9A12-A613-D8F2-7EB786015A38}"/>
                </a:ext>
              </a:extLst>
            </p:cNvPr>
            <p:cNvSpPr/>
            <p:nvPr>
              <p:custDataLst>
                <p:tags r:id="rId107"/>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22" name="Arc 821">
              <a:extLst>
                <a:ext uri="{FF2B5EF4-FFF2-40B4-BE49-F238E27FC236}">
                  <a16:creationId xmlns:a16="http://schemas.microsoft.com/office/drawing/2014/main" id="{547B1FB8-F45D-7BFC-875E-50DCE9D48DAB}"/>
                </a:ext>
              </a:extLst>
            </p:cNvPr>
            <p:cNvSpPr/>
            <p:nvPr>
              <p:custDataLst>
                <p:tags r:id="rId108"/>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23" name="MoonHalf">
            <a:extLst>
              <a:ext uri="{FF2B5EF4-FFF2-40B4-BE49-F238E27FC236}">
                <a16:creationId xmlns:a16="http://schemas.microsoft.com/office/drawing/2014/main" id="{1403649D-696D-6E18-8C35-F07F29F9ED8D}"/>
              </a:ext>
            </a:extLst>
          </p:cNvPr>
          <p:cNvGrpSpPr>
            <a:grpSpLocks/>
          </p:cNvGrpSpPr>
          <p:nvPr>
            <p:custDataLst>
              <p:tags r:id="rId88"/>
            </p:custDataLst>
          </p:nvPr>
        </p:nvGrpSpPr>
        <p:grpSpPr>
          <a:xfrm>
            <a:off x="5504143" y="2869402"/>
            <a:ext cx="118872" cy="118872"/>
            <a:chOff x="762000" y="1270000"/>
            <a:chExt cx="254000" cy="254000"/>
          </a:xfrm>
        </p:grpSpPr>
        <p:sp>
          <p:nvSpPr>
            <p:cNvPr id="824" name="Oval 823">
              <a:extLst>
                <a:ext uri="{FF2B5EF4-FFF2-40B4-BE49-F238E27FC236}">
                  <a16:creationId xmlns:a16="http://schemas.microsoft.com/office/drawing/2014/main" id="{6D7C0ECE-CF60-C3F2-CF9D-93566BBA70DF}"/>
                </a:ext>
              </a:extLst>
            </p:cNvPr>
            <p:cNvSpPr/>
            <p:nvPr>
              <p:custDataLst>
                <p:tags r:id="rId10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25" name="Arc 824">
              <a:extLst>
                <a:ext uri="{FF2B5EF4-FFF2-40B4-BE49-F238E27FC236}">
                  <a16:creationId xmlns:a16="http://schemas.microsoft.com/office/drawing/2014/main" id="{2593BDD2-6E6E-F099-F14A-023AC59FF59B}"/>
                </a:ext>
              </a:extLst>
            </p:cNvPr>
            <p:cNvSpPr/>
            <p:nvPr>
              <p:custDataLst>
                <p:tags r:id="rId106"/>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26" name="MoonHalf">
            <a:extLst>
              <a:ext uri="{FF2B5EF4-FFF2-40B4-BE49-F238E27FC236}">
                <a16:creationId xmlns:a16="http://schemas.microsoft.com/office/drawing/2014/main" id="{14FBF944-06EE-65A9-136F-2BCEE5ED5742}"/>
              </a:ext>
            </a:extLst>
          </p:cNvPr>
          <p:cNvGrpSpPr>
            <a:grpSpLocks/>
          </p:cNvGrpSpPr>
          <p:nvPr>
            <p:custDataLst>
              <p:tags r:id="rId89"/>
            </p:custDataLst>
          </p:nvPr>
        </p:nvGrpSpPr>
        <p:grpSpPr>
          <a:xfrm>
            <a:off x="5504143" y="3062368"/>
            <a:ext cx="118872" cy="118872"/>
            <a:chOff x="762000" y="1270000"/>
            <a:chExt cx="254000" cy="254000"/>
          </a:xfrm>
        </p:grpSpPr>
        <p:sp>
          <p:nvSpPr>
            <p:cNvPr id="827" name="Oval 826">
              <a:extLst>
                <a:ext uri="{FF2B5EF4-FFF2-40B4-BE49-F238E27FC236}">
                  <a16:creationId xmlns:a16="http://schemas.microsoft.com/office/drawing/2014/main" id="{73FF7846-D6F8-3323-F4F8-944EBA836B12}"/>
                </a:ext>
              </a:extLst>
            </p:cNvPr>
            <p:cNvSpPr/>
            <p:nvPr>
              <p:custDataLst>
                <p:tags r:id="rId103"/>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28" name="Arc 827">
              <a:extLst>
                <a:ext uri="{FF2B5EF4-FFF2-40B4-BE49-F238E27FC236}">
                  <a16:creationId xmlns:a16="http://schemas.microsoft.com/office/drawing/2014/main" id="{CE3D9E15-5EBF-9D1A-EF89-9B1044D84380}"/>
                </a:ext>
              </a:extLst>
            </p:cNvPr>
            <p:cNvSpPr/>
            <p:nvPr>
              <p:custDataLst>
                <p:tags r:id="rId104"/>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29" name="MoonHalf">
            <a:extLst>
              <a:ext uri="{FF2B5EF4-FFF2-40B4-BE49-F238E27FC236}">
                <a16:creationId xmlns:a16="http://schemas.microsoft.com/office/drawing/2014/main" id="{79B6CD01-A9D2-A4B9-220B-ADE565523DAB}"/>
              </a:ext>
            </a:extLst>
          </p:cNvPr>
          <p:cNvGrpSpPr>
            <a:grpSpLocks/>
          </p:cNvGrpSpPr>
          <p:nvPr>
            <p:custDataLst>
              <p:tags r:id="rId90"/>
            </p:custDataLst>
          </p:nvPr>
        </p:nvGrpSpPr>
        <p:grpSpPr>
          <a:xfrm>
            <a:off x="7984025" y="2869402"/>
            <a:ext cx="118872" cy="118872"/>
            <a:chOff x="762000" y="1270000"/>
            <a:chExt cx="254000" cy="254000"/>
          </a:xfrm>
        </p:grpSpPr>
        <p:sp>
          <p:nvSpPr>
            <p:cNvPr id="830" name="Oval 829">
              <a:extLst>
                <a:ext uri="{FF2B5EF4-FFF2-40B4-BE49-F238E27FC236}">
                  <a16:creationId xmlns:a16="http://schemas.microsoft.com/office/drawing/2014/main" id="{4DC1F8AF-89B5-2DA3-9A69-09BC15157CC6}"/>
                </a:ext>
              </a:extLst>
            </p:cNvPr>
            <p:cNvSpPr/>
            <p:nvPr>
              <p:custDataLst>
                <p:tags r:id="rId101"/>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31" name="Arc 830">
              <a:extLst>
                <a:ext uri="{FF2B5EF4-FFF2-40B4-BE49-F238E27FC236}">
                  <a16:creationId xmlns:a16="http://schemas.microsoft.com/office/drawing/2014/main" id="{D7EACC8A-D54A-EC3F-66C8-8EA1F83FA021}"/>
                </a:ext>
              </a:extLst>
            </p:cNvPr>
            <p:cNvSpPr/>
            <p:nvPr>
              <p:custDataLst>
                <p:tags r:id="rId102"/>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32" name="MoonHalf">
            <a:extLst>
              <a:ext uri="{FF2B5EF4-FFF2-40B4-BE49-F238E27FC236}">
                <a16:creationId xmlns:a16="http://schemas.microsoft.com/office/drawing/2014/main" id="{A15256B2-5CA0-2203-3D9F-8B9038E37076}"/>
              </a:ext>
            </a:extLst>
          </p:cNvPr>
          <p:cNvGrpSpPr>
            <a:grpSpLocks/>
          </p:cNvGrpSpPr>
          <p:nvPr>
            <p:custDataLst>
              <p:tags r:id="rId91"/>
            </p:custDataLst>
          </p:nvPr>
        </p:nvGrpSpPr>
        <p:grpSpPr>
          <a:xfrm>
            <a:off x="7984025" y="2676436"/>
            <a:ext cx="118872" cy="118872"/>
            <a:chOff x="762000" y="1270000"/>
            <a:chExt cx="254000" cy="254000"/>
          </a:xfrm>
        </p:grpSpPr>
        <p:sp>
          <p:nvSpPr>
            <p:cNvPr id="833" name="Oval 832">
              <a:extLst>
                <a:ext uri="{FF2B5EF4-FFF2-40B4-BE49-F238E27FC236}">
                  <a16:creationId xmlns:a16="http://schemas.microsoft.com/office/drawing/2014/main" id="{248AA6C6-4BE1-9BE4-2831-7EDAD521FA99}"/>
                </a:ext>
              </a:extLst>
            </p:cNvPr>
            <p:cNvSpPr/>
            <p:nvPr>
              <p:custDataLst>
                <p:tags r:id="rId99"/>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34" name="Arc 833">
              <a:extLst>
                <a:ext uri="{FF2B5EF4-FFF2-40B4-BE49-F238E27FC236}">
                  <a16:creationId xmlns:a16="http://schemas.microsoft.com/office/drawing/2014/main" id="{003B29A0-238E-5741-8052-6D9B7CED8BDB}"/>
                </a:ext>
              </a:extLst>
            </p:cNvPr>
            <p:cNvSpPr/>
            <p:nvPr>
              <p:custDataLst>
                <p:tags r:id="rId100"/>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35" name="MoonHalf">
            <a:extLst>
              <a:ext uri="{FF2B5EF4-FFF2-40B4-BE49-F238E27FC236}">
                <a16:creationId xmlns:a16="http://schemas.microsoft.com/office/drawing/2014/main" id="{04EB7DAD-6B1A-CF03-B675-5191CDA9A410}"/>
              </a:ext>
            </a:extLst>
          </p:cNvPr>
          <p:cNvGrpSpPr>
            <a:grpSpLocks/>
          </p:cNvGrpSpPr>
          <p:nvPr>
            <p:custDataLst>
              <p:tags r:id="rId92"/>
            </p:custDataLst>
          </p:nvPr>
        </p:nvGrpSpPr>
        <p:grpSpPr>
          <a:xfrm>
            <a:off x="7005825" y="2869402"/>
            <a:ext cx="118872" cy="118872"/>
            <a:chOff x="762000" y="1270000"/>
            <a:chExt cx="254000" cy="254000"/>
          </a:xfrm>
        </p:grpSpPr>
        <p:sp>
          <p:nvSpPr>
            <p:cNvPr id="836" name="Oval 835">
              <a:extLst>
                <a:ext uri="{FF2B5EF4-FFF2-40B4-BE49-F238E27FC236}">
                  <a16:creationId xmlns:a16="http://schemas.microsoft.com/office/drawing/2014/main" id="{3DB3C0A6-F01B-8DB8-44A7-C2351C9F5F6A}"/>
                </a:ext>
              </a:extLst>
            </p:cNvPr>
            <p:cNvSpPr/>
            <p:nvPr>
              <p:custDataLst>
                <p:tags r:id="rId97"/>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37" name="Arc 836">
              <a:extLst>
                <a:ext uri="{FF2B5EF4-FFF2-40B4-BE49-F238E27FC236}">
                  <a16:creationId xmlns:a16="http://schemas.microsoft.com/office/drawing/2014/main" id="{56540684-404B-F956-BF97-92A99972CE4F}"/>
                </a:ext>
              </a:extLst>
            </p:cNvPr>
            <p:cNvSpPr/>
            <p:nvPr>
              <p:custDataLst>
                <p:tags r:id="rId98"/>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grpSp>
        <p:nvGrpSpPr>
          <p:cNvPr id="838" name="MoonHalf">
            <a:extLst>
              <a:ext uri="{FF2B5EF4-FFF2-40B4-BE49-F238E27FC236}">
                <a16:creationId xmlns:a16="http://schemas.microsoft.com/office/drawing/2014/main" id="{6CE2B8E5-817F-EA9C-B9A1-3929EBB6342D}"/>
              </a:ext>
            </a:extLst>
          </p:cNvPr>
          <p:cNvGrpSpPr>
            <a:grpSpLocks/>
          </p:cNvGrpSpPr>
          <p:nvPr>
            <p:custDataLst>
              <p:tags r:id="rId93"/>
            </p:custDataLst>
          </p:nvPr>
        </p:nvGrpSpPr>
        <p:grpSpPr>
          <a:xfrm>
            <a:off x="6235178" y="2483470"/>
            <a:ext cx="118872" cy="118872"/>
            <a:chOff x="762000" y="1270000"/>
            <a:chExt cx="254000" cy="254000"/>
          </a:xfrm>
        </p:grpSpPr>
        <p:sp>
          <p:nvSpPr>
            <p:cNvPr id="839" name="Oval 838">
              <a:extLst>
                <a:ext uri="{FF2B5EF4-FFF2-40B4-BE49-F238E27FC236}">
                  <a16:creationId xmlns:a16="http://schemas.microsoft.com/office/drawing/2014/main" id="{32BF3EAF-4F3D-85FB-B8C8-F2D575FB8DA3}"/>
                </a:ext>
              </a:extLst>
            </p:cNvPr>
            <p:cNvSpPr/>
            <p:nvPr>
              <p:custDataLst>
                <p:tags r:id="rId95"/>
              </p:custDataLst>
            </p:nvPr>
          </p:nvSpPr>
          <p:spPr>
            <a:xfrm>
              <a:off x="762000" y="1270000"/>
              <a:ext cx="254000" cy="25400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spcBef>
                  <a:spcPts val="300"/>
                </a:spcBef>
                <a:spcAft>
                  <a:spcPts val="300"/>
                </a:spcAft>
              </a:pPr>
              <a:endParaRPr lang="en-US" sz="1600">
                <a:solidFill>
                  <a:schemeClr val="bg1"/>
                </a:solidFill>
              </a:endParaRPr>
            </a:p>
          </p:txBody>
        </p:sp>
        <p:sp>
          <p:nvSpPr>
            <p:cNvPr id="840" name="Arc 839">
              <a:extLst>
                <a:ext uri="{FF2B5EF4-FFF2-40B4-BE49-F238E27FC236}">
                  <a16:creationId xmlns:a16="http://schemas.microsoft.com/office/drawing/2014/main" id="{DF0BB754-FFF9-F51C-9BAB-09CAB514577B}"/>
                </a:ext>
              </a:extLst>
            </p:cNvPr>
            <p:cNvSpPr/>
            <p:nvPr>
              <p:custDataLst>
                <p:tags r:id="rId96"/>
              </p:custDataLst>
            </p:nvPr>
          </p:nvSpPr>
          <p:spPr>
            <a:xfrm>
              <a:off x="762000" y="1270000"/>
              <a:ext cx="254000" cy="254000"/>
            </a:xfrm>
            <a:prstGeom prst="arc">
              <a:avLst>
                <a:gd name="adj1" fmla="val 16200000"/>
                <a:gd name="adj2" fmla="val 5400000"/>
              </a:avLst>
            </a:prstGeom>
            <a:solidFill>
              <a:schemeClr val="accent5"/>
            </a:solidFill>
            <a:ln w="6350" cap="sq"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US"/>
            </a:p>
          </p:txBody>
        </p:sp>
      </p:grpSp>
      <p:sp>
        <p:nvSpPr>
          <p:cNvPr id="841" name="TextBox 840">
            <a:extLst>
              <a:ext uri="{FF2B5EF4-FFF2-40B4-BE49-F238E27FC236}">
                <a16:creationId xmlns:a16="http://schemas.microsoft.com/office/drawing/2014/main" id="{8C96F9FB-4B0C-CEC7-10AB-A8E1825E63B6}"/>
              </a:ext>
            </a:extLst>
          </p:cNvPr>
          <p:cNvSpPr txBox="1">
            <a:spLocks/>
          </p:cNvSpPr>
          <p:nvPr/>
        </p:nvSpPr>
        <p:spPr>
          <a:xfrm>
            <a:off x="1987084" y="1493438"/>
            <a:ext cx="2351606" cy="153888"/>
          </a:xfrm>
          <a:prstGeom prst="rect">
            <a:avLst/>
          </a:prstGeom>
          <a:noFill/>
        </p:spPr>
        <p:txBody>
          <a:bodyPr vert="horz" wrap="square" lIns="0" tIns="0" rIns="0" bIns="0" anchor="b">
            <a:noAutofit/>
          </a:bodyPr>
          <a:lstStyle/>
          <a:p>
            <a:pPr fontAlgn="ctr">
              <a:buNone/>
            </a:pPr>
            <a:r>
              <a:rPr lang="en-US" sz="1000" b="1"/>
              <a:t>Detailed product / service</a:t>
            </a:r>
            <a:endParaRPr lang="en-US" sz="1000" b="1">
              <a:solidFill>
                <a:srgbClr val="000000"/>
              </a:solidFill>
              <a:latin typeface="Calibri" panose="020F0502020204030204" pitchFamily="34" charset="0"/>
            </a:endParaRPr>
          </a:p>
        </p:txBody>
      </p:sp>
      <p:pic>
        <p:nvPicPr>
          <p:cNvPr id="2" name="Picture 2">
            <a:extLst>
              <a:ext uri="{FF2B5EF4-FFF2-40B4-BE49-F238E27FC236}">
                <a16:creationId xmlns:a16="http://schemas.microsoft.com/office/drawing/2014/main" id="{1D64709A-1570-014A-648C-E1878A5B8BC9}"/>
              </a:ext>
            </a:extLst>
          </p:cNvPr>
          <p:cNvPicPr>
            <a:picLocks noChangeAspect="1" noChangeArrowheads="1"/>
          </p:cNvPicPr>
          <p:nvPr/>
        </p:nvPicPr>
        <p:blipFill>
          <a:blip r:embed="rId151">
            <a:extLst>
              <a:ext uri="{28A0092B-C50C-407E-A947-70E740481C1C}">
                <a14:useLocalDpi xmlns:a14="http://schemas.microsoft.com/office/drawing/2010/main" val="0"/>
              </a:ext>
            </a:extLst>
          </a:blip>
          <a:srcRect/>
          <a:stretch>
            <a:fillRect/>
          </a:stretch>
        </p:blipFill>
        <p:spPr bwMode="auto">
          <a:xfrm>
            <a:off x="7696008" y="1501242"/>
            <a:ext cx="694905" cy="12305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JSC &quot;Halyk Bank Georgia&quot; (Georgia) - Bank Profile">
            <a:extLst>
              <a:ext uri="{FF2B5EF4-FFF2-40B4-BE49-F238E27FC236}">
                <a16:creationId xmlns:a16="http://schemas.microsoft.com/office/drawing/2014/main" id="{79FF23AC-7738-C67B-C03E-30F6512173E8}"/>
              </a:ext>
            </a:extLst>
          </p:cNvPr>
          <p:cNvPicPr>
            <a:picLocks noChangeAspect="1" noChangeArrowheads="1"/>
          </p:cNvPicPr>
          <p:nvPr/>
        </p:nvPicPr>
        <p:blipFill>
          <a:blip r:embed="rId152">
            <a:extLst>
              <a:ext uri="{28A0092B-C50C-407E-A947-70E740481C1C}">
                <a14:useLocalDpi xmlns:a14="http://schemas.microsoft.com/office/drawing/2010/main" val="0"/>
              </a:ext>
            </a:extLst>
          </a:blip>
          <a:srcRect/>
          <a:stretch>
            <a:fillRect/>
          </a:stretch>
        </p:blipFill>
        <p:spPr bwMode="auto">
          <a:xfrm>
            <a:off x="6828019" y="1481238"/>
            <a:ext cx="474482" cy="1660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588AEAA-0F6C-52A9-6434-DA887E493851}"/>
              </a:ext>
            </a:extLst>
          </p:cNvPr>
          <p:cNvPicPr>
            <a:picLocks noChangeAspect="1" noChangeArrowheads="1"/>
          </p:cNvPicPr>
          <p:nvPr/>
        </p:nvPicPr>
        <p:blipFill>
          <a:blip r:embed="rId153">
            <a:extLst>
              <a:ext uri="{28A0092B-C50C-407E-A947-70E740481C1C}">
                <a14:useLocalDpi xmlns:a14="http://schemas.microsoft.com/office/drawing/2010/main" val="0"/>
              </a:ext>
            </a:extLst>
          </a:blip>
          <a:srcRect/>
          <a:stretch>
            <a:fillRect/>
          </a:stretch>
        </p:blipFill>
        <p:spPr bwMode="auto">
          <a:xfrm>
            <a:off x="5957488" y="1441456"/>
            <a:ext cx="674251" cy="2117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irbank Private">
            <a:extLst>
              <a:ext uri="{FF2B5EF4-FFF2-40B4-BE49-F238E27FC236}">
                <a16:creationId xmlns:a16="http://schemas.microsoft.com/office/drawing/2014/main" id="{F6FAC5F9-8297-72BC-938E-4C07E4239E45}"/>
              </a:ext>
            </a:extLst>
          </p:cNvPr>
          <p:cNvPicPr>
            <a:picLocks noChangeAspect="1" noChangeArrowheads="1"/>
          </p:cNvPicPr>
          <p:nvPr/>
        </p:nvPicPr>
        <p:blipFill>
          <a:blip r:embed="rId154">
            <a:extLst>
              <a:ext uri="{28A0092B-C50C-407E-A947-70E740481C1C}">
                <a14:useLocalDpi xmlns:a14="http://schemas.microsoft.com/office/drawing/2010/main" val="0"/>
              </a:ext>
            </a:extLst>
          </a:blip>
          <a:srcRect/>
          <a:stretch>
            <a:fillRect/>
          </a:stretch>
        </p:blipFill>
        <p:spPr bwMode="auto">
          <a:xfrm>
            <a:off x="5335382" y="1474246"/>
            <a:ext cx="456394" cy="14654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SHA Bank Georgia – Applications sur Google Play">
            <a:extLst>
              <a:ext uri="{FF2B5EF4-FFF2-40B4-BE49-F238E27FC236}">
                <a16:creationId xmlns:a16="http://schemas.microsoft.com/office/drawing/2014/main" id="{1F82974B-2DE4-05BF-B729-37BF9D058B0F}"/>
              </a:ext>
            </a:extLst>
          </p:cNvPr>
          <p:cNvPicPr>
            <a:picLocks noChangeAspect="1" noChangeArrowheads="1"/>
          </p:cNvPicPr>
          <p:nvPr/>
        </p:nvPicPr>
        <p:blipFill>
          <a:blip r:embed="rId155">
            <a:extLst>
              <a:ext uri="{28A0092B-C50C-407E-A947-70E740481C1C}">
                <a14:useLocalDpi xmlns:a14="http://schemas.microsoft.com/office/drawing/2010/main" val="0"/>
              </a:ext>
            </a:extLst>
          </a:blip>
          <a:srcRect/>
          <a:stretch>
            <a:fillRect/>
          </a:stretch>
        </p:blipFill>
        <p:spPr bwMode="auto">
          <a:xfrm>
            <a:off x="4685013" y="1373253"/>
            <a:ext cx="278147" cy="27814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BD8701D-D6D2-FC03-738A-214171DC1EBA}"/>
              </a:ext>
            </a:extLst>
          </p:cNvPr>
          <p:cNvSpPr txBox="1"/>
          <p:nvPr>
            <p:custDataLst>
              <p:tags r:id="rId94"/>
            </p:custDataLst>
          </p:nvPr>
        </p:nvSpPr>
        <p:spPr>
          <a:xfrm>
            <a:off x="9017404" y="1720249"/>
            <a:ext cx="2534540" cy="389850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spcBef>
                <a:spcPts val="500"/>
              </a:spcBef>
            </a:pPr>
            <a:r>
              <a:rPr lang="en-US" sz="1100" b="1"/>
              <a:t>PASHA Bank already covers most core private banking needs</a:t>
            </a:r>
            <a:r>
              <a:rPr lang="en-US" sz="1100"/>
              <a:t>, with a broad product suite - though several propositions are delivered indirectly through partner capabilities:</a:t>
            </a:r>
          </a:p>
          <a:p>
            <a:pPr lvl="2">
              <a:spcBef>
                <a:spcPts val="500"/>
              </a:spcBef>
            </a:pPr>
            <a:r>
              <a:rPr lang="en-US" sz="1100"/>
              <a:t>Wealth management is executed through PASHA Capital, since it has brokerage license</a:t>
            </a:r>
          </a:p>
          <a:p>
            <a:pPr lvl="1">
              <a:spcBef>
                <a:spcPts val="500"/>
              </a:spcBef>
            </a:pPr>
            <a:r>
              <a:rPr lang="en-US" sz="1100" b="1"/>
              <a:t>Next differentiation opportunity lies in:</a:t>
            </a:r>
          </a:p>
          <a:p>
            <a:pPr lvl="2">
              <a:spcBef>
                <a:spcPts val="500"/>
              </a:spcBef>
            </a:pPr>
            <a:r>
              <a:rPr lang="en-US" sz="1100"/>
              <a:t>Improving the digital app journey</a:t>
            </a:r>
          </a:p>
          <a:p>
            <a:pPr lvl="2">
              <a:spcBef>
                <a:spcPts val="500"/>
              </a:spcBef>
            </a:pPr>
            <a:r>
              <a:rPr lang="en-US" sz="1100"/>
              <a:t>Reducing manual wealth-management processes with PASHA Capital and establishing guardrails regarding customer types</a:t>
            </a:r>
          </a:p>
          <a:p>
            <a:pPr lvl="2">
              <a:spcBef>
                <a:spcPts val="500"/>
              </a:spcBef>
            </a:pPr>
            <a:r>
              <a:rPr lang="en-US" sz="1100"/>
              <a:t>Shifting lifestyle benefits toward exclusive community-led privileges</a:t>
            </a:r>
          </a:p>
        </p:txBody>
      </p:sp>
      <p:grpSp>
        <p:nvGrpSpPr>
          <p:cNvPr id="4" name="Group 3">
            <a:extLst>
              <a:ext uri="{FF2B5EF4-FFF2-40B4-BE49-F238E27FC236}">
                <a16:creationId xmlns:a16="http://schemas.microsoft.com/office/drawing/2014/main" id="{8683EF90-ED44-8786-41C1-6A86EEF03725}"/>
              </a:ext>
            </a:extLst>
          </p:cNvPr>
          <p:cNvGrpSpPr/>
          <p:nvPr/>
        </p:nvGrpSpPr>
        <p:grpSpPr>
          <a:xfrm>
            <a:off x="9119860" y="1440279"/>
            <a:ext cx="2520451" cy="222766"/>
            <a:chOff x="9119860" y="1564759"/>
            <a:chExt cx="2520451" cy="222766"/>
          </a:xfrm>
        </p:grpSpPr>
        <p:sp>
          <p:nvSpPr>
            <p:cNvPr id="7" name="TextBox 6">
              <a:extLst>
                <a:ext uri="{FF2B5EF4-FFF2-40B4-BE49-F238E27FC236}">
                  <a16:creationId xmlns:a16="http://schemas.microsoft.com/office/drawing/2014/main" id="{02D6146F-E143-9B7A-EC80-600C61888AFC}"/>
                </a:ext>
              </a:extLst>
            </p:cNvPr>
            <p:cNvSpPr txBox="1"/>
            <p:nvPr/>
          </p:nvSpPr>
          <p:spPr>
            <a:xfrm>
              <a:off x="9119860" y="1564759"/>
              <a:ext cx="2520451" cy="184666"/>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Key Insights</a:t>
              </a:r>
            </a:p>
          </p:txBody>
        </p:sp>
        <p:cxnSp>
          <p:nvCxnSpPr>
            <p:cNvPr id="8" name="Straight Connector 7">
              <a:extLst>
                <a:ext uri="{FF2B5EF4-FFF2-40B4-BE49-F238E27FC236}">
                  <a16:creationId xmlns:a16="http://schemas.microsoft.com/office/drawing/2014/main" id="{5692BBF1-7868-FC88-88B0-19CCD76E6F47}"/>
                </a:ext>
              </a:extLst>
            </p:cNvPr>
            <p:cNvCxnSpPr>
              <a:cxnSpLocks/>
            </p:cNvCxnSpPr>
            <p:nvPr/>
          </p:nvCxnSpPr>
          <p:spPr>
            <a:xfrm>
              <a:off x="9119860" y="1787525"/>
              <a:ext cx="2520450" cy="0"/>
            </a:xfrm>
            <a:prstGeom prst="line">
              <a:avLst/>
            </a:prstGeom>
            <a:ln w="12700"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2064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916C-C604-6C7D-B674-501120F84AEA}"/>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A564C8C9-DD91-0AA5-B43A-CF5E2897BEA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84" imgH="486" progId="TCLayout.ActiveDocument.1">
                  <p:embed/>
                </p:oleObj>
              </mc:Choice>
              <mc:Fallback>
                <p:oleObj name="think-cell Slide" r:id="rId18" imgW="484" imgH="486" progId="TCLayout.ActiveDocument.1">
                  <p:embed/>
                  <p:pic>
                    <p:nvPicPr>
                      <p:cNvPr id="5" name="Object 6" hidden="1">
                        <a:extLst>
                          <a:ext uri="{FF2B5EF4-FFF2-40B4-BE49-F238E27FC236}">
                            <a16:creationId xmlns:a16="http://schemas.microsoft.com/office/drawing/2014/main" id="{A564C8C9-DD91-0AA5-B43A-CF5E2897BEAF}"/>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4" name="1. On-page tracker">
            <a:extLst>
              <a:ext uri="{FF2B5EF4-FFF2-40B4-BE49-F238E27FC236}">
                <a16:creationId xmlns:a16="http://schemas.microsoft.com/office/drawing/2014/main" id="{4E5801BC-98A5-9A85-F5DF-E0A9082F4AD9}"/>
              </a:ext>
            </a:extLst>
          </p:cNvPr>
          <p:cNvSpPr>
            <a:spLocks noGrp="1"/>
          </p:cNvSpPr>
          <p:nvPr>
            <p:ph type="body" sz="quarter" idx="10"/>
            <p:custDataLst>
              <p:tags r:id="rId2"/>
            </p:custDataLst>
          </p:nvPr>
        </p:nvSpPr>
        <p:spPr/>
        <p:txBody>
          <a:bodyPr/>
          <a:lstStyle/>
          <a:p>
            <a:endParaRPr lang="en-US"/>
          </a:p>
        </p:txBody>
      </p:sp>
      <p:sp>
        <p:nvSpPr>
          <p:cNvPr id="6" name="2. Slide Title">
            <a:extLst>
              <a:ext uri="{FF2B5EF4-FFF2-40B4-BE49-F238E27FC236}">
                <a16:creationId xmlns:a16="http://schemas.microsoft.com/office/drawing/2014/main" id="{38FAA3A8-6384-8A3B-1665-50B4FFE4A41E}"/>
              </a:ext>
            </a:extLst>
          </p:cNvPr>
          <p:cNvSpPr txBox="1">
            <a:spLocks/>
          </p:cNvSpPr>
          <p:nvPr>
            <p:custDataLst>
              <p:tags r:id="rId3"/>
            </p:custDataLst>
          </p:nvPr>
        </p:nvSpPr>
        <p:spPr>
          <a:xfrm>
            <a:off x="547689" y="615594"/>
            <a:ext cx="10909556" cy="3896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noAutofit/>
          </a:bodyPr>
          <a:lstStyle>
            <a:lvl1pPr algn="l" defTabSz="914400" rtl="0" eaLnBrk="1" latinLnBrk="0" hangingPunct="1">
              <a:lnSpc>
                <a:spcPct val="100000"/>
              </a:lnSpc>
              <a:spcBef>
                <a:spcPct val="0"/>
              </a:spcBef>
              <a:buNone/>
              <a:defRPr lang="ru-RU" sz="2400" b="1" kern="1200" spc="0" baseline="0" dirty="0">
                <a:ln w="6350" cap="flat">
                  <a:noFill/>
                  <a:miter lim="800000"/>
                </a:ln>
                <a:solidFill>
                  <a:srgbClr val="191C1E"/>
                </a:solidFill>
                <a:latin typeface="Georgia" panose="02040502050405020303" pitchFamily="18" charset="0"/>
                <a:ea typeface="Tahoma" panose="020B0604030504040204" pitchFamily="34" charset="0"/>
                <a:cs typeface="Tahoma" panose="020B0604030504040204" pitchFamily="34" charset="0"/>
              </a:defRPr>
            </a:lvl1pPr>
          </a:lstStyle>
          <a:p>
            <a:r>
              <a:rPr lang="en-US" sz="2000"/>
              <a:t>… Banks also differentiate themselves with beyond-banking unique offers to make private customers feel privileged and part of the club</a:t>
            </a:r>
            <a:endParaRPr lang="en-GB" sz="2000"/>
          </a:p>
        </p:txBody>
      </p:sp>
      <p:grpSp>
        <p:nvGrpSpPr>
          <p:cNvPr id="7" name="Group 6">
            <a:extLst>
              <a:ext uri="{FF2B5EF4-FFF2-40B4-BE49-F238E27FC236}">
                <a16:creationId xmlns:a16="http://schemas.microsoft.com/office/drawing/2014/main" id="{DB7C7A67-9E09-0C96-A99E-57EAF03A13FC}"/>
              </a:ext>
            </a:extLst>
          </p:cNvPr>
          <p:cNvGrpSpPr/>
          <p:nvPr/>
        </p:nvGrpSpPr>
        <p:grpSpPr>
          <a:xfrm>
            <a:off x="9474750" y="1312667"/>
            <a:ext cx="2162514" cy="180000"/>
            <a:chOff x="9318364" y="809400"/>
            <a:chExt cx="2162514" cy="180000"/>
          </a:xfrm>
        </p:grpSpPr>
        <p:sp>
          <p:nvSpPr>
            <p:cNvPr id="8" name="TextBox 7">
              <a:extLst>
                <a:ext uri="{FF2B5EF4-FFF2-40B4-BE49-F238E27FC236}">
                  <a16:creationId xmlns:a16="http://schemas.microsoft.com/office/drawing/2014/main" id="{36CECE5B-565F-BB64-AFE9-6166612CBAD6}"/>
                </a:ext>
              </a:extLst>
            </p:cNvPr>
            <p:cNvSpPr txBox="1"/>
            <p:nvPr/>
          </p:nvSpPr>
          <p:spPr>
            <a:xfrm>
              <a:off x="9565742" y="822456"/>
              <a:ext cx="758221" cy="153888"/>
            </a:xfrm>
            <a:prstGeom prst="rect">
              <a:avLst/>
            </a:prstGeom>
            <a:noFill/>
            <a:extLst>
              <a:ext uri="{909E8E84-426E-40DD-AFC4-6F175D3DCCD1}">
                <a14:hiddenFill xmlns:a14="http://schemas.microsoft.com/office/drawing/2010/main">
                  <a:solidFill>
                    <a:srgbClr val="FFFFFF"/>
                  </a:solidFill>
                </a14:hiddenFill>
              </a:ext>
            </a:extLst>
          </p:spPr>
          <p:txBody>
            <a:bodyPr vert="horz" wrap="non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000">
                  <a:solidFill>
                    <a:srgbClr val="000000"/>
                  </a:solidFill>
                  <a:cs typeface="+mn-cs"/>
                  <a:sym typeface="Arial" panose="020B0604020202020204" pitchFamily="34" charset="0"/>
                </a:rPr>
                <a:t>Unique offers</a:t>
              </a:r>
            </a:p>
          </p:txBody>
        </p:sp>
        <p:sp>
          <p:nvSpPr>
            <p:cNvPr id="9" name="TextBox 8">
              <a:extLst>
                <a:ext uri="{FF2B5EF4-FFF2-40B4-BE49-F238E27FC236}">
                  <a16:creationId xmlns:a16="http://schemas.microsoft.com/office/drawing/2014/main" id="{744832B0-20A6-30C9-F3F4-E97B3949AC81}"/>
                </a:ext>
              </a:extLst>
            </p:cNvPr>
            <p:cNvSpPr txBox="1"/>
            <p:nvPr/>
          </p:nvSpPr>
          <p:spPr>
            <a:xfrm>
              <a:off x="10814029" y="822456"/>
              <a:ext cx="666849" cy="153888"/>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cs typeface="+mn-cs"/>
                </a:rPr>
                <a:t>Basic offers</a:t>
              </a:r>
            </a:p>
          </p:txBody>
        </p:sp>
        <p:sp>
          <p:nvSpPr>
            <p:cNvPr id="10" name="Rectangle: Rounded Corners 9">
              <a:extLst>
                <a:ext uri="{FF2B5EF4-FFF2-40B4-BE49-F238E27FC236}">
                  <a16:creationId xmlns:a16="http://schemas.microsoft.com/office/drawing/2014/main" id="{29FDBD5E-7E25-2B81-3E68-ACB87B881A81}"/>
                </a:ext>
              </a:extLst>
            </p:cNvPr>
            <p:cNvSpPr>
              <a:spLocks/>
            </p:cNvSpPr>
            <p:nvPr/>
          </p:nvSpPr>
          <p:spPr>
            <a:xfrm>
              <a:off x="10566651" y="809400"/>
              <a:ext cx="180000" cy="180000"/>
            </a:xfrm>
            <a:prstGeom prst="roundRect">
              <a:avLst>
                <a:gd name="adj" fmla="val 0"/>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50">
                <a:solidFill>
                  <a:schemeClr val="tx1"/>
                </a:solidFill>
              </a:endParaRPr>
            </a:p>
          </p:txBody>
        </p:sp>
        <p:sp>
          <p:nvSpPr>
            <p:cNvPr id="11" name="Rectangle: Rounded Corners 10">
              <a:extLst>
                <a:ext uri="{FF2B5EF4-FFF2-40B4-BE49-F238E27FC236}">
                  <a16:creationId xmlns:a16="http://schemas.microsoft.com/office/drawing/2014/main" id="{0B9EA7B0-A2C0-1C1F-4B63-05BDBA23C5E5}"/>
                </a:ext>
              </a:extLst>
            </p:cNvPr>
            <p:cNvSpPr>
              <a:spLocks/>
            </p:cNvSpPr>
            <p:nvPr/>
          </p:nvSpPr>
          <p:spPr>
            <a:xfrm>
              <a:off x="9318364" y="809400"/>
              <a:ext cx="180000" cy="180000"/>
            </a:xfrm>
            <a:prstGeom prst="roundRect">
              <a:avLst>
                <a:gd name="adj" fmla="val 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050">
                <a:solidFill>
                  <a:schemeClr val="tx1"/>
                </a:solidFill>
              </a:endParaRPr>
            </a:p>
          </p:txBody>
        </p:sp>
      </p:grpSp>
      <p:sp>
        <p:nvSpPr>
          <p:cNvPr id="12" name="Rectangle: Rounded Corners 11">
            <a:extLst>
              <a:ext uri="{FF2B5EF4-FFF2-40B4-BE49-F238E27FC236}">
                <a16:creationId xmlns:a16="http://schemas.microsoft.com/office/drawing/2014/main" id="{9E9C1533-8824-9914-F169-62DBF8F8E023}"/>
              </a:ext>
            </a:extLst>
          </p:cNvPr>
          <p:cNvSpPr>
            <a:spLocks/>
          </p:cNvSpPr>
          <p:nvPr/>
        </p:nvSpPr>
        <p:spPr>
          <a:xfrm>
            <a:off x="1823045" y="3520693"/>
            <a:ext cx="9814219" cy="2699242"/>
          </a:xfrm>
          <a:prstGeom prst="roundRect">
            <a:avLst>
              <a:gd name="adj" fmla="val 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a:solidFill>
                <a:schemeClr val="bg1"/>
              </a:solidFill>
            </a:endParaRPr>
          </a:p>
        </p:txBody>
      </p:sp>
      <p:sp>
        <p:nvSpPr>
          <p:cNvPr id="13" name="Rectangle: Rounded Corners 12">
            <a:extLst>
              <a:ext uri="{FF2B5EF4-FFF2-40B4-BE49-F238E27FC236}">
                <a16:creationId xmlns:a16="http://schemas.microsoft.com/office/drawing/2014/main" id="{B494CE56-34F7-BFB6-477F-40FAE6C9F734}"/>
              </a:ext>
            </a:extLst>
          </p:cNvPr>
          <p:cNvSpPr>
            <a:spLocks/>
          </p:cNvSpPr>
          <p:nvPr/>
        </p:nvSpPr>
        <p:spPr>
          <a:xfrm>
            <a:off x="6761480" y="1626463"/>
            <a:ext cx="4875784" cy="1910575"/>
          </a:xfrm>
          <a:prstGeom prst="roundRect">
            <a:avLst>
              <a:gd name="adj" fmla="val 0"/>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a:solidFill>
                <a:schemeClr val="bg1"/>
              </a:solidFill>
            </a:endParaRPr>
          </a:p>
        </p:txBody>
      </p:sp>
      <p:sp>
        <p:nvSpPr>
          <p:cNvPr id="14" name="Rectangle: Rounded Corners 13">
            <a:extLst>
              <a:ext uri="{FF2B5EF4-FFF2-40B4-BE49-F238E27FC236}">
                <a16:creationId xmlns:a16="http://schemas.microsoft.com/office/drawing/2014/main" id="{75EC4B0F-1063-BE54-BE99-DE529D6D5E15}"/>
              </a:ext>
            </a:extLst>
          </p:cNvPr>
          <p:cNvSpPr>
            <a:spLocks/>
          </p:cNvSpPr>
          <p:nvPr/>
        </p:nvSpPr>
        <p:spPr>
          <a:xfrm>
            <a:off x="1823045" y="1626463"/>
            <a:ext cx="4875784" cy="1910575"/>
          </a:xfrm>
          <a:prstGeom prst="roundRect">
            <a:avLst>
              <a:gd name="adj" fmla="val 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a:solidFill>
                <a:schemeClr val="bg1"/>
              </a:solidFill>
            </a:endParaRPr>
          </a:p>
        </p:txBody>
      </p:sp>
      <p:grpSp>
        <p:nvGrpSpPr>
          <p:cNvPr id="15" name="Group 14">
            <a:extLst>
              <a:ext uri="{FF2B5EF4-FFF2-40B4-BE49-F238E27FC236}">
                <a16:creationId xmlns:a16="http://schemas.microsoft.com/office/drawing/2014/main" id="{FA9167FB-8150-AA14-D1B0-DD9D77DF0FA9}"/>
              </a:ext>
            </a:extLst>
          </p:cNvPr>
          <p:cNvGrpSpPr>
            <a:grpSpLocks/>
          </p:cNvGrpSpPr>
          <p:nvPr/>
        </p:nvGrpSpPr>
        <p:grpSpPr>
          <a:xfrm>
            <a:off x="6861200" y="2296906"/>
            <a:ext cx="4688127" cy="215444"/>
            <a:chOff x="6861200" y="2201664"/>
            <a:chExt cx="4688127" cy="215444"/>
          </a:xfrm>
        </p:grpSpPr>
        <p:sp>
          <p:nvSpPr>
            <p:cNvPr id="16" name="TextBox 15">
              <a:extLst>
                <a:ext uri="{FF2B5EF4-FFF2-40B4-BE49-F238E27FC236}">
                  <a16:creationId xmlns:a16="http://schemas.microsoft.com/office/drawing/2014/main" id="{F35AEDD3-7F30-431B-07C3-A64A4C2FB53C}"/>
                </a:ext>
              </a:extLst>
            </p:cNvPr>
            <p:cNvSpPr txBox="1">
              <a:spLocks/>
            </p:cNvSpPr>
            <p:nvPr/>
          </p:nvSpPr>
          <p:spPr bwMode="gray">
            <a:xfrm>
              <a:off x="6861200" y="2201664"/>
              <a:ext cx="2547164"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Free Wi-Fi/roaming worldwide</a:t>
              </a:r>
            </a:p>
          </p:txBody>
        </p:sp>
        <p:pic>
          <p:nvPicPr>
            <p:cNvPr id="17" name="Picture 107" descr="ÐÐ°ÑÑÐ¸Ð½ÐºÐ¸ Ð¿Ð¾ Ð·Ð°Ð¿ÑÐ¾ÑÑ logo png ÐÐ¢Ð">
              <a:extLst>
                <a:ext uri="{FF2B5EF4-FFF2-40B4-BE49-F238E27FC236}">
                  <a16:creationId xmlns:a16="http://schemas.microsoft.com/office/drawing/2014/main" id="{323560EC-4F8C-EEDE-2ACB-8ED6CAA44ED1}"/>
                </a:ext>
              </a:extLst>
            </p:cNvPr>
            <p:cNvPicPr>
              <a:picLocks noChangeArrowheads="1"/>
            </p:cNvPicPr>
            <p:nvPr/>
          </p:nvPicPr>
          <p:blipFill>
            <a:blip r:embed="rId20" cstate="screen">
              <a:extLst>
                <a:ext uri="{BEBA8EAE-BF5A-486C-A8C5-ECC9F3942E4B}">
                  <a14:imgProps xmlns:a14="http://schemas.microsoft.com/office/drawing/2010/main">
                    <a14:imgLayer r:embed="rId21">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0261626" y="2218467"/>
              <a:ext cx="493403" cy="18183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31" descr="ÐÐ¾ÑÐ¾Ð¶ÐµÐµ Ð¸Ð·Ð¾Ð±ÑÐ°Ð¶ÐµÐ½Ð¸Ðµ">
              <a:extLst>
                <a:ext uri="{FF2B5EF4-FFF2-40B4-BE49-F238E27FC236}">
                  <a16:creationId xmlns:a16="http://schemas.microsoft.com/office/drawing/2014/main" id="{E7ED3A78-D3DE-8EA3-3E56-D4AE1E8B40D2}"/>
                </a:ext>
              </a:extLst>
            </p:cNvPr>
            <p:cNvPicPr>
              <a:picLocks noChangeArrowheads="1"/>
            </p:cNvPicPr>
            <p:nvPr/>
          </p:nvPicPr>
          <p:blipFill>
            <a:blip r:embed="rId22" cstate="screen">
              <a:extLst>
                <a:ext uri="{BEBA8EAE-BF5A-486C-A8C5-ECC9F3942E4B}">
                  <a14:imgProps xmlns:a14="http://schemas.microsoft.com/office/drawing/2010/main">
                    <a14:imgLayer r:embed="rId2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0912408" y="2221417"/>
              <a:ext cx="636919" cy="17593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2" descr="ÐÐ°ÑÑÐ¸Ð½ÐºÐ¸ Ð¿Ð¾ Ð·Ð°Ð¿ÑÐ¾ÑÑ logo png citybank usa">
              <a:extLst>
                <a:ext uri="{FF2B5EF4-FFF2-40B4-BE49-F238E27FC236}">
                  <a16:creationId xmlns:a16="http://schemas.microsoft.com/office/drawing/2014/main" id="{5707AF51-1F7B-D8E4-F997-17CFD85C51E8}"/>
                </a:ext>
              </a:extLst>
            </p:cNvPr>
            <p:cNvPicPr>
              <a:picLocks noChangeAspect="1" noChangeArrowheads="1"/>
            </p:cNvPicPr>
            <p:nvPr/>
          </p:nvPicPr>
          <p:blipFill>
            <a:blip r:embed="rId24" cstate="screen">
              <a:extLst>
                <a:ext uri="{BEBA8EAE-BF5A-486C-A8C5-ECC9F3942E4B}">
                  <a14:imgProps xmlns:a14="http://schemas.microsoft.com/office/drawing/2010/main">
                    <a14:imgLayer r:embed="rId25">
                      <a14:imgEffect>
                        <a14:saturation sat="0"/>
                      </a14:imgEffect>
                    </a14:imgLayer>
                  </a14:imgProps>
                </a:ext>
                <a:ext uri="{28A0092B-C50C-407E-A947-70E740481C1C}">
                  <a14:useLocalDpi xmlns:a14="http://schemas.microsoft.com/office/drawing/2010/main"/>
                </a:ext>
              </a:extLst>
            </a:blip>
            <a:srcRect/>
            <a:stretch>
              <a:fillRect/>
            </a:stretch>
          </p:blipFill>
          <p:spPr bwMode="auto">
            <a:xfrm>
              <a:off x="9565742" y="2234797"/>
              <a:ext cx="538506" cy="1491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Group 19">
            <a:extLst>
              <a:ext uri="{FF2B5EF4-FFF2-40B4-BE49-F238E27FC236}">
                <a16:creationId xmlns:a16="http://schemas.microsoft.com/office/drawing/2014/main" id="{10BDBE1B-445A-2F9B-F488-F3A1F28FD17B}"/>
              </a:ext>
            </a:extLst>
          </p:cNvPr>
          <p:cNvGrpSpPr/>
          <p:nvPr/>
        </p:nvGrpSpPr>
        <p:grpSpPr>
          <a:xfrm>
            <a:off x="6861200" y="2672054"/>
            <a:ext cx="4688127" cy="298907"/>
            <a:chOff x="6861200" y="2718296"/>
            <a:chExt cx="4688127" cy="298907"/>
          </a:xfrm>
        </p:grpSpPr>
        <p:sp>
          <p:nvSpPr>
            <p:cNvPr id="21" name="TextBox 20">
              <a:extLst>
                <a:ext uri="{FF2B5EF4-FFF2-40B4-BE49-F238E27FC236}">
                  <a16:creationId xmlns:a16="http://schemas.microsoft.com/office/drawing/2014/main" id="{2541F809-1CC9-EAD3-C35D-13BE7B593920}"/>
                </a:ext>
              </a:extLst>
            </p:cNvPr>
            <p:cNvSpPr txBox="1">
              <a:spLocks/>
            </p:cNvSpPr>
            <p:nvPr/>
          </p:nvSpPr>
          <p:spPr bwMode="gray">
            <a:xfrm>
              <a:off x="6861200" y="2760027"/>
              <a:ext cx="2547164" cy="215444"/>
            </a:xfrm>
            <a:prstGeom prst="rect">
              <a:avLst/>
            </a:prstGeom>
            <a:noFill/>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Priority Pass/Lounge Key</a:t>
              </a:r>
            </a:p>
          </p:txBody>
        </p:sp>
        <p:pic>
          <p:nvPicPr>
            <p:cNvPr id="22" name="Picture 135" descr="ÐÐ°ÑÑÐ¸Ð½ÐºÐ¸ Ð¿Ð¾ Ð·Ð°Ð¿ÑÐ¾ÑÑ logo png Itau">
              <a:extLst>
                <a:ext uri="{FF2B5EF4-FFF2-40B4-BE49-F238E27FC236}">
                  <a16:creationId xmlns:a16="http://schemas.microsoft.com/office/drawing/2014/main" id="{5D6EE200-68AA-98E6-91DD-91C34F63102D}"/>
                </a:ext>
              </a:extLst>
            </p:cNvPr>
            <p:cNvPicPr>
              <a:picLocks noChangeArrowheads="1"/>
            </p:cNvPicPr>
            <p:nvPr/>
          </p:nvPicPr>
          <p:blipFill>
            <a:blip r:embed="rId26" cstate="screen">
              <a:extLst>
                <a:ext uri="{BEBA8EAE-BF5A-486C-A8C5-ECC9F3942E4B}">
                  <a14:imgProps xmlns:a14="http://schemas.microsoft.com/office/drawing/2010/main">
                    <a14:imgLayer r:embed="rId27">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1262349" y="2718296"/>
              <a:ext cx="286978" cy="298907"/>
            </a:xfrm>
            <a:prstGeom prst="rect">
              <a:avLst/>
            </a:prstGeom>
            <a:solidFill>
              <a:schemeClr val="bg1">
                <a:lumMod val="95000"/>
              </a:schemeClr>
            </a:solidFill>
          </p:spPr>
        </p:pic>
        <p:pic>
          <p:nvPicPr>
            <p:cNvPr id="23" name="Picture 131" descr="ÐÐ¾ÑÐ¾Ð¶ÐµÐµ Ð¸Ð·Ð¾Ð±ÑÐ°Ð¶ÐµÐ½Ð¸Ðµ">
              <a:extLst>
                <a:ext uri="{FF2B5EF4-FFF2-40B4-BE49-F238E27FC236}">
                  <a16:creationId xmlns:a16="http://schemas.microsoft.com/office/drawing/2014/main" id="{AA19AD14-44F2-42CB-67A2-37C83987CC51}"/>
                </a:ext>
              </a:extLst>
            </p:cNvPr>
            <p:cNvPicPr>
              <a:picLocks noChangeArrowheads="1"/>
            </p:cNvPicPr>
            <p:nvPr/>
          </p:nvPicPr>
          <p:blipFill>
            <a:blip r:embed="rId28" cstate="screen">
              <a:extLst>
                <a:ext uri="{BEBA8EAE-BF5A-486C-A8C5-ECC9F3942E4B}">
                  <a14:imgProps xmlns:a14="http://schemas.microsoft.com/office/drawing/2010/main">
                    <a14:imgLayer r:embed="rId29">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0544122" y="2779780"/>
              <a:ext cx="636919" cy="175939"/>
            </a:xfrm>
            <a:prstGeom prst="rect">
              <a:avLst/>
            </a:prstGeom>
            <a:solidFill>
              <a:schemeClr val="bg1">
                <a:lumMod val="95000"/>
              </a:schemeClr>
            </a:solidFill>
          </p:spPr>
        </p:pic>
        <p:pic>
          <p:nvPicPr>
            <p:cNvPr id="24" name="Picture 20" descr="Image result for dbs logo">
              <a:extLst>
                <a:ext uri="{FF2B5EF4-FFF2-40B4-BE49-F238E27FC236}">
                  <a16:creationId xmlns:a16="http://schemas.microsoft.com/office/drawing/2014/main" id="{E226D3F3-6EB4-5AA3-F05E-6924024C07EE}"/>
                </a:ext>
              </a:extLst>
            </p:cNvPr>
            <p:cNvPicPr>
              <a:picLocks noChangeAspect="1" noChangeArrowheads="1"/>
            </p:cNvPicPr>
            <p:nvPr/>
          </p:nvPicPr>
          <p:blipFill>
            <a:blip r:embed="rId30" cstate="screen">
              <a:extLst>
                <a:ext uri="{BEBA8EAE-BF5A-486C-A8C5-ECC9F3942E4B}">
                  <a14:imgProps xmlns:a14="http://schemas.microsoft.com/office/drawing/2010/main">
                    <a14:imgLayer r:embed="rId31">
                      <a14:imgEffect>
                        <a14:saturation sat="0"/>
                      </a14:imgEffect>
                    </a14:imgLayer>
                  </a14:imgProps>
                </a:ext>
                <a:ext uri="{28A0092B-C50C-407E-A947-70E740481C1C}">
                  <a14:useLocalDpi xmlns:a14="http://schemas.microsoft.com/office/drawing/2010/main"/>
                </a:ext>
              </a:extLst>
            </a:blip>
            <a:srcRect/>
            <a:stretch>
              <a:fillRect/>
            </a:stretch>
          </p:blipFill>
          <p:spPr bwMode="auto">
            <a:xfrm>
              <a:off x="9414659" y="2785413"/>
              <a:ext cx="455600" cy="16467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5" descr="Image result for qnb logo png">
              <a:extLst>
                <a:ext uri="{FF2B5EF4-FFF2-40B4-BE49-F238E27FC236}">
                  <a16:creationId xmlns:a16="http://schemas.microsoft.com/office/drawing/2014/main" id="{2F04669A-E659-E0E0-D11C-DD67830D7E16}"/>
                </a:ext>
              </a:extLst>
            </p:cNvPr>
            <p:cNvPicPr>
              <a:picLocks noChangeAspect="1" noChangeArrowheads="1"/>
            </p:cNvPicPr>
            <p:nvPr/>
          </p:nvPicPr>
          <p:blipFill>
            <a:blip r:embed="rId32" cstate="screen">
              <a:extLst>
                <a:ext uri="{BEBA8EAE-BF5A-486C-A8C5-ECC9F3942E4B}">
                  <a14:imgProps xmlns:a14="http://schemas.microsoft.com/office/drawing/2010/main">
                    <a14:imgLayer r:embed="rId3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9951566" y="2795357"/>
              <a:ext cx="511249" cy="144785"/>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6" name="LineSeparatorStrong 25">
            <a:extLst>
              <a:ext uri="{FF2B5EF4-FFF2-40B4-BE49-F238E27FC236}">
                <a16:creationId xmlns:a16="http://schemas.microsoft.com/office/drawing/2014/main" id="{E2AEDA64-BDDE-28E8-9C7D-21CA6761E859}"/>
              </a:ext>
            </a:extLst>
          </p:cNvPr>
          <p:cNvCxnSpPr/>
          <p:nvPr>
            <p:custDataLst>
              <p:tags r:id="rId4"/>
            </p:custDataLst>
          </p:nvPr>
        </p:nvCxnSpPr>
        <p:spPr>
          <a:xfrm>
            <a:off x="1907342" y="2968837"/>
            <a:ext cx="44805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LineSeparatorStrong 25">
            <a:extLst>
              <a:ext uri="{FF2B5EF4-FFF2-40B4-BE49-F238E27FC236}">
                <a16:creationId xmlns:a16="http://schemas.microsoft.com/office/drawing/2014/main" id="{A378C96D-B998-981B-C4D4-13C636A65642}"/>
              </a:ext>
            </a:extLst>
          </p:cNvPr>
          <p:cNvCxnSpPr>
            <a:cxnSpLocks/>
          </p:cNvCxnSpPr>
          <p:nvPr>
            <p:custDataLst>
              <p:tags r:id="rId5"/>
            </p:custDataLst>
          </p:nvPr>
        </p:nvCxnSpPr>
        <p:spPr>
          <a:xfrm>
            <a:off x="1907342" y="2616079"/>
            <a:ext cx="44805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LineSeparatorStrong 25">
            <a:extLst>
              <a:ext uri="{FF2B5EF4-FFF2-40B4-BE49-F238E27FC236}">
                <a16:creationId xmlns:a16="http://schemas.microsoft.com/office/drawing/2014/main" id="{B8DD4711-DF5A-6FF9-8DB3-CA90A2D434CD}"/>
              </a:ext>
            </a:extLst>
          </p:cNvPr>
          <p:cNvCxnSpPr>
            <a:cxnSpLocks/>
          </p:cNvCxnSpPr>
          <p:nvPr>
            <p:custDataLst>
              <p:tags r:id="rId6"/>
            </p:custDataLst>
          </p:nvPr>
        </p:nvCxnSpPr>
        <p:spPr>
          <a:xfrm>
            <a:off x="1907342" y="2194664"/>
            <a:ext cx="44805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5C9A5C90-8FB7-AED4-B4A6-B5A603E7E063}"/>
              </a:ext>
            </a:extLst>
          </p:cNvPr>
          <p:cNvGrpSpPr/>
          <p:nvPr/>
        </p:nvGrpSpPr>
        <p:grpSpPr>
          <a:xfrm>
            <a:off x="1926934" y="5491037"/>
            <a:ext cx="9599981" cy="261462"/>
            <a:chOff x="1926934" y="5475714"/>
            <a:chExt cx="9599981" cy="261462"/>
          </a:xfrm>
        </p:grpSpPr>
        <p:sp>
          <p:nvSpPr>
            <p:cNvPr id="30" name="TextBox 29">
              <a:extLst>
                <a:ext uri="{FF2B5EF4-FFF2-40B4-BE49-F238E27FC236}">
                  <a16:creationId xmlns:a16="http://schemas.microsoft.com/office/drawing/2014/main" id="{86BCC6E4-5852-6495-474A-7DA5370F952D}"/>
                </a:ext>
              </a:extLst>
            </p:cNvPr>
            <p:cNvSpPr txBox="1">
              <a:spLocks/>
            </p:cNvSpPr>
            <p:nvPr/>
          </p:nvSpPr>
          <p:spPr bwMode="gray">
            <a:xfrm>
              <a:off x="1926934" y="5498723"/>
              <a:ext cx="8313456"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b="1"/>
                <a:t>Programs for children </a:t>
              </a:r>
              <a:r>
                <a:rPr lang="en-US"/>
                <a:t>(from financial and ethical education to entertainment programs)</a:t>
              </a:r>
            </a:p>
          </p:txBody>
        </p:sp>
        <p:pic>
          <p:nvPicPr>
            <p:cNvPr id="31" name="Picture 65">
              <a:extLst>
                <a:ext uri="{FF2B5EF4-FFF2-40B4-BE49-F238E27FC236}">
                  <a16:creationId xmlns:a16="http://schemas.microsoft.com/office/drawing/2014/main" id="{3D5AEBC7-DD12-48E3-E3B8-E50B6B8EC72D}"/>
                </a:ext>
              </a:extLst>
            </p:cNvPr>
            <p:cNvPicPr>
              <a:picLocks noChangeAspect="1" noChangeArrowheads="1"/>
            </p:cNvPicPr>
            <p:nvPr/>
          </p:nvPicPr>
          <p:blipFill>
            <a:blip r:embed="rId34" cstate="screen">
              <a:extLst>
                <a:ext uri="{28A0092B-C50C-407E-A947-70E740481C1C}">
                  <a14:useLocalDpi xmlns:a14="http://schemas.microsoft.com/office/drawing/2010/main"/>
                </a:ext>
              </a:extLst>
            </a:blip>
            <a:srcRect/>
            <a:stretch>
              <a:fillRect/>
            </a:stretch>
          </p:blipFill>
          <p:spPr bwMode="auto">
            <a:xfrm>
              <a:off x="10866409" y="5475714"/>
              <a:ext cx="660506" cy="2614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Group 31">
            <a:extLst>
              <a:ext uri="{FF2B5EF4-FFF2-40B4-BE49-F238E27FC236}">
                <a16:creationId xmlns:a16="http://schemas.microsoft.com/office/drawing/2014/main" id="{63C8852C-FCF0-4E76-4FA2-0D941B36EE86}"/>
              </a:ext>
            </a:extLst>
          </p:cNvPr>
          <p:cNvGrpSpPr/>
          <p:nvPr/>
        </p:nvGrpSpPr>
        <p:grpSpPr>
          <a:xfrm>
            <a:off x="1926934" y="5889813"/>
            <a:ext cx="9599981" cy="261462"/>
            <a:chOff x="1926934" y="5896539"/>
            <a:chExt cx="9599981" cy="261462"/>
          </a:xfrm>
        </p:grpSpPr>
        <p:sp>
          <p:nvSpPr>
            <p:cNvPr id="33" name="TextBox 32">
              <a:extLst>
                <a:ext uri="{FF2B5EF4-FFF2-40B4-BE49-F238E27FC236}">
                  <a16:creationId xmlns:a16="http://schemas.microsoft.com/office/drawing/2014/main" id="{63F48596-6E67-EFCB-1AD4-2DD226012B1D}"/>
                </a:ext>
              </a:extLst>
            </p:cNvPr>
            <p:cNvSpPr txBox="1">
              <a:spLocks/>
            </p:cNvSpPr>
            <p:nvPr/>
          </p:nvSpPr>
          <p:spPr bwMode="gray">
            <a:xfrm>
              <a:off x="1926934" y="5919548"/>
              <a:ext cx="8313456"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Assistance with selecting a </a:t>
              </a:r>
              <a:r>
                <a:rPr lang="en-US" b="1"/>
                <a:t>school for a child</a:t>
              </a:r>
              <a:endParaRPr lang="en-US"/>
            </a:p>
          </p:txBody>
        </p:sp>
        <p:pic>
          <p:nvPicPr>
            <p:cNvPr id="34" name="Picture 65">
              <a:extLst>
                <a:ext uri="{FF2B5EF4-FFF2-40B4-BE49-F238E27FC236}">
                  <a16:creationId xmlns:a16="http://schemas.microsoft.com/office/drawing/2014/main" id="{E0317CCB-8754-A1F8-28F2-8AB6375D065B}"/>
                </a:ext>
              </a:extLst>
            </p:cNvPr>
            <p:cNvPicPr>
              <a:picLocks noChangeAspect="1" noChangeArrowheads="1"/>
            </p:cNvPicPr>
            <p:nvPr/>
          </p:nvPicPr>
          <p:blipFill>
            <a:blip r:embed="rId34" cstate="screen">
              <a:extLst>
                <a:ext uri="{28A0092B-C50C-407E-A947-70E740481C1C}">
                  <a14:useLocalDpi xmlns:a14="http://schemas.microsoft.com/office/drawing/2010/main"/>
                </a:ext>
              </a:extLst>
            </a:blip>
            <a:srcRect/>
            <a:stretch>
              <a:fillRect/>
            </a:stretch>
          </p:blipFill>
          <p:spPr bwMode="auto">
            <a:xfrm>
              <a:off x="10866409" y="5896539"/>
              <a:ext cx="660506" cy="26146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31">
              <a:extLst>
                <a:ext uri="{FF2B5EF4-FFF2-40B4-BE49-F238E27FC236}">
                  <a16:creationId xmlns:a16="http://schemas.microsoft.com/office/drawing/2014/main" id="{4477A444-2DD3-3677-DC37-220B9527CB1B}"/>
                </a:ext>
              </a:extLst>
            </p:cNvPr>
            <p:cNvPicPr>
              <a:picLocks noChangeAspect="1" noChangeArrowheads="1"/>
            </p:cNvPicPr>
            <p:nvPr/>
          </p:nvPicPr>
          <p:blipFill>
            <a:blip r:embed="rId35" cstate="screen">
              <a:extLst>
                <a:ext uri="{28A0092B-C50C-407E-A947-70E740481C1C}">
                  <a14:useLocalDpi xmlns:a14="http://schemas.microsoft.com/office/drawing/2010/main"/>
                </a:ext>
              </a:extLst>
            </a:blip>
            <a:srcRect/>
            <a:stretch>
              <a:fillRect/>
            </a:stretch>
          </p:blipFill>
          <p:spPr bwMode="auto">
            <a:xfrm>
              <a:off x="10168795" y="5944934"/>
              <a:ext cx="596130" cy="16467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6" name="Group 35">
            <a:extLst>
              <a:ext uri="{FF2B5EF4-FFF2-40B4-BE49-F238E27FC236}">
                <a16:creationId xmlns:a16="http://schemas.microsoft.com/office/drawing/2014/main" id="{017CB47F-B05B-F85B-7320-A35B6514ED6C}"/>
              </a:ext>
            </a:extLst>
          </p:cNvPr>
          <p:cNvGrpSpPr/>
          <p:nvPr/>
        </p:nvGrpSpPr>
        <p:grpSpPr>
          <a:xfrm>
            <a:off x="1926934" y="5138279"/>
            <a:ext cx="9599981" cy="215444"/>
            <a:chOff x="1926934" y="5106471"/>
            <a:chExt cx="9599981" cy="215444"/>
          </a:xfrm>
        </p:grpSpPr>
        <p:sp>
          <p:nvSpPr>
            <p:cNvPr id="37" name="TextBox 36">
              <a:extLst>
                <a:ext uri="{FF2B5EF4-FFF2-40B4-BE49-F238E27FC236}">
                  <a16:creationId xmlns:a16="http://schemas.microsoft.com/office/drawing/2014/main" id="{DD0083A7-DE94-7713-3AA7-97D316E0F83F}"/>
                </a:ext>
              </a:extLst>
            </p:cNvPr>
            <p:cNvSpPr txBox="1">
              <a:spLocks/>
            </p:cNvSpPr>
            <p:nvPr/>
          </p:nvSpPr>
          <p:spPr bwMode="gray">
            <a:xfrm>
              <a:off x="1926934" y="5106471"/>
              <a:ext cx="8313456"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b="1"/>
                <a:t>Full range of medical services, </a:t>
              </a:r>
              <a:r>
                <a:rPr lang="en-US"/>
                <a:t>including vaccinations, psychologists and dentists</a:t>
              </a:r>
            </a:p>
          </p:txBody>
        </p:sp>
        <p:pic>
          <p:nvPicPr>
            <p:cNvPr id="38" name="Picture 127">
              <a:extLst>
                <a:ext uri="{FF2B5EF4-FFF2-40B4-BE49-F238E27FC236}">
                  <a16:creationId xmlns:a16="http://schemas.microsoft.com/office/drawing/2014/main" id="{32CEC027-31AE-42DA-2C41-1969E9B51513}"/>
                </a:ext>
              </a:extLst>
            </p:cNvPr>
            <p:cNvPicPr>
              <a:picLocks noChangeAspect="1" noChangeArrowheads="1"/>
            </p:cNvPicPr>
            <p:nvPr/>
          </p:nvPicPr>
          <p:blipFill>
            <a:blip r:embed="rId36" cstate="screen">
              <a:extLst>
                <a:ext uri="{28A0092B-C50C-407E-A947-70E740481C1C}">
                  <a14:useLocalDpi xmlns:a14="http://schemas.microsoft.com/office/drawing/2010/main"/>
                </a:ext>
              </a:extLst>
            </a:blip>
            <a:srcRect/>
            <a:stretch>
              <a:fillRect/>
            </a:stretch>
          </p:blipFill>
          <p:spPr bwMode="auto">
            <a:xfrm>
              <a:off x="10451140" y="5154187"/>
              <a:ext cx="1075775" cy="12001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9" name="LineSeparatorStrong 25">
            <a:extLst>
              <a:ext uri="{FF2B5EF4-FFF2-40B4-BE49-F238E27FC236}">
                <a16:creationId xmlns:a16="http://schemas.microsoft.com/office/drawing/2014/main" id="{0188E0B8-E471-3E69-9578-06951FD597C9}"/>
              </a:ext>
            </a:extLst>
          </p:cNvPr>
          <p:cNvCxnSpPr>
            <a:cxnSpLocks/>
          </p:cNvCxnSpPr>
          <p:nvPr>
            <p:custDataLst>
              <p:tags r:id="rId7"/>
            </p:custDataLst>
          </p:nvPr>
        </p:nvCxnSpPr>
        <p:spPr>
          <a:xfrm>
            <a:off x="6861200" y="2194664"/>
            <a:ext cx="4688127"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LineSeparatorStrong 25">
            <a:extLst>
              <a:ext uri="{FF2B5EF4-FFF2-40B4-BE49-F238E27FC236}">
                <a16:creationId xmlns:a16="http://schemas.microsoft.com/office/drawing/2014/main" id="{1DD402C5-6C9C-A959-F73E-C1BB4CC3737C}"/>
              </a:ext>
            </a:extLst>
          </p:cNvPr>
          <p:cNvCxnSpPr>
            <a:cxnSpLocks/>
          </p:cNvCxnSpPr>
          <p:nvPr>
            <p:custDataLst>
              <p:tags r:id="rId8"/>
            </p:custDataLst>
          </p:nvPr>
        </p:nvCxnSpPr>
        <p:spPr>
          <a:xfrm>
            <a:off x="6861200" y="2616079"/>
            <a:ext cx="4688127"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LineSeparatorStrong 25">
            <a:extLst>
              <a:ext uri="{FF2B5EF4-FFF2-40B4-BE49-F238E27FC236}">
                <a16:creationId xmlns:a16="http://schemas.microsoft.com/office/drawing/2014/main" id="{5933E5C4-FD49-9731-79F3-CC3A9F8A34D0}"/>
              </a:ext>
            </a:extLst>
          </p:cNvPr>
          <p:cNvCxnSpPr>
            <a:cxnSpLocks/>
          </p:cNvCxnSpPr>
          <p:nvPr>
            <p:custDataLst>
              <p:tags r:id="rId9"/>
            </p:custDataLst>
          </p:nvPr>
        </p:nvCxnSpPr>
        <p:spPr>
          <a:xfrm>
            <a:off x="554737" y="5069622"/>
            <a:ext cx="10994591"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99BC7D9B-2A0D-EB33-82D7-A882C6E71159}"/>
              </a:ext>
            </a:extLst>
          </p:cNvPr>
          <p:cNvGrpSpPr/>
          <p:nvPr/>
        </p:nvGrpSpPr>
        <p:grpSpPr>
          <a:xfrm>
            <a:off x="1926934" y="4001370"/>
            <a:ext cx="9530310" cy="287360"/>
            <a:chOff x="1926934" y="3841386"/>
            <a:chExt cx="9530310" cy="287360"/>
          </a:xfrm>
        </p:grpSpPr>
        <p:sp>
          <p:nvSpPr>
            <p:cNvPr id="43" name="TextBox 42">
              <a:extLst>
                <a:ext uri="{FF2B5EF4-FFF2-40B4-BE49-F238E27FC236}">
                  <a16:creationId xmlns:a16="http://schemas.microsoft.com/office/drawing/2014/main" id="{00825BA9-5D1F-E8C1-32FF-153647201CB8}"/>
                </a:ext>
              </a:extLst>
            </p:cNvPr>
            <p:cNvSpPr txBox="1">
              <a:spLocks/>
            </p:cNvSpPr>
            <p:nvPr/>
          </p:nvSpPr>
          <p:spPr bwMode="gray">
            <a:xfrm>
              <a:off x="1926934" y="3877344"/>
              <a:ext cx="8313456"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Free </a:t>
              </a:r>
              <a:r>
                <a:rPr lang="en-US" b="1"/>
                <a:t>access to exclusive places of interest </a:t>
              </a:r>
              <a:r>
                <a:rPr lang="en-US"/>
                <a:t>in England: museums, galleries</a:t>
              </a:r>
            </a:p>
          </p:txBody>
        </p:sp>
        <p:pic>
          <p:nvPicPr>
            <p:cNvPr id="44" name="Picture 59">
              <a:extLst>
                <a:ext uri="{FF2B5EF4-FFF2-40B4-BE49-F238E27FC236}">
                  <a16:creationId xmlns:a16="http://schemas.microsoft.com/office/drawing/2014/main" id="{30F3298B-BC58-66B4-75E9-C71A081CCE0A}"/>
                </a:ext>
              </a:extLst>
            </p:cNvPr>
            <p:cNvPicPr>
              <a:picLocks noChangeAspect="1" noChangeArrowheads="1"/>
            </p:cNvPicPr>
            <p:nvPr/>
          </p:nvPicPr>
          <p:blipFill>
            <a:blip r:embed="rId37" cstate="screen">
              <a:extLst>
                <a:ext uri="{28A0092B-C50C-407E-A947-70E740481C1C}">
                  <a14:useLocalDpi xmlns:a14="http://schemas.microsoft.com/office/drawing/2010/main"/>
                </a:ext>
              </a:extLst>
            </a:blip>
            <a:srcRect/>
            <a:stretch>
              <a:fillRect/>
            </a:stretch>
          </p:blipFill>
          <p:spPr bwMode="auto">
            <a:xfrm>
              <a:off x="10898062" y="3841386"/>
              <a:ext cx="559182" cy="287360"/>
            </a:xfrm>
            <a:prstGeom prst="rect">
              <a:avLst/>
            </a:prstGeom>
            <a:noFill/>
          </p:spPr>
        </p:pic>
      </p:grpSp>
      <p:grpSp>
        <p:nvGrpSpPr>
          <p:cNvPr id="45" name="Group 44">
            <a:extLst>
              <a:ext uri="{FF2B5EF4-FFF2-40B4-BE49-F238E27FC236}">
                <a16:creationId xmlns:a16="http://schemas.microsoft.com/office/drawing/2014/main" id="{D2C0954A-26E7-C31F-5CA3-F787FF6DD1AE}"/>
              </a:ext>
            </a:extLst>
          </p:cNvPr>
          <p:cNvGrpSpPr/>
          <p:nvPr/>
        </p:nvGrpSpPr>
        <p:grpSpPr>
          <a:xfrm>
            <a:off x="1926934" y="4426044"/>
            <a:ext cx="9417855" cy="215444"/>
            <a:chOff x="1926934" y="4282545"/>
            <a:chExt cx="9417855" cy="215444"/>
          </a:xfrm>
        </p:grpSpPr>
        <p:sp>
          <p:nvSpPr>
            <p:cNvPr id="46" name="TextBox 45">
              <a:extLst>
                <a:ext uri="{FF2B5EF4-FFF2-40B4-BE49-F238E27FC236}">
                  <a16:creationId xmlns:a16="http://schemas.microsoft.com/office/drawing/2014/main" id="{48ED63A6-13A0-FE2D-4DE4-5A8F5A0E96F2}"/>
                </a:ext>
              </a:extLst>
            </p:cNvPr>
            <p:cNvSpPr txBox="1">
              <a:spLocks/>
            </p:cNvSpPr>
            <p:nvPr/>
          </p:nvSpPr>
          <p:spPr bwMode="gray">
            <a:xfrm>
              <a:off x="1926934" y="4282545"/>
              <a:ext cx="8313456"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Access to the </a:t>
              </a:r>
              <a:r>
                <a:rPr lang="en-US" b="1"/>
                <a:t>Insignia yacht in the </a:t>
              </a:r>
              <a:r>
                <a:rPr lang="en-US"/>
                <a:t>prestigious ONE°15 yacht club (Singapore)</a:t>
              </a:r>
            </a:p>
          </p:txBody>
        </p:sp>
        <p:pic>
          <p:nvPicPr>
            <p:cNvPr id="47" name="Picture 20">
              <a:extLst>
                <a:ext uri="{FF2B5EF4-FFF2-40B4-BE49-F238E27FC236}">
                  <a16:creationId xmlns:a16="http://schemas.microsoft.com/office/drawing/2014/main" id="{D6884C05-EE4E-DDF6-D2F0-0C214B3580ED}"/>
                </a:ext>
              </a:extLst>
            </p:cNvPr>
            <p:cNvPicPr>
              <a:picLocks noChangeAspect="1" noChangeArrowheads="1"/>
            </p:cNvPicPr>
            <p:nvPr/>
          </p:nvPicPr>
          <p:blipFill>
            <a:blip r:embed="rId38" cstate="screen">
              <a:extLst>
                <a:ext uri="{28A0092B-C50C-407E-A947-70E740481C1C}">
                  <a14:useLocalDpi xmlns:a14="http://schemas.microsoft.com/office/drawing/2010/main"/>
                </a:ext>
              </a:extLst>
            </a:blip>
            <a:srcRect/>
            <a:stretch>
              <a:fillRect/>
            </a:stretch>
          </p:blipFill>
          <p:spPr bwMode="auto">
            <a:xfrm>
              <a:off x="10843629" y="4299698"/>
              <a:ext cx="501160" cy="18113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8" name="Group 47">
            <a:extLst>
              <a:ext uri="{FF2B5EF4-FFF2-40B4-BE49-F238E27FC236}">
                <a16:creationId xmlns:a16="http://schemas.microsoft.com/office/drawing/2014/main" id="{0B873FC8-43F6-403F-15EE-AC573E26F85C}"/>
              </a:ext>
            </a:extLst>
          </p:cNvPr>
          <p:cNvGrpSpPr/>
          <p:nvPr/>
        </p:nvGrpSpPr>
        <p:grpSpPr>
          <a:xfrm>
            <a:off x="1944761" y="3932713"/>
            <a:ext cx="9604566" cy="1888443"/>
            <a:chOff x="1944761" y="3932713"/>
            <a:chExt cx="9509760" cy="1888443"/>
          </a:xfrm>
        </p:grpSpPr>
        <p:cxnSp>
          <p:nvCxnSpPr>
            <p:cNvPr id="49" name="LineSeparatorStrong 25">
              <a:extLst>
                <a:ext uri="{FF2B5EF4-FFF2-40B4-BE49-F238E27FC236}">
                  <a16:creationId xmlns:a16="http://schemas.microsoft.com/office/drawing/2014/main" id="{34EEA03F-F65B-4B84-478D-4C0BD4475CA6}"/>
                </a:ext>
              </a:extLst>
            </p:cNvPr>
            <p:cNvCxnSpPr>
              <a:cxnSpLocks/>
            </p:cNvCxnSpPr>
            <p:nvPr>
              <p:custDataLst>
                <p:tags r:id="rId12"/>
              </p:custDataLst>
            </p:nvPr>
          </p:nvCxnSpPr>
          <p:spPr>
            <a:xfrm>
              <a:off x="1944761" y="5422380"/>
              <a:ext cx="95097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LineSeparatorStrong 25">
              <a:extLst>
                <a:ext uri="{FF2B5EF4-FFF2-40B4-BE49-F238E27FC236}">
                  <a16:creationId xmlns:a16="http://schemas.microsoft.com/office/drawing/2014/main" id="{C7948AC7-D8CE-BCB6-3461-0B644A7291E1}"/>
                </a:ext>
              </a:extLst>
            </p:cNvPr>
            <p:cNvCxnSpPr>
              <a:cxnSpLocks/>
            </p:cNvCxnSpPr>
            <p:nvPr>
              <p:custDataLst>
                <p:tags r:id="rId13"/>
              </p:custDataLst>
            </p:nvPr>
          </p:nvCxnSpPr>
          <p:spPr>
            <a:xfrm>
              <a:off x="1944761" y="5821156"/>
              <a:ext cx="95097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1" name="LineSeparatorStrong 25">
              <a:extLst>
                <a:ext uri="{FF2B5EF4-FFF2-40B4-BE49-F238E27FC236}">
                  <a16:creationId xmlns:a16="http://schemas.microsoft.com/office/drawing/2014/main" id="{E4F871AA-D243-0AE9-C3B8-497914622344}"/>
                </a:ext>
              </a:extLst>
            </p:cNvPr>
            <p:cNvCxnSpPr>
              <a:cxnSpLocks/>
            </p:cNvCxnSpPr>
            <p:nvPr>
              <p:custDataLst>
                <p:tags r:id="rId14"/>
              </p:custDataLst>
            </p:nvPr>
          </p:nvCxnSpPr>
          <p:spPr>
            <a:xfrm>
              <a:off x="1944761" y="3932713"/>
              <a:ext cx="95097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LineSeparatorStrong 25">
              <a:extLst>
                <a:ext uri="{FF2B5EF4-FFF2-40B4-BE49-F238E27FC236}">
                  <a16:creationId xmlns:a16="http://schemas.microsoft.com/office/drawing/2014/main" id="{12A2E35F-E69E-080A-0865-162D6861E768}"/>
                </a:ext>
              </a:extLst>
            </p:cNvPr>
            <p:cNvCxnSpPr>
              <a:cxnSpLocks/>
            </p:cNvCxnSpPr>
            <p:nvPr>
              <p:custDataLst>
                <p:tags r:id="rId15"/>
              </p:custDataLst>
            </p:nvPr>
          </p:nvCxnSpPr>
          <p:spPr>
            <a:xfrm>
              <a:off x="1944761" y="4357387"/>
              <a:ext cx="95097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LineSeparatorStrong 25">
              <a:extLst>
                <a:ext uri="{FF2B5EF4-FFF2-40B4-BE49-F238E27FC236}">
                  <a16:creationId xmlns:a16="http://schemas.microsoft.com/office/drawing/2014/main" id="{18247511-70A5-A1C1-7B44-411F833647A5}"/>
                </a:ext>
              </a:extLst>
            </p:cNvPr>
            <p:cNvCxnSpPr>
              <a:cxnSpLocks/>
            </p:cNvCxnSpPr>
            <p:nvPr>
              <p:custDataLst>
                <p:tags r:id="rId16"/>
              </p:custDataLst>
            </p:nvPr>
          </p:nvCxnSpPr>
          <p:spPr>
            <a:xfrm>
              <a:off x="1944761" y="4710145"/>
              <a:ext cx="9509760"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BE998D56-4751-0593-3E01-CB0C5BF4D8AD}"/>
              </a:ext>
            </a:extLst>
          </p:cNvPr>
          <p:cNvGrpSpPr/>
          <p:nvPr/>
        </p:nvGrpSpPr>
        <p:grpSpPr>
          <a:xfrm>
            <a:off x="554736" y="1695120"/>
            <a:ext cx="1085088" cy="931274"/>
            <a:chOff x="554736" y="1701659"/>
            <a:chExt cx="1085088" cy="931274"/>
          </a:xfrm>
        </p:grpSpPr>
        <p:sp>
          <p:nvSpPr>
            <p:cNvPr id="55" name="TextBox 54">
              <a:extLst>
                <a:ext uri="{FF2B5EF4-FFF2-40B4-BE49-F238E27FC236}">
                  <a16:creationId xmlns:a16="http://schemas.microsoft.com/office/drawing/2014/main" id="{FB6FB6BD-52CB-C572-C00A-7ABF61D6FB27}"/>
                </a:ext>
              </a:extLst>
            </p:cNvPr>
            <p:cNvSpPr txBox="1">
              <a:spLocks/>
            </p:cNvSpPr>
            <p:nvPr/>
          </p:nvSpPr>
          <p:spPr>
            <a:xfrm>
              <a:off x="554736" y="1701659"/>
              <a:ext cx="1085088" cy="246221"/>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cs typeface="+mn-cs"/>
                </a:rPr>
                <a:t>Travel</a:t>
              </a:r>
            </a:p>
          </p:txBody>
        </p:sp>
        <p:pic>
          <p:nvPicPr>
            <p:cNvPr id="56" name="Graphic 55">
              <a:extLst>
                <a:ext uri="{FF2B5EF4-FFF2-40B4-BE49-F238E27FC236}">
                  <a16:creationId xmlns:a16="http://schemas.microsoft.com/office/drawing/2014/main" id="{486C00ED-4F88-3C81-CF3D-E8B91AEE55BE}"/>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554736" y="2020531"/>
              <a:ext cx="608646" cy="612402"/>
            </a:xfrm>
            <a:prstGeom prst="rect">
              <a:avLst/>
            </a:prstGeom>
          </p:spPr>
        </p:pic>
      </p:grpSp>
      <p:grpSp>
        <p:nvGrpSpPr>
          <p:cNvPr id="57" name="Group 56">
            <a:extLst>
              <a:ext uri="{FF2B5EF4-FFF2-40B4-BE49-F238E27FC236}">
                <a16:creationId xmlns:a16="http://schemas.microsoft.com/office/drawing/2014/main" id="{2E10DF44-0B60-81DD-E3F6-5B08CB1A8344}"/>
              </a:ext>
            </a:extLst>
          </p:cNvPr>
          <p:cNvGrpSpPr/>
          <p:nvPr/>
        </p:nvGrpSpPr>
        <p:grpSpPr>
          <a:xfrm>
            <a:off x="554736" y="3605695"/>
            <a:ext cx="1085088" cy="1178493"/>
            <a:chOff x="554736" y="3595889"/>
            <a:chExt cx="1085088" cy="1178493"/>
          </a:xfrm>
        </p:grpSpPr>
        <p:sp>
          <p:nvSpPr>
            <p:cNvPr id="58" name="TextBox 57">
              <a:extLst>
                <a:ext uri="{FF2B5EF4-FFF2-40B4-BE49-F238E27FC236}">
                  <a16:creationId xmlns:a16="http://schemas.microsoft.com/office/drawing/2014/main" id="{29B524F1-E900-B5C9-35F4-407F6FBB3480}"/>
                </a:ext>
              </a:extLst>
            </p:cNvPr>
            <p:cNvSpPr txBox="1">
              <a:spLocks/>
            </p:cNvSpPr>
            <p:nvPr/>
          </p:nvSpPr>
          <p:spPr>
            <a:xfrm>
              <a:off x="554736" y="3595889"/>
              <a:ext cx="1085088" cy="492443"/>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cs typeface="+mn-cs"/>
                </a:rPr>
                <a:t>Entertain-ment </a:t>
              </a:r>
            </a:p>
          </p:txBody>
        </p:sp>
        <p:pic>
          <p:nvPicPr>
            <p:cNvPr id="59" name="Graphic 58">
              <a:extLst>
                <a:ext uri="{FF2B5EF4-FFF2-40B4-BE49-F238E27FC236}">
                  <a16:creationId xmlns:a16="http://schemas.microsoft.com/office/drawing/2014/main" id="{D705E3D1-F46F-50B7-94DB-AED8F4F5AC37}"/>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554736" y="4161980"/>
              <a:ext cx="608646" cy="612402"/>
            </a:xfrm>
            <a:prstGeom prst="rect">
              <a:avLst/>
            </a:prstGeom>
          </p:spPr>
        </p:pic>
      </p:grpSp>
      <p:grpSp>
        <p:nvGrpSpPr>
          <p:cNvPr id="60" name="Group 59">
            <a:extLst>
              <a:ext uri="{FF2B5EF4-FFF2-40B4-BE49-F238E27FC236}">
                <a16:creationId xmlns:a16="http://schemas.microsoft.com/office/drawing/2014/main" id="{52633B5B-981C-F8DC-6368-D6E807EFB87D}"/>
              </a:ext>
            </a:extLst>
          </p:cNvPr>
          <p:cNvGrpSpPr/>
          <p:nvPr/>
        </p:nvGrpSpPr>
        <p:grpSpPr>
          <a:xfrm>
            <a:off x="554736" y="5138279"/>
            <a:ext cx="1085088" cy="1180374"/>
            <a:chOff x="554736" y="5105589"/>
            <a:chExt cx="1085088" cy="1180374"/>
          </a:xfrm>
        </p:grpSpPr>
        <p:sp>
          <p:nvSpPr>
            <p:cNvPr id="61" name="TextBox 60">
              <a:extLst>
                <a:ext uri="{FF2B5EF4-FFF2-40B4-BE49-F238E27FC236}">
                  <a16:creationId xmlns:a16="http://schemas.microsoft.com/office/drawing/2014/main" id="{041E003F-22F8-29ED-1CB7-474DDF70B9F3}"/>
                </a:ext>
              </a:extLst>
            </p:cNvPr>
            <p:cNvSpPr txBox="1">
              <a:spLocks/>
            </p:cNvSpPr>
            <p:nvPr/>
          </p:nvSpPr>
          <p:spPr>
            <a:xfrm>
              <a:off x="554736" y="5105589"/>
              <a:ext cx="1085088" cy="492443"/>
            </a:xfrm>
            <a:prstGeom prst="rect">
              <a:avLst/>
            </a:prstGeom>
          </p:spPr>
          <p:txBody>
            <a:bodyPr vert="horz" wrap="squar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cs typeface="+mn-cs"/>
                </a:rPr>
                <a:t>Family and health</a:t>
              </a:r>
            </a:p>
          </p:txBody>
        </p:sp>
        <p:pic>
          <p:nvPicPr>
            <p:cNvPr id="62" name="Graphic 61">
              <a:extLst>
                <a:ext uri="{FF2B5EF4-FFF2-40B4-BE49-F238E27FC236}">
                  <a16:creationId xmlns:a16="http://schemas.microsoft.com/office/drawing/2014/main" id="{E02D7000-ADB1-F0E8-DB44-68C7C85D2E97}"/>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554736" y="5673561"/>
              <a:ext cx="608646" cy="612402"/>
            </a:xfrm>
            <a:prstGeom prst="rect">
              <a:avLst/>
            </a:prstGeom>
          </p:spPr>
        </p:pic>
      </p:grpSp>
      <p:grpSp>
        <p:nvGrpSpPr>
          <p:cNvPr id="63" name="Group 62">
            <a:extLst>
              <a:ext uri="{FF2B5EF4-FFF2-40B4-BE49-F238E27FC236}">
                <a16:creationId xmlns:a16="http://schemas.microsoft.com/office/drawing/2014/main" id="{65AB1D42-2501-A2FD-CE25-0D0A21B084CB}"/>
              </a:ext>
            </a:extLst>
          </p:cNvPr>
          <p:cNvGrpSpPr/>
          <p:nvPr/>
        </p:nvGrpSpPr>
        <p:grpSpPr>
          <a:xfrm>
            <a:off x="1926934" y="3605695"/>
            <a:ext cx="9469642" cy="258361"/>
            <a:chOff x="1926934" y="3389769"/>
            <a:chExt cx="9469642" cy="258361"/>
          </a:xfrm>
        </p:grpSpPr>
        <p:sp>
          <p:nvSpPr>
            <p:cNvPr id="64" name="TextBox 63">
              <a:extLst>
                <a:ext uri="{FF2B5EF4-FFF2-40B4-BE49-F238E27FC236}">
                  <a16:creationId xmlns:a16="http://schemas.microsoft.com/office/drawing/2014/main" id="{2C8DDB87-96F2-65F3-9E8D-8DE5A5C265D2}"/>
                </a:ext>
              </a:extLst>
            </p:cNvPr>
            <p:cNvSpPr txBox="1">
              <a:spLocks/>
            </p:cNvSpPr>
            <p:nvPr/>
          </p:nvSpPr>
          <p:spPr bwMode="gray">
            <a:xfrm>
              <a:off x="1926934" y="3411227"/>
              <a:ext cx="8313456"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Free unlimited </a:t>
              </a:r>
              <a:r>
                <a:rPr lang="en-US" b="1"/>
                <a:t>golf lessons</a:t>
              </a:r>
              <a:r>
                <a:rPr lang="en-US"/>
                <a:t>; and access to </a:t>
              </a:r>
              <a:r>
                <a:rPr lang="en-US" b="1"/>
                <a:t>special golf courses</a:t>
              </a:r>
            </a:p>
          </p:txBody>
        </p:sp>
        <p:pic>
          <p:nvPicPr>
            <p:cNvPr id="65" name="Picture 2">
              <a:extLst>
                <a:ext uri="{FF2B5EF4-FFF2-40B4-BE49-F238E27FC236}">
                  <a16:creationId xmlns:a16="http://schemas.microsoft.com/office/drawing/2014/main" id="{1A3E57AC-1A97-F343-71EA-6471297EC354}"/>
                </a:ext>
              </a:extLst>
            </p:cNvPr>
            <p:cNvPicPr>
              <a:picLocks noChangeAspect="1" noChangeArrowheads="1"/>
            </p:cNvPicPr>
            <p:nvPr/>
          </p:nvPicPr>
          <p:blipFill>
            <a:blip r:embed="rId42" cstate="screen">
              <a:extLst>
                <a:ext uri="{28A0092B-C50C-407E-A947-70E740481C1C}">
                  <a14:useLocalDpi xmlns:a14="http://schemas.microsoft.com/office/drawing/2010/main"/>
                </a:ext>
              </a:extLst>
            </a:blip>
            <a:srcRect/>
            <a:stretch>
              <a:fillRect/>
            </a:stretch>
          </p:blipFill>
          <p:spPr bwMode="auto">
            <a:xfrm>
              <a:off x="11037551" y="3389769"/>
              <a:ext cx="359025" cy="2583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6" name="Group 65">
            <a:extLst>
              <a:ext uri="{FF2B5EF4-FFF2-40B4-BE49-F238E27FC236}">
                <a16:creationId xmlns:a16="http://schemas.microsoft.com/office/drawing/2014/main" id="{298A1238-9CA1-F9F3-7010-C9F45DB8CFE5}"/>
              </a:ext>
            </a:extLst>
          </p:cNvPr>
          <p:cNvGrpSpPr/>
          <p:nvPr/>
        </p:nvGrpSpPr>
        <p:grpSpPr>
          <a:xfrm>
            <a:off x="1926934" y="4778802"/>
            <a:ext cx="9417855" cy="222163"/>
            <a:chOff x="1926934" y="4676825"/>
            <a:chExt cx="9417855" cy="222163"/>
          </a:xfrm>
        </p:grpSpPr>
        <p:sp>
          <p:nvSpPr>
            <p:cNvPr id="67" name="TextBox 66">
              <a:extLst>
                <a:ext uri="{FF2B5EF4-FFF2-40B4-BE49-F238E27FC236}">
                  <a16:creationId xmlns:a16="http://schemas.microsoft.com/office/drawing/2014/main" id="{47FABE89-2A00-93C4-B61B-FA294ECC7134}"/>
                </a:ext>
              </a:extLst>
            </p:cNvPr>
            <p:cNvSpPr txBox="1">
              <a:spLocks/>
            </p:cNvSpPr>
            <p:nvPr/>
          </p:nvSpPr>
          <p:spPr bwMode="gray">
            <a:xfrm>
              <a:off x="1926934" y="4680184"/>
              <a:ext cx="8313456"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Priority reservations at </a:t>
              </a:r>
              <a:r>
                <a:rPr lang="en-US" b="1"/>
                <a:t>Michelin restaurants </a:t>
              </a:r>
              <a:r>
                <a:rPr lang="en-US"/>
                <a:t>around the world</a:t>
              </a:r>
            </a:p>
          </p:txBody>
        </p:sp>
        <p:pic>
          <p:nvPicPr>
            <p:cNvPr id="68" name="Picture 4" descr="Best Foreign Bank in KSA | Emirates NBD">
              <a:extLst>
                <a:ext uri="{FF2B5EF4-FFF2-40B4-BE49-F238E27FC236}">
                  <a16:creationId xmlns:a16="http://schemas.microsoft.com/office/drawing/2014/main" id="{C5AF9E96-969F-1705-7243-861DEFD11BC8}"/>
                </a:ext>
              </a:extLst>
            </p:cNvPr>
            <p:cNvPicPr>
              <a:picLocks noChangeAspect="1" noChangeArrowheads="1"/>
            </p:cNvPicPr>
            <p:nvPr/>
          </p:nvPicPr>
          <p:blipFill>
            <a:blip r:embed="rId43" cstate="screen">
              <a:extLst>
                <a:ext uri="{28A0092B-C50C-407E-A947-70E740481C1C}">
                  <a14:useLocalDpi xmlns:a14="http://schemas.microsoft.com/office/drawing/2010/main"/>
                </a:ext>
              </a:extLst>
            </a:blip>
            <a:srcRect/>
            <a:stretch>
              <a:fillRect/>
            </a:stretch>
          </p:blipFill>
          <p:spPr bwMode="auto">
            <a:xfrm>
              <a:off x="10572518" y="4676825"/>
              <a:ext cx="772271" cy="2221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9" name="Group 68">
            <a:extLst>
              <a:ext uri="{FF2B5EF4-FFF2-40B4-BE49-F238E27FC236}">
                <a16:creationId xmlns:a16="http://schemas.microsoft.com/office/drawing/2014/main" id="{783742FA-1526-6443-CC09-21AA58E224CE}"/>
              </a:ext>
            </a:extLst>
          </p:cNvPr>
          <p:cNvGrpSpPr/>
          <p:nvPr/>
        </p:nvGrpSpPr>
        <p:grpSpPr>
          <a:xfrm>
            <a:off x="1926933" y="1695120"/>
            <a:ext cx="9622394" cy="430887"/>
            <a:chOff x="1926933" y="1506030"/>
            <a:chExt cx="9622394" cy="430887"/>
          </a:xfrm>
        </p:grpSpPr>
        <p:grpSp>
          <p:nvGrpSpPr>
            <p:cNvPr id="70" name="Group 69">
              <a:extLst>
                <a:ext uri="{FF2B5EF4-FFF2-40B4-BE49-F238E27FC236}">
                  <a16:creationId xmlns:a16="http://schemas.microsoft.com/office/drawing/2014/main" id="{A7EBF0C8-B07D-5D45-BBE1-44FCEEA9D94B}"/>
                </a:ext>
              </a:extLst>
            </p:cNvPr>
            <p:cNvGrpSpPr/>
            <p:nvPr/>
          </p:nvGrpSpPr>
          <p:grpSpPr>
            <a:xfrm>
              <a:off x="6861200" y="1613751"/>
              <a:ext cx="4688127" cy="215444"/>
              <a:chOff x="6861200" y="1506030"/>
              <a:chExt cx="4688127" cy="215444"/>
            </a:xfrm>
          </p:grpSpPr>
          <p:sp>
            <p:nvSpPr>
              <p:cNvPr id="73" name="TextBox 72">
                <a:extLst>
                  <a:ext uri="{FF2B5EF4-FFF2-40B4-BE49-F238E27FC236}">
                    <a16:creationId xmlns:a16="http://schemas.microsoft.com/office/drawing/2014/main" id="{4EF45875-380B-B49B-524E-635E7EDC9C8F}"/>
                  </a:ext>
                </a:extLst>
              </p:cNvPr>
              <p:cNvSpPr txBox="1">
                <a:spLocks/>
              </p:cNvSpPr>
              <p:nvPr/>
            </p:nvSpPr>
            <p:spPr bwMode="gray">
              <a:xfrm>
                <a:off x="6861200" y="1506030"/>
                <a:ext cx="2547164" cy="215444"/>
              </a:xfrm>
              <a:prstGeom prst="rect">
                <a:avLst/>
              </a:prstGeom>
            </p:spPr>
            <p:txBody>
              <a:bodyPr vert="horz" wrap="square" lIns="0" tIns="0" rIns="0" bIns="0" rtlCol="0" anchor="ctr">
                <a:no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Travel, Luggage</a:t>
                </a:r>
              </a:p>
            </p:txBody>
          </p:sp>
          <p:pic>
            <p:nvPicPr>
              <p:cNvPr id="74" name="Picture 110" descr="ÐÐ¾ÑÐ¾Ð¶ÐµÐµ Ð¸Ð·Ð¾Ð±ÑÐ°Ð¶ÐµÐ½Ð¸Ðµ">
                <a:extLst>
                  <a:ext uri="{FF2B5EF4-FFF2-40B4-BE49-F238E27FC236}">
                    <a16:creationId xmlns:a16="http://schemas.microsoft.com/office/drawing/2014/main" id="{DA7D2D36-C936-B998-72B5-850536A72337}"/>
                  </a:ext>
                </a:extLst>
              </p:cNvPr>
              <p:cNvPicPr>
                <a:picLocks noChangeArrowheads="1"/>
              </p:cNvPicPr>
              <p:nvPr/>
            </p:nvPicPr>
            <p:blipFill rotWithShape="1">
              <a:blip r:embed="rId44" cstate="screen">
                <a:extLst>
                  <a:ext uri="{BEBA8EAE-BF5A-486C-A8C5-ECC9F3942E4B}">
                    <a14:imgProps xmlns:a14="http://schemas.microsoft.com/office/drawing/2010/main">
                      <a14:imgLayer r:embed="rId45">
                        <a14:imgEffect>
                          <a14:saturation sat="0"/>
                        </a14:imgEffect>
                      </a14:imgLayer>
                    </a14:imgProps>
                  </a:ext>
                  <a:ext uri="{28A0092B-C50C-407E-A947-70E740481C1C}">
                    <a14:useLocalDpi xmlns:a14="http://schemas.microsoft.com/office/drawing/2010/main"/>
                  </a:ext>
                </a:extLst>
              </a:blip>
              <a:srcRect/>
              <a:stretch/>
            </p:blipFill>
            <p:spPr bwMode="auto">
              <a:xfrm>
                <a:off x="10805979" y="1518742"/>
                <a:ext cx="743348" cy="190020"/>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descr="ÐÐ°ÑÑÐ¸Ð½ÐºÐ¸ Ð¿Ð¾ Ð·Ð°Ð¿ÑÐ¾ÑÑ intesa san paolo logo png">
                <a:extLst>
                  <a:ext uri="{FF2B5EF4-FFF2-40B4-BE49-F238E27FC236}">
                    <a16:creationId xmlns:a16="http://schemas.microsoft.com/office/drawing/2014/main" id="{A2A2A980-9362-1511-655A-85E92A0BD3EF}"/>
                  </a:ext>
                </a:extLst>
              </p:cNvPr>
              <p:cNvPicPr>
                <a:picLocks noChangeArrowheads="1"/>
              </p:cNvPicPr>
              <p:nvPr/>
            </p:nvPicPr>
            <p:blipFill>
              <a:blip r:embed="rId46" cstate="screen">
                <a:extLst>
                  <a:ext uri="{BEBA8EAE-BF5A-486C-A8C5-ECC9F3942E4B}">
                    <a14:imgProps xmlns:a14="http://schemas.microsoft.com/office/drawing/2010/main">
                      <a14:imgLayer r:embed="rId47">
                        <a14:imgEffect>
                          <a14:saturation sat="0"/>
                        </a14:imgEffect>
                      </a14:imgLayer>
                    </a14:imgProps>
                  </a:ext>
                  <a:ext uri="{28A0092B-C50C-407E-A947-70E740481C1C}">
                    <a14:useLocalDpi xmlns:a14="http://schemas.microsoft.com/office/drawing/2010/main"/>
                  </a:ext>
                </a:extLst>
              </a:blip>
              <a:srcRect/>
              <a:stretch>
                <a:fillRect/>
              </a:stretch>
            </p:blipFill>
            <p:spPr bwMode="auto">
              <a:xfrm>
                <a:off x="9414659" y="1541863"/>
                <a:ext cx="1211691" cy="143778"/>
              </a:xfrm>
              <a:prstGeom prst="rect">
                <a:avLst/>
              </a:prstGeom>
              <a:noFill/>
              <a:extLst>
                <a:ext uri="{909E8E84-426E-40DD-AFC4-6F175D3DCCD1}">
                  <a14:hiddenFill xmlns:a14="http://schemas.microsoft.com/office/drawing/2010/main">
                    <a:solidFill>
                      <a:srgbClr val="FFFFFF"/>
                    </a:solidFill>
                  </a14:hiddenFill>
                </a:ext>
              </a:extLst>
            </p:spPr>
          </p:pic>
        </p:grpSp>
        <p:pic>
          <p:nvPicPr>
            <p:cNvPr id="71" name="Picture 92">
              <a:extLst>
                <a:ext uri="{FF2B5EF4-FFF2-40B4-BE49-F238E27FC236}">
                  <a16:creationId xmlns:a16="http://schemas.microsoft.com/office/drawing/2014/main" id="{16E9CDF9-A320-8512-C142-E31FF5930E26}"/>
                </a:ext>
              </a:extLst>
            </p:cNvPr>
            <p:cNvPicPr>
              <a:picLocks noChangeAspect="1" noChangeArrowheads="1"/>
            </p:cNvPicPr>
            <p:nvPr/>
          </p:nvPicPr>
          <p:blipFill>
            <a:blip r:embed="rId48" cstate="screen">
              <a:extLst>
                <a:ext uri="{28A0092B-C50C-407E-A947-70E740481C1C}">
                  <a14:useLocalDpi xmlns:a14="http://schemas.microsoft.com/office/drawing/2010/main"/>
                </a:ext>
              </a:extLst>
            </a:blip>
            <a:srcRect/>
            <a:stretch>
              <a:fillRect/>
            </a:stretch>
          </p:blipFill>
          <p:spPr bwMode="auto">
            <a:xfrm>
              <a:off x="5846191" y="1639927"/>
              <a:ext cx="575897" cy="163092"/>
            </a:xfrm>
            <a:prstGeom prst="rect">
              <a:avLst/>
            </a:prstGeom>
            <a:noFill/>
          </p:spPr>
        </p:pic>
        <p:sp>
          <p:nvSpPr>
            <p:cNvPr id="72" name="TextBox 71">
              <a:extLst>
                <a:ext uri="{FF2B5EF4-FFF2-40B4-BE49-F238E27FC236}">
                  <a16:creationId xmlns:a16="http://schemas.microsoft.com/office/drawing/2014/main" id="{A424960F-AF1E-1C2F-BFD3-E8E25FC19A9F}"/>
                </a:ext>
              </a:extLst>
            </p:cNvPr>
            <p:cNvSpPr txBox="1">
              <a:spLocks/>
            </p:cNvSpPr>
            <p:nvPr/>
          </p:nvSpPr>
          <p:spPr bwMode="gray">
            <a:xfrm>
              <a:off x="1926933" y="1506030"/>
              <a:ext cx="3670047" cy="430887"/>
            </a:xfrm>
            <a:prstGeom prst="rect">
              <a:avLst/>
            </a:prstGeom>
            <a:noFill/>
          </p:spPr>
          <p:txBody>
            <a:bodyPr vert="horz" wrap="square" lIns="0" tIns="0" rIns="0" bIns="0" rtlCol="0" anchor="ctr">
              <a:sp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b="1"/>
                <a:t>Free luxury hotel night for new customers;</a:t>
              </a:r>
              <a:r>
                <a:rPr lang="en-US"/>
                <a:t> special offers in hotels</a:t>
              </a:r>
            </a:p>
          </p:txBody>
        </p:sp>
      </p:grpSp>
      <p:grpSp>
        <p:nvGrpSpPr>
          <p:cNvPr id="76" name="Group 75">
            <a:extLst>
              <a:ext uri="{FF2B5EF4-FFF2-40B4-BE49-F238E27FC236}">
                <a16:creationId xmlns:a16="http://schemas.microsoft.com/office/drawing/2014/main" id="{6E8B4879-0EC1-7CC1-7C54-359A45409832}"/>
              </a:ext>
            </a:extLst>
          </p:cNvPr>
          <p:cNvGrpSpPr/>
          <p:nvPr/>
        </p:nvGrpSpPr>
        <p:grpSpPr>
          <a:xfrm>
            <a:off x="1926933" y="2263321"/>
            <a:ext cx="4495155" cy="215444"/>
            <a:chOff x="1926933" y="2084178"/>
            <a:chExt cx="4495155" cy="215444"/>
          </a:xfrm>
        </p:grpSpPr>
        <p:pic>
          <p:nvPicPr>
            <p:cNvPr id="77" name="Picture 4" descr="American Express - Ocean Conservancy">
              <a:extLst>
                <a:ext uri="{FF2B5EF4-FFF2-40B4-BE49-F238E27FC236}">
                  <a16:creationId xmlns:a16="http://schemas.microsoft.com/office/drawing/2014/main" id="{CE1822FF-ED11-882F-3E67-C047AB5E33A2}"/>
                </a:ext>
              </a:extLst>
            </p:cNvPr>
            <p:cNvPicPr>
              <a:picLocks noChangeAspect="1" noChangeArrowheads="1"/>
            </p:cNvPicPr>
            <p:nvPr/>
          </p:nvPicPr>
          <p:blipFill rotWithShape="1">
            <a:blip r:embed="rId49" cstate="screen">
              <a:extLst>
                <a:ext uri="{28A0092B-C50C-407E-A947-70E740481C1C}">
                  <a14:useLocalDpi xmlns:a14="http://schemas.microsoft.com/office/drawing/2010/main"/>
                </a:ext>
              </a:extLst>
            </a:blip>
            <a:srcRect t="35551" b="35551"/>
            <a:stretch/>
          </p:blipFill>
          <p:spPr bwMode="auto">
            <a:xfrm>
              <a:off x="5974611" y="2120362"/>
              <a:ext cx="447477" cy="143077"/>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a:extLst>
                <a:ext uri="{FF2B5EF4-FFF2-40B4-BE49-F238E27FC236}">
                  <a16:creationId xmlns:a16="http://schemas.microsoft.com/office/drawing/2014/main" id="{0E4472F7-8440-6F68-8468-1D49A5126484}"/>
                </a:ext>
              </a:extLst>
            </p:cNvPr>
            <p:cNvSpPr txBox="1">
              <a:spLocks/>
            </p:cNvSpPr>
            <p:nvPr/>
          </p:nvSpPr>
          <p:spPr bwMode="gray">
            <a:xfrm>
              <a:off x="1926933" y="2084178"/>
              <a:ext cx="3670047" cy="215444"/>
            </a:xfrm>
            <a:prstGeom prst="rect">
              <a:avLst/>
            </a:prstGeom>
            <a:noFill/>
          </p:spPr>
          <p:txBody>
            <a:bodyPr vert="horz" wrap="square" lIns="0" tIns="0" rIns="0" bIns="0" rtlCol="0" anchor="ctr">
              <a:sp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b="1"/>
                <a:t>FastTrack </a:t>
              </a:r>
              <a:r>
                <a:rPr lang="en-US"/>
                <a:t>cost compensation </a:t>
              </a:r>
              <a:r>
                <a:rPr lang="en-US" b="1"/>
                <a:t>at airport</a:t>
              </a:r>
            </a:p>
          </p:txBody>
        </p:sp>
      </p:grpSp>
      <p:grpSp>
        <p:nvGrpSpPr>
          <p:cNvPr id="79" name="Group 78">
            <a:extLst>
              <a:ext uri="{FF2B5EF4-FFF2-40B4-BE49-F238E27FC236}">
                <a16:creationId xmlns:a16="http://schemas.microsoft.com/office/drawing/2014/main" id="{BFF915A0-9E77-37BE-FCCA-30D345DEA177}"/>
              </a:ext>
            </a:extLst>
          </p:cNvPr>
          <p:cNvGrpSpPr/>
          <p:nvPr/>
        </p:nvGrpSpPr>
        <p:grpSpPr>
          <a:xfrm>
            <a:off x="1926933" y="2684736"/>
            <a:ext cx="4495155" cy="215444"/>
            <a:chOff x="1926933" y="2481914"/>
            <a:chExt cx="4495155" cy="215444"/>
          </a:xfrm>
        </p:grpSpPr>
        <p:pic>
          <p:nvPicPr>
            <p:cNvPr id="80" name="Picture 20">
              <a:extLst>
                <a:ext uri="{FF2B5EF4-FFF2-40B4-BE49-F238E27FC236}">
                  <a16:creationId xmlns:a16="http://schemas.microsoft.com/office/drawing/2014/main" id="{FCDFC591-9DEB-06AB-2556-62009AF20F56}"/>
                </a:ext>
              </a:extLst>
            </p:cNvPr>
            <p:cNvPicPr>
              <a:picLocks noChangeAspect="1" noChangeArrowheads="1"/>
            </p:cNvPicPr>
            <p:nvPr/>
          </p:nvPicPr>
          <p:blipFill>
            <a:blip r:embed="rId38" cstate="screen">
              <a:extLst>
                <a:ext uri="{28A0092B-C50C-407E-A947-70E740481C1C}">
                  <a14:useLocalDpi xmlns:a14="http://schemas.microsoft.com/office/drawing/2010/main"/>
                </a:ext>
              </a:extLst>
            </a:blip>
            <a:srcRect/>
            <a:stretch>
              <a:fillRect/>
            </a:stretch>
          </p:blipFill>
          <p:spPr bwMode="auto">
            <a:xfrm>
              <a:off x="5966488" y="2507300"/>
              <a:ext cx="455600" cy="164672"/>
            </a:xfrm>
            <a:prstGeom prst="rect">
              <a:avLst/>
            </a:prstGeom>
            <a:noFill/>
            <a:extLst>
              <a:ext uri="{909E8E84-426E-40DD-AFC4-6F175D3DCCD1}">
                <a14:hiddenFill xmlns:a14="http://schemas.microsoft.com/office/drawing/2010/main">
                  <a:solidFill>
                    <a:srgbClr val="FFFFFF"/>
                  </a:solidFill>
                </a14:hiddenFill>
              </a:ext>
            </a:extLst>
          </p:spPr>
        </p:pic>
        <p:sp>
          <p:nvSpPr>
            <p:cNvPr id="81" name="TextBox 80">
              <a:extLst>
                <a:ext uri="{FF2B5EF4-FFF2-40B4-BE49-F238E27FC236}">
                  <a16:creationId xmlns:a16="http://schemas.microsoft.com/office/drawing/2014/main" id="{DCD742CF-6EC1-B4D5-A545-BC85AA2042DB}"/>
                </a:ext>
              </a:extLst>
            </p:cNvPr>
            <p:cNvSpPr txBox="1">
              <a:spLocks/>
            </p:cNvSpPr>
            <p:nvPr/>
          </p:nvSpPr>
          <p:spPr bwMode="gray">
            <a:xfrm>
              <a:off x="1926933" y="2481914"/>
              <a:ext cx="3670047" cy="215444"/>
            </a:xfrm>
            <a:prstGeom prst="rect">
              <a:avLst/>
            </a:prstGeom>
            <a:noFill/>
          </p:spPr>
          <p:txBody>
            <a:bodyPr vert="horz" wrap="square" lIns="0" tIns="0" rIns="0" bIns="0" rtlCol="0" anchor="ctr">
              <a:sp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Access to </a:t>
              </a:r>
              <a:r>
                <a:rPr lang="en-US" b="1"/>
                <a:t>own lounges at airports</a:t>
              </a:r>
            </a:p>
          </p:txBody>
        </p:sp>
      </p:grpSp>
      <p:grpSp>
        <p:nvGrpSpPr>
          <p:cNvPr id="82" name="Group 81">
            <a:extLst>
              <a:ext uri="{FF2B5EF4-FFF2-40B4-BE49-F238E27FC236}">
                <a16:creationId xmlns:a16="http://schemas.microsoft.com/office/drawing/2014/main" id="{685B30D4-FAAD-1F06-4138-54FCEB9782E1}"/>
              </a:ext>
            </a:extLst>
          </p:cNvPr>
          <p:cNvGrpSpPr/>
          <p:nvPr/>
        </p:nvGrpSpPr>
        <p:grpSpPr>
          <a:xfrm>
            <a:off x="1926933" y="3037494"/>
            <a:ext cx="4495155" cy="430887"/>
            <a:chOff x="1926933" y="2771928"/>
            <a:chExt cx="4495155" cy="430887"/>
          </a:xfrm>
        </p:grpSpPr>
        <p:sp>
          <p:nvSpPr>
            <p:cNvPr id="83" name="TextBox 82">
              <a:extLst>
                <a:ext uri="{FF2B5EF4-FFF2-40B4-BE49-F238E27FC236}">
                  <a16:creationId xmlns:a16="http://schemas.microsoft.com/office/drawing/2014/main" id="{12022D27-009C-20C9-7D5B-F387F0B7D103}"/>
                </a:ext>
              </a:extLst>
            </p:cNvPr>
            <p:cNvSpPr txBox="1">
              <a:spLocks/>
            </p:cNvSpPr>
            <p:nvPr/>
          </p:nvSpPr>
          <p:spPr bwMode="gray">
            <a:xfrm>
              <a:off x="1926933" y="2771928"/>
              <a:ext cx="3670047" cy="430887"/>
            </a:xfrm>
            <a:prstGeom prst="rect">
              <a:avLst/>
            </a:prstGeom>
            <a:noFill/>
          </p:spPr>
          <p:txBody>
            <a:bodyPr vert="horz" wrap="square" lIns="0" tIns="0" rIns="0" bIns="0" rtlCol="0" anchor="ctr">
              <a:spAutoFit/>
            </a:bodyPr>
            <a:lstStyle>
              <a:lvl1pPr marL="0" lvl="0" indent="0" defTabSz="895350" eaLnBrk="1" latinLnBrk="0" hangingPunct="1">
                <a:buClr>
                  <a:schemeClr val="tx2"/>
                </a:buClr>
                <a:buSzPct val="100000"/>
                <a:defRPr sz="1400" baseline="0">
                  <a:latin typeface="+mn-lt"/>
                </a:defRPr>
              </a:lvl1pPr>
              <a:lvl2pPr marL="142875" lvl="1" indent="-142875" defTabSz="895350" eaLnBrk="1" latinLnBrk="0" hangingPunct="1">
                <a:buClr>
                  <a:schemeClr val="tx1"/>
                </a:buClr>
                <a:buSzPct val="100000"/>
                <a:buFont typeface="Arial" panose="020B0604020202020204" pitchFamily="34" charset="0"/>
                <a:buChar char="•"/>
                <a:defRPr sz="1400" baseline="0">
                  <a:latin typeface="+mn-lt"/>
                </a:defRPr>
              </a:lvl2pPr>
              <a:lvl3pPr marL="358775" lvl="2" indent="-180000" defTabSz="895350" eaLnBrk="1" latinLnBrk="0" hangingPunct="1">
                <a:buClr>
                  <a:schemeClr val="tx1"/>
                </a:buClr>
                <a:buSzPct val="120000"/>
                <a:buFont typeface="Arial" charset="0"/>
                <a:buChar char="–"/>
                <a:defRPr sz="1400" baseline="0">
                  <a:latin typeface="+mn-lt"/>
                </a:defRPr>
              </a:lvl3pPr>
              <a:lvl4pPr marL="576000" lvl="3" indent="-144000" defTabSz="895350" eaLnBrk="1" latinLnBrk="0" hangingPunct="1">
                <a:buClr>
                  <a:schemeClr val="tx1"/>
                </a:buClr>
                <a:buSzPct val="120000"/>
                <a:buFont typeface="Arial" panose="020B0604020202020204" pitchFamily="34" charset="0"/>
                <a:buChar char="◦"/>
                <a:defRPr sz="1400" baseline="0">
                  <a:latin typeface="+mn-lt"/>
                </a:defRPr>
              </a:lvl4pPr>
              <a:lvl5pPr marL="720000" lvl="4" indent="-144000" defTabSz="895350" eaLnBrk="1" latinLnBrk="0" hangingPunct="1">
                <a:buClr>
                  <a:schemeClr val="tx1"/>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r>
                <a:rPr lang="en-US"/>
                <a:t>Business and leisure </a:t>
              </a:r>
              <a:r>
                <a:rPr lang="en-US" b="1"/>
                <a:t>travel itinerary management</a:t>
              </a:r>
            </a:p>
          </p:txBody>
        </p:sp>
        <p:pic>
          <p:nvPicPr>
            <p:cNvPr id="84" name="Picture 4" descr="Best Foreign Bank in KSA | Emirates NBD">
              <a:extLst>
                <a:ext uri="{FF2B5EF4-FFF2-40B4-BE49-F238E27FC236}">
                  <a16:creationId xmlns:a16="http://schemas.microsoft.com/office/drawing/2014/main" id="{5785CCF4-3E91-5FB4-9F85-2433F2E404D5}"/>
                </a:ext>
              </a:extLst>
            </p:cNvPr>
            <p:cNvPicPr>
              <a:picLocks noChangeAspect="1" noChangeArrowheads="1"/>
            </p:cNvPicPr>
            <p:nvPr/>
          </p:nvPicPr>
          <p:blipFill>
            <a:blip r:embed="rId43" cstate="screen">
              <a:extLst>
                <a:ext uri="{28A0092B-C50C-407E-A947-70E740481C1C}">
                  <a14:useLocalDpi xmlns:a14="http://schemas.microsoft.com/office/drawing/2010/main"/>
                </a:ext>
              </a:extLst>
            </a:blip>
            <a:srcRect/>
            <a:stretch>
              <a:fillRect/>
            </a:stretch>
          </p:blipFill>
          <p:spPr bwMode="auto">
            <a:xfrm>
              <a:off x="5649817" y="2876290"/>
              <a:ext cx="772271" cy="22216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85" name="LineSeparatorStrong 25">
            <a:extLst>
              <a:ext uri="{FF2B5EF4-FFF2-40B4-BE49-F238E27FC236}">
                <a16:creationId xmlns:a16="http://schemas.microsoft.com/office/drawing/2014/main" id="{86EDD5ED-AA64-78E2-B250-6B8F44E596DB}"/>
              </a:ext>
            </a:extLst>
          </p:cNvPr>
          <p:cNvCxnSpPr>
            <a:cxnSpLocks/>
          </p:cNvCxnSpPr>
          <p:nvPr>
            <p:custDataLst>
              <p:tags r:id="rId10"/>
            </p:custDataLst>
          </p:nvPr>
        </p:nvCxnSpPr>
        <p:spPr>
          <a:xfrm>
            <a:off x="554737" y="3537038"/>
            <a:ext cx="10994591" cy="0"/>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6" name="5. Source">
            <a:extLst>
              <a:ext uri="{FF2B5EF4-FFF2-40B4-BE49-F238E27FC236}">
                <a16:creationId xmlns:a16="http://schemas.microsoft.com/office/drawing/2014/main" id="{8D7A9184-415A-34C5-E7FA-37A2FCDB62AF}"/>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Company website, Press search</a:t>
            </a:r>
          </a:p>
        </p:txBody>
      </p:sp>
    </p:spTree>
    <p:extLst>
      <p:ext uri="{BB962C8B-B14F-4D97-AF65-F5344CB8AC3E}">
        <p14:creationId xmlns:p14="http://schemas.microsoft.com/office/powerpoint/2010/main" val="4170238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2" hidden="1">
            <a:extLst>
              <a:ext uri="{FF2B5EF4-FFF2-40B4-BE49-F238E27FC236}">
                <a16:creationId xmlns:a16="http://schemas.microsoft.com/office/drawing/2014/main" id="{680197FC-ED11-87E9-858F-1DF3D1DB1D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7" name="Object 2" hidden="1">
                        <a:extLst>
                          <a:ext uri="{FF2B5EF4-FFF2-40B4-BE49-F238E27FC236}">
                            <a16:creationId xmlns:a16="http://schemas.microsoft.com/office/drawing/2014/main" id="{680197FC-ED11-87E9-858F-1DF3D1DB1D6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4" name="2. Slide Title">
            <a:extLst>
              <a:ext uri="{FF2B5EF4-FFF2-40B4-BE49-F238E27FC236}">
                <a16:creationId xmlns:a16="http://schemas.microsoft.com/office/drawing/2014/main" id="{103FECEA-EA61-0614-8C0C-6EA96636E66F}"/>
              </a:ext>
            </a:extLst>
          </p:cNvPr>
          <p:cNvSpPr>
            <a:spLocks noGrp="1"/>
          </p:cNvSpPr>
          <p:nvPr>
            <p:ph type="title"/>
            <p:custDataLst>
              <p:tags r:id="rId2"/>
            </p:custDataLst>
          </p:nvPr>
        </p:nvSpPr>
        <p:spPr>
          <a:xfrm>
            <a:off x="550976" y="226624"/>
            <a:ext cx="7918704" cy="677108"/>
          </a:xfrm>
        </p:spPr>
        <p:txBody>
          <a:bodyPr vert="horz"/>
          <a:lstStyle/>
          <a:p>
            <a:r>
              <a:rPr lang="en-US">
                <a:solidFill>
                  <a:schemeClr val="tx1"/>
                </a:solidFill>
              </a:rPr>
              <a:t>Strategic lever summary – </a:t>
            </a:r>
            <a:r>
              <a:rPr lang="en-US" b="0" i="1">
                <a:solidFill>
                  <a:schemeClr val="tx1"/>
                </a:solidFill>
              </a:rPr>
              <a:t>Become local Private Banking benchmark in products and service</a:t>
            </a:r>
            <a:endParaRPr lang="en-US" b="0" i="1"/>
          </a:p>
        </p:txBody>
      </p:sp>
      <p:grpSp>
        <p:nvGrpSpPr>
          <p:cNvPr id="2" name="Group 1">
            <a:extLst>
              <a:ext uri="{FF2B5EF4-FFF2-40B4-BE49-F238E27FC236}">
                <a16:creationId xmlns:a16="http://schemas.microsoft.com/office/drawing/2014/main" id="{6B17BB74-8892-A444-D6DB-606560E81664}"/>
              </a:ext>
            </a:extLst>
          </p:cNvPr>
          <p:cNvGrpSpPr/>
          <p:nvPr/>
        </p:nvGrpSpPr>
        <p:grpSpPr>
          <a:xfrm>
            <a:off x="550976" y="1383891"/>
            <a:ext cx="1771088" cy="4706039"/>
            <a:chOff x="550976" y="1383892"/>
            <a:chExt cx="1477947" cy="4553530"/>
          </a:xfrm>
        </p:grpSpPr>
        <p:sp>
          <p:nvSpPr>
            <p:cNvPr id="6" name="Rectangle: Rounded Corners 5">
              <a:extLst>
                <a:ext uri="{FF2B5EF4-FFF2-40B4-BE49-F238E27FC236}">
                  <a16:creationId xmlns:a16="http://schemas.microsoft.com/office/drawing/2014/main" id="{F10931C4-4311-9F6F-E035-0672C35FD3B2}"/>
                </a:ext>
              </a:extLst>
            </p:cNvPr>
            <p:cNvSpPr/>
            <p:nvPr/>
          </p:nvSpPr>
          <p:spPr>
            <a:xfrm>
              <a:off x="566708" y="1933834"/>
              <a:ext cx="1462215" cy="4003588"/>
            </a:xfrm>
            <a:prstGeom prst="roundRect">
              <a:avLst>
                <a:gd name="adj" fmla="val 500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Tahoma"/>
                <a:ea typeface="+mn-ea"/>
                <a:cs typeface="+mn-cs"/>
              </a:endParaRPr>
            </a:p>
          </p:txBody>
        </p:sp>
        <p:sp>
          <p:nvSpPr>
            <p:cNvPr id="5" name="TextBox 4">
              <a:extLst>
                <a:ext uri="{FF2B5EF4-FFF2-40B4-BE49-F238E27FC236}">
                  <a16:creationId xmlns:a16="http://schemas.microsoft.com/office/drawing/2014/main" id="{9070BFD6-92B6-4911-349E-6B349D504C60}"/>
                </a:ext>
              </a:extLst>
            </p:cNvPr>
            <p:cNvSpPr txBox="1"/>
            <p:nvPr/>
          </p:nvSpPr>
          <p:spPr>
            <a:xfrm>
              <a:off x="648369" y="2009930"/>
              <a:ext cx="1303181" cy="268022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spcBef>
                  <a:spcPts val="600"/>
                </a:spcBef>
                <a:spcAft>
                  <a:spcPts val="0"/>
                </a:spcAft>
                <a:buNone/>
                <a:defRPr/>
              </a:pPr>
              <a:r>
                <a:rPr lang="en-US" sz="1200" i="1"/>
                <a:t>Build PBA into the </a:t>
              </a:r>
              <a:r>
                <a:rPr lang="en-US" sz="1200" b="1" i="1"/>
                <a:t>local Private Banking benchmark </a:t>
              </a:r>
              <a:r>
                <a:rPr lang="en-US" sz="1200" i="1"/>
                <a:t>by focusing on true USD 250K+ private clients, delivering high-touch advisory and </a:t>
              </a:r>
              <a:r>
                <a:rPr lang="en-US" sz="1200" b="1" i="1"/>
                <a:t>distinctive wealth solutions, and creating an exclusive community</a:t>
              </a:r>
              <a:r>
                <a:rPr lang="en-US" sz="1200" i="1"/>
                <a:t> that signals status and attracts future private clients</a:t>
              </a:r>
              <a:endParaRPr kumimoji="0" lang="en-US" sz="1200" b="0"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 name="Rectangle: Rounded Corners 7">
              <a:extLst>
                <a:ext uri="{FF2B5EF4-FFF2-40B4-BE49-F238E27FC236}">
                  <a16:creationId xmlns:a16="http://schemas.microsoft.com/office/drawing/2014/main" id="{DD6050CD-273D-E86B-D083-306BB13F91CD}"/>
                </a:ext>
              </a:extLst>
            </p:cNvPr>
            <p:cNvSpPr>
              <a:spLocks/>
            </p:cNvSpPr>
            <p:nvPr/>
          </p:nvSpPr>
          <p:spPr>
            <a:xfrm>
              <a:off x="550976" y="1383892"/>
              <a:ext cx="1475355" cy="474648"/>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Tahoma"/>
                  <a:ea typeface="+mn-ea"/>
                  <a:cs typeface="+mn-cs"/>
                </a:rPr>
                <a:t>PASHA Bank vision</a:t>
              </a:r>
            </a:p>
          </p:txBody>
        </p:sp>
      </p:grpSp>
      <p:sp>
        <p:nvSpPr>
          <p:cNvPr id="26" name="Rectangle: Rounded Corners 25">
            <a:extLst>
              <a:ext uri="{FF2B5EF4-FFF2-40B4-BE49-F238E27FC236}">
                <a16:creationId xmlns:a16="http://schemas.microsoft.com/office/drawing/2014/main" id="{078AE732-37C6-0689-96CE-AE0F8E18EF14}"/>
              </a:ext>
            </a:extLst>
          </p:cNvPr>
          <p:cNvSpPr>
            <a:spLocks/>
          </p:cNvSpPr>
          <p:nvPr/>
        </p:nvSpPr>
        <p:spPr>
          <a:xfrm>
            <a:off x="8989188" y="1383892"/>
            <a:ext cx="2777361" cy="474648"/>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tr-TR" sz="1200" b="1" i="0" u="none" strike="noStrike" kern="1200" cap="none" spc="0" normalizeH="0" baseline="0" noProof="0">
                <a:ln>
                  <a:noFill/>
                </a:ln>
                <a:solidFill>
                  <a:srgbClr val="FFFFFF"/>
                </a:solidFill>
                <a:effectLst/>
                <a:uLnTx/>
                <a:uFillTx/>
                <a:latin typeface="Tahoma"/>
                <a:ea typeface="+mn-ea"/>
                <a:cs typeface="+mn-cs"/>
              </a:rPr>
              <a:t>Expected Impact</a:t>
            </a:r>
            <a:r>
              <a:rPr kumimoji="0" lang="en-US" sz="1200" b="1" i="0" u="none" strike="noStrike" kern="1200" cap="none" spc="0" normalizeH="0" baseline="0" noProof="0">
                <a:ln>
                  <a:noFill/>
                </a:ln>
                <a:solidFill>
                  <a:srgbClr val="FFFFFF"/>
                </a:solidFill>
                <a:effectLst/>
                <a:uLnTx/>
                <a:uFillTx/>
                <a:latin typeface="Tahoma"/>
                <a:ea typeface="+mn-ea"/>
                <a:cs typeface="+mn-cs"/>
              </a:rPr>
              <a:t> by 2029</a:t>
            </a:r>
          </a:p>
        </p:txBody>
      </p:sp>
      <p:sp>
        <p:nvSpPr>
          <p:cNvPr id="9" name="Rectangle: Rounded Corners 8">
            <a:extLst>
              <a:ext uri="{FF2B5EF4-FFF2-40B4-BE49-F238E27FC236}">
                <a16:creationId xmlns:a16="http://schemas.microsoft.com/office/drawing/2014/main" id="{028E8E31-9288-80D9-1271-30E07C804AFF}"/>
              </a:ext>
            </a:extLst>
          </p:cNvPr>
          <p:cNvSpPr>
            <a:spLocks/>
          </p:cNvSpPr>
          <p:nvPr/>
        </p:nvSpPr>
        <p:spPr>
          <a:xfrm>
            <a:off x="2442283" y="1383892"/>
            <a:ext cx="2537490" cy="474648"/>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tr-TR" sz="1200" b="1" i="0" u="none" strike="noStrike" kern="1200" cap="none" spc="0" normalizeH="0" baseline="0" noProof="0">
                <a:ln>
                  <a:noFill/>
                </a:ln>
                <a:solidFill>
                  <a:srgbClr val="FFFFFF"/>
                </a:solidFill>
                <a:effectLst/>
                <a:uLnTx/>
                <a:uFillTx/>
                <a:latin typeface="Tahoma"/>
                <a:ea typeface="+mn-ea"/>
                <a:cs typeface="+mn-cs"/>
              </a:rPr>
              <a:t>Roadblocks</a:t>
            </a:r>
            <a:endParaRPr kumimoji="0" lang="en-US" sz="1200" b="1" i="0" u="none" strike="noStrike" kern="1200" cap="none" spc="0" normalizeH="0" baseline="0" noProof="0">
              <a:ln>
                <a:noFill/>
              </a:ln>
              <a:solidFill>
                <a:srgbClr val="FFFFFF"/>
              </a:solidFill>
              <a:effectLst/>
              <a:uLnTx/>
              <a:uFillTx/>
              <a:latin typeface="Tahoma"/>
              <a:ea typeface="+mn-ea"/>
              <a:cs typeface="+mn-cs"/>
            </a:endParaRPr>
          </a:p>
        </p:txBody>
      </p:sp>
      <p:sp>
        <p:nvSpPr>
          <p:cNvPr id="28" name="Rectangle: Rounded Corners 27">
            <a:extLst>
              <a:ext uri="{FF2B5EF4-FFF2-40B4-BE49-F238E27FC236}">
                <a16:creationId xmlns:a16="http://schemas.microsoft.com/office/drawing/2014/main" id="{EE87392A-DFB5-4F22-667E-C3DB908AF730}"/>
              </a:ext>
            </a:extLst>
          </p:cNvPr>
          <p:cNvSpPr>
            <a:spLocks/>
          </p:cNvSpPr>
          <p:nvPr/>
        </p:nvSpPr>
        <p:spPr>
          <a:xfrm>
            <a:off x="5157545" y="1382380"/>
            <a:ext cx="3474937" cy="474648"/>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tr-TR" sz="1200" b="1" i="0" u="none" strike="noStrike" kern="1200" cap="none" spc="0" normalizeH="0" baseline="0" noProof="0">
                <a:ln>
                  <a:noFill/>
                </a:ln>
                <a:solidFill>
                  <a:srgbClr val="FFFFFF"/>
                </a:solidFill>
                <a:effectLst/>
                <a:uLnTx/>
                <a:uFillTx/>
                <a:latin typeface="Tahoma"/>
                <a:ea typeface="+mn-ea"/>
                <a:cs typeface="+mn-cs"/>
              </a:rPr>
              <a:t>Initiatives</a:t>
            </a:r>
            <a:endParaRPr kumimoji="0" lang="en-US" sz="1200" b="1" i="0" u="none" strike="noStrike" kern="1200" cap="none" spc="0" normalizeH="0" baseline="0" noProof="0">
              <a:ln>
                <a:noFill/>
              </a:ln>
              <a:solidFill>
                <a:srgbClr val="FFFFFF"/>
              </a:solidFill>
              <a:effectLst/>
              <a:uLnTx/>
              <a:uFillTx/>
              <a:latin typeface="Tahoma"/>
              <a:ea typeface="+mn-ea"/>
              <a:cs typeface="+mn-cs"/>
            </a:endParaRPr>
          </a:p>
        </p:txBody>
      </p:sp>
      <p:cxnSp>
        <p:nvCxnSpPr>
          <p:cNvPr id="11" name="Straight Connector 10">
            <a:extLst>
              <a:ext uri="{FF2B5EF4-FFF2-40B4-BE49-F238E27FC236}">
                <a16:creationId xmlns:a16="http://schemas.microsoft.com/office/drawing/2014/main" id="{3B0BA81A-5583-9631-1C0D-1E6B6E14F5FF}"/>
              </a:ext>
            </a:extLst>
          </p:cNvPr>
          <p:cNvCxnSpPr>
            <a:cxnSpLocks/>
          </p:cNvCxnSpPr>
          <p:nvPr/>
        </p:nvCxnSpPr>
        <p:spPr>
          <a:xfrm>
            <a:off x="566708" y="6156234"/>
            <a:ext cx="8046076"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A02B65E-B7D1-5C95-7F9F-0DC29E04A189}"/>
              </a:ext>
            </a:extLst>
          </p:cNvPr>
          <p:cNvCxnSpPr>
            <a:cxnSpLocks/>
          </p:cNvCxnSpPr>
          <p:nvPr/>
        </p:nvCxnSpPr>
        <p:spPr>
          <a:xfrm>
            <a:off x="566708" y="1322476"/>
            <a:ext cx="8046076"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98F763CD-11B2-9018-62C2-1DF6684F16F4}"/>
              </a:ext>
            </a:extLst>
          </p:cNvPr>
          <p:cNvSpPr txBox="1"/>
          <p:nvPr/>
        </p:nvSpPr>
        <p:spPr>
          <a:xfrm>
            <a:off x="2432440" y="2049459"/>
            <a:ext cx="2537490" cy="84638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100" b="1" i="1"/>
              <a:t>Service model does not enable personal touch</a:t>
            </a:r>
            <a:r>
              <a:rPr lang="en-US" sz="1100" i="1"/>
              <a:t> due to too many clients per PB coverage model, limiting advisory depth and proactive relationship management</a:t>
            </a:r>
            <a:endParaRPr kumimoji="0" lang="en-US" sz="1100" b="0"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71" name="Straight Connector 70">
            <a:extLst>
              <a:ext uri="{FF2B5EF4-FFF2-40B4-BE49-F238E27FC236}">
                <a16:creationId xmlns:a16="http://schemas.microsoft.com/office/drawing/2014/main" id="{3A07CE77-5508-F8C1-F670-069F572C7E32}"/>
              </a:ext>
            </a:extLst>
          </p:cNvPr>
          <p:cNvCxnSpPr>
            <a:cxnSpLocks/>
          </p:cNvCxnSpPr>
          <p:nvPr/>
        </p:nvCxnSpPr>
        <p:spPr>
          <a:xfrm>
            <a:off x="8989187" y="6156234"/>
            <a:ext cx="2777361"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F43EE43-745A-108A-0A6F-B625442DC9AE}"/>
              </a:ext>
            </a:extLst>
          </p:cNvPr>
          <p:cNvCxnSpPr>
            <a:cxnSpLocks/>
          </p:cNvCxnSpPr>
          <p:nvPr/>
        </p:nvCxnSpPr>
        <p:spPr>
          <a:xfrm>
            <a:off x="8989187" y="1322476"/>
            <a:ext cx="2777361"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KeyTakeawayOF 14">
            <a:extLst>
              <a:ext uri="{FF2B5EF4-FFF2-40B4-BE49-F238E27FC236}">
                <a16:creationId xmlns:a16="http://schemas.microsoft.com/office/drawing/2014/main" id="{63438F2C-0641-39D8-2D52-DF29AAE491F8}"/>
              </a:ext>
            </a:extLst>
          </p:cNvPr>
          <p:cNvSpPr txBox="1"/>
          <p:nvPr>
            <p:custDataLst>
              <p:tags r:id="rId3"/>
            </p:custDataLst>
          </p:nvPr>
        </p:nvSpPr>
        <p:spPr>
          <a:xfrm>
            <a:off x="5214551" y="1954643"/>
            <a:ext cx="3398233" cy="1261884"/>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lvl="1" indent="0">
              <a:buClr>
                <a:srgbClr val="111918"/>
              </a:buClr>
              <a:buNone/>
              <a:defRPr/>
            </a:pPr>
            <a:r>
              <a:rPr lang="en-US" sz="1100" b="1"/>
              <a:t>Segmentation reset and PB perimeter clean-up</a:t>
            </a:r>
            <a:r>
              <a:rPr lang="en-US" sz="1100"/>
              <a:t> to narrow down focus on truly wealthy individuals and ensure high-touch coverage:</a:t>
            </a:r>
          </a:p>
          <a:p>
            <a:pPr lvl="2">
              <a:buClr>
                <a:srgbClr val="111918"/>
              </a:buClr>
              <a:defRPr/>
            </a:pPr>
            <a:r>
              <a:rPr lang="en-US" sz="1100"/>
              <a:t>Define PB eligibility at </a:t>
            </a:r>
            <a:r>
              <a:rPr lang="en-US" sz="1100" b="1"/>
              <a:t>USD 250K+ AUM</a:t>
            </a:r>
            <a:endParaRPr lang="en-US" sz="1100"/>
          </a:p>
          <a:p>
            <a:pPr lvl="2">
              <a:buClr>
                <a:srgbClr val="111918"/>
              </a:buClr>
              <a:defRPr/>
            </a:pPr>
            <a:r>
              <a:rPr lang="en-US" sz="1100"/>
              <a:t>Migrate sub-USD 250K clients to </a:t>
            </a:r>
            <a:r>
              <a:rPr lang="en-US" sz="1100" b="1"/>
              <a:t>Retail/Affluent</a:t>
            </a:r>
            <a:r>
              <a:rPr lang="en-US" sz="1100"/>
              <a:t> coverage with clear upgrade triggers into PB</a:t>
            </a:r>
            <a:endParaRPr kumimoji="0" lang="en-US" sz="11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9" name="Oval 28">
            <a:extLst>
              <a:ext uri="{FF2B5EF4-FFF2-40B4-BE49-F238E27FC236}">
                <a16:creationId xmlns:a16="http://schemas.microsoft.com/office/drawing/2014/main" id="{116A0D52-4004-B753-F0DA-D2D89AC543AB}"/>
              </a:ext>
            </a:extLst>
          </p:cNvPr>
          <p:cNvSpPr/>
          <p:nvPr/>
        </p:nvSpPr>
        <p:spPr>
          <a:xfrm>
            <a:off x="9020414" y="1947239"/>
            <a:ext cx="624548" cy="624548"/>
          </a:xfrm>
          <a:prstGeom prst="ellips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Tahoma"/>
                <a:ea typeface="+mn-ea"/>
                <a:cs typeface="+mn-cs"/>
              </a:rPr>
              <a:t>6</a:t>
            </a:r>
          </a:p>
        </p:txBody>
      </p:sp>
      <p:sp>
        <p:nvSpPr>
          <p:cNvPr id="30" name="KeyTakeawayOF 14">
            <a:extLst>
              <a:ext uri="{FF2B5EF4-FFF2-40B4-BE49-F238E27FC236}">
                <a16:creationId xmlns:a16="http://schemas.microsoft.com/office/drawing/2014/main" id="{8DF360FC-9AB6-7631-F5DE-E2118F0DC32C}"/>
              </a:ext>
            </a:extLst>
          </p:cNvPr>
          <p:cNvSpPr txBox="1"/>
          <p:nvPr>
            <p:custDataLst>
              <p:tags r:id="rId4"/>
            </p:custDataLst>
          </p:nvPr>
        </p:nvSpPr>
        <p:spPr>
          <a:xfrm>
            <a:off x="9749717" y="2074847"/>
            <a:ext cx="2016831" cy="553998"/>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None/>
              <a:tabLst/>
              <a:defRPr/>
            </a:pPr>
            <a:r>
              <a:rPr kumimoji="0" lang="en-US" sz="1200" b="0" i="0" u="none" strike="noStrike" kern="1200" cap="none" spc="0" normalizeH="0" baseline="0" noProof="0">
                <a:ln>
                  <a:noFill/>
                </a:ln>
                <a:solidFill>
                  <a:srgbClr val="191C1E"/>
                </a:solidFill>
                <a:effectLst/>
                <a:uLnTx/>
                <a:uFillTx/>
                <a:latin typeface="Tahoma"/>
                <a:ea typeface="Tahoma"/>
                <a:cs typeface="Tahoma"/>
              </a:rPr>
              <a:t>Net banking income impact</a:t>
            </a:r>
            <a:r>
              <a:rPr lang="en-US" sz="1200">
                <a:latin typeface="Tahoma"/>
                <a:ea typeface="Tahoma"/>
                <a:cs typeface="Tahoma"/>
              </a:rPr>
              <a:t> primarily from fee income</a:t>
            </a:r>
            <a:r>
              <a:rPr kumimoji="0" lang="en-US" sz="1200" b="0" i="0" u="none" strike="noStrike" kern="1200" cap="none" spc="0" normalizeH="0" baseline="0" noProof="0">
                <a:ln>
                  <a:noFill/>
                </a:ln>
                <a:solidFill>
                  <a:srgbClr val="191C1E"/>
                </a:solidFill>
                <a:effectLst/>
                <a:uLnTx/>
                <a:uFillTx/>
                <a:latin typeface="Tahoma"/>
                <a:ea typeface="Tahoma"/>
                <a:cs typeface="Tahoma"/>
              </a:rPr>
              <a:t>, </a:t>
            </a:r>
            <a:r>
              <a:rPr kumimoji="0" lang="en-US" sz="1200" b="0" i="1" u="none" strike="noStrike" kern="1200" cap="none" spc="0" normalizeH="0" baseline="0" noProof="0">
                <a:ln>
                  <a:noFill/>
                </a:ln>
                <a:solidFill>
                  <a:srgbClr val="191C1E"/>
                </a:solidFill>
                <a:effectLst/>
                <a:uLnTx/>
                <a:uFillTx/>
                <a:latin typeface="Tahoma"/>
                <a:ea typeface="Tahoma"/>
                <a:cs typeface="Tahoma"/>
              </a:rPr>
              <a:t>AZN </a:t>
            </a:r>
            <a:r>
              <a:rPr lang="en-US" sz="1200" i="1">
                <a:latin typeface="Tahoma"/>
                <a:ea typeface="Tahoma"/>
                <a:cs typeface="Tahoma"/>
              </a:rPr>
              <a:t>MN</a:t>
            </a:r>
            <a:endParaRPr lang="en-US"/>
          </a:p>
        </p:txBody>
      </p:sp>
      <p:cxnSp>
        <p:nvCxnSpPr>
          <p:cNvPr id="54" name="Straight Connector 53">
            <a:extLst>
              <a:ext uri="{FF2B5EF4-FFF2-40B4-BE49-F238E27FC236}">
                <a16:creationId xmlns:a16="http://schemas.microsoft.com/office/drawing/2014/main" id="{6BFED18C-FD50-2C03-A35D-D39FF0FDDE6B}"/>
              </a:ext>
            </a:extLst>
          </p:cNvPr>
          <p:cNvCxnSpPr>
            <a:cxnSpLocks/>
          </p:cNvCxnSpPr>
          <p:nvPr/>
        </p:nvCxnSpPr>
        <p:spPr>
          <a:xfrm>
            <a:off x="5074015" y="1944152"/>
            <a:ext cx="0" cy="4161307"/>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00721D4-3713-44E3-7F41-5C866F6E6B6A}"/>
              </a:ext>
            </a:extLst>
          </p:cNvPr>
          <p:cNvSpPr txBox="1"/>
          <p:nvPr/>
        </p:nvSpPr>
        <p:spPr>
          <a:xfrm>
            <a:off x="2432440" y="4614266"/>
            <a:ext cx="2537490" cy="118494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100" b="1" i="1"/>
              <a:t>Future-private acquisition is not systematic</a:t>
            </a:r>
            <a:r>
              <a:rPr lang="en-US" sz="1100" i="1"/>
              <a:t> – high-potential entrepreneurs, C-suite executives, heirs and affluent clients are not yet consistently identified, nurtured through events, or converted into PB through a structured incubator / prospecting model</a:t>
            </a:r>
            <a:endParaRPr kumimoji="0" lang="en-US" sz="1100" b="0"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36" name="Straight Connector 35">
            <a:extLst>
              <a:ext uri="{FF2B5EF4-FFF2-40B4-BE49-F238E27FC236}">
                <a16:creationId xmlns:a16="http://schemas.microsoft.com/office/drawing/2014/main" id="{7B6F06ED-79ED-9295-18BD-F2C2286AD049}"/>
              </a:ext>
            </a:extLst>
          </p:cNvPr>
          <p:cNvCxnSpPr>
            <a:cxnSpLocks/>
          </p:cNvCxnSpPr>
          <p:nvPr/>
        </p:nvCxnSpPr>
        <p:spPr>
          <a:xfrm>
            <a:off x="2432439" y="3113854"/>
            <a:ext cx="2537491"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3E1955A-1D8A-8731-7087-281909061933}"/>
              </a:ext>
            </a:extLst>
          </p:cNvPr>
          <p:cNvSpPr txBox="1"/>
          <p:nvPr/>
        </p:nvSpPr>
        <p:spPr>
          <a:xfrm>
            <a:off x="2432440" y="3331863"/>
            <a:ext cx="2537490" cy="84638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100" b="1" i="1"/>
              <a:t>Perks and benefits do not yet signal exclusive Private Banking status</a:t>
            </a:r>
            <a:r>
              <a:rPr lang="en-US" sz="1100" i="1"/>
              <a:t>, with limited closed community, invitation-only events and premium partner privileges</a:t>
            </a:r>
            <a:endParaRPr kumimoji="0" lang="en-US" sz="1100" b="0"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4" name="Straight Connector 3">
            <a:extLst>
              <a:ext uri="{FF2B5EF4-FFF2-40B4-BE49-F238E27FC236}">
                <a16:creationId xmlns:a16="http://schemas.microsoft.com/office/drawing/2014/main" id="{A205448A-D051-CCAD-8F58-F7477BA8FD69}"/>
              </a:ext>
            </a:extLst>
          </p:cNvPr>
          <p:cNvCxnSpPr>
            <a:cxnSpLocks/>
          </p:cNvCxnSpPr>
          <p:nvPr/>
        </p:nvCxnSpPr>
        <p:spPr>
          <a:xfrm>
            <a:off x="2432440" y="4396258"/>
            <a:ext cx="2537491"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6B5099-C94B-F43F-AA58-A6E0616DD031}"/>
              </a:ext>
            </a:extLst>
          </p:cNvPr>
          <p:cNvCxnSpPr>
            <a:cxnSpLocks/>
          </p:cNvCxnSpPr>
          <p:nvPr/>
        </p:nvCxnSpPr>
        <p:spPr>
          <a:xfrm>
            <a:off x="5214551" y="3970774"/>
            <a:ext cx="3359092"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A5FF4A9-79AD-9219-618E-B315AD853050}"/>
              </a:ext>
            </a:extLst>
          </p:cNvPr>
          <p:cNvCxnSpPr>
            <a:cxnSpLocks/>
          </p:cNvCxnSpPr>
          <p:nvPr/>
        </p:nvCxnSpPr>
        <p:spPr>
          <a:xfrm>
            <a:off x="5214551" y="5414889"/>
            <a:ext cx="3359092"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KeyTakeawayOF 14">
            <a:extLst>
              <a:ext uri="{FF2B5EF4-FFF2-40B4-BE49-F238E27FC236}">
                <a16:creationId xmlns:a16="http://schemas.microsoft.com/office/drawing/2014/main" id="{427FD1B4-2062-B1E6-2914-C3D0EB2979EC}"/>
              </a:ext>
            </a:extLst>
          </p:cNvPr>
          <p:cNvSpPr txBox="1"/>
          <p:nvPr>
            <p:custDataLst>
              <p:tags r:id="rId5"/>
            </p:custDataLst>
          </p:nvPr>
        </p:nvSpPr>
        <p:spPr>
          <a:xfrm>
            <a:off x="5214551" y="3996487"/>
            <a:ext cx="3398233" cy="1392689"/>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lvl="1" indent="0">
              <a:buClr>
                <a:srgbClr val="111918"/>
              </a:buClr>
              <a:buNone/>
              <a:defRPr/>
            </a:pPr>
            <a:r>
              <a:rPr lang="en-US" sz="1100" b="1"/>
              <a:t>Luxury lifestyle and privilege partner network</a:t>
            </a:r>
            <a:r>
              <a:rPr lang="en-US" sz="1100"/>
              <a:t> to strengthen “status signaling” and differentiate the proposition</a:t>
            </a:r>
          </a:p>
          <a:p>
            <a:pPr lvl="2">
              <a:buClr>
                <a:srgbClr val="111918"/>
              </a:buClr>
              <a:defRPr/>
            </a:pPr>
            <a:r>
              <a:rPr lang="en-US" sz="1100"/>
              <a:t>Build curated partnerships across travel, hospitality, healthcare, education, culture, luxury retail and concierge (e.g., premium travel access, private healthcare packages, education support and lifestyle privileges)</a:t>
            </a:r>
            <a:endParaRPr kumimoji="0" lang="en-US" sz="11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7" name="KeyTakeawayOF 14">
            <a:extLst>
              <a:ext uri="{FF2B5EF4-FFF2-40B4-BE49-F238E27FC236}">
                <a16:creationId xmlns:a16="http://schemas.microsoft.com/office/drawing/2014/main" id="{02D139E0-3A4C-6CC5-5DCA-D7C31208059D}"/>
              </a:ext>
            </a:extLst>
          </p:cNvPr>
          <p:cNvSpPr txBox="1"/>
          <p:nvPr>
            <p:custDataLst>
              <p:tags r:id="rId6"/>
            </p:custDataLst>
          </p:nvPr>
        </p:nvSpPr>
        <p:spPr>
          <a:xfrm>
            <a:off x="5214551" y="5440604"/>
            <a:ext cx="3398233" cy="677108"/>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lvl="1" indent="0">
              <a:buClr>
                <a:srgbClr val="111918"/>
              </a:buClr>
              <a:buNone/>
              <a:defRPr/>
            </a:pPr>
            <a:r>
              <a:rPr lang="en-US" sz="1100" b="1"/>
              <a:t>Private Client Club and events</a:t>
            </a:r>
            <a:r>
              <a:rPr lang="en-US" sz="1100"/>
              <a:t> to build exclusive community, reinforce status and capture future private clients through closed investment briefings, CEO dinners and family business forums</a:t>
            </a:r>
            <a:endParaRPr kumimoji="0" lang="en-US" sz="11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Sticker">
            <a:extLst>
              <a:ext uri="{FF2B5EF4-FFF2-40B4-BE49-F238E27FC236}">
                <a16:creationId xmlns:a16="http://schemas.microsoft.com/office/drawing/2014/main" id="{276C1A4F-D6CB-E84E-1E97-E5389E8E6FF7}"/>
              </a:ext>
            </a:extLst>
          </p:cNvPr>
          <p:cNvSpPr txBox="1"/>
          <p:nvPr/>
        </p:nvSpPr>
        <p:spPr>
          <a:xfrm>
            <a:off x="7793929" y="0"/>
            <a:ext cx="4398071" cy="216513"/>
          </a:xfrm>
          <a:prstGeom prst="rect">
            <a:avLst/>
          </a:prstGeom>
          <a:gradFill>
            <a:gsLst>
              <a:gs pos="22000">
                <a:schemeClr val="accent5"/>
              </a:gs>
              <a:gs pos="6000">
                <a:schemeClr val="bg2">
                  <a:alpha val="0"/>
                </a:schemeClr>
              </a:gs>
            </a:gsLst>
            <a:lin ang="19200000" scaled="0"/>
          </a:gradFill>
          <a:ln w="6350">
            <a:noFill/>
            <a:miter lim="800000"/>
          </a:ln>
        </p:spPr>
        <p:txBody>
          <a:bodyPr vert="horz" wrap="square" lIns="0" tIns="0" rIns="91440" bIns="0" rtlCol="0" anchor="ctr" anchorCtr="0">
            <a:noAutofit/>
          </a:bodyPr>
          <a:lstStyle>
            <a:defPPr>
              <a:defRPr lang="en-US"/>
            </a:defPPr>
            <a:lvl1pPr>
              <a:spcBef>
                <a:spcPts val="300"/>
              </a:spcBef>
              <a:spcAft>
                <a:spcPts val="300"/>
              </a:spcAft>
              <a:buNone/>
              <a:defRPr sz="800" b="1" cap="all"/>
            </a:lvl1pPr>
          </a:lstStyle>
          <a:p>
            <a:pPr algn="r" rtl="0"/>
            <a:r>
              <a:rPr lang="en-US">
                <a:latin typeface="+mn-lt"/>
              </a:rPr>
              <a:t>IMPACT ESTIMATION TO BE VERIFIED WITH BOTTOM-UP MODEL</a:t>
            </a:r>
          </a:p>
        </p:txBody>
      </p:sp>
      <p:sp>
        <p:nvSpPr>
          <p:cNvPr id="15" name="KeyTakeawayOF 14">
            <a:extLst>
              <a:ext uri="{FF2B5EF4-FFF2-40B4-BE49-F238E27FC236}">
                <a16:creationId xmlns:a16="http://schemas.microsoft.com/office/drawing/2014/main" id="{02B58D3E-A458-9D5F-28B9-873A622BDC83}"/>
              </a:ext>
            </a:extLst>
          </p:cNvPr>
          <p:cNvSpPr txBox="1"/>
          <p:nvPr>
            <p:custDataLst>
              <p:tags r:id="rId7"/>
            </p:custDataLst>
          </p:nvPr>
        </p:nvSpPr>
        <p:spPr>
          <a:xfrm>
            <a:off x="5214551" y="3267953"/>
            <a:ext cx="3398233" cy="677108"/>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lvl="1" indent="0">
              <a:buClr>
                <a:srgbClr val="111918"/>
              </a:buClr>
              <a:buNone/>
              <a:defRPr/>
            </a:pPr>
            <a:r>
              <a:rPr kumimoji="0" lang="en-US" sz="110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Differentiate clients PB-eligible </a:t>
            </a:r>
            <a:r>
              <a:rPr kumimoji="0" lang="en-US" sz="1100" b="1"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clients between PBA  and PASHA Capital, </a:t>
            </a:r>
            <a:r>
              <a:rPr kumimoji="0" lang="en-US" sz="110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with former focusing </a:t>
            </a:r>
            <a:r>
              <a:rPr kumimoji="0" lang="en-US" sz="1100" b="1"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only on individuals, </a:t>
            </a:r>
            <a:r>
              <a:rPr kumimoji="0" lang="en-US" sz="110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and latter one </a:t>
            </a:r>
            <a:r>
              <a:rPr kumimoji="0" lang="en-US" sz="1100" b="1"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on corporate investors</a:t>
            </a:r>
            <a:r>
              <a:rPr kumimoji="0" lang="en-US" sz="110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 subject to brokerage license constraint</a:t>
            </a:r>
          </a:p>
        </p:txBody>
      </p:sp>
      <p:cxnSp>
        <p:nvCxnSpPr>
          <p:cNvPr id="14" name="Straight Connector 13">
            <a:extLst>
              <a:ext uri="{FF2B5EF4-FFF2-40B4-BE49-F238E27FC236}">
                <a16:creationId xmlns:a16="http://schemas.microsoft.com/office/drawing/2014/main" id="{00FF291B-B339-8DB0-1FE0-868572EA02A5}"/>
              </a:ext>
            </a:extLst>
          </p:cNvPr>
          <p:cNvCxnSpPr>
            <a:cxnSpLocks/>
          </p:cNvCxnSpPr>
          <p:nvPr/>
        </p:nvCxnSpPr>
        <p:spPr>
          <a:xfrm>
            <a:off x="5214551" y="3242240"/>
            <a:ext cx="3359092"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442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E3934-A4DB-5D21-66CD-0182AF716162}"/>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E8A2F499-948A-7F0D-DEA1-C54D2C53C9E1}"/>
              </a:ext>
            </a:extLst>
          </p:cNvPr>
          <p:cNvGraphicFramePr>
            <a:graphicFrameLocks noChangeAspect="1"/>
          </p:cNvGraphicFramePr>
          <p:nvPr>
            <p:custDataLst>
              <p:tags r:id="rId1"/>
            </p:custDataLst>
            <p:extLst>
              <p:ext uri="{D42A27DB-BD31-4B8C-83A1-F6EECF244321}">
                <p14:modId xmlns:p14="http://schemas.microsoft.com/office/powerpoint/2010/main" val="12843563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6" progId="TCLayout.ActiveDocument.1">
                  <p:embed/>
                </p:oleObj>
              </mc:Choice>
              <mc:Fallback>
                <p:oleObj name="think-cell Slide" r:id="rId6" imgW="473" imgH="476" progId="TCLayout.ActiveDocument.1">
                  <p:embed/>
                  <p:pic>
                    <p:nvPicPr>
                      <p:cNvPr id="6" name="Object 6" hidden="1">
                        <a:extLst>
                          <a:ext uri="{FF2B5EF4-FFF2-40B4-BE49-F238E27FC236}">
                            <a16:creationId xmlns:a16="http://schemas.microsoft.com/office/drawing/2014/main" id="{E8A2F499-948A-7F0D-DEA1-C54D2C53C9E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DA5610-9313-355E-140C-B97B838C060A}"/>
              </a:ext>
            </a:extLst>
          </p:cNvPr>
          <p:cNvSpPr>
            <a:spLocks noGrp="1"/>
          </p:cNvSpPr>
          <p:nvPr>
            <p:ph type="title"/>
          </p:nvPr>
        </p:nvSpPr>
        <p:spPr>
          <a:xfrm>
            <a:off x="554734" y="534400"/>
            <a:ext cx="11082528" cy="369332"/>
          </a:xfrm>
        </p:spPr>
        <p:txBody>
          <a:bodyPr vert="horz"/>
          <a:lstStyle/>
          <a:p>
            <a:fld id="{8E951348-E747-4642-ACC0-D8CBAC6958F3}" type="datetime'Contents'">
              <a:rPr lang="en-US" altLang="en-US" smtClean="0">
                <a:effectLst/>
              </a:rPr>
              <a:pPr/>
              <a:t>Contents</a:t>
            </a:fld>
            <a:endParaRPr lang="en-US"/>
          </a:p>
        </p:txBody>
      </p:sp>
      <p:sp>
        <p:nvSpPr>
          <p:cNvPr id="8" name="1. On-page tracker">
            <a:extLst>
              <a:ext uri="{FF2B5EF4-FFF2-40B4-BE49-F238E27FC236}">
                <a16:creationId xmlns:a16="http://schemas.microsoft.com/office/drawing/2014/main" id="{6C8B9696-7D78-8D72-01AF-8B0D41FA8637}"/>
              </a:ext>
            </a:extLst>
          </p:cNvPr>
          <p:cNvSpPr>
            <a:spLocks noGrp="1"/>
          </p:cNvSpPr>
          <p:nvPr>
            <p:ph type="body" sz="quarter" idx="10"/>
            <p:custDataLst>
              <p:tags r:id="rId2"/>
            </p:custDataLst>
          </p:nvPr>
        </p:nvSpPr>
        <p:spPr/>
        <p:txBody>
          <a:bodyPr/>
          <a:lstStyle/>
          <a:p>
            <a:endParaRPr lang="en-US"/>
          </a:p>
        </p:txBody>
      </p:sp>
      <p:sp>
        <p:nvSpPr>
          <p:cNvPr id="7" name="Text Placeholder 4">
            <a:hlinkClick r:id="rId8" action="ppaction://hlinksldjump"/>
            <a:extLst>
              <a:ext uri="{FF2B5EF4-FFF2-40B4-BE49-F238E27FC236}">
                <a16:creationId xmlns:a16="http://schemas.microsoft.com/office/drawing/2014/main" id="{BC5CFC79-5348-4623-9C10-F763CB7BF5E6}"/>
              </a:ext>
            </a:extLst>
          </p:cNvPr>
          <p:cNvSpPr>
            <a:spLocks noGrp="1"/>
          </p:cNvSpPr>
          <p:nvPr>
            <p:custDataLst>
              <p:tags r:id="rId3"/>
            </p:custDataLst>
          </p:nvPr>
        </p:nvSpPr>
        <p:spPr bwMode="auto">
          <a:xfrm>
            <a:off x="5313363" y="3073400"/>
            <a:ext cx="1565275" cy="355600"/>
          </a:xfrm>
          <a:prstGeom prst="rect">
            <a:avLst/>
          </a:prstGeom>
          <a:noFill/>
          <a:ln>
            <a:noFill/>
          </a:ln>
          <a:effectLst/>
          <a:extLst>
            <a:ext uri="{909E8E84-426E-40DD-AFC4-6F175D3DCCD1}">
              <a14:hiddenFill xmlns:a14="http://schemas.microsoft.com/office/drawing/2010/main">
                <a:solidFill>
                  <a:schemeClr val="accent6"/>
                </a:solidFill>
              </a14:hiddenFill>
            </a:ext>
          </a:extLst>
        </p:spPr>
        <p:txBody>
          <a:bodyPr vert="horz" wrap="none" lIns="71438" tIns="71438" rIns="0" bIns="714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dirty="0">
                <a:solidFill>
                  <a:schemeClr val="tx1"/>
                </a:solidFill>
                <a:effectLst/>
                <a:latin typeface="+mn-lt"/>
              </a:rPr>
              <a:t>Private banking</a:t>
            </a:r>
            <a:endParaRPr lang="en-US" dirty="0">
              <a:solidFill>
                <a:schemeClr val="tx1"/>
              </a:solidFill>
              <a:latin typeface="+mn-lt"/>
            </a:endParaRPr>
          </a:p>
        </p:txBody>
      </p:sp>
      <p:sp>
        <p:nvSpPr>
          <p:cNvPr id="4" name="Text Placeholder 4">
            <a:extLst>
              <a:ext uri="{FF2B5EF4-FFF2-40B4-BE49-F238E27FC236}">
                <a16:creationId xmlns:a16="http://schemas.microsoft.com/office/drawing/2014/main" id="{63B80352-A0C8-EC91-2468-72CAA2478170}"/>
              </a:ext>
            </a:extLst>
          </p:cNvPr>
          <p:cNvSpPr>
            <a:spLocks noGrp="1"/>
          </p:cNvSpPr>
          <p:nvPr>
            <p:custDataLst>
              <p:tags r:id="rId4"/>
            </p:custDataLst>
          </p:nvPr>
        </p:nvSpPr>
        <p:spPr bwMode="auto">
          <a:xfrm>
            <a:off x="5313363" y="3429000"/>
            <a:ext cx="1565275" cy="355600"/>
          </a:xfrm>
          <a:prstGeom prst="rect">
            <a:avLst/>
          </a:prstGeom>
          <a:solidFill>
            <a:schemeClr val="accent6"/>
          </a:solidFill>
          <a:ln>
            <a:noFill/>
          </a:ln>
          <a:effectLst/>
        </p:spPr>
        <p:txBody>
          <a:bodyPr vert="horz" wrap="none" lIns="71438" tIns="71438" rIns="0" bIns="71438"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a:spcBef>
                <a:spcPct val="0"/>
              </a:spcBef>
              <a:spcAft>
                <a:spcPct val="0"/>
              </a:spcAft>
            </a:pPr>
            <a:r>
              <a:rPr lang="en-US" altLang="en-US" b="1" dirty="0">
                <a:solidFill>
                  <a:schemeClr val="tx1"/>
                </a:solidFill>
                <a:effectLst/>
                <a:latin typeface="+mn-lt"/>
              </a:rPr>
              <a:t>Retail banking</a:t>
            </a:r>
            <a:endParaRPr lang="en-US" b="1" dirty="0">
              <a:solidFill>
                <a:schemeClr val="tx1"/>
              </a:solidFill>
              <a:latin typeface="+mn-lt"/>
            </a:endParaRPr>
          </a:p>
        </p:txBody>
      </p:sp>
    </p:spTree>
    <p:extLst>
      <p:ext uri="{BB962C8B-B14F-4D97-AF65-F5344CB8AC3E}">
        <p14:creationId xmlns:p14="http://schemas.microsoft.com/office/powerpoint/2010/main" val="2593515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27076-93CF-F535-BE9B-141608E3A319}"/>
            </a:ext>
          </a:extLst>
        </p:cNvPr>
        <p:cNvGrpSpPr/>
        <p:nvPr/>
      </p:nvGrpSpPr>
      <p:grpSpPr>
        <a:xfrm>
          <a:off x="0" y="0"/>
          <a:ext cx="0" cy="0"/>
          <a:chOff x="0" y="0"/>
          <a:chExt cx="0" cy="0"/>
        </a:xfrm>
      </p:grpSpPr>
      <p:graphicFrame>
        <p:nvGraphicFramePr>
          <p:cNvPr id="23" name="Object 6" hidden="1">
            <a:extLst>
              <a:ext uri="{FF2B5EF4-FFF2-40B4-BE49-F238E27FC236}">
                <a16:creationId xmlns:a16="http://schemas.microsoft.com/office/drawing/2014/main" id="{A5C46256-53FE-254F-E489-45881316582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04" imgH="405" progId="TCLayout.ActiveDocument.1">
                  <p:embed/>
                </p:oleObj>
              </mc:Choice>
              <mc:Fallback>
                <p:oleObj name="think-cell Slide" r:id="rId21" imgW="404" imgH="405" progId="TCLayout.ActiveDocument.1">
                  <p:embed/>
                  <p:pic>
                    <p:nvPicPr>
                      <p:cNvPr id="23" name="Object 6" hidden="1">
                        <a:extLst>
                          <a:ext uri="{FF2B5EF4-FFF2-40B4-BE49-F238E27FC236}">
                            <a16:creationId xmlns:a16="http://schemas.microsoft.com/office/drawing/2014/main" id="{A5C46256-53FE-254F-E489-458813165821}"/>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69A125B-5FA4-9FC7-F223-38BEB4DCD53B}"/>
              </a:ext>
            </a:extLst>
          </p:cNvPr>
          <p:cNvSpPr>
            <a:spLocks noGrp="1"/>
          </p:cNvSpPr>
          <p:nvPr>
            <p:ph type="title"/>
            <p:custDataLst>
              <p:tags r:id="rId2"/>
            </p:custDataLst>
          </p:nvPr>
        </p:nvSpPr>
        <p:spPr>
          <a:xfrm>
            <a:off x="554734" y="279757"/>
            <a:ext cx="11413746" cy="369332"/>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sz="2000" noProof="1">
                <a:latin typeface="+mj-lt"/>
              </a:rPr>
              <a:t>Global and regional banks investing in retail banking plays for salaried customers</a:t>
            </a:r>
          </a:p>
        </p:txBody>
      </p:sp>
      <p:sp>
        <p:nvSpPr>
          <p:cNvPr id="72" name="TextBox 71">
            <a:extLst>
              <a:ext uri="{FF2B5EF4-FFF2-40B4-BE49-F238E27FC236}">
                <a16:creationId xmlns:a16="http://schemas.microsoft.com/office/drawing/2014/main" id="{2089ACFA-330E-C997-E2AE-ADD96D54C2F7}"/>
              </a:ext>
            </a:extLst>
          </p:cNvPr>
          <p:cNvSpPr txBox="1">
            <a:spLocks/>
          </p:cNvSpPr>
          <p:nvPr/>
        </p:nvSpPr>
        <p:spPr>
          <a:xfrm>
            <a:off x="3797597" y="1495526"/>
            <a:ext cx="4867301"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73063" marR="0" lvl="0" indent="-373063"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Description of success</a:t>
            </a:r>
          </a:p>
        </p:txBody>
      </p:sp>
      <p:sp>
        <p:nvSpPr>
          <p:cNvPr id="71" name="TextBox 70">
            <a:extLst>
              <a:ext uri="{FF2B5EF4-FFF2-40B4-BE49-F238E27FC236}">
                <a16:creationId xmlns:a16="http://schemas.microsoft.com/office/drawing/2014/main" id="{88BCCD4B-307A-9018-5880-CEDC5C49F4A4}"/>
              </a:ext>
            </a:extLst>
          </p:cNvPr>
          <p:cNvSpPr txBox="1">
            <a:spLocks/>
          </p:cNvSpPr>
          <p:nvPr/>
        </p:nvSpPr>
        <p:spPr>
          <a:xfrm>
            <a:off x="1605220" y="1495526"/>
            <a:ext cx="1941618"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73063" marR="0" lvl="0" indent="-373063"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Anchors of success</a:t>
            </a:r>
          </a:p>
        </p:txBody>
      </p:sp>
      <p:sp>
        <p:nvSpPr>
          <p:cNvPr id="74" name="TextBox 73">
            <a:extLst>
              <a:ext uri="{FF2B5EF4-FFF2-40B4-BE49-F238E27FC236}">
                <a16:creationId xmlns:a16="http://schemas.microsoft.com/office/drawing/2014/main" id="{522A8E9C-3A7E-5F5A-009A-C6204CE01F23}"/>
              </a:ext>
            </a:extLst>
          </p:cNvPr>
          <p:cNvSpPr txBox="1">
            <a:spLocks/>
          </p:cNvSpPr>
          <p:nvPr/>
        </p:nvSpPr>
        <p:spPr>
          <a:xfrm>
            <a:off x="9035143" y="1495526"/>
            <a:ext cx="2602119"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73063" marR="0" lvl="0" indent="-373063"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Best case examples</a:t>
            </a:r>
          </a:p>
        </p:txBody>
      </p:sp>
      <p:pic>
        <p:nvPicPr>
          <p:cNvPr id="1034" name="Graphic 1033">
            <a:extLst>
              <a:ext uri="{FF2B5EF4-FFF2-40B4-BE49-F238E27FC236}">
                <a16:creationId xmlns:a16="http://schemas.microsoft.com/office/drawing/2014/main" id="{24EC455A-F908-46DE-5B63-9C70AAAB2AD7}"/>
              </a:ext>
            </a:extLst>
          </p:cNvPr>
          <p:cNvPicPr>
            <a:picLocks/>
          </p:cNvPicPr>
          <p:nvPr/>
        </p:nvPicPr>
        <p:blipFill>
          <a:blip>
            <a:extLst>
              <a:ext uri="{96DAC541-7B7A-43D3-8B79-37D633B846F1}">
                <asvg:svgBlip xmlns:asvg="http://schemas.microsoft.com/office/drawing/2016/SVG/main" r:embed="rId23"/>
              </a:ext>
            </a:extLst>
          </a:blip>
          <a:stretch>
            <a:fillRect/>
          </a:stretch>
        </p:blipFill>
        <p:spPr>
          <a:xfrm>
            <a:off x="1605220" y="1372413"/>
            <a:ext cx="307777" cy="307777"/>
          </a:xfrm>
          <a:prstGeom prst="rect">
            <a:avLst/>
          </a:prstGeom>
        </p:spPr>
      </p:pic>
      <p:pic>
        <p:nvPicPr>
          <p:cNvPr id="1040" name="Graphic 1039">
            <a:extLst>
              <a:ext uri="{FF2B5EF4-FFF2-40B4-BE49-F238E27FC236}">
                <a16:creationId xmlns:a16="http://schemas.microsoft.com/office/drawing/2014/main" id="{B40AA0C2-6339-7D9A-CFE3-5564F68FA47E}"/>
              </a:ext>
            </a:extLst>
          </p:cNvPr>
          <p:cNvPicPr>
            <a:picLocks/>
          </p:cNvPicPr>
          <p:nvPr/>
        </p:nvPicPr>
        <p:blipFill>
          <a:blip>
            <a:extLst>
              <a:ext uri="{96DAC541-7B7A-43D3-8B79-37D633B846F1}">
                <asvg:svgBlip xmlns:asvg="http://schemas.microsoft.com/office/drawing/2016/SVG/main" r:embed="rId24"/>
              </a:ext>
            </a:extLst>
          </a:blip>
          <a:stretch>
            <a:fillRect/>
          </a:stretch>
        </p:blipFill>
        <p:spPr>
          <a:xfrm>
            <a:off x="9035143" y="1372413"/>
            <a:ext cx="307777" cy="307777"/>
          </a:xfrm>
          <a:prstGeom prst="rect">
            <a:avLst/>
          </a:prstGeom>
        </p:spPr>
      </p:pic>
      <p:pic>
        <p:nvPicPr>
          <p:cNvPr id="1043" name="Graphic 1042">
            <a:extLst>
              <a:ext uri="{FF2B5EF4-FFF2-40B4-BE49-F238E27FC236}">
                <a16:creationId xmlns:a16="http://schemas.microsoft.com/office/drawing/2014/main" id="{5E353E85-009E-1FB3-DD04-F81D7A383B64}"/>
              </a:ext>
            </a:extLst>
          </p:cNvPr>
          <p:cNvPicPr>
            <a:picLocks/>
          </p:cNvPicPr>
          <p:nvPr/>
        </p:nvPicPr>
        <p:blipFill>
          <a:blip>
            <a:extLst>
              <a:ext uri="{96DAC541-7B7A-43D3-8B79-37D633B846F1}">
                <asvg:svgBlip xmlns:asvg="http://schemas.microsoft.com/office/drawing/2016/SVG/main" r:embed="rId25"/>
              </a:ext>
            </a:extLst>
          </a:blip>
          <a:stretch>
            <a:fillRect/>
          </a:stretch>
        </p:blipFill>
        <p:spPr>
          <a:xfrm>
            <a:off x="3797597" y="1372413"/>
            <a:ext cx="307777" cy="307777"/>
          </a:xfrm>
          <a:prstGeom prst="rect">
            <a:avLst/>
          </a:prstGeom>
        </p:spPr>
      </p:pic>
      <p:sp>
        <p:nvSpPr>
          <p:cNvPr id="41" name="Subtitle 9">
            <a:extLst>
              <a:ext uri="{FF2B5EF4-FFF2-40B4-BE49-F238E27FC236}">
                <a16:creationId xmlns:a16="http://schemas.microsoft.com/office/drawing/2014/main" id="{7A0F332A-28AA-6BCC-F492-B7319EDFCCCF}"/>
              </a:ext>
            </a:extLst>
          </p:cNvPr>
          <p:cNvSpPr>
            <a:spLocks noGrp="1"/>
          </p:cNvSpPr>
          <p:nvPr>
            <p:ph type="subTitle" idx="1"/>
          </p:nvPr>
        </p:nvSpPr>
        <p:spPr>
          <a:xfrm>
            <a:off x="554736" y="677628"/>
            <a:ext cx="11082528" cy="246221"/>
          </a:xfrm>
        </p:spPr>
        <p:txBody>
          <a:bodyPr/>
          <a:lstStyle/>
          <a:p>
            <a:r>
              <a:rPr lang="en-US" noProof="1"/>
              <a:t>We observe three types of moves: game changing, enhance as-is offerings and improve core enablers</a:t>
            </a:r>
          </a:p>
        </p:txBody>
      </p:sp>
      <p:sp>
        <p:nvSpPr>
          <p:cNvPr id="92" name="TrackerNumBlue 35">
            <a:extLst>
              <a:ext uri="{FF2B5EF4-FFF2-40B4-BE49-F238E27FC236}">
                <a16:creationId xmlns:a16="http://schemas.microsoft.com/office/drawing/2014/main" id="{695BF070-7691-BE99-C9F8-E07C6C495FB8}"/>
              </a:ext>
            </a:extLst>
          </p:cNvPr>
          <p:cNvSpPr/>
          <p:nvPr>
            <p:custDataLst>
              <p:tags r:id="rId3"/>
            </p:custDataLst>
          </p:nvPr>
        </p:nvSpPr>
        <p:spPr>
          <a:xfrm>
            <a:off x="554734" y="960285"/>
            <a:ext cx="209872" cy="209872"/>
          </a:xfrm>
          <a:prstGeom prst="ellipse">
            <a:avLst/>
          </a:prstGeom>
          <a:solidFill>
            <a:schemeClr val="accent3">
              <a:lumMod val="50000"/>
            </a:schemeClr>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tr-TR" sz="1100" b="0" i="0" u="none" strike="noStrike" kern="1200" cap="none" spc="0" normalizeH="0" baseline="0" noProof="0">
                <a:ln>
                  <a:noFill/>
                </a:ln>
                <a:solidFill>
                  <a:srgbClr val="FFFFFF"/>
                </a:solidFill>
                <a:effectLst/>
                <a:uLnTx/>
                <a:uFillTx/>
                <a:latin typeface="Tahoma"/>
                <a:ea typeface="+mn-ea"/>
                <a:cs typeface="+mn-cs"/>
              </a:rPr>
              <a:t>x</a:t>
            </a:r>
            <a:endParaRPr kumimoji="0" lang="en-US" sz="1100" b="0" i="0" u="none" strike="noStrike" kern="1200" cap="none" spc="0" normalizeH="0" baseline="0" noProof="0">
              <a:ln>
                <a:noFill/>
              </a:ln>
              <a:solidFill>
                <a:srgbClr val="FFFFFF"/>
              </a:solidFill>
              <a:effectLst/>
              <a:uLnTx/>
              <a:uFillTx/>
              <a:latin typeface="Tahoma"/>
              <a:ea typeface="+mn-ea"/>
              <a:cs typeface="+mn-cs"/>
            </a:endParaRPr>
          </a:p>
        </p:txBody>
      </p:sp>
      <p:sp>
        <p:nvSpPr>
          <p:cNvPr id="93" name="TextBox 92">
            <a:extLst>
              <a:ext uri="{FF2B5EF4-FFF2-40B4-BE49-F238E27FC236}">
                <a16:creationId xmlns:a16="http://schemas.microsoft.com/office/drawing/2014/main" id="{281AF57A-1846-2F19-4353-A121EAE673EC}"/>
              </a:ext>
            </a:extLst>
          </p:cNvPr>
          <p:cNvSpPr txBox="1">
            <a:spLocks/>
          </p:cNvSpPr>
          <p:nvPr/>
        </p:nvSpPr>
        <p:spPr>
          <a:xfrm>
            <a:off x="818487" y="975819"/>
            <a:ext cx="2018117"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tr-TR" sz="10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Detailed next</a:t>
            </a:r>
            <a:endParaRPr kumimoji="0" lang="en-US" sz="10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63" name="LineBasicStrong 47">
            <a:extLst>
              <a:ext uri="{FF2B5EF4-FFF2-40B4-BE49-F238E27FC236}">
                <a16:creationId xmlns:a16="http://schemas.microsoft.com/office/drawing/2014/main" id="{E78D0C0F-E78B-2A68-07E8-E1E7C4207694}"/>
              </a:ext>
            </a:extLst>
          </p:cNvPr>
          <p:cNvCxnSpPr>
            <a:cxnSpLocks/>
          </p:cNvCxnSpPr>
          <p:nvPr>
            <p:custDataLst>
              <p:tags r:id="rId4"/>
            </p:custDataLst>
          </p:nvPr>
        </p:nvCxnSpPr>
        <p:spPr>
          <a:xfrm>
            <a:off x="554734" y="6482821"/>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5" name="LineBasicStrong 47">
            <a:extLst>
              <a:ext uri="{FF2B5EF4-FFF2-40B4-BE49-F238E27FC236}">
                <a16:creationId xmlns:a16="http://schemas.microsoft.com/office/drawing/2014/main" id="{EC460A3E-FC59-29C8-900F-FDCC1F5E020D}"/>
              </a:ext>
            </a:extLst>
          </p:cNvPr>
          <p:cNvCxnSpPr>
            <a:cxnSpLocks/>
          </p:cNvCxnSpPr>
          <p:nvPr>
            <p:custDataLst>
              <p:tags r:id="rId5"/>
            </p:custDataLst>
          </p:nvPr>
        </p:nvCxnSpPr>
        <p:spPr>
          <a:xfrm>
            <a:off x="554734" y="1718433"/>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7" name="LineBasicStrong 47">
            <a:extLst>
              <a:ext uri="{FF2B5EF4-FFF2-40B4-BE49-F238E27FC236}">
                <a16:creationId xmlns:a16="http://schemas.microsoft.com/office/drawing/2014/main" id="{BF057836-1CBC-4FA6-C019-05A5F8177360}"/>
              </a:ext>
            </a:extLst>
          </p:cNvPr>
          <p:cNvCxnSpPr>
            <a:cxnSpLocks/>
          </p:cNvCxnSpPr>
          <p:nvPr>
            <p:custDataLst>
              <p:tags r:id="rId6"/>
            </p:custDataLst>
          </p:nvPr>
        </p:nvCxnSpPr>
        <p:spPr>
          <a:xfrm>
            <a:off x="953081" y="3631039"/>
            <a:ext cx="10726748" cy="0"/>
          </a:xfrm>
          <a:prstGeom prst="straightConnector1">
            <a:avLst/>
          </a:prstGeom>
          <a:ln w="3175" cap="sq">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2" name="LineBasicStrong 47">
            <a:extLst>
              <a:ext uri="{FF2B5EF4-FFF2-40B4-BE49-F238E27FC236}">
                <a16:creationId xmlns:a16="http://schemas.microsoft.com/office/drawing/2014/main" id="{E1DA2E8A-4FCA-2A0A-7CBD-B3181C0D3DD6}"/>
              </a:ext>
            </a:extLst>
          </p:cNvPr>
          <p:cNvCxnSpPr>
            <a:cxnSpLocks/>
          </p:cNvCxnSpPr>
          <p:nvPr>
            <p:custDataLst>
              <p:tags r:id="rId7"/>
            </p:custDataLst>
          </p:nvPr>
        </p:nvCxnSpPr>
        <p:spPr>
          <a:xfrm>
            <a:off x="568960" y="3104266"/>
            <a:ext cx="11110869" cy="0"/>
          </a:xfrm>
          <a:prstGeom prst="straightConnector1">
            <a:avLst/>
          </a:prstGeom>
          <a:ln w="3175" cap="sq">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8" name="LineBasicStrong 47">
            <a:extLst>
              <a:ext uri="{FF2B5EF4-FFF2-40B4-BE49-F238E27FC236}">
                <a16:creationId xmlns:a16="http://schemas.microsoft.com/office/drawing/2014/main" id="{96850666-72E7-0646-317E-CA6A1B64E06F}"/>
              </a:ext>
            </a:extLst>
          </p:cNvPr>
          <p:cNvCxnSpPr>
            <a:cxnSpLocks/>
          </p:cNvCxnSpPr>
          <p:nvPr>
            <p:custDataLst>
              <p:tags r:id="rId8"/>
            </p:custDataLst>
          </p:nvPr>
        </p:nvCxnSpPr>
        <p:spPr>
          <a:xfrm>
            <a:off x="953081" y="4839666"/>
            <a:ext cx="10726748" cy="0"/>
          </a:xfrm>
          <a:prstGeom prst="straightConnector1">
            <a:avLst/>
          </a:prstGeom>
          <a:ln w="3175" cap="sq">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027" name="Group 1026">
            <a:extLst>
              <a:ext uri="{FF2B5EF4-FFF2-40B4-BE49-F238E27FC236}">
                <a16:creationId xmlns:a16="http://schemas.microsoft.com/office/drawing/2014/main" id="{F1A7D6A3-C4D4-3E87-33AC-EE3DA9D31ADB}"/>
              </a:ext>
            </a:extLst>
          </p:cNvPr>
          <p:cNvGrpSpPr/>
          <p:nvPr/>
        </p:nvGrpSpPr>
        <p:grpSpPr>
          <a:xfrm>
            <a:off x="1275266" y="4915152"/>
            <a:ext cx="9213095" cy="461665"/>
            <a:chOff x="1275266" y="5656345"/>
            <a:chExt cx="9213095" cy="461665"/>
          </a:xfrm>
        </p:grpSpPr>
        <p:sp>
          <p:nvSpPr>
            <p:cNvPr id="40" name="TextBox 39">
              <a:extLst>
                <a:ext uri="{FF2B5EF4-FFF2-40B4-BE49-F238E27FC236}">
                  <a16:creationId xmlns:a16="http://schemas.microsoft.com/office/drawing/2014/main" id="{DBDD3322-3E30-695C-0515-E3AADF687D28}"/>
                </a:ext>
              </a:extLst>
            </p:cNvPr>
            <p:cNvSpPr txBox="1">
              <a:spLocks/>
            </p:cNvSpPr>
            <p:nvPr/>
          </p:nvSpPr>
          <p:spPr>
            <a:xfrm>
              <a:off x="3797597" y="5656345"/>
              <a:ext cx="4867301" cy="4616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Implementing </a:t>
              </a:r>
              <a:r>
                <a:rPr lang="en-US" sz="1000" b="1"/>
                <a:t>AI-based models </a:t>
              </a:r>
              <a:r>
                <a:rPr lang="en-US" sz="1000"/>
                <a:t>for Next-Best-Action, churn prediction, fraud detection, and KYC automation to improve customer engagement and operational efficiency</a:t>
              </a:r>
              <a:endPar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8" name="TextBox 17">
              <a:extLst>
                <a:ext uri="{FF2B5EF4-FFF2-40B4-BE49-F238E27FC236}">
                  <a16:creationId xmlns:a16="http://schemas.microsoft.com/office/drawing/2014/main" id="{34D079B4-A54B-C793-8F2A-9465EDC02C12}"/>
                </a:ext>
              </a:extLst>
            </p:cNvPr>
            <p:cNvSpPr txBox="1">
              <a:spLocks/>
            </p:cNvSpPr>
            <p:nvPr/>
          </p:nvSpPr>
          <p:spPr>
            <a:xfrm>
              <a:off x="1595385" y="5733289"/>
              <a:ext cx="2018117" cy="307777"/>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None/>
                <a:defRPr sz="105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az-Latn-AZ"/>
                <a:t>AI-Driven Customer Engagement Models</a:t>
              </a:r>
              <a:endParaRPr lang="en-US" noProof="1"/>
            </a:p>
          </p:txBody>
        </p:sp>
        <p:sp>
          <p:nvSpPr>
            <p:cNvPr id="91" name="TrackerNumBlue 35">
              <a:extLst>
                <a:ext uri="{FF2B5EF4-FFF2-40B4-BE49-F238E27FC236}">
                  <a16:creationId xmlns:a16="http://schemas.microsoft.com/office/drawing/2014/main" id="{7631687A-ECFC-06FA-4382-896BBA461B3A}"/>
                </a:ext>
              </a:extLst>
            </p:cNvPr>
            <p:cNvSpPr/>
            <p:nvPr>
              <p:custDataLst>
                <p:tags r:id="rId18"/>
              </p:custDataLst>
            </p:nvPr>
          </p:nvSpPr>
          <p:spPr>
            <a:xfrm>
              <a:off x="1275266" y="5791187"/>
              <a:ext cx="209872" cy="191981"/>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0" i="0" u="none" strike="noStrike" kern="1200" cap="none" spc="0" normalizeH="0" baseline="0" noProof="0">
                  <a:ln>
                    <a:noFill/>
                  </a:ln>
                  <a:solidFill>
                    <a:srgbClr val="FFFFFF"/>
                  </a:solidFill>
                  <a:effectLst/>
                  <a:uLnTx/>
                  <a:uFillTx/>
                  <a:latin typeface="Tahoma"/>
                  <a:ea typeface="+mn-ea"/>
                  <a:cs typeface="+mn-cs"/>
                </a:rPr>
                <a:t>6</a:t>
              </a:r>
            </a:p>
          </p:txBody>
        </p:sp>
        <p:pic>
          <p:nvPicPr>
            <p:cNvPr id="146" name="Picture 145">
              <a:extLst>
                <a:ext uri="{FF2B5EF4-FFF2-40B4-BE49-F238E27FC236}">
                  <a16:creationId xmlns:a16="http://schemas.microsoft.com/office/drawing/2014/main" id="{562BB2E3-7326-9D6E-C3F7-96EABF65668C}"/>
                </a:ext>
              </a:extLst>
            </p:cNvPr>
            <p:cNvPicPr>
              <a:picLocks/>
            </p:cNvPicPr>
            <p:nvPr/>
          </p:nvPicPr>
          <p:blipFill>
            <a:blip r:embed="rId26"/>
            <a:srcRect t="21307" b="21307"/>
            <a:stretch>
              <a:fillRect/>
            </a:stretch>
          </p:blipFill>
          <p:spPr>
            <a:xfrm>
              <a:off x="9714637" y="5762298"/>
              <a:ext cx="773724" cy="249758"/>
            </a:xfrm>
            <a:prstGeom prst="rect">
              <a:avLst/>
            </a:prstGeom>
          </p:spPr>
        </p:pic>
        <p:pic>
          <p:nvPicPr>
            <p:cNvPr id="190" name="Picture 189">
              <a:extLst>
                <a:ext uri="{FF2B5EF4-FFF2-40B4-BE49-F238E27FC236}">
                  <a16:creationId xmlns:a16="http://schemas.microsoft.com/office/drawing/2014/main" id="{FFD48022-ECC0-6288-DCDE-EAEDFF490462}"/>
                </a:ext>
              </a:extLst>
            </p:cNvPr>
            <p:cNvPicPr>
              <a:picLocks noChangeAspect="1"/>
            </p:cNvPicPr>
            <p:nvPr/>
          </p:nvPicPr>
          <p:blipFill>
            <a:blip r:embed="rId27"/>
            <a:stretch>
              <a:fillRect/>
            </a:stretch>
          </p:blipFill>
          <p:spPr>
            <a:xfrm>
              <a:off x="9035828" y="5766477"/>
              <a:ext cx="504602" cy="241400"/>
            </a:xfrm>
            <a:prstGeom prst="rect">
              <a:avLst/>
            </a:prstGeom>
          </p:spPr>
        </p:pic>
      </p:grpSp>
      <p:pic>
        <p:nvPicPr>
          <p:cNvPr id="1094" name="Picture 1093">
            <a:extLst>
              <a:ext uri="{FF2B5EF4-FFF2-40B4-BE49-F238E27FC236}">
                <a16:creationId xmlns:a16="http://schemas.microsoft.com/office/drawing/2014/main" id="{44D95C11-F02A-BB40-766F-1CBBEAD4A54A}"/>
              </a:ext>
            </a:extLst>
          </p:cNvPr>
          <p:cNvPicPr>
            <a:picLocks noChangeAspect="1"/>
          </p:cNvPicPr>
          <p:nvPr/>
        </p:nvPicPr>
        <p:blipFill>
          <a:blip r:embed="rId28">
            <a:clrChange>
              <a:clrFrom>
                <a:srgbClr val="FFFFFF"/>
              </a:clrFrom>
              <a:clrTo>
                <a:srgbClr val="FFFFFF">
                  <a:alpha val="0"/>
                </a:srgbClr>
              </a:clrTo>
            </a:clrChange>
          </a:blip>
          <a:srcRect l="5575" t="11685" r="13802" b="23568"/>
          <a:stretch>
            <a:fillRect/>
          </a:stretch>
        </p:blipFill>
        <p:spPr>
          <a:xfrm>
            <a:off x="9533738" y="4464264"/>
            <a:ext cx="786836" cy="174212"/>
          </a:xfrm>
          <a:prstGeom prst="rect">
            <a:avLst/>
          </a:prstGeom>
        </p:spPr>
      </p:pic>
      <p:sp>
        <p:nvSpPr>
          <p:cNvPr id="34" name="TextBox 33">
            <a:extLst>
              <a:ext uri="{FF2B5EF4-FFF2-40B4-BE49-F238E27FC236}">
                <a16:creationId xmlns:a16="http://schemas.microsoft.com/office/drawing/2014/main" id="{382BF24A-43EE-C18B-0678-99144A7682F8}"/>
              </a:ext>
            </a:extLst>
          </p:cNvPr>
          <p:cNvSpPr txBox="1">
            <a:spLocks/>
          </p:cNvSpPr>
          <p:nvPr/>
        </p:nvSpPr>
        <p:spPr>
          <a:xfrm>
            <a:off x="3797597" y="4320538"/>
            <a:ext cx="4867301" cy="4616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Integrating </a:t>
            </a:r>
            <a:r>
              <a:rPr kumimoji="0" lang="en-US" sz="1000" b="1"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Ecosystem services </a:t>
            </a:r>
            <a:r>
              <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(e.g., marketplace) directly into the banking application to maximize customer engagement, screen time, and transactional stickiness for everyday spending</a:t>
            </a:r>
          </a:p>
        </p:txBody>
      </p:sp>
      <p:sp>
        <p:nvSpPr>
          <p:cNvPr id="50" name="TrackerNumBlue 35">
            <a:extLst>
              <a:ext uri="{FF2B5EF4-FFF2-40B4-BE49-F238E27FC236}">
                <a16:creationId xmlns:a16="http://schemas.microsoft.com/office/drawing/2014/main" id="{FBAF508B-38D8-43B0-45AC-6BD8568D45D4}"/>
              </a:ext>
            </a:extLst>
          </p:cNvPr>
          <p:cNvSpPr/>
          <p:nvPr>
            <p:custDataLst>
              <p:tags r:id="rId9"/>
            </p:custDataLst>
          </p:nvPr>
        </p:nvSpPr>
        <p:spPr>
          <a:xfrm>
            <a:off x="1275266" y="4455380"/>
            <a:ext cx="209872" cy="191981"/>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100">
                <a:solidFill>
                  <a:srgbClr val="FFFFFF"/>
                </a:solidFill>
                <a:latin typeface="Tahoma"/>
              </a:rPr>
              <a:t>5</a:t>
            </a:r>
            <a:endParaRPr kumimoji="0" lang="en-US" sz="1100" b="0" i="0" u="none" strike="noStrike" kern="1200" cap="none" spc="0" normalizeH="0" baseline="0" noProof="0">
              <a:ln>
                <a:noFill/>
              </a:ln>
              <a:solidFill>
                <a:srgbClr val="FFFFFF"/>
              </a:solidFill>
              <a:effectLst/>
              <a:uLnTx/>
              <a:uFillTx/>
              <a:latin typeface="Tahoma"/>
              <a:ea typeface="+mn-ea"/>
              <a:cs typeface="+mn-cs"/>
            </a:endParaRPr>
          </a:p>
        </p:txBody>
      </p:sp>
      <p:sp>
        <p:nvSpPr>
          <p:cNvPr id="26" name="TextBox 25">
            <a:extLst>
              <a:ext uri="{FF2B5EF4-FFF2-40B4-BE49-F238E27FC236}">
                <a16:creationId xmlns:a16="http://schemas.microsoft.com/office/drawing/2014/main" id="{6FF90900-28C3-B554-6D44-55F2D9C84AE0}"/>
              </a:ext>
            </a:extLst>
          </p:cNvPr>
          <p:cNvSpPr txBox="1">
            <a:spLocks/>
          </p:cNvSpPr>
          <p:nvPr/>
        </p:nvSpPr>
        <p:spPr>
          <a:xfrm>
            <a:off x="1595385" y="4474426"/>
            <a:ext cx="2018117" cy="153888"/>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None/>
              <a:defRPr sz="105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noProof="1"/>
              <a:t>B2C ecosystem synergies</a:t>
            </a:r>
          </a:p>
        </p:txBody>
      </p:sp>
      <p:pic>
        <p:nvPicPr>
          <p:cNvPr id="1026" name="Picture 2">
            <a:extLst>
              <a:ext uri="{FF2B5EF4-FFF2-40B4-BE49-F238E27FC236}">
                <a16:creationId xmlns:a16="http://schemas.microsoft.com/office/drawing/2014/main" id="{519FDAA0-0580-5286-A70F-69233881900C}"/>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928904" y="4302515"/>
            <a:ext cx="497711" cy="4977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volut Logo, symbol, meaning, history, PNG, brand">
            <a:extLst>
              <a:ext uri="{FF2B5EF4-FFF2-40B4-BE49-F238E27FC236}">
                <a16:creationId xmlns:a16="http://schemas.microsoft.com/office/drawing/2014/main" id="{2D851AEE-0F2D-C79D-077C-73777B0AB342}"/>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428791" y="4343026"/>
            <a:ext cx="740780" cy="416689"/>
          </a:xfrm>
          <a:prstGeom prst="rect">
            <a:avLst/>
          </a:prstGeom>
          <a:noFill/>
          <a:extLst>
            <a:ext uri="{909E8E84-426E-40DD-AFC4-6F175D3DCCD1}">
              <a14:hiddenFill xmlns:a14="http://schemas.microsoft.com/office/drawing/2010/main">
                <a:solidFill>
                  <a:srgbClr val="FFFFFF"/>
                </a:solidFill>
              </a14:hiddenFill>
            </a:ext>
          </a:extLst>
        </p:spPr>
      </p:pic>
      <p:grpSp>
        <p:nvGrpSpPr>
          <p:cNvPr id="115" name="Group 114">
            <a:extLst>
              <a:ext uri="{FF2B5EF4-FFF2-40B4-BE49-F238E27FC236}">
                <a16:creationId xmlns:a16="http://schemas.microsoft.com/office/drawing/2014/main" id="{DB094D75-81E6-F538-D9AA-9549F2D703F6}"/>
              </a:ext>
            </a:extLst>
          </p:cNvPr>
          <p:cNvGrpSpPr/>
          <p:nvPr/>
        </p:nvGrpSpPr>
        <p:grpSpPr>
          <a:xfrm>
            <a:off x="1275266" y="3179752"/>
            <a:ext cx="9960675" cy="375801"/>
            <a:chOff x="1275266" y="3618320"/>
            <a:chExt cx="9960675" cy="375801"/>
          </a:xfrm>
        </p:grpSpPr>
        <p:sp>
          <p:nvSpPr>
            <p:cNvPr id="1039" name="TrackerNumBlue 35">
              <a:extLst>
                <a:ext uri="{FF2B5EF4-FFF2-40B4-BE49-F238E27FC236}">
                  <a16:creationId xmlns:a16="http://schemas.microsoft.com/office/drawing/2014/main" id="{564E3988-A799-0BA9-9BFF-702D0D7D4CFD}"/>
                </a:ext>
              </a:extLst>
            </p:cNvPr>
            <p:cNvSpPr/>
            <p:nvPr>
              <p:custDataLst>
                <p:tags r:id="rId17"/>
              </p:custDataLst>
            </p:nvPr>
          </p:nvSpPr>
          <p:spPr>
            <a:xfrm>
              <a:off x="1275266" y="3683912"/>
              <a:ext cx="209872" cy="191981"/>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100">
                  <a:solidFill>
                    <a:srgbClr val="FFFFFF"/>
                  </a:solidFill>
                  <a:latin typeface="Tahoma"/>
                </a:rPr>
                <a:t>3</a:t>
              </a:r>
              <a:endParaRPr kumimoji="0" lang="en-US" sz="1100" b="0" i="0" u="none" strike="noStrike" kern="1200" cap="none" spc="0" normalizeH="0" baseline="0" noProof="0">
                <a:ln>
                  <a:noFill/>
                </a:ln>
                <a:solidFill>
                  <a:srgbClr val="FFFFFF"/>
                </a:solidFill>
                <a:effectLst/>
                <a:uLnTx/>
                <a:uFillTx/>
                <a:latin typeface="Tahoma"/>
                <a:ea typeface="+mn-ea"/>
                <a:cs typeface="+mn-cs"/>
              </a:endParaRPr>
            </a:p>
          </p:txBody>
        </p:sp>
        <p:sp>
          <p:nvSpPr>
            <p:cNvPr id="1041" name="TextBox 1040">
              <a:extLst>
                <a:ext uri="{FF2B5EF4-FFF2-40B4-BE49-F238E27FC236}">
                  <a16:creationId xmlns:a16="http://schemas.microsoft.com/office/drawing/2014/main" id="{D9EF812B-BCEA-C833-8708-5D4989FA1799}"/>
                </a:ext>
              </a:extLst>
            </p:cNvPr>
            <p:cNvSpPr txBox="1">
              <a:spLocks/>
            </p:cNvSpPr>
            <p:nvPr/>
          </p:nvSpPr>
          <p:spPr>
            <a:xfrm>
              <a:off x="3797597" y="3626014"/>
              <a:ext cx="5153363"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Offering </a:t>
              </a:r>
              <a:r>
                <a:rPr lang="en-US" sz="1000" b="1"/>
                <a:t>dynamic deposit and mortgage/loan rates</a:t>
              </a:r>
              <a:r>
                <a:rPr lang="en-US" sz="1000"/>
                <a:t>, based on the percentage of the salary that stays in the account or is </a:t>
              </a:r>
              <a:r>
                <a:rPr lang="en-US" sz="1000" b="1"/>
                <a:t>spent through the bank's cards </a:t>
              </a:r>
              <a:r>
                <a:rPr lang="en-US" sz="1000"/>
                <a:t>over the month</a:t>
              </a:r>
              <a:endPar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135" name="Picture 134">
              <a:extLst>
                <a:ext uri="{FF2B5EF4-FFF2-40B4-BE49-F238E27FC236}">
                  <a16:creationId xmlns:a16="http://schemas.microsoft.com/office/drawing/2014/main" id="{C2E2417C-6AA1-3B9A-20A6-7F246D5F4D9E}"/>
                </a:ext>
              </a:extLst>
            </p:cNvPr>
            <p:cNvPicPr>
              <a:picLocks noChangeAspect="1"/>
            </p:cNvPicPr>
            <p:nvPr/>
          </p:nvPicPr>
          <p:blipFill>
            <a:blip r:embed="rId31"/>
            <a:srcRect t="28584" b="29257"/>
            <a:stretch>
              <a:fillRect/>
            </a:stretch>
          </p:blipFill>
          <p:spPr>
            <a:xfrm>
              <a:off x="10489694" y="3679502"/>
              <a:ext cx="746247" cy="314619"/>
            </a:xfrm>
            <a:prstGeom prst="rect">
              <a:avLst/>
            </a:prstGeom>
          </p:spPr>
        </p:pic>
        <p:pic>
          <p:nvPicPr>
            <p:cNvPr id="156" name="Picture 2" descr="BBVA | The digital bank of the 21st century">
              <a:extLst>
                <a:ext uri="{FF2B5EF4-FFF2-40B4-BE49-F238E27FC236}">
                  <a16:creationId xmlns:a16="http://schemas.microsoft.com/office/drawing/2014/main" id="{1017E2F2-A756-37A0-2CE6-AD1F9FC36970}"/>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779993" y="3719781"/>
              <a:ext cx="464610" cy="138867"/>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FA295E5C-AC37-ACE2-EE00-24160DD9D153}"/>
                </a:ext>
              </a:extLst>
            </p:cNvPr>
            <p:cNvSpPr txBox="1">
              <a:spLocks/>
            </p:cNvSpPr>
            <p:nvPr/>
          </p:nvSpPr>
          <p:spPr>
            <a:xfrm>
              <a:off x="1595385" y="3618320"/>
              <a:ext cx="2018117"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050" b="1"/>
                <a:t>“</a:t>
              </a:r>
              <a:r>
                <a:rPr lang="az-Latn-AZ" sz="1050" b="1"/>
                <a:t>Stay &amp; Grow" Financial Incentives</a:t>
              </a:r>
              <a:endParaRPr kumimoji="0" lang="en-US" sz="700" b="1"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1030" name="Picture 6">
              <a:extLst>
                <a:ext uri="{FF2B5EF4-FFF2-40B4-BE49-F238E27FC236}">
                  <a16:creationId xmlns:a16="http://schemas.microsoft.com/office/drawing/2014/main" id="{F7B5553E-6DD2-3D77-88CE-969780EB00E7}"/>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064871" y="3626704"/>
              <a:ext cx="405738" cy="281392"/>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extBox 10">
            <a:extLst>
              <a:ext uri="{FF2B5EF4-FFF2-40B4-BE49-F238E27FC236}">
                <a16:creationId xmlns:a16="http://schemas.microsoft.com/office/drawing/2014/main" id="{74E2B5E9-3E64-6C01-1190-D7A1178A39AF}"/>
              </a:ext>
            </a:extLst>
          </p:cNvPr>
          <p:cNvSpPr txBox="1">
            <a:spLocks/>
          </p:cNvSpPr>
          <p:nvPr/>
        </p:nvSpPr>
        <p:spPr>
          <a:xfrm>
            <a:off x="3797597" y="1829259"/>
            <a:ext cx="4867301" cy="4616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Targeting salary customers with a tailored </a:t>
            </a:r>
            <a:r>
              <a:rPr lang="en-US" sz="1000" b="1"/>
              <a:t>"digital bank for salary" value proposition </a:t>
            </a:r>
            <a:r>
              <a:rPr lang="en-US" sz="1000"/>
              <a:t>and </a:t>
            </a:r>
            <a:r>
              <a:rPr lang="en-US" sz="1000" b="1"/>
              <a:t>service model</a:t>
            </a:r>
            <a:r>
              <a:rPr lang="en-US" sz="1000"/>
              <a:t> that unlocks premium benefits (e.g., subscriptions, cashback, zero-fee transfers) exclusively for payroll customers</a:t>
            </a:r>
            <a:endPar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 name="TextBox 7">
            <a:extLst>
              <a:ext uri="{FF2B5EF4-FFF2-40B4-BE49-F238E27FC236}">
                <a16:creationId xmlns:a16="http://schemas.microsoft.com/office/drawing/2014/main" id="{398C20C4-AA76-BF65-80C8-CB3F17161203}"/>
              </a:ext>
            </a:extLst>
          </p:cNvPr>
          <p:cNvSpPr txBox="1">
            <a:spLocks/>
          </p:cNvSpPr>
          <p:nvPr/>
        </p:nvSpPr>
        <p:spPr>
          <a:xfrm>
            <a:off x="1595385" y="1829259"/>
            <a:ext cx="173709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b="1"/>
              <a:t>Exclusive V</a:t>
            </a:r>
            <a:r>
              <a:rPr lang="en-GB" sz="1000" b="1"/>
              <a:t>a</a:t>
            </a:r>
            <a:r>
              <a:rPr lang="en-US" sz="1000" b="1" err="1"/>
              <a:t>lue</a:t>
            </a:r>
            <a:r>
              <a:rPr lang="en-US" sz="1000" b="1"/>
              <a:t> Prop for Salary Customers</a:t>
            </a:r>
            <a:endParaRPr kumimoji="0" lang="en-US" sz="600" b="1"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8" name="TrackerNumBlue 35">
            <a:extLst>
              <a:ext uri="{FF2B5EF4-FFF2-40B4-BE49-F238E27FC236}">
                <a16:creationId xmlns:a16="http://schemas.microsoft.com/office/drawing/2014/main" id="{66DC7A8B-F7B0-557B-88FB-EC406F015282}"/>
              </a:ext>
            </a:extLst>
          </p:cNvPr>
          <p:cNvSpPr/>
          <p:nvPr>
            <p:custDataLst>
              <p:tags r:id="rId10"/>
            </p:custDataLst>
          </p:nvPr>
        </p:nvSpPr>
        <p:spPr>
          <a:xfrm>
            <a:off x="1275266" y="1862002"/>
            <a:ext cx="209872" cy="191981"/>
          </a:xfrm>
          <a:prstGeom prst="ellipse">
            <a:avLst/>
          </a:prstGeom>
          <a:solidFill>
            <a:schemeClr val="accent3">
              <a:lumMod val="50000"/>
            </a:schemeClr>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100">
                <a:solidFill>
                  <a:srgbClr val="FFFFFF"/>
                </a:solidFill>
                <a:latin typeface="Tahoma"/>
              </a:rPr>
              <a:t>1</a:t>
            </a:r>
          </a:p>
        </p:txBody>
      </p:sp>
      <p:pic>
        <p:nvPicPr>
          <p:cNvPr id="82" name="Picture 16">
            <a:extLst>
              <a:ext uri="{FF2B5EF4-FFF2-40B4-BE49-F238E27FC236}">
                <a16:creationId xmlns:a16="http://schemas.microsoft.com/office/drawing/2014/main" id="{5C36DA1A-8755-C089-FE74-7971A01E1087}"/>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0561966" y="1679323"/>
            <a:ext cx="690793" cy="567559"/>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18" descr="Monzo Bank Ltd - Open Banking">
            <a:extLst>
              <a:ext uri="{FF2B5EF4-FFF2-40B4-BE49-F238E27FC236}">
                <a16:creationId xmlns:a16="http://schemas.microsoft.com/office/drawing/2014/main" id="{CB59FA6D-C3F6-3BF1-EA2B-46C7BDB1B7BD}"/>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9929813" y="1734927"/>
            <a:ext cx="601552" cy="5925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F7572F60-3772-DA57-D4F2-2FAA5B8CA0E3}"/>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9036862" y="1794340"/>
            <a:ext cx="851338" cy="305284"/>
          </a:xfrm>
          <a:prstGeom prst="rect">
            <a:avLst/>
          </a:prstGeom>
          <a:noFill/>
          <a:extLst>
            <a:ext uri="{909E8E84-426E-40DD-AFC4-6F175D3DCCD1}">
              <a14:hiddenFill xmlns:a14="http://schemas.microsoft.com/office/drawing/2010/main">
                <a:solidFill>
                  <a:srgbClr val="FFFFFF"/>
                </a:solidFill>
              </a14:hiddenFill>
            </a:ext>
          </a:extLst>
        </p:spPr>
      </p:pic>
      <p:grpSp>
        <p:nvGrpSpPr>
          <p:cNvPr id="1035" name="Group 1034">
            <a:extLst>
              <a:ext uri="{FF2B5EF4-FFF2-40B4-BE49-F238E27FC236}">
                <a16:creationId xmlns:a16="http://schemas.microsoft.com/office/drawing/2014/main" id="{FE10C93C-19A3-37C3-5ACB-CFF399BCA87B}"/>
              </a:ext>
            </a:extLst>
          </p:cNvPr>
          <p:cNvGrpSpPr/>
          <p:nvPr/>
        </p:nvGrpSpPr>
        <p:grpSpPr>
          <a:xfrm>
            <a:off x="1275266" y="5527789"/>
            <a:ext cx="9810520" cy="461665"/>
            <a:chOff x="1275266" y="4988538"/>
            <a:chExt cx="9810520" cy="461665"/>
          </a:xfrm>
        </p:grpSpPr>
        <p:sp>
          <p:nvSpPr>
            <p:cNvPr id="38" name="TextBox 37">
              <a:extLst>
                <a:ext uri="{FF2B5EF4-FFF2-40B4-BE49-F238E27FC236}">
                  <a16:creationId xmlns:a16="http://schemas.microsoft.com/office/drawing/2014/main" id="{C8D9E98B-EA74-B914-60FB-1F282D408E5D}"/>
                </a:ext>
              </a:extLst>
            </p:cNvPr>
            <p:cNvSpPr txBox="1">
              <a:spLocks/>
            </p:cNvSpPr>
            <p:nvPr/>
          </p:nvSpPr>
          <p:spPr>
            <a:xfrm>
              <a:off x="3797597" y="4988538"/>
              <a:ext cx="4867301" cy="4616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Using </a:t>
              </a:r>
              <a:r>
                <a:rPr lang="en-US" sz="1000" b="1"/>
                <a:t>personalized and gamification elements </a:t>
              </a:r>
              <a:r>
                <a:rPr lang="en-US" sz="1000"/>
                <a:t>(e.g., cashback challenges, interactive stories in-app, financial literacy games) to educate customers, drive product adoption, and increase transaction frequency</a:t>
              </a:r>
              <a:endPar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80" name="TrackerNumBlue 35">
              <a:extLst>
                <a:ext uri="{FF2B5EF4-FFF2-40B4-BE49-F238E27FC236}">
                  <a16:creationId xmlns:a16="http://schemas.microsoft.com/office/drawing/2014/main" id="{717887C1-2038-EAE5-2D29-369A7D4F682C}"/>
                </a:ext>
              </a:extLst>
            </p:cNvPr>
            <p:cNvSpPr/>
            <p:nvPr>
              <p:custDataLst>
                <p:tags r:id="rId16"/>
              </p:custDataLst>
            </p:nvPr>
          </p:nvSpPr>
          <p:spPr>
            <a:xfrm>
              <a:off x="1275266" y="5123380"/>
              <a:ext cx="209872" cy="191981"/>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100">
                  <a:solidFill>
                    <a:srgbClr val="FFFFFF"/>
                  </a:solidFill>
                  <a:latin typeface="Tahoma"/>
                </a:rPr>
                <a:t>7</a:t>
              </a:r>
            </a:p>
          </p:txBody>
        </p:sp>
        <p:sp>
          <p:nvSpPr>
            <p:cNvPr id="22" name="TextBox 21">
              <a:extLst>
                <a:ext uri="{FF2B5EF4-FFF2-40B4-BE49-F238E27FC236}">
                  <a16:creationId xmlns:a16="http://schemas.microsoft.com/office/drawing/2014/main" id="{AC1DE972-4F52-65D8-C144-B91205807BF7}"/>
                </a:ext>
              </a:extLst>
            </p:cNvPr>
            <p:cNvSpPr txBox="1">
              <a:spLocks/>
            </p:cNvSpPr>
            <p:nvPr/>
          </p:nvSpPr>
          <p:spPr>
            <a:xfrm>
              <a:off x="1595385" y="5057788"/>
              <a:ext cx="2018117" cy="323165"/>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None/>
                <a:defRPr sz="105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Personalization </a:t>
              </a:r>
              <a:r>
                <a:rPr lang="az-Latn-AZ"/>
                <a:t>and Behavioral Incentives</a:t>
              </a:r>
              <a:endParaRPr lang="en-US" noProof="1"/>
            </a:p>
          </p:txBody>
        </p:sp>
        <p:pic>
          <p:nvPicPr>
            <p:cNvPr id="83" name="Picture 4" descr="Revolut Logo, symbol, meaning, history, PNG, brand">
              <a:extLst>
                <a:ext uri="{FF2B5EF4-FFF2-40B4-BE49-F238E27FC236}">
                  <a16:creationId xmlns:a16="http://schemas.microsoft.com/office/drawing/2014/main" id="{01AA959A-9ADF-DA16-B32B-06FBFFE9A866}"/>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955825" y="5070097"/>
              <a:ext cx="530750" cy="298547"/>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2" descr="Discovery Bank - Wikipedia">
              <a:extLst>
                <a:ext uri="{FF2B5EF4-FFF2-40B4-BE49-F238E27FC236}">
                  <a16:creationId xmlns:a16="http://schemas.microsoft.com/office/drawing/2014/main" id="{D6453646-7D66-1113-99F4-A1EEBAAE0499}"/>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0750112" y="5051533"/>
              <a:ext cx="335674" cy="335674"/>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4">
              <a:extLst>
                <a:ext uri="{FF2B5EF4-FFF2-40B4-BE49-F238E27FC236}">
                  <a16:creationId xmlns:a16="http://schemas.microsoft.com/office/drawing/2014/main" id="{A0B68FA3-EFC2-BF95-26B6-5D06F4C8C347}"/>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9038898" y="5089948"/>
              <a:ext cx="735724" cy="2588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7" name="Group 116">
            <a:extLst>
              <a:ext uri="{FF2B5EF4-FFF2-40B4-BE49-F238E27FC236}">
                <a16:creationId xmlns:a16="http://schemas.microsoft.com/office/drawing/2014/main" id="{D599F88C-73D6-42E9-0FBB-CFF4D5BFB681}"/>
              </a:ext>
            </a:extLst>
          </p:cNvPr>
          <p:cNvGrpSpPr/>
          <p:nvPr/>
        </p:nvGrpSpPr>
        <p:grpSpPr>
          <a:xfrm>
            <a:off x="1275266" y="3671217"/>
            <a:ext cx="9758494" cy="503984"/>
            <a:chOff x="1275266" y="4367345"/>
            <a:chExt cx="9758494" cy="503984"/>
          </a:xfrm>
        </p:grpSpPr>
        <p:sp>
          <p:nvSpPr>
            <p:cNvPr id="35" name="TextBox 34">
              <a:extLst>
                <a:ext uri="{FF2B5EF4-FFF2-40B4-BE49-F238E27FC236}">
                  <a16:creationId xmlns:a16="http://schemas.microsoft.com/office/drawing/2014/main" id="{6A3C6DAD-939E-4FC1-0881-841401FA561A}"/>
                </a:ext>
              </a:extLst>
            </p:cNvPr>
            <p:cNvSpPr txBox="1">
              <a:spLocks/>
            </p:cNvSpPr>
            <p:nvPr/>
          </p:nvSpPr>
          <p:spPr>
            <a:xfrm>
              <a:off x="3797597" y="4469986"/>
              <a:ext cx="4867301"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Introducing “On Demand Pay" service for retail clients with an option </a:t>
              </a:r>
              <a:r>
                <a:rPr kumimoji="0" lang="en-US" sz="1000" b="1"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to access accrued wages </a:t>
              </a:r>
              <a:r>
                <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ahead of the formal payday for a fee</a:t>
              </a:r>
            </a:p>
          </p:txBody>
        </p:sp>
        <p:sp>
          <p:nvSpPr>
            <p:cNvPr id="53" name="TrackerNumBlue 35">
              <a:extLst>
                <a:ext uri="{FF2B5EF4-FFF2-40B4-BE49-F238E27FC236}">
                  <a16:creationId xmlns:a16="http://schemas.microsoft.com/office/drawing/2014/main" id="{DC0C47DF-C3C2-6124-1EF0-5D6181A880F5}"/>
                </a:ext>
              </a:extLst>
            </p:cNvPr>
            <p:cNvSpPr/>
            <p:nvPr>
              <p:custDataLst>
                <p:tags r:id="rId15"/>
              </p:custDataLst>
            </p:nvPr>
          </p:nvSpPr>
          <p:spPr>
            <a:xfrm>
              <a:off x="1275266" y="4531256"/>
              <a:ext cx="209872" cy="191981"/>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0" i="0" u="none" strike="noStrike" kern="1200" cap="none" spc="0" normalizeH="0" baseline="0" noProof="0">
                  <a:ln>
                    <a:noFill/>
                  </a:ln>
                  <a:solidFill>
                    <a:srgbClr val="FFFFFF"/>
                  </a:solidFill>
                  <a:effectLst/>
                  <a:uLnTx/>
                  <a:uFillTx/>
                  <a:latin typeface="Tahoma"/>
                  <a:ea typeface="+mn-ea"/>
                  <a:cs typeface="+mn-cs"/>
                </a:rPr>
                <a:t>4</a:t>
              </a:r>
            </a:p>
          </p:txBody>
        </p:sp>
        <p:sp>
          <p:nvSpPr>
            <p:cNvPr id="27" name="TextBox 26">
              <a:extLst>
                <a:ext uri="{FF2B5EF4-FFF2-40B4-BE49-F238E27FC236}">
                  <a16:creationId xmlns:a16="http://schemas.microsoft.com/office/drawing/2014/main" id="{38179691-E473-2626-848A-E6FDF75E37DA}"/>
                </a:ext>
              </a:extLst>
            </p:cNvPr>
            <p:cNvSpPr txBox="1">
              <a:spLocks/>
            </p:cNvSpPr>
            <p:nvPr/>
          </p:nvSpPr>
          <p:spPr>
            <a:xfrm>
              <a:off x="1595385" y="4469986"/>
              <a:ext cx="2011415" cy="323165"/>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None/>
                <a:defRPr sz="105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On Demand Pay (Earned Wage Access) service</a:t>
              </a:r>
              <a:endParaRPr lang="en-US" noProof="1"/>
            </a:p>
          </p:txBody>
        </p:sp>
        <p:pic>
          <p:nvPicPr>
            <p:cNvPr id="89" name="Picture 4" descr="Revolut Logo, symbol, meaning, history, PNG, brand">
              <a:extLst>
                <a:ext uri="{FF2B5EF4-FFF2-40B4-BE49-F238E27FC236}">
                  <a16:creationId xmlns:a16="http://schemas.microsoft.com/office/drawing/2014/main" id="{BCE2442E-5A51-ED2C-3382-A20379D18A1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146529" y="4367345"/>
              <a:ext cx="740780" cy="416689"/>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6" descr="Payactiv Wins 2021 Digital Wallet Innovation Award">
              <a:extLst>
                <a:ext uri="{FF2B5EF4-FFF2-40B4-BE49-F238E27FC236}">
                  <a16:creationId xmlns:a16="http://schemas.microsoft.com/office/drawing/2014/main" id="{CD84898A-5250-544A-E535-FBBDCA1227FC}"/>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0099040" y="4381818"/>
              <a:ext cx="934720" cy="489511"/>
            </a:xfrm>
            <a:prstGeom prst="rect">
              <a:avLst/>
            </a:prstGeom>
            <a:noFill/>
            <a:extLst>
              <a:ext uri="{909E8E84-426E-40DD-AFC4-6F175D3DCCD1}">
                <a14:hiddenFill xmlns:a14="http://schemas.microsoft.com/office/drawing/2010/main">
                  <a:solidFill>
                    <a:srgbClr val="FFFFFF"/>
                  </a:solidFill>
                </a14:hiddenFill>
              </a:ext>
            </a:extLst>
          </p:spPr>
        </p:pic>
      </p:grpSp>
      <p:pic>
        <p:nvPicPr>
          <p:cNvPr id="176" name="Picture 18" descr="Monzo Bank Ltd - Open Banking">
            <a:extLst>
              <a:ext uri="{FF2B5EF4-FFF2-40B4-BE49-F238E27FC236}">
                <a16:creationId xmlns:a16="http://schemas.microsoft.com/office/drawing/2014/main" id="{1B5583D1-E198-5F4B-8351-51F5571B352A}"/>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1057573" y="3667197"/>
            <a:ext cx="601552" cy="592500"/>
          </a:xfrm>
          <a:prstGeom prst="rect">
            <a:avLst/>
          </a:prstGeom>
          <a:noFill/>
          <a:extLst>
            <a:ext uri="{909E8E84-426E-40DD-AFC4-6F175D3DCCD1}">
              <a14:hiddenFill xmlns:a14="http://schemas.microsoft.com/office/drawing/2010/main">
                <a:solidFill>
                  <a:srgbClr val="FFFFFF"/>
                </a:solidFill>
              </a14:hiddenFill>
            </a:ext>
          </a:extLst>
        </p:spPr>
      </p:pic>
      <p:cxnSp>
        <p:nvCxnSpPr>
          <p:cNvPr id="179" name="LineBasicStrong 47">
            <a:extLst>
              <a:ext uri="{FF2B5EF4-FFF2-40B4-BE49-F238E27FC236}">
                <a16:creationId xmlns:a16="http://schemas.microsoft.com/office/drawing/2014/main" id="{C4F6F417-7312-0F16-0528-4313BEF7CF67}"/>
              </a:ext>
            </a:extLst>
          </p:cNvPr>
          <p:cNvCxnSpPr>
            <a:cxnSpLocks/>
          </p:cNvCxnSpPr>
          <p:nvPr>
            <p:custDataLst>
              <p:tags r:id="rId11"/>
            </p:custDataLst>
          </p:nvPr>
        </p:nvCxnSpPr>
        <p:spPr>
          <a:xfrm>
            <a:off x="953081" y="2401027"/>
            <a:ext cx="10726748" cy="0"/>
          </a:xfrm>
          <a:prstGeom prst="straightConnector1">
            <a:avLst/>
          </a:prstGeom>
          <a:ln w="3175" cap="sq">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2E2EB7C1-63DD-DB56-7256-6FCCABD0D44A}"/>
              </a:ext>
            </a:extLst>
          </p:cNvPr>
          <p:cNvSpPr txBox="1">
            <a:spLocks/>
          </p:cNvSpPr>
          <p:nvPr/>
        </p:nvSpPr>
        <p:spPr>
          <a:xfrm>
            <a:off x="3797597" y="2476513"/>
            <a:ext cx="4867301" cy="4616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Targeting “hidden affluent” customers within the salaried customer base with </a:t>
            </a:r>
            <a:r>
              <a:rPr lang="en-US" sz="1000" b="1"/>
              <a:t>specialized banking tiers </a:t>
            </a:r>
            <a:r>
              <a:rPr lang="en-US" sz="1000"/>
              <a:t>offering customized investment products, preferential terms, and premium experiences to drive loyalty and cross-sell wealth management</a:t>
            </a:r>
            <a:endParaRPr kumimoji="0" lang="en-US" sz="1000" b="0" i="0" u="none" strike="noStrike" kern="1200" cap="none" spc="0" normalizeH="0" baseline="0" noProof="1">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8" name="TextBox 127">
            <a:extLst>
              <a:ext uri="{FF2B5EF4-FFF2-40B4-BE49-F238E27FC236}">
                <a16:creationId xmlns:a16="http://schemas.microsoft.com/office/drawing/2014/main" id="{AA75A10B-188C-DBAA-E93C-96D834F840E9}"/>
              </a:ext>
            </a:extLst>
          </p:cNvPr>
          <p:cNvSpPr txBox="1">
            <a:spLocks/>
          </p:cNvSpPr>
          <p:nvPr/>
        </p:nvSpPr>
        <p:spPr>
          <a:xfrm>
            <a:off x="1595385" y="2476513"/>
            <a:ext cx="173709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b="1"/>
              <a:t>Affluent customer offerings</a:t>
            </a:r>
            <a:endParaRPr kumimoji="0" lang="en-US" sz="600" b="1"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52" name="TrackerNumBlue 35">
            <a:extLst>
              <a:ext uri="{FF2B5EF4-FFF2-40B4-BE49-F238E27FC236}">
                <a16:creationId xmlns:a16="http://schemas.microsoft.com/office/drawing/2014/main" id="{E766D9CC-4F15-516F-8D6D-5BBBFBE245DC}"/>
              </a:ext>
            </a:extLst>
          </p:cNvPr>
          <p:cNvSpPr/>
          <p:nvPr>
            <p:custDataLst>
              <p:tags r:id="rId12"/>
            </p:custDataLst>
          </p:nvPr>
        </p:nvSpPr>
        <p:spPr>
          <a:xfrm>
            <a:off x="1275266" y="2509256"/>
            <a:ext cx="209872" cy="191981"/>
          </a:xfrm>
          <a:prstGeom prst="ellipse">
            <a:avLst/>
          </a:prstGeom>
          <a:solidFill>
            <a:schemeClr val="accent3">
              <a:lumMod val="50000"/>
            </a:schemeClr>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100">
                <a:solidFill>
                  <a:srgbClr val="FFFFFF"/>
                </a:solidFill>
                <a:latin typeface="Tahoma"/>
              </a:rPr>
              <a:t>2</a:t>
            </a:r>
          </a:p>
        </p:txBody>
      </p:sp>
      <p:pic>
        <p:nvPicPr>
          <p:cNvPr id="180" name="Picture 179">
            <a:extLst>
              <a:ext uri="{FF2B5EF4-FFF2-40B4-BE49-F238E27FC236}">
                <a16:creationId xmlns:a16="http://schemas.microsoft.com/office/drawing/2014/main" id="{73B748B7-396F-9AEE-D0F5-3ABA042B01EA}"/>
              </a:ext>
            </a:extLst>
          </p:cNvPr>
          <p:cNvPicPr>
            <a:picLocks/>
          </p:cNvPicPr>
          <p:nvPr/>
        </p:nvPicPr>
        <p:blipFill>
          <a:blip r:embed="rId26"/>
          <a:srcRect t="21307" b="21307"/>
          <a:stretch>
            <a:fillRect/>
          </a:stretch>
        </p:blipFill>
        <p:spPr>
          <a:xfrm>
            <a:off x="9115197" y="2580240"/>
            <a:ext cx="773724" cy="249758"/>
          </a:xfrm>
          <a:prstGeom prst="rect">
            <a:avLst/>
          </a:prstGeom>
        </p:spPr>
      </p:pic>
      <p:pic>
        <p:nvPicPr>
          <p:cNvPr id="181" name="Picture 40" descr="Citi Vector Logo - Download Free SVG Icon | Worldvectorlogo">
            <a:extLst>
              <a:ext uri="{FF2B5EF4-FFF2-40B4-BE49-F238E27FC236}">
                <a16:creationId xmlns:a16="http://schemas.microsoft.com/office/drawing/2014/main" id="{EAC4B85C-EE89-FAFF-F6F1-F8C0611BAC5A}"/>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0849421" y="2605925"/>
            <a:ext cx="732513" cy="198389"/>
          </a:xfrm>
          <a:prstGeom prst="rect">
            <a:avLst/>
          </a:prstGeom>
          <a:noFill/>
          <a:extLst>
            <a:ext uri="{909E8E84-426E-40DD-AFC4-6F175D3DCCD1}">
              <a14:hiddenFill xmlns:a14="http://schemas.microsoft.com/office/drawing/2010/main">
                <a:solidFill>
                  <a:srgbClr val="FFFFFF"/>
                </a:solidFill>
              </a14:hiddenFill>
            </a:ext>
          </a:extLst>
        </p:spPr>
      </p:pic>
      <p:pic>
        <p:nvPicPr>
          <p:cNvPr id="182" name="Picture 181">
            <a:extLst>
              <a:ext uri="{FF2B5EF4-FFF2-40B4-BE49-F238E27FC236}">
                <a16:creationId xmlns:a16="http://schemas.microsoft.com/office/drawing/2014/main" id="{3E76A864-C11C-4935-C1C9-AA8D2E582C54}"/>
              </a:ext>
            </a:extLst>
          </p:cNvPr>
          <p:cNvPicPr>
            <a:picLocks noChangeAspect="1"/>
          </p:cNvPicPr>
          <p:nvPr/>
        </p:nvPicPr>
        <p:blipFill>
          <a:blip r:embed="rId31"/>
          <a:srcRect t="28584" b="29257"/>
          <a:stretch>
            <a:fillRect/>
          </a:stretch>
        </p:blipFill>
        <p:spPr>
          <a:xfrm>
            <a:off x="9941665" y="2551231"/>
            <a:ext cx="730017" cy="307777"/>
          </a:xfrm>
          <a:prstGeom prst="rect">
            <a:avLst/>
          </a:prstGeom>
        </p:spPr>
      </p:pic>
      <p:cxnSp>
        <p:nvCxnSpPr>
          <p:cNvPr id="189" name="LineBasicStrong 47">
            <a:extLst>
              <a:ext uri="{FF2B5EF4-FFF2-40B4-BE49-F238E27FC236}">
                <a16:creationId xmlns:a16="http://schemas.microsoft.com/office/drawing/2014/main" id="{E1EB79D2-F931-7484-05D1-247C2CE518F4}"/>
              </a:ext>
            </a:extLst>
          </p:cNvPr>
          <p:cNvCxnSpPr>
            <a:cxnSpLocks/>
          </p:cNvCxnSpPr>
          <p:nvPr>
            <p:custDataLst>
              <p:tags r:id="rId13"/>
            </p:custDataLst>
          </p:nvPr>
        </p:nvCxnSpPr>
        <p:spPr>
          <a:xfrm>
            <a:off x="568960" y="4267669"/>
            <a:ext cx="11110869" cy="0"/>
          </a:xfrm>
          <a:prstGeom prst="straightConnector1">
            <a:avLst/>
          </a:prstGeom>
          <a:ln w="3175" cap="sq">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7" name="LineBasicStrong 47">
            <a:extLst>
              <a:ext uri="{FF2B5EF4-FFF2-40B4-BE49-F238E27FC236}">
                <a16:creationId xmlns:a16="http://schemas.microsoft.com/office/drawing/2014/main" id="{B57FC40D-7082-83C9-BC76-45007967B5CB}"/>
              </a:ext>
            </a:extLst>
          </p:cNvPr>
          <p:cNvCxnSpPr>
            <a:cxnSpLocks/>
          </p:cNvCxnSpPr>
          <p:nvPr>
            <p:custDataLst>
              <p:tags r:id="rId14"/>
            </p:custDataLst>
          </p:nvPr>
        </p:nvCxnSpPr>
        <p:spPr>
          <a:xfrm>
            <a:off x="953081" y="5452303"/>
            <a:ext cx="10726748" cy="0"/>
          </a:xfrm>
          <a:prstGeom prst="straightConnector1">
            <a:avLst/>
          </a:prstGeom>
          <a:ln w="3175" cap="sq">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C7CCD057-A503-6CF3-5AC7-9B1B9E0054B3}"/>
              </a:ext>
            </a:extLst>
          </p:cNvPr>
          <p:cNvSpPr>
            <a:spLocks/>
          </p:cNvSpPr>
          <p:nvPr/>
        </p:nvSpPr>
        <p:spPr>
          <a:xfrm>
            <a:off x="554734" y="3146641"/>
            <a:ext cx="507150" cy="1073025"/>
          </a:xfrm>
          <a:prstGeom prst="roundRect">
            <a:avLst/>
          </a:prstGeom>
          <a:solidFill>
            <a:schemeClr val="tx1">
              <a:lumMod val="50000"/>
              <a:lumOff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1">
                <a:ln>
                  <a:noFill/>
                </a:ln>
                <a:solidFill>
                  <a:srgbClr val="FFFFFF"/>
                </a:solidFill>
                <a:effectLst/>
                <a:uLnTx/>
                <a:uFillTx/>
                <a:latin typeface="Tahoma"/>
                <a:ea typeface="+mn-ea"/>
                <a:cs typeface="+mn-cs"/>
              </a:rPr>
              <a:t>Incumbent moves</a:t>
            </a:r>
          </a:p>
        </p:txBody>
      </p:sp>
      <p:sp>
        <p:nvSpPr>
          <p:cNvPr id="7" name="Rectangle: Rounded Corners 6">
            <a:extLst>
              <a:ext uri="{FF2B5EF4-FFF2-40B4-BE49-F238E27FC236}">
                <a16:creationId xmlns:a16="http://schemas.microsoft.com/office/drawing/2014/main" id="{FC18F3F3-C039-5A8A-F237-237FA3A9C9F8}"/>
              </a:ext>
            </a:extLst>
          </p:cNvPr>
          <p:cNvSpPr>
            <a:spLocks/>
          </p:cNvSpPr>
          <p:nvPr/>
        </p:nvSpPr>
        <p:spPr>
          <a:xfrm>
            <a:off x="554734" y="4309799"/>
            <a:ext cx="507150" cy="1737361"/>
          </a:xfrm>
          <a:prstGeom prst="roundRect">
            <a:avLst/>
          </a:prstGeom>
          <a:solidFill>
            <a:schemeClr val="tx1">
              <a:lumMod val="25000"/>
              <a:lumOff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1">
                <a:ln>
                  <a:noFill/>
                </a:ln>
                <a:solidFill>
                  <a:srgbClr val="111918"/>
                </a:solidFill>
                <a:effectLst/>
                <a:uLnTx/>
                <a:uFillTx/>
                <a:latin typeface="Tahoma"/>
                <a:ea typeface="+mn-ea"/>
                <a:cs typeface="+mn-cs"/>
              </a:rPr>
              <a:t>Enablers</a:t>
            </a:r>
          </a:p>
        </p:txBody>
      </p:sp>
      <p:sp>
        <p:nvSpPr>
          <p:cNvPr id="5" name="Rectangle: Rounded Corners 4">
            <a:extLst>
              <a:ext uri="{FF2B5EF4-FFF2-40B4-BE49-F238E27FC236}">
                <a16:creationId xmlns:a16="http://schemas.microsoft.com/office/drawing/2014/main" id="{80FE393C-CBB8-BB70-4185-E62499883CFF}"/>
              </a:ext>
            </a:extLst>
          </p:cNvPr>
          <p:cNvSpPr>
            <a:spLocks/>
          </p:cNvSpPr>
          <p:nvPr/>
        </p:nvSpPr>
        <p:spPr>
          <a:xfrm>
            <a:off x="554734" y="1729563"/>
            <a:ext cx="507150" cy="1329896"/>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1">
                <a:ln>
                  <a:noFill/>
                </a:ln>
                <a:solidFill>
                  <a:srgbClr val="FFFFFF"/>
                </a:solidFill>
                <a:effectLst/>
                <a:uLnTx/>
                <a:uFillTx/>
                <a:latin typeface="Tahoma"/>
                <a:ea typeface="+mn-ea"/>
                <a:cs typeface="+mn-cs"/>
              </a:rPr>
              <a:t>Game Changers</a:t>
            </a:r>
          </a:p>
        </p:txBody>
      </p:sp>
      <p:pic>
        <p:nvPicPr>
          <p:cNvPr id="4" name="Picture 3">
            <a:extLst>
              <a:ext uri="{FF2B5EF4-FFF2-40B4-BE49-F238E27FC236}">
                <a16:creationId xmlns:a16="http://schemas.microsoft.com/office/drawing/2014/main" id="{4DBCBCB8-3C2E-8BFA-FA82-EA8220754209}"/>
              </a:ext>
            </a:extLst>
          </p:cNvPr>
          <p:cNvPicPr>
            <a:picLocks/>
          </p:cNvPicPr>
          <p:nvPr/>
        </p:nvPicPr>
        <p:blipFill>
          <a:blip r:embed="rId26"/>
          <a:srcRect t="21307" b="21307"/>
          <a:stretch>
            <a:fillRect/>
          </a:stretch>
        </p:blipFill>
        <p:spPr>
          <a:xfrm>
            <a:off x="9134862" y="2118124"/>
            <a:ext cx="773724" cy="249758"/>
          </a:xfrm>
          <a:prstGeom prst="rect">
            <a:avLst/>
          </a:prstGeom>
        </p:spPr>
      </p:pic>
      <p:pic>
        <p:nvPicPr>
          <p:cNvPr id="10" name="Picture 14">
            <a:extLst>
              <a:ext uri="{FF2B5EF4-FFF2-40B4-BE49-F238E27FC236}">
                <a16:creationId xmlns:a16="http://schemas.microsoft.com/office/drawing/2014/main" id="{0CC1DE82-7C4B-D1FD-AA0C-A3F68D2F9E5B}"/>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0468304" y="2138401"/>
            <a:ext cx="1124607" cy="224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103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01637-D249-AA2E-65B6-5E34B9734B6E}"/>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A48C9A5C-0ACC-4EC7-045F-252C934C4C9D}"/>
              </a:ext>
            </a:extLst>
          </p:cNvPr>
          <p:cNvGraphicFramePr>
            <a:graphicFrameLocks noChangeAspect="1"/>
          </p:cNvGraphicFramePr>
          <p:nvPr>
            <p:custDataLst>
              <p:tags r:id="rId1"/>
            </p:custDataLst>
            <p:extLst>
              <p:ext uri="{D42A27DB-BD31-4B8C-83A1-F6EECF244321}">
                <p14:modId xmlns:p14="http://schemas.microsoft.com/office/powerpoint/2010/main" val="27693816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5" name="Object 2" hidden="1">
                        <a:extLst>
                          <a:ext uri="{FF2B5EF4-FFF2-40B4-BE49-F238E27FC236}">
                            <a16:creationId xmlns:a16="http://schemas.microsoft.com/office/drawing/2014/main" id="{A48C9A5C-0ACC-4EC7-045F-252C934C4C9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D442A389-9B37-00DA-EE33-EFA5CEA943B0}"/>
              </a:ext>
            </a:extLst>
          </p:cNvPr>
          <p:cNvSpPr>
            <a:spLocks noGrp="1"/>
          </p:cNvSpPr>
          <p:nvPr>
            <p:ph type="title"/>
            <p:custDataLst>
              <p:tags r:id="rId2"/>
            </p:custDataLst>
          </p:nvPr>
        </p:nvSpPr>
        <p:spPr>
          <a:xfrm>
            <a:off x="559470" y="120290"/>
            <a:ext cx="7953948" cy="1107996"/>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a:t>Payroll liberalization can be addressed through targeted partnerships with corporates and value proposition upgrade</a:t>
            </a:r>
          </a:p>
        </p:txBody>
      </p:sp>
      <p:sp>
        <p:nvSpPr>
          <p:cNvPr id="27" name="1. On-page tracker">
            <a:extLst>
              <a:ext uri="{FF2B5EF4-FFF2-40B4-BE49-F238E27FC236}">
                <a16:creationId xmlns:a16="http://schemas.microsoft.com/office/drawing/2014/main" id="{E1A21E57-FE48-5502-70E1-997F2F22A7AD}"/>
              </a:ext>
            </a:extLst>
          </p:cNvPr>
          <p:cNvSpPr>
            <a:spLocks noGrp="1"/>
          </p:cNvSpPr>
          <p:nvPr>
            <p:ph type="body" sz="quarter" idx="10"/>
            <p:custDataLst>
              <p:tags r:id="rId3"/>
            </p:custDataLst>
          </p:nvPr>
        </p:nvSpPr>
        <p:spPr/>
        <p:txBody>
          <a:bodyPr/>
          <a:lstStyle/>
          <a:p>
            <a:endParaRPr lang="en-US"/>
          </a:p>
        </p:txBody>
      </p:sp>
      <p:sp>
        <p:nvSpPr>
          <p:cNvPr id="44" name="TextBox 43">
            <a:extLst>
              <a:ext uri="{FF2B5EF4-FFF2-40B4-BE49-F238E27FC236}">
                <a16:creationId xmlns:a16="http://schemas.microsoft.com/office/drawing/2014/main" id="{C1BF9829-A3EA-459E-DEB8-F2C8F99D9FC2}"/>
              </a:ext>
            </a:extLst>
          </p:cNvPr>
          <p:cNvSpPr txBox="1">
            <a:spLocks/>
          </p:cNvSpPr>
          <p:nvPr/>
        </p:nvSpPr>
        <p:spPr>
          <a:xfrm>
            <a:off x="542580" y="1329726"/>
            <a:ext cx="7059218" cy="437915"/>
          </a:xfrm>
          <a:prstGeom prst="rect">
            <a:avLst/>
          </a:prstGeom>
          <a:no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b="1">
                <a:solidFill>
                  <a:schemeClr val="tx1"/>
                </a:solidFill>
                <a:latin typeface="+mn-lt"/>
              </a:rPr>
              <a:t>Main factors influencing switching</a:t>
            </a:r>
          </a:p>
        </p:txBody>
      </p:sp>
      <p:sp>
        <p:nvSpPr>
          <p:cNvPr id="59" name="TextBox 58">
            <a:extLst>
              <a:ext uri="{FF2B5EF4-FFF2-40B4-BE49-F238E27FC236}">
                <a16:creationId xmlns:a16="http://schemas.microsoft.com/office/drawing/2014/main" id="{4FD1A1DE-8A85-BB29-902D-3C574075739C}"/>
              </a:ext>
            </a:extLst>
          </p:cNvPr>
          <p:cNvSpPr txBox="1">
            <a:spLocks/>
          </p:cNvSpPr>
          <p:nvPr/>
        </p:nvSpPr>
        <p:spPr>
          <a:xfrm>
            <a:off x="9071146" y="1777117"/>
            <a:ext cx="2455657" cy="273992"/>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b="1">
                <a:solidFill>
                  <a:schemeClr val="bg1"/>
                </a:solidFill>
                <a:latin typeface="+mn-lt"/>
              </a:rPr>
              <a:t>Key lessons learned</a:t>
            </a:r>
          </a:p>
        </p:txBody>
      </p:sp>
      <p:grpSp>
        <p:nvGrpSpPr>
          <p:cNvPr id="72" name="ChevronBlue 72">
            <a:extLst>
              <a:ext uri="{FF2B5EF4-FFF2-40B4-BE49-F238E27FC236}">
                <a16:creationId xmlns:a16="http://schemas.microsoft.com/office/drawing/2014/main" id="{EC3C6100-A197-F967-7A25-8D1A200E6259}"/>
              </a:ext>
            </a:extLst>
          </p:cNvPr>
          <p:cNvGrpSpPr>
            <a:grpSpLocks noChangeAspect="1"/>
          </p:cNvGrpSpPr>
          <p:nvPr>
            <p:custDataLst>
              <p:tags r:id="rId4"/>
            </p:custDataLst>
          </p:nvPr>
        </p:nvGrpSpPr>
        <p:grpSpPr>
          <a:xfrm>
            <a:off x="8547578" y="1640362"/>
            <a:ext cx="396228" cy="396228"/>
            <a:chOff x="1016000" y="1016000"/>
            <a:chExt cx="396228" cy="396228"/>
          </a:xfrm>
        </p:grpSpPr>
        <p:sp>
          <p:nvSpPr>
            <p:cNvPr id="69" name="Oval 68">
              <a:extLst>
                <a:ext uri="{FF2B5EF4-FFF2-40B4-BE49-F238E27FC236}">
                  <a16:creationId xmlns:a16="http://schemas.microsoft.com/office/drawing/2014/main" id="{D030B85C-D5B8-E7E0-34A5-D3E454143D03}"/>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1" name="Graphic 70">
              <a:extLst>
                <a:ext uri="{FF2B5EF4-FFF2-40B4-BE49-F238E27FC236}">
                  <a16:creationId xmlns:a16="http://schemas.microsoft.com/office/drawing/2014/main" id="{3B150649-8C3F-5308-A3D5-D6F90716B5B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3614" y="1023614"/>
              <a:ext cx="381000" cy="381000"/>
            </a:xfrm>
            <a:prstGeom prst="rect">
              <a:avLst/>
            </a:prstGeom>
          </p:spPr>
        </p:pic>
      </p:grpSp>
      <p:cxnSp>
        <p:nvCxnSpPr>
          <p:cNvPr id="4" name="Straight Connector 3">
            <a:extLst>
              <a:ext uri="{FF2B5EF4-FFF2-40B4-BE49-F238E27FC236}">
                <a16:creationId xmlns:a16="http://schemas.microsoft.com/office/drawing/2014/main" id="{19ABD45C-B7B5-A8EC-C9C0-5C020DEDF03D}"/>
              </a:ext>
            </a:extLst>
          </p:cNvPr>
          <p:cNvCxnSpPr>
            <a:cxnSpLocks/>
          </p:cNvCxnSpPr>
          <p:nvPr/>
        </p:nvCxnSpPr>
        <p:spPr>
          <a:xfrm>
            <a:off x="549305" y="1711416"/>
            <a:ext cx="7953949" cy="23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28C9D0D-9A99-8125-A7B1-0B2543AABFD6}"/>
              </a:ext>
            </a:extLst>
          </p:cNvPr>
          <p:cNvCxnSpPr>
            <a:cxnSpLocks/>
          </p:cNvCxnSpPr>
          <p:nvPr/>
        </p:nvCxnSpPr>
        <p:spPr>
          <a:xfrm flipV="1">
            <a:off x="8944723" y="1706411"/>
            <a:ext cx="2528090" cy="7353"/>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C09C2268-F862-A1DA-5A5D-8F36363B0C12}"/>
              </a:ext>
            </a:extLst>
          </p:cNvPr>
          <p:cNvSpPr txBox="1">
            <a:spLocks/>
          </p:cNvSpPr>
          <p:nvPr/>
        </p:nvSpPr>
        <p:spPr>
          <a:xfrm>
            <a:off x="546394" y="1777117"/>
            <a:ext cx="1105300" cy="273992"/>
          </a:xfrm>
          <a:prstGeom prst="roundRect">
            <a:avLst/>
          </a:prstGeom>
          <a:solidFill>
            <a:schemeClr val="accent2">
              <a:lumMod val="50000"/>
            </a:schemeClr>
          </a:solidFill>
        </p:spPr>
        <p:txBody>
          <a:bodyPr vert="horz" wrap="square" lIns="9144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Factor</a:t>
            </a:r>
          </a:p>
        </p:txBody>
      </p:sp>
      <p:sp>
        <p:nvSpPr>
          <p:cNvPr id="40" name="TextBox 39">
            <a:extLst>
              <a:ext uri="{FF2B5EF4-FFF2-40B4-BE49-F238E27FC236}">
                <a16:creationId xmlns:a16="http://schemas.microsoft.com/office/drawing/2014/main" id="{D0A29ABC-0CC0-EE06-1E78-0F19A3DCF127}"/>
              </a:ext>
            </a:extLst>
          </p:cNvPr>
          <p:cNvSpPr txBox="1">
            <a:spLocks/>
          </p:cNvSpPr>
          <p:nvPr/>
        </p:nvSpPr>
        <p:spPr>
          <a:xfrm>
            <a:off x="1726145" y="1777117"/>
            <a:ext cx="2017902" cy="273992"/>
          </a:xfrm>
          <a:prstGeom prst="roundRect">
            <a:avLst/>
          </a:prstGeom>
          <a:solidFill>
            <a:schemeClr val="accent2">
              <a:lumMod val="50000"/>
            </a:schemeClr>
          </a:solidFill>
        </p:spPr>
        <p:txBody>
          <a:bodyPr vert="horz" wrap="square" lIns="9144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Description</a:t>
            </a:r>
          </a:p>
        </p:txBody>
      </p:sp>
      <p:sp>
        <p:nvSpPr>
          <p:cNvPr id="41" name="TextBox 40">
            <a:extLst>
              <a:ext uri="{FF2B5EF4-FFF2-40B4-BE49-F238E27FC236}">
                <a16:creationId xmlns:a16="http://schemas.microsoft.com/office/drawing/2014/main" id="{5E77F658-07FB-D109-9EA2-410C84BABF46}"/>
              </a:ext>
            </a:extLst>
          </p:cNvPr>
          <p:cNvSpPr txBox="1">
            <a:spLocks/>
          </p:cNvSpPr>
          <p:nvPr/>
        </p:nvSpPr>
        <p:spPr>
          <a:xfrm>
            <a:off x="3837331" y="1777117"/>
            <a:ext cx="4635339" cy="273992"/>
          </a:xfrm>
          <a:prstGeom prst="roundRect">
            <a:avLst/>
          </a:prstGeom>
          <a:solidFill>
            <a:schemeClr val="accent2">
              <a:lumMod val="50000"/>
            </a:schemeClr>
          </a:solidFill>
        </p:spPr>
        <p:txBody>
          <a:bodyPr vert="horz" wrap="square" lIns="91440" tIns="0" rIns="0" bIns="0"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Observed global examples</a:t>
            </a:r>
          </a:p>
        </p:txBody>
      </p:sp>
      <p:sp>
        <p:nvSpPr>
          <p:cNvPr id="42" name="TextBox 41">
            <a:extLst>
              <a:ext uri="{FF2B5EF4-FFF2-40B4-BE49-F238E27FC236}">
                <a16:creationId xmlns:a16="http://schemas.microsoft.com/office/drawing/2014/main" id="{01355CEA-E283-3571-A39B-02683D51F57C}"/>
              </a:ext>
            </a:extLst>
          </p:cNvPr>
          <p:cNvSpPr txBox="1"/>
          <p:nvPr/>
        </p:nvSpPr>
        <p:spPr>
          <a:xfrm>
            <a:off x="623406" y="2113511"/>
            <a:ext cx="1020726"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i="1"/>
              <a:t>Employer enforcement penalties</a:t>
            </a:r>
          </a:p>
        </p:txBody>
      </p:sp>
      <p:sp>
        <p:nvSpPr>
          <p:cNvPr id="43" name="TextBox 42">
            <a:extLst>
              <a:ext uri="{FF2B5EF4-FFF2-40B4-BE49-F238E27FC236}">
                <a16:creationId xmlns:a16="http://schemas.microsoft.com/office/drawing/2014/main" id="{1EC4463F-B179-C808-732C-DD4DAC50172E}"/>
              </a:ext>
            </a:extLst>
          </p:cNvPr>
          <p:cNvSpPr txBox="1">
            <a:spLocks/>
          </p:cNvSpPr>
          <p:nvPr/>
        </p:nvSpPr>
        <p:spPr>
          <a:xfrm>
            <a:off x="1770273" y="2113511"/>
            <a:ext cx="1939164" cy="73866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Fines or legal consequences for employers who ignore employee bank choice requests</a:t>
            </a:r>
          </a:p>
        </p:txBody>
      </p:sp>
      <p:sp>
        <p:nvSpPr>
          <p:cNvPr id="46" name="TextBox 45">
            <a:extLst>
              <a:ext uri="{FF2B5EF4-FFF2-40B4-BE49-F238E27FC236}">
                <a16:creationId xmlns:a16="http://schemas.microsoft.com/office/drawing/2014/main" id="{AFE0FD64-BA03-DB85-8BC7-A35153C852D9}"/>
              </a:ext>
            </a:extLst>
          </p:cNvPr>
          <p:cNvSpPr txBox="1">
            <a:spLocks/>
          </p:cNvSpPr>
          <p:nvPr/>
        </p:nvSpPr>
        <p:spPr>
          <a:xfrm>
            <a:off x="4317357" y="2113511"/>
            <a:ext cx="4249410" cy="3693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Legal right to switch existed since 2014, yet accelerated adoption started only in 2019 after introduction of fines</a:t>
            </a:r>
          </a:p>
        </p:txBody>
      </p:sp>
      <p:sp>
        <p:nvSpPr>
          <p:cNvPr id="47" name="TextBox 46">
            <a:extLst>
              <a:ext uri="{FF2B5EF4-FFF2-40B4-BE49-F238E27FC236}">
                <a16:creationId xmlns:a16="http://schemas.microsoft.com/office/drawing/2014/main" id="{2B6C8561-1903-12EC-2B2B-0FB95230856A}"/>
              </a:ext>
            </a:extLst>
          </p:cNvPr>
          <p:cNvSpPr txBox="1"/>
          <p:nvPr/>
        </p:nvSpPr>
        <p:spPr>
          <a:xfrm>
            <a:off x="623406" y="2924703"/>
            <a:ext cx="1020726"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i="1"/>
              <a:t>Frictionless and zero cost switching</a:t>
            </a:r>
          </a:p>
        </p:txBody>
      </p:sp>
      <p:sp>
        <p:nvSpPr>
          <p:cNvPr id="48" name="TextBox 47">
            <a:extLst>
              <a:ext uri="{FF2B5EF4-FFF2-40B4-BE49-F238E27FC236}">
                <a16:creationId xmlns:a16="http://schemas.microsoft.com/office/drawing/2014/main" id="{E3697FA5-2645-4A3B-2D2C-47CEBF06D3D7}"/>
              </a:ext>
            </a:extLst>
          </p:cNvPr>
          <p:cNvSpPr txBox="1">
            <a:spLocks/>
          </p:cNvSpPr>
          <p:nvPr/>
        </p:nvSpPr>
        <p:spPr>
          <a:xfrm>
            <a:off x="1770273" y="2924703"/>
            <a:ext cx="1939164" cy="55399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Employees can move salary funds instantly and without any associated costs</a:t>
            </a:r>
          </a:p>
        </p:txBody>
      </p:sp>
      <p:sp>
        <p:nvSpPr>
          <p:cNvPr id="54" name="TextBox 53">
            <a:extLst>
              <a:ext uri="{FF2B5EF4-FFF2-40B4-BE49-F238E27FC236}">
                <a16:creationId xmlns:a16="http://schemas.microsoft.com/office/drawing/2014/main" id="{B898959F-793B-70FB-BC56-FC728DF7F025}"/>
              </a:ext>
            </a:extLst>
          </p:cNvPr>
          <p:cNvSpPr txBox="1">
            <a:spLocks/>
          </p:cNvSpPr>
          <p:nvPr/>
        </p:nvSpPr>
        <p:spPr>
          <a:xfrm>
            <a:off x="4317357" y="2924703"/>
            <a:ext cx="4249410"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Introduced open banking API and QRs during rollout</a:t>
            </a:r>
          </a:p>
        </p:txBody>
      </p:sp>
      <p:cxnSp>
        <p:nvCxnSpPr>
          <p:cNvPr id="64" name="LineBasicDefault 64">
            <a:extLst>
              <a:ext uri="{FF2B5EF4-FFF2-40B4-BE49-F238E27FC236}">
                <a16:creationId xmlns:a16="http://schemas.microsoft.com/office/drawing/2014/main" id="{385429B3-2639-F42B-FB4F-153C8E438D72}"/>
              </a:ext>
            </a:extLst>
          </p:cNvPr>
          <p:cNvCxnSpPr>
            <a:cxnSpLocks/>
          </p:cNvCxnSpPr>
          <p:nvPr>
            <p:custDataLst>
              <p:tags r:id="rId5"/>
            </p:custDataLst>
          </p:nvPr>
        </p:nvCxnSpPr>
        <p:spPr>
          <a:xfrm flipV="1">
            <a:off x="546523" y="2880636"/>
            <a:ext cx="7953949" cy="15606"/>
          </a:xfrm>
          <a:prstGeom prst="straightConnector1">
            <a:avLst/>
          </a:prstGeom>
          <a:ln w="6350" cap="sq">
            <a:solidFill>
              <a:schemeClr val="bg2">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FE650F0-1B24-3136-970F-3DA9FD655001}"/>
              </a:ext>
            </a:extLst>
          </p:cNvPr>
          <p:cNvSpPr txBox="1">
            <a:spLocks/>
          </p:cNvSpPr>
          <p:nvPr/>
        </p:nvSpPr>
        <p:spPr>
          <a:xfrm>
            <a:off x="4317357" y="3551229"/>
            <a:ext cx="4249410" cy="126188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a:t>
            </a:r>
            <a:r>
              <a:rPr lang="en-US" sz="1200" err="1"/>
              <a:t>Promosyon</a:t>
            </a:r>
            <a:r>
              <a:rPr lang="en-US" sz="1200"/>
              <a:t>” (cash bonus tied to salary volumes) paid directly to banks to enforce lock-in</a:t>
            </a:r>
          </a:p>
          <a:p>
            <a:r>
              <a:rPr lang="en-US" sz="1200"/>
              <a:t>Introduced payroll processing fee waivers and preferential corporate lending rates</a:t>
            </a:r>
          </a:p>
          <a:p>
            <a:r>
              <a:rPr lang="en-US" sz="1200"/>
              <a:t>Discounted corporate banking fees bundles with payroll contracts</a:t>
            </a:r>
          </a:p>
        </p:txBody>
      </p:sp>
      <p:sp>
        <p:nvSpPr>
          <p:cNvPr id="50" name="TextBox 49">
            <a:extLst>
              <a:ext uri="{FF2B5EF4-FFF2-40B4-BE49-F238E27FC236}">
                <a16:creationId xmlns:a16="http://schemas.microsoft.com/office/drawing/2014/main" id="{882444BE-2A5C-E514-C876-6C5A5E2FB83D}"/>
              </a:ext>
            </a:extLst>
          </p:cNvPr>
          <p:cNvSpPr txBox="1"/>
          <p:nvPr/>
        </p:nvSpPr>
        <p:spPr>
          <a:xfrm>
            <a:off x="623406" y="3551229"/>
            <a:ext cx="1020726"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i="1"/>
              <a:t>Employer incentives</a:t>
            </a:r>
          </a:p>
        </p:txBody>
      </p:sp>
      <p:sp>
        <p:nvSpPr>
          <p:cNvPr id="52" name="TextBox 51">
            <a:extLst>
              <a:ext uri="{FF2B5EF4-FFF2-40B4-BE49-F238E27FC236}">
                <a16:creationId xmlns:a16="http://schemas.microsoft.com/office/drawing/2014/main" id="{F1D74E21-92B1-4A5F-C1D5-60BAD45B6045}"/>
              </a:ext>
            </a:extLst>
          </p:cNvPr>
          <p:cNvSpPr txBox="1">
            <a:spLocks/>
          </p:cNvSpPr>
          <p:nvPr/>
        </p:nvSpPr>
        <p:spPr>
          <a:xfrm>
            <a:off x="1770273" y="3551229"/>
            <a:ext cx="1939164" cy="92333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Employer receives financial or operational benefits that </a:t>
            </a:r>
            <a:r>
              <a:rPr lang="en-US" sz="1200" err="1"/>
              <a:t>incentivise</a:t>
            </a:r>
            <a:r>
              <a:rPr lang="en-US" sz="1200"/>
              <a:t> maintaining a specific salary bank relationship</a:t>
            </a:r>
          </a:p>
        </p:txBody>
      </p:sp>
      <p:cxnSp>
        <p:nvCxnSpPr>
          <p:cNvPr id="68" name="LineBasicDefault 64">
            <a:extLst>
              <a:ext uri="{FF2B5EF4-FFF2-40B4-BE49-F238E27FC236}">
                <a16:creationId xmlns:a16="http://schemas.microsoft.com/office/drawing/2014/main" id="{1137E520-B645-D1A8-F791-221D346D8343}"/>
              </a:ext>
            </a:extLst>
          </p:cNvPr>
          <p:cNvCxnSpPr>
            <a:cxnSpLocks/>
          </p:cNvCxnSpPr>
          <p:nvPr>
            <p:custDataLst>
              <p:tags r:id="rId6"/>
            </p:custDataLst>
          </p:nvPr>
        </p:nvCxnSpPr>
        <p:spPr>
          <a:xfrm flipV="1">
            <a:off x="546523" y="3507162"/>
            <a:ext cx="7953949" cy="15606"/>
          </a:xfrm>
          <a:prstGeom prst="straightConnector1">
            <a:avLst/>
          </a:prstGeom>
          <a:ln w="6350" cap="sq">
            <a:solidFill>
              <a:schemeClr val="bg2">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76525D03-2AA4-5564-28E4-F67EC2B2BFE3}"/>
              </a:ext>
            </a:extLst>
          </p:cNvPr>
          <p:cNvSpPr txBox="1">
            <a:spLocks/>
          </p:cNvSpPr>
          <p:nvPr/>
        </p:nvSpPr>
        <p:spPr>
          <a:xfrm>
            <a:off x="4317357" y="4885641"/>
            <a:ext cx="4249410" cy="8925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Introduced salary-day pre-approved loans and preferential rates</a:t>
            </a:r>
          </a:p>
          <a:p>
            <a:r>
              <a:rPr lang="en-US" sz="1200"/>
              <a:t>Preferential mortgage rates tied to salary banks</a:t>
            </a:r>
          </a:p>
          <a:p>
            <a:r>
              <a:rPr lang="en-US" sz="1200"/>
              <a:t>In private sector “</a:t>
            </a:r>
            <a:r>
              <a:rPr lang="en-US" sz="1200" err="1"/>
              <a:t>promosyon</a:t>
            </a:r>
            <a:r>
              <a:rPr lang="en-US" sz="1200"/>
              <a:t>” paid to employees</a:t>
            </a:r>
          </a:p>
        </p:txBody>
      </p:sp>
      <p:sp>
        <p:nvSpPr>
          <p:cNvPr id="56" name="TextBox 55">
            <a:extLst>
              <a:ext uri="{FF2B5EF4-FFF2-40B4-BE49-F238E27FC236}">
                <a16:creationId xmlns:a16="http://schemas.microsoft.com/office/drawing/2014/main" id="{E697A614-FFD6-2958-82E2-3B17E7B848DF}"/>
              </a:ext>
            </a:extLst>
          </p:cNvPr>
          <p:cNvSpPr txBox="1"/>
          <p:nvPr/>
        </p:nvSpPr>
        <p:spPr>
          <a:xfrm>
            <a:off x="623406" y="4885641"/>
            <a:ext cx="1020726"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i="1"/>
              <a:t>Employee incentives</a:t>
            </a:r>
          </a:p>
        </p:txBody>
      </p:sp>
      <p:sp>
        <p:nvSpPr>
          <p:cNvPr id="57" name="TextBox 56">
            <a:extLst>
              <a:ext uri="{FF2B5EF4-FFF2-40B4-BE49-F238E27FC236}">
                <a16:creationId xmlns:a16="http://schemas.microsoft.com/office/drawing/2014/main" id="{AFF92DF8-712F-FDD0-CF02-30249092AF69}"/>
              </a:ext>
            </a:extLst>
          </p:cNvPr>
          <p:cNvSpPr txBox="1">
            <a:spLocks/>
          </p:cNvSpPr>
          <p:nvPr/>
        </p:nvSpPr>
        <p:spPr>
          <a:xfrm>
            <a:off x="1770273" y="4885641"/>
            <a:ext cx="1939164" cy="73866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Employee receives a direct, tangible financial benefit for choosing or staying with a specific bank</a:t>
            </a:r>
          </a:p>
        </p:txBody>
      </p:sp>
      <p:cxnSp>
        <p:nvCxnSpPr>
          <p:cNvPr id="70" name="LineBasicDefault 64">
            <a:extLst>
              <a:ext uri="{FF2B5EF4-FFF2-40B4-BE49-F238E27FC236}">
                <a16:creationId xmlns:a16="http://schemas.microsoft.com/office/drawing/2014/main" id="{3173D5EA-E49E-0E72-E6AF-53F56910CEA4}"/>
              </a:ext>
            </a:extLst>
          </p:cNvPr>
          <p:cNvCxnSpPr>
            <a:cxnSpLocks/>
          </p:cNvCxnSpPr>
          <p:nvPr>
            <p:custDataLst>
              <p:tags r:id="rId7"/>
            </p:custDataLst>
          </p:nvPr>
        </p:nvCxnSpPr>
        <p:spPr>
          <a:xfrm flipV="1">
            <a:off x="546523" y="4841574"/>
            <a:ext cx="7953949" cy="15606"/>
          </a:xfrm>
          <a:prstGeom prst="straightConnector1">
            <a:avLst/>
          </a:prstGeom>
          <a:ln w="6350" cap="sq">
            <a:solidFill>
              <a:schemeClr val="bg2">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0CFB091-E02D-3612-52BB-BB50F3BB46B5}"/>
              </a:ext>
            </a:extLst>
          </p:cNvPr>
          <p:cNvSpPr txBox="1">
            <a:spLocks/>
          </p:cNvSpPr>
          <p:nvPr/>
        </p:nvSpPr>
        <p:spPr>
          <a:xfrm>
            <a:off x="4317357" y="5850721"/>
            <a:ext cx="424941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In 2022, 6 years after reform, 61% of employees never switched salary bank</a:t>
            </a:r>
          </a:p>
        </p:txBody>
      </p:sp>
      <p:sp>
        <p:nvSpPr>
          <p:cNvPr id="61" name="TextBox 60">
            <a:extLst>
              <a:ext uri="{FF2B5EF4-FFF2-40B4-BE49-F238E27FC236}">
                <a16:creationId xmlns:a16="http://schemas.microsoft.com/office/drawing/2014/main" id="{577FDCFE-DF51-E213-577B-56A57C886DA1}"/>
              </a:ext>
            </a:extLst>
          </p:cNvPr>
          <p:cNvSpPr txBox="1"/>
          <p:nvPr/>
        </p:nvSpPr>
        <p:spPr>
          <a:xfrm>
            <a:off x="623406" y="5850721"/>
            <a:ext cx="1020726"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i="1"/>
              <a:t>Consumer awareness</a:t>
            </a:r>
          </a:p>
        </p:txBody>
      </p:sp>
      <p:sp>
        <p:nvSpPr>
          <p:cNvPr id="62" name="TextBox 61">
            <a:extLst>
              <a:ext uri="{FF2B5EF4-FFF2-40B4-BE49-F238E27FC236}">
                <a16:creationId xmlns:a16="http://schemas.microsoft.com/office/drawing/2014/main" id="{506BF0BE-049C-6119-BAF5-0ECA97E058F4}"/>
              </a:ext>
            </a:extLst>
          </p:cNvPr>
          <p:cNvSpPr txBox="1">
            <a:spLocks/>
          </p:cNvSpPr>
          <p:nvPr/>
        </p:nvSpPr>
        <p:spPr>
          <a:xfrm>
            <a:off x="1770273" y="5850721"/>
            <a:ext cx="1939164" cy="55399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Employees know they have right to switch and under-stand how to exercise it</a:t>
            </a:r>
          </a:p>
        </p:txBody>
      </p:sp>
      <p:cxnSp>
        <p:nvCxnSpPr>
          <p:cNvPr id="73" name="LineBasicDefault 64">
            <a:extLst>
              <a:ext uri="{FF2B5EF4-FFF2-40B4-BE49-F238E27FC236}">
                <a16:creationId xmlns:a16="http://schemas.microsoft.com/office/drawing/2014/main" id="{443C4B8B-390B-DAA9-5C42-82E0BA5D52E1}"/>
              </a:ext>
            </a:extLst>
          </p:cNvPr>
          <p:cNvCxnSpPr>
            <a:cxnSpLocks/>
          </p:cNvCxnSpPr>
          <p:nvPr>
            <p:custDataLst>
              <p:tags r:id="rId8"/>
            </p:custDataLst>
          </p:nvPr>
        </p:nvCxnSpPr>
        <p:spPr>
          <a:xfrm flipV="1">
            <a:off x="546523" y="5806654"/>
            <a:ext cx="7953949" cy="15606"/>
          </a:xfrm>
          <a:prstGeom prst="straightConnector1">
            <a:avLst/>
          </a:prstGeom>
          <a:ln w="6350" cap="sq">
            <a:solidFill>
              <a:schemeClr val="bg2">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A44619A-E141-9FA9-1CF8-0091693AA278}"/>
              </a:ext>
            </a:extLst>
          </p:cNvPr>
          <p:cNvCxnSpPr>
            <a:cxnSpLocks/>
          </p:cNvCxnSpPr>
          <p:nvPr/>
        </p:nvCxnSpPr>
        <p:spPr>
          <a:xfrm flipV="1">
            <a:off x="618755" y="6433177"/>
            <a:ext cx="7953949" cy="23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99" name="Picture 98">
            <a:extLst>
              <a:ext uri="{FF2B5EF4-FFF2-40B4-BE49-F238E27FC236}">
                <a16:creationId xmlns:a16="http://schemas.microsoft.com/office/drawing/2014/main" id="{14303AAA-6EB9-8511-156C-31F8EF603281}"/>
              </a:ext>
            </a:extLst>
          </p:cNvPr>
          <p:cNvPicPr>
            <a:picLocks/>
          </p:cNvPicPr>
          <p:nvPr/>
        </p:nvPicPr>
        <p:blipFill>
          <a:blip r:embed="rId13"/>
          <a:stretch>
            <a:fillRect/>
          </a:stretch>
        </p:blipFill>
        <p:spPr>
          <a:xfrm>
            <a:off x="3886316" y="2134656"/>
            <a:ext cx="315296" cy="219916"/>
          </a:xfrm>
          <a:prstGeom prst="rect">
            <a:avLst/>
          </a:prstGeom>
          <a:ln w="6350">
            <a:solidFill>
              <a:srgbClr val="CCCCCC"/>
            </a:solidFill>
          </a:ln>
        </p:spPr>
      </p:pic>
      <p:pic>
        <p:nvPicPr>
          <p:cNvPr id="100" name="Picture 99">
            <a:extLst>
              <a:ext uri="{FF2B5EF4-FFF2-40B4-BE49-F238E27FC236}">
                <a16:creationId xmlns:a16="http://schemas.microsoft.com/office/drawing/2014/main" id="{EF95EF96-A0CE-07F3-4186-3082B8DA27F0}"/>
              </a:ext>
            </a:extLst>
          </p:cNvPr>
          <p:cNvPicPr>
            <a:picLocks/>
          </p:cNvPicPr>
          <p:nvPr/>
        </p:nvPicPr>
        <p:blipFill>
          <a:blip r:embed="rId14"/>
          <a:stretch>
            <a:fillRect/>
          </a:stretch>
        </p:blipFill>
        <p:spPr>
          <a:xfrm>
            <a:off x="3886316" y="2964183"/>
            <a:ext cx="315296" cy="219916"/>
          </a:xfrm>
          <a:prstGeom prst="rect">
            <a:avLst/>
          </a:prstGeom>
          <a:ln>
            <a:solidFill>
              <a:srgbClr val="CCCCCC"/>
            </a:solidFill>
          </a:ln>
        </p:spPr>
      </p:pic>
      <p:pic>
        <p:nvPicPr>
          <p:cNvPr id="103" name="Picture 102">
            <a:extLst>
              <a:ext uri="{FF2B5EF4-FFF2-40B4-BE49-F238E27FC236}">
                <a16:creationId xmlns:a16="http://schemas.microsoft.com/office/drawing/2014/main" id="{57521A46-6A6D-D70A-3244-540F234F9810}"/>
              </a:ext>
            </a:extLst>
          </p:cNvPr>
          <p:cNvPicPr>
            <a:picLocks/>
          </p:cNvPicPr>
          <p:nvPr/>
        </p:nvPicPr>
        <p:blipFill>
          <a:blip r:embed="rId15"/>
          <a:stretch>
            <a:fillRect/>
          </a:stretch>
        </p:blipFill>
        <p:spPr>
          <a:xfrm>
            <a:off x="3886316" y="3605042"/>
            <a:ext cx="315296" cy="219916"/>
          </a:xfrm>
          <a:prstGeom prst="rect">
            <a:avLst/>
          </a:prstGeom>
          <a:ln>
            <a:solidFill>
              <a:srgbClr val="CCCCCC"/>
            </a:solidFill>
          </a:ln>
        </p:spPr>
      </p:pic>
      <p:pic>
        <p:nvPicPr>
          <p:cNvPr id="104" name="Picture 103">
            <a:extLst>
              <a:ext uri="{FF2B5EF4-FFF2-40B4-BE49-F238E27FC236}">
                <a16:creationId xmlns:a16="http://schemas.microsoft.com/office/drawing/2014/main" id="{4A71995C-8CEC-1D43-4C27-E768F0656657}"/>
              </a:ext>
            </a:extLst>
          </p:cNvPr>
          <p:cNvPicPr>
            <a:picLocks/>
          </p:cNvPicPr>
          <p:nvPr/>
        </p:nvPicPr>
        <p:blipFill>
          <a:blip r:embed="rId13"/>
          <a:stretch>
            <a:fillRect/>
          </a:stretch>
        </p:blipFill>
        <p:spPr>
          <a:xfrm>
            <a:off x="3886316" y="3998652"/>
            <a:ext cx="315296" cy="219916"/>
          </a:xfrm>
          <a:prstGeom prst="rect">
            <a:avLst/>
          </a:prstGeom>
          <a:ln w="6350">
            <a:solidFill>
              <a:srgbClr val="CCCCCC"/>
            </a:solidFill>
          </a:ln>
        </p:spPr>
      </p:pic>
      <p:pic>
        <p:nvPicPr>
          <p:cNvPr id="106" name="Picture 105">
            <a:extLst>
              <a:ext uri="{FF2B5EF4-FFF2-40B4-BE49-F238E27FC236}">
                <a16:creationId xmlns:a16="http://schemas.microsoft.com/office/drawing/2014/main" id="{96CBADF6-5ADB-3D8E-5BFD-33F503CA95D4}"/>
              </a:ext>
            </a:extLst>
          </p:cNvPr>
          <p:cNvPicPr>
            <a:picLocks noChangeAspect="1"/>
          </p:cNvPicPr>
          <p:nvPr/>
        </p:nvPicPr>
        <p:blipFill>
          <a:blip r:embed="rId16"/>
          <a:stretch>
            <a:fillRect/>
          </a:stretch>
        </p:blipFill>
        <p:spPr>
          <a:xfrm>
            <a:off x="3886316" y="4442136"/>
            <a:ext cx="281940" cy="187960"/>
          </a:xfrm>
          <a:prstGeom prst="rect">
            <a:avLst/>
          </a:prstGeom>
          <a:ln>
            <a:solidFill>
              <a:srgbClr val="CCCCCC"/>
            </a:solidFill>
          </a:ln>
        </p:spPr>
      </p:pic>
      <p:pic>
        <p:nvPicPr>
          <p:cNvPr id="107" name="Picture 106">
            <a:extLst>
              <a:ext uri="{FF2B5EF4-FFF2-40B4-BE49-F238E27FC236}">
                <a16:creationId xmlns:a16="http://schemas.microsoft.com/office/drawing/2014/main" id="{9E680515-42B1-7B15-ABD5-F066E1A99F17}"/>
              </a:ext>
            </a:extLst>
          </p:cNvPr>
          <p:cNvPicPr>
            <a:picLocks noChangeAspect="1"/>
          </p:cNvPicPr>
          <p:nvPr/>
        </p:nvPicPr>
        <p:blipFill>
          <a:blip r:embed="rId16"/>
          <a:stretch>
            <a:fillRect/>
          </a:stretch>
        </p:blipFill>
        <p:spPr>
          <a:xfrm>
            <a:off x="3886316" y="5332810"/>
            <a:ext cx="281940" cy="187960"/>
          </a:xfrm>
          <a:prstGeom prst="rect">
            <a:avLst/>
          </a:prstGeom>
          <a:ln>
            <a:solidFill>
              <a:srgbClr val="CCCCCC"/>
            </a:solidFill>
          </a:ln>
        </p:spPr>
      </p:pic>
      <p:pic>
        <p:nvPicPr>
          <p:cNvPr id="108" name="Picture 107">
            <a:extLst>
              <a:ext uri="{FF2B5EF4-FFF2-40B4-BE49-F238E27FC236}">
                <a16:creationId xmlns:a16="http://schemas.microsoft.com/office/drawing/2014/main" id="{65B9E163-7072-BA14-99C6-D51088B9F9E5}"/>
              </a:ext>
            </a:extLst>
          </p:cNvPr>
          <p:cNvPicPr>
            <a:picLocks/>
          </p:cNvPicPr>
          <p:nvPr/>
        </p:nvPicPr>
        <p:blipFill>
          <a:blip r:embed="rId13"/>
          <a:stretch>
            <a:fillRect/>
          </a:stretch>
        </p:blipFill>
        <p:spPr>
          <a:xfrm>
            <a:off x="3886316" y="4924673"/>
            <a:ext cx="315296" cy="219916"/>
          </a:xfrm>
          <a:prstGeom prst="rect">
            <a:avLst/>
          </a:prstGeom>
          <a:ln w="6350">
            <a:solidFill>
              <a:srgbClr val="CCCCCC"/>
            </a:solidFill>
          </a:ln>
        </p:spPr>
      </p:pic>
      <p:pic>
        <p:nvPicPr>
          <p:cNvPr id="109" name="Picture 108">
            <a:extLst>
              <a:ext uri="{FF2B5EF4-FFF2-40B4-BE49-F238E27FC236}">
                <a16:creationId xmlns:a16="http://schemas.microsoft.com/office/drawing/2014/main" id="{0C2A4D7F-07D1-F245-9573-0E9263D1CEFC}"/>
              </a:ext>
            </a:extLst>
          </p:cNvPr>
          <p:cNvPicPr>
            <a:picLocks/>
          </p:cNvPicPr>
          <p:nvPr/>
        </p:nvPicPr>
        <p:blipFill>
          <a:blip r:embed="rId15"/>
          <a:stretch>
            <a:fillRect/>
          </a:stretch>
        </p:blipFill>
        <p:spPr>
          <a:xfrm>
            <a:off x="3886316" y="5561595"/>
            <a:ext cx="315296" cy="219916"/>
          </a:xfrm>
          <a:prstGeom prst="rect">
            <a:avLst/>
          </a:prstGeom>
          <a:ln>
            <a:solidFill>
              <a:srgbClr val="CCCCCC"/>
            </a:solidFill>
          </a:ln>
        </p:spPr>
      </p:pic>
      <p:pic>
        <p:nvPicPr>
          <p:cNvPr id="110" name="Picture 109">
            <a:extLst>
              <a:ext uri="{FF2B5EF4-FFF2-40B4-BE49-F238E27FC236}">
                <a16:creationId xmlns:a16="http://schemas.microsoft.com/office/drawing/2014/main" id="{980732FB-02BE-B41E-418B-B297E55A96E3}"/>
              </a:ext>
            </a:extLst>
          </p:cNvPr>
          <p:cNvPicPr>
            <a:picLocks/>
          </p:cNvPicPr>
          <p:nvPr/>
        </p:nvPicPr>
        <p:blipFill>
          <a:blip r:embed="rId13"/>
          <a:stretch>
            <a:fillRect/>
          </a:stretch>
        </p:blipFill>
        <p:spPr>
          <a:xfrm>
            <a:off x="3886316" y="5873871"/>
            <a:ext cx="315296" cy="219916"/>
          </a:xfrm>
          <a:prstGeom prst="rect">
            <a:avLst/>
          </a:prstGeom>
          <a:ln w="6350">
            <a:solidFill>
              <a:srgbClr val="CCCCCC"/>
            </a:solidFill>
          </a:ln>
        </p:spPr>
      </p:pic>
      <p:sp>
        <p:nvSpPr>
          <p:cNvPr id="113" name="TextBox 112">
            <a:extLst>
              <a:ext uri="{FF2B5EF4-FFF2-40B4-BE49-F238E27FC236}">
                <a16:creationId xmlns:a16="http://schemas.microsoft.com/office/drawing/2014/main" id="{D58F63D4-CCF5-7186-B324-5F14DFCEDF6D}"/>
              </a:ext>
            </a:extLst>
          </p:cNvPr>
          <p:cNvSpPr txBox="1"/>
          <p:nvPr/>
        </p:nvSpPr>
        <p:spPr>
          <a:xfrm>
            <a:off x="9071146" y="2144800"/>
            <a:ext cx="2497448" cy="325473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200"/>
              <a:t>PASHA Bank can </a:t>
            </a:r>
            <a:r>
              <a:rPr lang="en-US" sz="1200" b="1"/>
              <a:t>directly manage only three factors: </a:t>
            </a:r>
            <a:r>
              <a:rPr lang="en-US" sz="1200"/>
              <a:t>employer incentives, employee incentives, and employee awareness</a:t>
            </a:r>
          </a:p>
          <a:p>
            <a:pPr lvl="2"/>
            <a:r>
              <a:rPr lang="en-US" sz="1200"/>
              <a:t>Employer retention should be protected through deepening existing relationships with corporates</a:t>
            </a:r>
          </a:p>
          <a:p>
            <a:pPr lvl="2"/>
            <a:r>
              <a:rPr lang="en-US" sz="1200"/>
              <a:t>Employee choice should be influenced with visible salary-linked benefits</a:t>
            </a:r>
          </a:p>
          <a:p>
            <a:pPr lvl="2"/>
            <a:r>
              <a:rPr lang="en-US" sz="1200"/>
              <a:t>At the same times, these benefits should be clearly marketed to promote staying and even switching from other banks</a:t>
            </a:r>
          </a:p>
        </p:txBody>
      </p:sp>
      <p:cxnSp>
        <p:nvCxnSpPr>
          <p:cNvPr id="114" name="Straight Connector 113">
            <a:extLst>
              <a:ext uri="{FF2B5EF4-FFF2-40B4-BE49-F238E27FC236}">
                <a16:creationId xmlns:a16="http://schemas.microsoft.com/office/drawing/2014/main" id="{1C3C350C-607D-046E-487F-99D3F13BCF17}"/>
              </a:ext>
            </a:extLst>
          </p:cNvPr>
          <p:cNvCxnSpPr>
            <a:cxnSpLocks/>
          </p:cNvCxnSpPr>
          <p:nvPr/>
        </p:nvCxnSpPr>
        <p:spPr>
          <a:xfrm flipV="1">
            <a:off x="8944723" y="6428172"/>
            <a:ext cx="2528090" cy="7353"/>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796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ED558C9-949C-63D2-6CF3-0859A90874B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5" name="think-cell data - do not delete" hidden="1">
                        <a:extLst>
                          <a:ext uri="{FF2B5EF4-FFF2-40B4-BE49-F238E27FC236}">
                            <a16:creationId xmlns:a16="http://schemas.microsoft.com/office/drawing/2014/main" id="{6ED558C9-949C-63D2-6CF3-0859A90874B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3" name="Rectangle: Rounded Corners 42">
            <a:extLst>
              <a:ext uri="{FF2B5EF4-FFF2-40B4-BE49-F238E27FC236}">
                <a16:creationId xmlns:a16="http://schemas.microsoft.com/office/drawing/2014/main" id="{2428DD7C-79CE-5AEA-156D-5B660FAA174F}"/>
              </a:ext>
            </a:extLst>
          </p:cNvPr>
          <p:cNvSpPr>
            <a:spLocks/>
          </p:cNvSpPr>
          <p:nvPr/>
        </p:nvSpPr>
        <p:spPr>
          <a:xfrm>
            <a:off x="4288534" y="1737360"/>
            <a:ext cx="4337306" cy="4536118"/>
          </a:xfrm>
          <a:prstGeom prst="roundRect">
            <a:avLst>
              <a:gd name="adj" fmla="val 5612"/>
            </a:avLst>
          </a:prstGeom>
          <a:solidFill>
            <a:schemeClr val="bg2"/>
          </a:solidFill>
          <a:ln w="6350" cap="sq">
            <a:solidFill>
              <a:schemeClr val="tx1">
                <a:lumMod val="25000"/>
                <a:lumOff val="75000"/>
              </a:schemeClr>
            </a:solidFill>
            <a:miter lim="800000"/>
          </a:ln>
          <a:effectLst>
            <a:outerShdw blurRad="88900" algn="ctr"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rgbClr val="FFFFFF"/>
              </a:solidFill>
              <a:latin typeface="Arial"/>
            </a:endParaRPr>
          </a:p>
        </p:txBody>
      </p:sp>
      <p:sp>
        <p:nvSpPr>
          <p:cNvPr id="42" name="Rectangle: Rounded Corners 41">
            <a:extLst>
              <a:ext uri="{FF2B5EF4-FFF2-40B4-BE49-F238E27FC236}">
                <a16:creationId xmlns:a16="http://schemas.microsoft.com/office/drawing/2014/main" id="{6F6621A6-3F88-5134-1ED3-D61B521E20E2}"/>
              </a:ext>
            </a:extLst>
          </p:cNvPr>
          <p:cNvSpPr>
            <a:spLocks/>
          </p:cNvSpPr>
          <p:nvPr/>
        </p:nvSpPr>
        <p:spPr>
          <a:xfrm>
            <a:off x="478534" y="1737360"/>
            <a:ext cx="3636266" cy="4536118"/>
          </a:xfrm>
          <a:prstGeom prst="roundRect">
            <a:avLst>
              <a:gd name="adj" fmla="val 5612"/>
            </a:avLst>
          </a:prstGeom>
          <a:solidFill>
            <a:schemeClr val="bg2"/>
          </a:solidFill>
          <a:ln w="6350" cap="sq">
            <a:solidFill>
              <a:schemeClr val="tx1">
                <a:lumMod val="25000"/>
                <a:lumOff val="75000"/>
              </a:schemeClr>
            </a:solidFill>
            <a:miter lim="800000"/>
          </a:ln>
          <a:effectLst>
            <a:outerShdw blurRad="88900" algn="ctr" rotWithShape="0">
              <a:schemeClr val="bg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rgbClr val="FFFFFF"/>
              </a:solidFill>
              <a:latin typeface="Arial"/>
            </a:endParaRPr>
          </a:p>
        </p:txBody>
      </p:sp>
      <p:sp>
        <p:nvSpPr>
          <p:cNvPr id="2" name="2. Slide Title">
            <a:extLst>
              <a:ext uri="{FF2B5EF4-FFF2-40B4-BE49-F238E27FC236}">
                <a16:creationId xmlns:a16="http://schemas.microsoft.com/office/drawing/2014/main" id="{67D28BB9-841D-5355-BE31-2EE30031E872}"/>
              </a:ext>
            </a:extLst>
          </p:cNvPr>
          <p:cNvSpPr>
            <a:spLocks noGrp="1"/>
          </p:cNvSpPr>
          <p:nvPr>
            <p:ph type="title"/>
            <p:custDataLst>
              <p:tags r:id="rId2"/>
            </p:custDataLst>
          </p:nvPr>
        </p:nvSpPr>
        <p:spPr/>
        <p:txBody>
          <a:bodyPr vert="horz"/>
          <a:lstStyle/>
          <a:p>
            <a:r>
              <a:rPr lang="en-US"/>
              <a:t>PASHA can maximize payroll retention by focusing on dual-side value proposition</a:t>
            </a:r>
          </a:p>
        </p:txBody>
      </p:sp>
      <p:sp>
        <p:nvSpPr>
          <p:cNvPr id="23" name="Subtitle 22">
            <a:extLst>
              <a:ext uri="{FF2B5EF4-FFF2-40B4-BE49-F238E27FC236}">
                <a16:creationId xmlns:a16="http://schemas.microsoft.com/office/drawing/2014/main" id="{774CB099-C88F-711C-7D8C-21ABECEC5A2C}"/>
              </a:ext>
            </a:extLst>
          </p:cNvPr>
          <p:cNvSpPr>
            <a:spLocks noGrp="1"/>
          </p:cNvSpPr>
          <p:nvPr>
            <p:ph type="subTitle" idx="1"/>
          </p:nvPr>
        </p:nvSpPr>
        <p:spPr/>
        <p:txBody>
          <a:bodyPr/>
          <a:lstStyle/>
          <a:p>
            <a:endParaRPr lang="en-US"/>
          </a:p>
        </p:txBody>
      </p:sp>
      <p:sp>
        <p:nvSpPr>
          <p:cNvPr id="24" name="Text Placeholder 23">
            <a:extLst>
              <a:ext uri="{FF2B5EF4-FFF2-40B4-BE49-F238E27FC236}">
                <a16:creationId xmlns:a16="http://schemas.microsoft.com/office/drawing/2014/main" id="{B369CEA2-4C8E-238B-AE8C-8E44FA6B808B}"/>
              </a:ext>
            </a:extLst>
          </p:cNvPr>
          <p:cNvSpPr>
            <a:spLocks noGrp="1"/>
          </p:cNvSpPr>
          <p:nvPr>
            <p:ph type="body" sz="quarter" idx="10"/>
          </p:nvPr>
        </p:nvSpPr>
        <p:spPr/>
        <p:txBody>
          <a:bodyPr/>
          <a:lstStyle/>
          <a:p>
            <a:endParaRPr lang="en-US"/>
          </a:p>
        </p:txBody>
      </p:sp>
      <p:sp>
        <p:nvSpPr>
          <p:cNvPr id="15" name="Rectangle: Rounded Corners 14">
            <a:extLst>
              <a:ext uri="{FF2B5EF4-FFF2-40B4-BE49-F238E27FC236}">
                <a16:creationId xmlns:a16="http://schemas.microsoft.com/office/drawing/2014/main" id="{3AAF57D0-36BC-A0F2-2AE8-112F74B907E6}"/>
              </a:ext>
            </a:extLst>
          </p:cNvPr>
          <p:cNvSpPr/>
          <p:nvPr/>
        </p:nvSpPr>
        <p:spPr>
          <a:xfrm>
            <a:off x="-167642" y="1691640"/>
            <a:ext cx="8793481" cy="611722"/>
          </a:xfrm>
          <a:prstGeom prst="roundRect">
            <a:avLst>
              <a:gd name="adj" fmla="val 6141"/>
            </a:avLst>
          </a:prstGeom>
          <a:solidFill>
            <a:schemeClr val="accent1">
              <a:lumMod val="10000"/>
              <a:lumOff val="90000"/>
            </a:schemeClr>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6" name="TextBox 15">
            <a:extLst>
              <a:ext uri="{FF2B5EF4-FFF2-40B4-BE49-F238E27FC236}">
                <a16:creationId xmlns:a16="http://schemas.microsoft.com/office/drawing/2014/main" id="{2E5FA18F-591B-B41C-6731-2F681A3BED0D}"/>
              </a:ext>
            </a:extLst>
          </p:cNvPr>
          <p:cNvSpPr txBox="1"/>
          <p:nvPr/>
        </p:nvSpPr>
        <p:spPr>
          <a:xfrm>
            <a:off x="554735" y="1393560"/>
            <a:ext cx="4064000" cy="2308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500" b="1"/>
              <a:t>Locking corporate customers</a:t>
            </a:r>
          </a:p>
        </p:txBody>
      </p:sp>
      <p:sp>
        <p:nvSpPr>
          <p:cNvPr id="17" name="TextBox 16">
            <a:extLst>
              <a:ext uri="{FF2B5EF4-FFF2-40B4-BE49-F238E27FC236}">
                <a16:creationId xmlns:a16="http://schemas.microsoft.com/office/drawing/2014/main" id="{3433B39C-015F-ABA5-9A22-F3CE26E21A77}"/>
              </a:ext>
            </a:extLst>
          </p:cNvPr>
          <p:cNvSpPr txBox="1"/>
          <p:nvPr/>
        </p:nvSpPr>
        <p:spPr>
          <a:xfrm>
            <a:off x="4532312" y="1393561"/>
            <a:ext cx="3608536" cy="2308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500" b="1"/>
              <a:t>Fostering product attachment</a:t>
            </a:r>
          </a:p>
        </p:txBody>
      </p:sp>
      <p:sp>
        <p:nvSpPr>
          <p:cNvPr id="18" name="TextBox 17">
            <a:extLst>
              <a:ext uri="{FF2B5EF4-FFF2-40B4-BE49-F238E27FC236}">
                <a16:creationId xmlns:a16="http://schemas.microsoft.com/office/drawing/2014/main" id="{F212EB62-7A94-4425-792B-F5FE91D5637F}"/>
              </a:ext>
            </a:extLst>
          </p:cNvPr>
          <p:cNvSpPr txBox="1"/>
          <p:nvPr/>
        </p:nvSpPr>
        <p:spPr>
          <a:xfrm>
            <a:off x="554734" y="1741507"/>
            <a:ext cx="3426957" cy="4616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500"/>
              <a:t>Creating incentives from corporate side to retain payroll projects</a:t>
            </a:r>
          </a:p>
        </p:txBody>
      </p:sp>
      <p:sp>
        <p:nvSpPr>
          <p:cNvPr id="19" name="TextBox 18">
            <a:extLst>
              <a:ext uri="{FF2B5EF4-FFF2-40B4-BE49-F238E27FC236}">
                <a16:creationId xmlns:a16="http://schemas.microsoft.com/office/drawing/2014/main" id="{D535B801-1A20-549B-7E91-27D74F6AAA02}"/>
              </a:ext>
            </a:extLst>
          </p:cNvPr>
          <p:cNvSpPr txBox="1"/>
          <p:nvPr/>
        </p:nvSpPr>
        <p:spPr>
          <a:xfrm>
            <a:off x="4532312" y="1731090"/>
            <a:ext cx="3636714" cy="4616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500"/>
              <a:t>Influencing individuals to use PASHA salary cards, and cross-sell to the salaried</a:t>
            </a:r>
          </a:p>
        </p:txBody>
      </p:sp>
      <p:sp>
        <p:nvSpPr>
          <p:cNvPr id="20" name="TrackerNumBlue 13">
            <a:extLst>
              <a:ext uri="{FF2B5EF4-FFF2-40B4-BE49-F238E27FC236}">
                <a16:creationId xmlns:a16="http://schemas.microsoft.com/office/drawing/2014/main" id="{F037ED29-7A0D-7BB2-8545-C2F00FF24588}"/>
              </a:ext>
            </a:extLst>
          </p:cNvPr>
          <p:cNvSpPr/>
          <p:nvPr>
            <p:custDataLst>
              <p:tags r:id="rId3"/>
            </p:custDataLst>
          </p:nvPr>
        </p:nvSpPr>
        <p:spPr>
          <a:xfrm>
            <a:off x="188099" y="1377518"/>
            <a:ext cx="279340" cy="279340"/>
          </a:xfrm>
          <a:prstGeom prst="ellipse">
            <a:avLst/>
          </a:prstGeom>
          <a:solidFill>
            <a:schemeClr val="accent2"/>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600">
                <a:solidFill>
                  <a:schemeClr val="bg1"/>
                </a:solidFill>
              </a:rPr>
              <a:t>A</a:t>
            </a:r>
          </a:p>
        </p:txBody>
      </p:sp>
      <p:sp>
        <p:nvSpPr>
          <p:cNvPr id="21" name="TrackerNumBlue 13">
            <a:extLst>
              <a:ext uri="{FF2B5EF4-FFF2-40B4-BE49-F238E27FC236}">
                <a16:creationId xmlns:a16="http://schemas.microsoft.com/office/drawing/2014/main" id="{8BEB2E2E-0702-677E-8E07-E081D8D729BE}"/>
              </a:ext>
            </a:extLst>
          </p:cNvPr>
          <p:cNvSpPr/>
          <p:nvPr>
            <p:custDataLst>
              <p:tags r:id="rId4"/>
            </p:custDataLst>
          </p:nvPr>
        </p:nvSpPr>
        <p:spPr>
          <a:xfrm>
            <a:off x="4209723" y="1377518"/>
            <a:ext cx="279340" cy="279340"/>
          </a:xfrm>
          <a:prstGeom prst="ellipse">
            <a:avLst/>
          </a:prstGeom>
          <a:solidFill>
            <a:schemeClr val="accent2"/>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500">
                <a:solidFill>
                  <a:schemeClr val="bg1"/>
                </a:solidFill>
              </a:rPr>
              <a:t>B</a:t>
            </a:r>
          </a:p>
        </p:txBody>
      </p:sp>
      <p:sp>
        <p:nvSpPr>
          <p:cNvPr id="30" name="TextBox 29">
            <a:extLst>
              <a:ext uri="{FF2B5EF4-FFF2-40B4-BE49-F238E27FC236}">
                <a16:creationId xmlns:a16="http://schemas.microsoft.com/office/drawing/2014/main" id="{95F59774-8FD5-D9BF-80CB-022AD426CD32}"/>
              </a:ext>
            </a:extLst>
          </p:cNvPr>
          <p:cNvSpPr txBox="1"/>
          <p:nvPr/>
        </p:nvSpPr>
        <p:spPr>
          <a:xfrm>
            <a:off x="612608" y="2744164"/>
            <a:ext cx="3369084" cy="33085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sz="1500"/>
              <a:t>Exclusive partnership with upfront </a:t>
            </a:r>
            <a:r>
              <a:rPr lang="en-US" sz="1500" b="1"/>
              <a:t>financial incentives </a:t>
            </a:r>
            <a:r>
              <a:rPr lang="en-US" sz="1500"/>
              <a:t>for the payroll contract</a:t>
            </a:r>
          </a:p>
          <a:p>
            <a:pPr marL="285750" indent="-285750">
              <a:buFont typeface="Arial" panose="020B0604020202020204" pitchFamily="34" charset="0"/>
              <a:buChar char="•"/>
            </a:pPr>
            <a:r>
              <a:rPr lang="en-US" sz="1500" b="1"/>
              <a:t>Operational efficiency </a:t>
            </a:r>
            <a:r>
              <a:rPr lang="en-US" sz="1500"/>
              <a:t>(integrated payroll processing)</a:t>
            </a:r>
          </a:p>
          <a:p>
            <a:pPr marL="285750" indent="-285750">
              <a:buFont typeface="Arial" panose="020B0604020202020204" pitchFamily="34" charset="0"/>
              <a:buChar char="•"/>
            </a:pPr>
            <a:r>
              <a:rPr lang="en-US" sz="1500"/>
              <a:t>Simplified </a:t>
            </a:r>
            <a:r>
              <a:rPr lang="en-US" sz="1500" b="1"/>
              <a:t>vendor management </a:t>
            </a:r>
            <a:r>
              <a:rPr lang="en-US" sz="1500"/>
              <a:t>(one bank for corporate + employee banking)</a:t>
            </a:r>
          </a:p>
          <a:p>
            <a:pPr marL="285750" indent="-285750">
              <a:buFont typeface="Arial" panose="020B0604020202020204" pitchFamily="34" charset="0"/>
              <a:buChar char="•"/>
            </a:pPr>
            <a:r>
              <a:rPr lang="en-US" sz="1500"/>
              <a:t>Corporate </a:t>
            </a:r>
            <a:r>
              <a:rPr lang="en-US" sz="1500" b="1"/>
              <a:t>lending offers </a:t>
            </a:r>
            <a:r>
              <a:rPr lang="en-US" sz="1500"/>
              <a:t>for payroll</a:t>
            </a:r>
          </a:p>
          <a:p>
            <a:pPr marL="285750" indent="-285750">
              <a:buFont typeface="Arial" panose="020B0604020202020204" pitchFamily="34" charset="0"/>
              <a:buChar char="•"/>
            </a:pPr>
            <a:r>
              <a:rPr lang="en-US" sz="1500"/>
              <a:t>Preferential </a:t>
            </a:r>
            <a:r>
              <a:rPr lang="en-US" sz="1500" b="1"/>
              <a:t>treasury pricing </a:t>
            </a:r>
            <a:r>
              <a:rPr lang="en-US" sz="1500"/>
              <a:t>(5-15 bps improvement on cash management/credit)</a:t>
            </a:r>
          </a:p>
        </p:txBody>
      </p:sp>
      <p:sp>
        <p:nvSpPr>
          <p:cNvPr id="32" name="TextBox 31">
            <a:extLst>
              <a:ext uri="{FF2B5EF4-FFF2-40B4-BE49-F238E27FC236}">
                <a16:creationId xmlns:a16="http://schemas.microsoft.com/office/drawing/2014/main" id="{F5396FBC-17C1-D3C8-7FA3-4A2C7BFA9E9D}"/>
              </a:ext>
            </a:extLst>
          </p:cNvPr>
          <p:cNvSpPr txBox="1"/>
          <p:nvPr/>
        </p:nvSpPr>
        <p:spPr>
          <a:xfrm>
            <a:off x="4532312" y="4915768"/>
            <a:ext cx="3126014" cy="2308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500" b="1"/>
              <a:t>Lending features</a:t>
            </a:r>
          </a:p>
        </p:txBody>
      </p:sp>
      <p:sp>
        <p:nvSpPr>
          <p:cNvPr id="33" name="TextBox 32">
            <a:extLst>
              <a:ext uri="{FF2B5EF4-FFF2-40B4-BE49-F238E27FC236}">
                <a16:creationId xmlns:a16="http://schemas.microsoft.com/office/drawing/2014/main" id="{434E19A4-9252-B6B1-864F-5B067FF6971C}"/>
              </a:ext>
            </a:extLst>
          </p:cNvPr>
          <p:cNvSpPr txBox="1"/>
          <p:nvPr/>
        </p:nvSpPr>
        <p:spPr>
          <a:xfrm>
            <a:off x="4471352" y="5217868"/>
            <a:ext cx="3971608" cy="96949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a:t>Pre-approved </a:t>
            </a:r>
            <a:r>
              <a:rPr lang="en-US" b="1"/>
              <a:t>BNPL</a:t>
            </a:r>
            <a:r>
              <a:rPr lang="en-US"/>
              <a:t> (Buy Now, Pay Later) limits and other credit lines</a:t>
            </a:r>
          </a:p>
          <a:p>
            <a:pPr marL="285750" indent="-285750">
              <a:buFont typeface="Arial" panose="020B0604020202020204" pitchFamily="34" charset="0"/>
              <a:buChar char="•"/>
            </a:pPr>
            <a:r>
              <a:rPr lang="en-US" sz="1500" b="1"/>
              <a:t>Preferential rates </a:t>
            </a:r>
            <a:r>
              <a:rPr lang="en-US" sz="1500"/>
              <a:t>or higher approval chance for salaried customers</a:t>
            </a:r>
          </a:p>
        </p:txBody>
      </p:sp>
      <p:sp>
        <p:nvSpPr>
          <p:cNvPr id="35" name="TextBox 34">
            <a:extLst>
              <a:ext uri="{FF2B5EF4-FFF2-40B4-BE49-F238E27FC236}">
                <a16:creationId xmlns:a16="http://schemas.microsoft.com/office/drawing/2014/main" id="{2DB4607E-B9EA-8818-24AB-129C5CCB9899}"/>
              </a:ext>
            </a:extLst>
          </p:cNvPr>
          <p:cNvSpPr txBox="1"/>
          <p:nvPr/>
        </p:nvSpPr>
        <p:spPr>
          <a:xfrm>
            <a:off x="4471352" y="2405412"/>
            <a:ext cx="3126014" cy="2308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500" b="1"/>
              <a:t>Non-lending features</a:t>
            </a:r>
          </a:p>
        </p:txBody>
      </p:sp>
      <p:sp>
        <p:nvSpPr>
          <p:cNvPr id="36" name="TextBox 35">
            <a:extLst>
              <a:ext uri="{FF2B5EF4-FFF2-40B4-BE49-F238E27FC236}">
                <a16:creationId xmlns:a16="http://schemas.microsoft.com/office/drawing/2014/main" id="{8323482A-870F-B21C-9BC4-909E426B8B52}"/>
              </a:ext>
            </a:extLst>
          </p:cNvPr>
          <p:cNvSpPr txBox="1"/>
          <p:nvPr/>
        </p:nvSpPr>
        <p:spPr>
          <a:xfrm>
            <a:off x="612608" y="2405412"/>
            <a:ext cx="3126014" cy="2308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500" b="1"/>
              <a:t>Corporate benefit features</a:t>
            </a:r>
          </a:p>
        </p:txBody>
      </p:sp>
      <p:sp>
        <p:nvSpPr>
          <p:cNvPr id="37" name="TextBox 36">
            <a:extLst>
              <a:ext uri="{FF2B5EF4-FFF2-40B4-BE49-F238E27FC236}">
                <a16:creationId xmlns:a16="http://schemas.microsoft.com/office/drawing/2014/main" id="{9D56FE64-4B23-06BA-2CD6-C394D24E39A8}"/>
              </a:ext>
            </a:extLst>
          </p:cNvPr>
          <p:cNvSpPr txBox="1"/>
          <p:nvPr/>
        </p:nvSpPr>
        <p:spPr>
          <a:xfrm>
            <a:off x="4471352" y="2674714"/>
            <a:ext cx="4078288" cy="195438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a:t>Pre-configured core </a:t>
            </a:r>
            <a:r>
              <a:rPr lang="en-US" b="1"/>
              <a:t>utility bills </a:t>
            </a:r>
            <a:r>
              <a:rPr lang="en-US"/>
              <a:t>(water, electricity, mobile) automatically paid out</a:t>
            </a:r>
          </a:p>
          <a:p>
            <a:pPr marL="285750" indent="-285750">
              <a:buFont typeface="Arial" panose="020B0604020202020204" pitchFamily="34" charset="0"/>
              <a:buChar char="•"/>
            </a:pPr>
            <a:r>
              <a:rPr lang="en-US" b="1"/>
              <a:t>Automatic sweep </a:t>
            </a:r>
            <a:r>
              <a:rPr lang="en-US"/>
              <a:t>of the incoming salary into labeled "pots“, creating psychological ownership</a:t>
            </a:r>
            <a:endParaRPr lang="en-US" sz="1200"/>
          </a:p>
          <a:p>
            <a:pPr marL="285750" indent="-285750">
              <a:buFont typeface="Arial" panose="020B0604020202020204" pitchFamily="34" charset="0"/>
              <a:buChar char="•"/>
            </a:pPr>
            <a:r>
              <a:rPr lang="en-US" b="1"/>
              <a:t>Early salary access </a:t>
            </a:r>
            <a:r>
              <a:rPr lang="en-US"/>
              <a:t>as customer anchor – getting salaries 1-2 days </a:t>
            </a:r>
            <a:r>
              <a:rPr lang="az-Latn-AZ"/>
              <a:t>before the official payda</a:t>
            </a:r>
            <a:r>
              <a:rPr lang="en-US"/>
              <a:t>y</a:t>
            </a:r>
          </a:p>
          <a:p>
            <a:pPr marL="285750" indent="-285750">
              <a:buFont typeface="Arial" panose="020B0604020202020204" pitchFamily="34" charset="0"/>
              <a:buChar char="•"/>
            </a:pPr>
            <a:r>
              <a:rPr lang="en-US" b="1"/>
              <a:t>Salary-card specific perks</a:t>
            </a:r>
          </a:p>
        </p:txBody>
      </p:sp>
      <p:sp>
        <p:nvSpPr>
          <p:cNvPr id="38" name="TextBox 37">
            <a:extLst>
              <a:ext uri="{FF2B5EF4-FFF2-40B4-BE49-F238E27FC236}">
                <a16:creationId xmlns:a16="http://schemas.microsoft.com/office/drawing/2014/main" id="{10A74CB3-6DAF-B336-870C-DDB7EAAC8176}"/>
              </a:ext>
            </a:extLst>
          </p:cNvPr>
          <p:cNvSpPr txBox="1">
            <a:spLocks/>
          </p:cNvSpPr>
          <p:nvPr/>
        </p:nvSpPr>
        <p:spPr>
          <a:xfrm>
            <a:off x="8884477" y="2066755"/>
            <a:ext cx="2712573" cy="273921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a:t>Non-lending features can </a:t>
            </a:r>
            <a:r>
              <a:rPr lang="en-US" b="1"/>
              <a:t>create functional customer entanglement at minimal cost </a:t>
            </a:r>
            <a:r>
              <a:rPr lang="en-US"/>
              <a:t>to the bank</a:t>
            </a:r>
          </a:p>
          <a:p>
            <a:pPr marL="285750" indent="-285750">
              <a:buFont typeface="Arial" panose="020B0604020202020204" pitchFamily="34" charset="0"/>
              <a:buChar char="•"/>
            </a:pPr>
            <a:r>
              <a:rPr lang="en-US"/>
              <a:t>Retail-side monetization will be achieved by </a:t>
            </a:r>
            <a:r>
              <a:rPr lang="en-US" b="1"/>
              <a:t>cross-selling lending and credit products </a:t>
            </a:r>
            <a:r>
              <a:rPr lang="en-US"/>
              <a:t>to the retained salary base</a:t>
            </a:r>
          </a:p>
          <a:p>
            <a:pPr marL="285750" indent="-285750">
              <a:buFont typeface="Arial" panose="020B0604020202020204" pitchFamily="34" charset="0"/>
              <a:buChar char="•"/>
            </a:pPr>
            <a:r>
              <a:rPr lang="en-US"/>
              <a:t>The enhanced retail offering will be </a:t>
            </a:r>
            <a:r>
              <a:rPr lang="en-US" b="1"/>
              <a:t>cross-subsidized by margins </a:t>
            </a:r>
            <a:r>
              <a:rPr lang="en-US"/>
              <a:t>generated from the </a:t>
            </a:r>
            <a:r>
              <a:rPr lang="en-US" b="1"/>
              <a:t>CIB relationship</a:t>
            </a:r>
          </a:p>
        </p:txBody>
      </p:sp>
      <p:sp>
        <p:nvSpPr>
          <p:cNvPr id="4" name="TextBox 3">
            <a:extLst>
              <a:ext uri="{FF2B5EF4-FFF2-40B4-BE49-F238E27FC236}">
                <a16:creationId xmlns:a16="http://schemas.microsoft.com/office/drawing/2014/main" id="{D19032E0-305D-EA15-909B-26E4531C21BF}"/>
              </a:ext>
            </a:extLst>
          </p:cNvPr>
          <p:cNvSpPr txBox="1">
            <a:spLocks/>
          </p:cNvSpPr>
          <p:nvPr/>
        </p:nvSpPr>
        <p:spPr>
          <a:xfrm>
            <a:off x="8942688" y="1729226"/>
            <a:ext cx="2712573" cy="273992"/>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Key insights</a:t>
            </a:r>
          </a:p>
        </p:txBody>
      </p:sp>
      <p:cxnSp>
        <p:nvCxnSpPr>
          <p:cNvPr id="6" name="Straight Connector 5">
            <a:extLst>
              <a:ext uri="{FF2B5EF4-FFF2-40B4-BE49-F238E27FC236}">
                <a16:creationId xmlns:a16="http://schemas.microsoft.com/office/drawing/2014/main" id="{7ED658C2-9D34-E262-CCB0-ACFB64E3B784}"/>
              </a:ext>
            </a:extLst>
          </p:cNvPr>
          <p:cNvCxnSpPr>
            <a:cxnSpLocks/>
          </p:cNvCxnSpPr>
          <p:nvPr/>
        </p:nvCxnSpPr>
        <p:spPr>
          <a:xfrm>
            <a:off x="549305" y="1665116"/>
            <a:ext cx="8027536"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894A6A6-64E0-D86C-406F-0F378CA40BBB}"/>
              </a:ext>
            </a:extLst>
          </p:cNvPr>
          <p:cNvCxnSpPr>
            <a:cxnSpLocks/>
          </p:cNvCxnSpPr>
          <p:nvPr/>
        </p:nvCxnSpPr>
        <p:spPr>
          <a:xfrm>
            <a:off x="8944723" y="1665116"/>
            <a:ext cx="2729117"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0" name="ChevronBlue 72">
            <a:extLst>
              <a:ext uri="{FF2B5EF4-FFF2-40B4-BE49-F238E27FC236}">
                <a16:creationId xmlns:a16="http://schemas.microsoft.com/office/drawing/2014/main" id="{41DEE77E-AF73-1638-6111-8E6ABE3AF2D6}"/>
              </a:ext>
            </a:extLst>
          </p:cNvPr>
          <p:cNvGrpSpPr>
            <a:grpSpLocks noChangeAspect="1"/>
          </p:cNvGrpSpPr>
          <p:nvPr>
            <p:custDataLst>
              <p:tags r:id="rId5"/>
            </p:custDataLst>
          </p:nvPr>
        </p:nvGrpSpPr>
        <p:grpSpPr>
          <a:xfrm>
            <a:off x="8547578" y="1455167"/>
            <a:ext cx="396228" cy="396228"/>
            <a:chOff x="1016000" y="1016000"/>
            <a:chExt cx="396228" cy="396228"/>
          </a:xfrm>
        </p:grpSpPr>
        <p:sp>
          <p:nvSpPr>
            <p:cNvPr id="11" name="Oval 10">
              <a:extLst>
                <a:ext uri="{FF2B5EF4-FFF2-40B4-BE49-F238E27FC236}">
                  <a16:creationId xmlns:a16="http://schemas.microsoft.com/office/drawing/2014/main" id="{89E2C9D9-3143-360C-5C02-9929E47D05BA}"/>
                </a:ext>
              </a:extLst>
            </p:cNvPr>
            <p:cNvSpPr/>
            <p:nvPr/>
          </p:nvSpPr>
          <p:spPr>
            <a:xfrm>
              <a:off x="1016000" y="1016000"/>
              <a:ext cx="396228" cy="39622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2" name="Graphic 11">
              <a:extLst>
                <a:ext uri="{FF2B5EF4-FFF2-40B4-BE49-F238E27FC236}">
                  <a16:creationId xmlns:a16="http://schemas.microsoft.com/office/drawing/2014/main" id="{FB403513-0A85-7441-8283-25F60B7AC0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614" y="1023614"/>
              <a:ext cx="381000" cy="381000"/>
            </a:xfrm>
            <a:prstGeom prst="rect">
              <a:avLst/>
            </a:prstGeom>
          </p:spPr>
        </p:pic>
      </p:grpSp>
    </p:spTree>
    <p:extLst>
      <p:ext uri="{BB962C8B-B14F-4D97-AF65-F5344CB8AC3E}">
        <p14:creationId xmlns:p14="http://schemas.microsoft.com/office/powerpoint/2010/main" val="1021386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89C0-CF86-4F92-844F-616DB15081F7}"/>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5D6678F3-A14B-65B0-F5ED-B40D11B84CA7}"/>
              </a:ext>
            </a:extLst>
          </p:cNvPr>
          <p:cNvGraphicFramePr>
            <a:graphicFrameLocks noChangeAspect="1"/>
          </p:cNvGraphicFramePr>
          <p:nvPr>
            <p:custDataLst>
              <p:tags r:id="rId1"/>
            </p:custDataLst>
            <p:extLst>
              <p:ext uri="{D42A27DB-BD31-4B8C-83A1-F6EECF244321}">
                <p14:modId xmlns:p14="http://schemas.microsoft.com/office/powerpoint/2010/main" val="26738206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606" imgH="608" progId="TCLayout.ActiveDocument.1">
                  <p:embed/>
                </p:oleObj>
              </mc:Choice>
              <mc:Fallback>
                <p:oleObj name="think-cell Slide" r:id="rId31" imgW="606" imgH="608" progId="TCLayout.ActiveDocument.1">
                  <p:embed/>
                  <p:pic>
                    <p:nvPicPr>
                      <p:cNvPr id="5" name="Object 2" hidden="1">
                        <a:extLst>
                          <a:ext uri="{FF2B5EF4-FFF2-40B4-BE49-F238E27FC236}">
                            <a16:creationId xmlns:a16="http://schemas.microsoft.com/office/drawing/2014/main" id="{5D6678F3-A14B-65B0-F5ED-B40D11B84CA7}"/>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D74CFE4B-8ADA-F6B8-09FB-CDAD1FF8CC82}"/>
              </a:ext>
            </a:extLst>
          </p:cNvPr>
          <p:cNvSpPr>
            <a:spLocks noGrp="1"/>
          </p:cNvSpPr>
          <p:nvPr>
            <p:ph type="title"/>
            <p:custDataLst>
              <p:tags r:id="rId2"/>
            </p:custDataLst>
          </p:nvPr>
        </p:nvSpPr>
        <p:spPr/>
        <p:txBody>
          <a:bodyPr vert="horz"/>
          <a:lstStyle/>
          <a:p>
            <a:r>
              <a:rPr lang="en-US"/>
              <a:t>PASHA Bank’s salary business is highly dependent on a concentrated pool of corporate clients</a:t>
            </a:r>
          </a:p>
        </p:txBody>
      </p:sp>
      <p:sp>
        <p:nvSpPr>
          <p:cNvPr id="134" name="3. Subtitle">
            <a:extLst>
              <a:ext uri="{FF2B5EF4-FFF2-40B4-BE49-F238E27FC236}">
                <a16:creationId xmlns:a16="http://schemas.microsoft.com/office/drawing/2014/main" id="{50DF65C2-34B5-D6C9-741E-714391812FF1}"/>
              </a:ext>
            </a:extLst>
          </p:cNvPr>
          <p:cNvSpPr>
            <a:spLocks noGrp="1"/>
          </p:cNvSpPr>
          <p:nvPr>
            <p:ph type="subTitle" idx="1"/>
            <p:custDataLst>
              <p:tags r:id="rId3"/>
            </p:custDataLst>
          </p:nvPr>
        </p:nvSpPr>
        <p:spPr/>
        <p:txBody>
          <a:bodyPr/>
          <a:lstStyle/>
          <a:p>
            <a:endParaRPr lang="en-US"/>
          </a:p>
        </p:txBody>
      </p:sp>
      <p:sp>
        <p:nvSpPr>
          <p:cNvPr id="135" name="1. On-page tracker">
            <a:extLst>
              <a:ext uri="{FF2B5EF4-FFF2-40B4-BE49-F238E27FC236}">
                <a16:creationId xmlns:a16="http://schemas.microsoft.com/office/drawing/2014/main" id="{B3A019C8-5E11-E6C8-8756-09166A5A9749}"/>
              </a:ext>
            </a:extLst>
          </p:cNvPr>
          <p:cNvSpPr>
            <a:spLocks noGrp="1"/>
          </p:cNvSpPr>
          <p:nvPr>
            <p:ph type="body" sz="quarter" idx="10"/>
            <p:custDataLst>
              <p:tags r:id="rId4"/>
            </p:custDataLst>
          </p:nvPr>
        </p:nvSpPr>
        <p:spPr/>
        <p:txBody>
          <a:bodyPr/>
          <a:lstStyle/>
          <a:p>
            <a:endParaRPr lang="en-US"/>
          </a:p>
        </p:txBody>
      </p:sp>
      <p:sp>
        <p:nvSpPr>
          <p:cNvPr id="129" name="4. Footnote">
            <a:extLst>
              <a:ext uri="{FF2B5EF4-FFF2-40B4-BE49-F238E27FC236}">
                <a16:creationId xmlns:a16="http://schemas.microsoft.com/office/drawing/2014/main" id="{BC240BBB-E2CC-0B2A-DADA-A1E40FA9D6A8}"/>
              </a:ext>
            </a:extLst>
          </p:cNvPr>
          <p:cNvSpPr txBox="1">
            <a:spLocks/>
          </p:cNvSpPr>
          <p:nvPr>
            <p:custDataLst>
              <p:tags r:id="rId5"/>
            </p:custDataLst>
          </p:nvPr>
        </p:nvSpPr>
        <p:spPr>
          <a:xfrm>
            <a:off x="554736" y="6567056"/>
            <a:ext cx="2987117"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1.	Monthly salary, for May 2026</a:t>
            </a:r>
          </a:p>
        </p:txBody>
      </p:sp>
      <p:sp>
        <p:nvSpPr>
          <p:cNvPr id="9" name="TextBox 8">
            <a:extLst>
              <a:ext uri="{FF2B5EF4-FFF2-40B4-BE49-F238E27FC236}">
                <a16:creationId xmlns:a16="http://schemas.microsoft.com/office/drawing/2014/main" id="{2EDDFBF4-A162-5277-0C6F-A5D6984C0035}"/>
              </a:ext>
            </a:extLst>
          </p:cNvPr>
          <p:cNvSpPr txBox="1"/>
          <p:nvPr/>
        </p:nvSpPr>
        <p:spPr>
          <a:xfrm>
            <a:off x="609601" y="1878959"/>
            <a:ext cx="3314218" cy="43519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Corporate segment accounts holds largest salary base</a:t>
            </a:r>
          </a:p>
        </p:txBody>
      </p:sp>
      <p:graphicFrame>
        <p:nvGraphicFramePr>
          <p:cNvPr id="15" name="Chart 14">
            <a:extLst>
              <a:ext uri="{FF2B5EF4-FFF2-40B4-BE49-F238E27FC236}">
                <a16:creationId xmlns:a16="http://schemas.microsoft.com/office/drawing/2014/main" id="{24BF8DA5-6AE4-42EE-F020-112FB29B055E}"/>
              </a:ext>
            </a:extLst>
          </p:cNvPr>
          <p:cNvGraphicFramePr/>
          <p:nvPr>
            <p:custDataLst>
              <p:tags r:id="rId6"/>
            </p:custDataLst>
            <p:extLst>
              <p:ext uri="{D42A27DB-BD31-4B8C-83A1-F6EECF244321}">
                <p14:modId xmlns:p14="http://schemas.microsoft.com/office/powerpoint/2010/main" val="3299135937"/>
              </p:ext>
            </p:extLst>
          </p:nvPr>
        </p:nvGraphicFramePr>
        <p:xfrm>
          <a:off x="1728788" y="3184525"/>
          <a:ext cx="1174750" cy="2825750"/>
        </p:xfrm>
        <a:graphic>
          <a:graphicData uri="http://schemas.openxmlformats.org/drawingml/2006/chart">
            <c:chart xmlns:c="http://schemas.openxmlformats.org/drawingml/2006/chart" xmlns:r="http://schemas.openxmlformats.org/officeDocument/2006/relationships" r:id="rId33"/>
          </a:graphicData>
        </a:graphic>
      </p:graphicFrame>
      <p:sp>
        <p:nvSpPr>
          <p:cNvPr id="47" name="Text Placeholder 4">
            <a:extLst>
              <a:ext uri="{FF2B5EF4-FFF2-40B4-BE49-F238E27FC236}">
                <a16:creationId xmlns:a16="http://schemas.microsoft.com/office/drawing/2014/main" id="{6FBAFF6D-735C-8792-C041-7A8990BAB933}"/>
              </a:ext>
            </a:extLst>
          </p:cNvPr>
          <p:cNvSpPr>
            <a:spLocks noGrp="1"/>
          </p:cNvSpPr>
          <p:nvPr>
            <p:custDataLst>
              <p:tags r:id="rId7"/>
            </p:custDataLst>
          </p:nvPr>
        </p:nvSpPr>
        <p:spPr bwMode="gray">
          <a:xfrm>
            <a:off x="2106613" y="4057650"/>
            <a:ext cx="4175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9684311B-AA8F-467E-8B1D-0F830A3E1B26}" type="datetime'''6''''''7''''''''''''''''''''''''''''''''%'''''''''''''''''''">
              <a:rPr lang="en-US" altLang="en-US" smtClean="0">
                <a:solidFill>
                  <a:schemeClr val="bg1"/>
                </a:solidFill>
                <a:latin typeface="+mn-lt"/>
              </a:rPr>
              <a:pPr lvl="0" algn="ctr">
                <a:spcBef>
                  <a:spcPct val="0"/>
                </a:spcBef>
                <a:spcAft>
                  <a:spcPct val="0"/>
                </a:spcAft>
              </a:pPr>
              <a:t>67%</a:t>
            </a:fld>
            <a:endParaRPr lang="en-US">
              <a:solidFill>
                <a:schemeClr val="bg1"/>
              </a:solidFill>
              <a:latin typeface="+mn-lt"/>
            </a:endParaRPr>
          </a:p>
        </p:txBody>
      </p:sp>
      <p:sp>
        <p:nvSpPr>
          <p:cNvPr id="48" name="Text Placeholder 4">
            <a:extLst>
              <a:ext uri="{FF2B5EF4-FFF2-40B4-BE49-F238E27FC236}">
                <a16:creationId xmlns:a16="http://schemas.microsoft.com/office/drawing/2014/main" id="{2FC3937E-9325-901F-0F71-79F99C25842C}"/>
              </a:ext>
            </a:extLst>
          </p:cNvPr>
          <p:cNvSpPr>
            <a:spLocks noGrp="1"/>
          </p:cNvSpPr>
          <p:nvPr>
            <p:custDataLst>
              <p:tags r:id="rId8"/>
            </p:custDataLst>
          </p:nvPr>
        </p:nvSpPr>
        <p:spPr bwMode="gray">
          <a:xfrm>
            <a:off x="2106613" y="5218113"/>
            <a:ext cx="4175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8D45378B-454B-4608-8DD1-5BB092A68FE3}" type="datetime'20''''''''''''''''''''''''%'''''''''''">
              <a:rPr lang="en-US" altLang="en-US" smtClean="0">
                <a:solidFill>
                  <a:schemeClr val="bg1"/>
                </a:solidFill>
                <a:latin typeface="+mn-lt"/>
              </a:rPr>
              <a:pPr lvl="0" algn="ctr">
                <a:spcBef>
                  <a:spcPct val="0"/>
                </a:spcBef>
                <a:spcAft>
                  <a:spcPct val="0"/>
                </a:spcAft>
              </a:pPr>
              <a:t>20%</a:t>
            </a:fld>
            <a:endParaRPr lang="en-US">
              <a:solidFill>
                <a:schemeClr val="bg1"/>
              </a:solidFill>
              <a:latin typeface="+mn-lt"/>
            </a:endParaRPr>
          </a:p>
        </p:txBody>
      </p:sp>
      <p:sp>
        <p:nvSpPr>
          <p:cNvPr id="49" name="Text Placeholder 4">
            <a:extLst>
              <a:ext uri="{FF2B5EF4-FFF2-40B4-BE49-F238E27FC236}">
                <a16:creationId xmlns:a16="http://schemas.microsoft.com/office/drawing/2014/main" id="{829906CD-5F23-458C-2CAD-E05AD63899D8}"/>
              </a:ext>
            </a:extLst>
          </p:cNvPr>
          <p:cNvSpPr>
            <a:spLocks noGrp="1"/>
          </p:cNvSpPr>
          <p:nvPr>
            <p:custDataLst>
              <p:tags r:id="rId9"/>
            </p:custDataLst>
          </p:nvPr>
        </p:nvSpPr>
        <p:spPr bwMode="gray">
          <a:xfrm>
            <a:off x="2106613" y="5651500"/>
            <a:ext cx="4175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F914FF0-5EB2-4C45-91EA-3AB0F7FD5250}" type="datetime'''''''''''''13''''''''''%'''''''''''''''''''''''''''''''">
              <a:rPr lang="en-US" altLang="en-US" smtClean="0">
                <a:latin typeface="+mn-lt"/>
              </a:rPr>
              <a:pPr lvl="0" algn="ctr">
                <a:spcBef>
                  <a:spcPct val="0"/>
                </a:spcBef>
                <a:spcAft>
                  <a:spcPct val="0"/>
                </a:spcAft>
              </a:pPr>
              <a:t>13%</a:t>
            </a:fld>
            <a:endParaRPr lang="en-US">
              <a:latin typeface="+mn-lt"/>
            </a:endParaRPr>
          </a:p>
        </p:txBody>
      </p:sp>
      <p:sp>
        <p:nvSpPr>
          <p:cNvPr id="54" name="Text Placeholder 4">
            <a:extLst>
              <a:ext uri="{FF2B5EF4-FFF2-40B4-BE49-F238E27FC236}">
                <a16:creationId xmlns:a16="http://schemas.microsoft.com/office/drawing/2014/main" id="{44D9EA0D-1C8E-4FF7-94E6-4CB204AD3BC5}"/>
              </a:ext>
            </a:extLst>
          </p:cNvPr>
          <p:cNvSpPr>
            <a:spLocks noGrp="1"/>
          </p:cNvSpPr>
          <p:nvPr>
            <p:custDataLst>
              <p:tags r:id="rId10"/>
            </p:custDataLst>
          </p:nvPr>
        </p:nvSpPr>
        <p:spPr bwMode="auto">
          <a:xfrm>
            <a:off x="750888" y="4057650"/>
            <a:ext cx="8921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CD19585-99B2-440D-87C0-4DC1C7602207}" type="datetime'''''C''or''p''''''''''''''''''o''ra''t''''''''''''''e'''''''">
              <a:rPr lang="en-US" altLang="en-US" b="1" smtClean="0">
                <a:latin typeface="+mn-lt"/>
              </a:rPr>
              <a:pPr lvl="0">
                <a:spcBef>
                  <a:spcPct val="0"/>
                </a:spcBef>
                <a:spcAft>
                  <a:spcPct val="0"/>
                </a:spcAft>
              </a:pPr>
              <a:t>Corporate</a:t>
            </a:fld>
            <a:endParaRPr lang="en-US" b="1">
              <a:latin typeface="+mn-lt"/>
            </a:endParaRPr>
          </a:p>
        </p:txBody>
      </p:sp>
      <p:sp>
        <p:nvSpPr>
          <p:cNvPr id="55" name="Text Placeholder 4">
            <a:extLst>
              <a:ext uri="{FF2B5EF4-FFF2-40B4-BE49-F238E27FC236}">
                <a16:creationId xmlns:a16="http://schemas.microsoft.com/office/drawing/2014/main" id="{AF224781-EC31-E2A4-A328-B6E7BE8933F2}"/>
              </a:ext>
            </a:extLst>
          </p:cNvPr>
          <p:cNvSpPr>
            <a:spLocks noGrp="1"/>
          </p:cNvSpPr>
          <p:nvPr>
            <p:custDataLst>
              <p:tags r:id="rId11"/>
            </p:custDataLst>
          </p:nvPr>
        </p:nvSpPr>
        <p:spPr bwMode="auto">
          <a:xfrm>
            <a:off x="750888" y="5218113"/>
            <a:ext cx="3810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0606361-6CA9-46FB-994A-BB737F3A99C8}" type="datetime'''S''''''ME'''''''''''''''''''''''''''''''''''''">
              <a:rPr lang="en-US" altLang="en-US" b="1" smtClean="0">
                <a:latin typeface="+mn-lt"/>
              </a:rPr>
              <a:pPr lvl="0">
                <a:spcBef>
                  <a:spcPct val="0"/>
                </a:spcBef>
                <a:spcAft>
                  <a:spcPct val="0"/>
                </a:spcAft>
              </a:pPr>
              <a:t>SME</a:t>
            </a:fld>
            <a:endParaRPr lang="en-US" b="1">
              <a:latin typeface="+mn-lt"/>
            </a:endParaRPr>
          </a:p>
        </p:txBody>
      </p:sp>
      <p:sp>
        <p:nvSpPr>
          <p:cNvPr id="56" name="Text Placeholder 4">
            <a:extLst>
              <a:ext uri="{FF2B5EF4-FFF2-40B4-BE49-F238E27FC236}">
                <a16:creationId xmlns:a16="http://schemas.microsoft.com/office/drawing/2014/main" id="{538B0D81-9F1E-A6C1-7A08-19EF73514CED}"/>
              </a:ext>
            </a:extLst>
          </p:cNvPr>
          <p:cNvSpPr>
            <a:spLocks noGrp="1"/>
          </p:cNvSpPr>
          <p:nvPr>
            <p:custDataLst>
              <p:tags r:id="rId12"/>
            </p:custDataLst>
          </p:nvPr>
        </p:nvSpPr>
        <p:spPr bwMode="auto">
          <a:xfrm>
            <a:off x="750888" y="5651500"/>
            <a:ext cx="10604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67002AA2-4637-47D2-8A85-1A629EEBA1C0}" type="datetime'''''''''C''''''''''omme''''''r''c''''i''''''''a''''''''l'">
              <a:rPr lang="en-US" altLang="en-US" b="1" smtClean="0">
                <a:latin typeface="+mn-lt"/>
              </a:rPr>
              <a:pPr lvl="0">
                <a:spcBef>
                  <a:spcPct val="0"/>
                </a:spcBef>
                <a:spcAft>
                  <a:spcPct val="0"/>
                </a:spcAft>
              </a:pPr>
              <a:t>Commercial</a:t>
            </a:fld>
            <a:endParaRPr lang="en-US" b="1">
              <a:latin typeface="+mn-lt"/>
            </a:endParaRPr>
          </a:p>
        </p:txBody>
      </p:sp>
      <p:sp>
        <p:nvSpPr>
          <p:cNvPr id="50" name="Text Placeholder 4">
            <a:extLst>
              <a:ext uri="{FF2B5EF4-FFF2-40B4-BE49-F238E27FC236}">
                <a16:creationId xmlns:a16="http://schemas.microsoft.com/office/drawing/2014/main" id="{3F121C80-1AF1-13A8-DDC1-62EEF8875E7A}"/>
              </a:ext>
            </a:extLst>
          </p:cNvPr>
          <p:cNvSpPr>
            <a:spLocks noGrp="1"/>
          </p:cNvSpPr>
          <p:nvPr>
            <p:custDataLst>
              <p:tags r:id="rId13"/>
            </p:custDataLst>
          </p:nvPr>
        </p:nvSpPr>
        <p:spPr bwMode="gray">
          <a:xfrm>
            <a:off x="2144713" y="3028950"/>
            <a:ext cx="3413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7943AAE-82FC-4F66-8581-3A6E81950759}" type="datetime'''''''''''''1''''''''''''''''''57'''''">
              <a:rPr lang="en-US" altLang="en-US" smtClean="0">
                <a:latin typeface="+mn-lt"/>
              </a:rPr>
              <a:pPr lvl="0" algn="ctr">
                <a:spcBef>
                  <a:spcPct val="0"/>
                </a:spcBef>
                <a:spcAft>
                  <a:spcPct val="0"/>
                </a:spcAft>
              </a:pPr>
              <a:t>157</a:t>
            </a:fld>
            <a:endParaRPr lang="en-US">
              <a:latin typeface="+mn-lt"/>
            </a:endParaRPr>
          </a:p>
        </p:txBody>
      </p:sp>
      <p:sp>
        <p:nvSpPr>
          <p:cNvPr id="59" name="TextBox 58">
            <a:extLst>
              <a:ext uri="{FF2B5EF4-FFF2-40B4-BE49-F238E27FC236}">
                <a16:creationId xmlns:a16="http://schemas.microsoft.com/office/drawing/2014/main" id="{E4383F77-8F2B-E102-7E30-ACDFBE6D7712}"/>
              </a:ext>
            </a:extLst>
          </p:cNvPr>
          <p:cNvSpPr txBox="1"/>
          <p:nvPr/>
        </p:nvSpPr>
        <p:spPr>
          <a:xfrm>
            <a:off x="609602" y="2547034"/>
            <a:ext cx="203594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 of employees per segment,</a:t>
            </a:r>
            <a:r>
              <a:rPr lang="en-US"/>
              <a:t> ‘000, %</a:t>
            </a:r>
            <a:endParaRPr lang="en-US" i="1"/>
          </a:p>
        </p:txBody>
      </p:sp>
      <p:sp>
        <p:nvSpPr>
          <p:cNvPr id="61" name="Oval 60">
            <a:extLst>
              <a:ext uri="{FF2B5EF4-FFF2-40B4-BE49-F238E27FC236}">
                <a16:creationId xmlns:a16="http://schemas.microsoft.com/office/drawing/2014/main" id="{13FFB787-1A9A-CC85-8BF1-30F34E15B88D}"/>
              </a:ext>
            </a:extLst>
          </p:cNvPr>
          <p:cNvSpPr/>
          <p:nvPr/>
        </p:nvSpPr>
        <p:spPr>
          <a:xfrm>
            <a:off x="2898775" y="4046706"/>
            <a:ext cx="856102" cy="34274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149</a:t>
            </a:r>
          </a:p>
        </p:txBody>
      </p:sp>
      <p:sp>
        <p:nvSpPr>
          <p:cNvPr id="62" name="Oval 61">
            <a:extLst>
              <a:ext uri="{FF2B5EF4-FFF2-40B4-BE49-F238E27FC236}">
                <a16:creationId xmlns:a16="http://schemas.microsoft.com/office/drawing/2014/main" id="{14DC42CB-4F75-4FF9-1970-1F867152A794}"/>
              </a:ext>
            </a:extLst>
          </p:cNvPr>
          <p:cNvSpPr/>
          <p:nvPr/>
        </p:nvSpPr>
        <p:spPr>
          <a:xfrm>
            <a:off x="2898775" y="5158369"/>
            <a:ext cx="856102" cy="34274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33</a:t>
            </a:r>
          </a:p>
        </p:txBody>
      </p:sp>
      <p:sp>
        <p:nvSpPr>
          <p:cNvPr id="63" name="Oval 62">
            <a:extLst>
              <a:ext uri="{FF2B5EF4-FFF2-40B4-BE49-F238E27FC236}">
                <a16:creationId xmlns:a16="http://schemas.microsoft.com/office/drawing/2014/main" id="{4D4AB9E3-7254-0A57-1808-7854D6AFBD72}"/>
              </a:ext>
            </a:extLst>
          </p:cNvPr>
          <p:cNvSpPr/>
          <p:nvPr/>
        </p:nvSpPr>
        <p:spPr>
          <a:xfrm>
            <a:off x="2898775" y="5546198"/>
            <a:ext cx="856102" cy="342744"/>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20</a:t>
            </a:r>
          </a:p>
        </p:txBody>
      </p:sp>
      <p:sp>
        <p:nvSpPr>
          <p:cNvPr id="65" name="TextBox 64">
            <a:extLst>
              <a:ext uri="{FF2B5EF4-FFF2-40B4-BE49-F238E27FC236}">
                <a16:creationId xmlns:a16="http://schemas.microsoft.com/office/drawing/2014/main" id="{AD749545-40B7-698F-DF7B-18FFCF0CD688}"/>
              </a:ext>
            </a:extLst>
          </p:cNvPr>
          <p:cNvSpPr txBox="1"/>
          <p:nvPr/>
        </p:nvSpPr>
        <p:spPr>
          <a:xfrm>
            <a:off x="2889091" y="2547034"/>
            <a:ext cx="1268607"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Salary volume</a:t>
            </a:r>
            <a:r>
              <a:rPr lang="en-US" b="1" baseline="30000"/>
              <a:t>1</a:t>
            </a:r>
            <a:r>
              <a:rPr lang="en-US" b="1"/>
              <a:t>,</a:t>
            </a:r>
            <a:br>
              <a:rPr lang="en-US" b="1"/>
            </a:br>
            <a:r>
              <a:rPr lang="en-US"/>
              <a:t>AZN Mn</a:t>
            </a:r>
            <a:r>
              <a:rPr lang="en-US" b="1" i="1"/>
              <a:t> </a:t>
            </a:r>
          </a:p>
        </p:txBody>
      </p:sp>
      <p:sp>
        <p:nvSpPr>
          <p:cNvPr id="108" name="TextBox 107">
            <a:extLst>
              <a:ext uri="{FF2B5EF4-FFF2-40B4-BE49-F238E27FC236}">
                <a16:creationId xmlns:a16="http://schemas.microsoft.com/office/drawing/2014/main" id="{227E701C-BDA7-E8CF-D514-5806F789AE90}"/>
              </a:ext>
            </a:extLst>
          </p:cNvPr>
          <p:cNvSpPr txBox="1"/>
          <p:nvPr/>
        </p:nvSpPr>
        <p:spPr>
          <a:xfrm>
            <a:off x="4665777" y="1883268"/>
            <a:ext cx="3777183"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Within corporate, employees are highly concentrated in separate groups</a:t>
            </a:r>
            <a:endParaRPr lang="en-US"/>
          </a:p>
        </p:txBody>
      </p:sp>
      <p:cxnSp>
        <p:nvCxnSpPr>
          <p:cNvPr id="31" name="Straight Connector 30">
            <a:extLst>
              <a:ext uri="{FF2B5EF4-FFF2-40B4-BE49-F238E27FC236}">
                <a16:creationId xmlns:a16="http://schemas.microsoft.com/office/drawing/2014/main" id="{31DACBFA-33AE-B434-0E88-33BC6DF7856F}"/>
              </a:ext>
            </a:extLst>
          </p:cNvPr>
          <p:cNvCxnSpPr/>
          <p:nvPr>
            <p:custDataLst>
              <p:tags r:id="rId14"/>
            </p:custDataLst>
          </p:nvPr>
        </p:nvCxnSpPr>
        <p:spPr bwMode="auto">
          <a:xfrm>
            <a:off x="5280025" y="4911725"/>
            <a:ext cx="20320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55F3D40E-2DAC-B34A-0083-7BF6B79FFD48}"/>
              </a:ext>
            </a:extLst>
          </p:cNvPr>
          <p:cNvCxnSpPr/>
          <p:nvPr>
            <p:custDataLst>
              <p:tags r:id="rId15"/>
            </p:custDataLst>
          </p:nvPr>
        </p:nvCxnSpPr>
        <p:spPr bwMode="auto">
          <a:xfrm>
            <a:off x="5995988" y="4068763"/>
            <a:ext cx="20320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65992953-6C22-9ADD-35B5-B161488526C2}"/>
              </a:ext>
            </a:extLst>
          </p:cNvPr>
          <p:cNvCxnSpPr/>
          <p:nvPr>
            <p:custDataLst>
              <p:tags r:id="rId16"/>
            </p:custDataLst>
          </p:nvPr>
        </p:nvCxnSpPr>
        <p:spPr bwMode="auto">
          <a:xfrm>
            <a:off x="6711950" y="3751263"/>
            <a:ext cx="20320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3348763-0832-2A26-C568-5685DF40B738}"/>
              </a:ext>
            </a:extLst>
          </p:cNvPr>
          <p:cNvCxnSpPr/>
          <p:nvPr>
            <p:custDataLst>
              <p:tags r:id="rId17"/>
            </p:custDataLst>
          </p:nvPr>
        </p:nvCxnSpPr>
        <p:spPr bwMode="auto">
          <a:xfrm>
            <a:off x="7427913" y="3667125"/>
            <a:ext cx="203200"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21" name="Chart 120">
            <a:extLst>
              <a:ext uri="{FF2B5EF4-FFF2-40B4-BE49-F238E27FC236}">
                <a16:creationId xmlns:a16="http://schemas.microsoft.com/office/drawing/2014/main" id="{4A79CC1A-ADCD-F388-9BA0-6531488901C1}"/>
              </a:ext>
            </a:extLst>
          </p:cNvPr>
          <p:cNvGraphicFramePr/>
          <p:nvPr>
            <p:custDataLst>
              <p:tags r:id="rId18"/>
            </p:custDataLst>
            <p:extLst>
              <p:ext uri="{D42A27DB-BD31-4B8C-83A1-F6EECF244321}">
                <p14:modId xmlns:p14="http://schemas.microsoft.com/office/powerpoint/2010/main" val="3730567093"/>
              </p:ext>
            </p:extLst>
          </p:nvPr>
        </p:nvGraphicFramePr>
        <p:xfrm>
          <a:off x="4583113" y="3584575"/>
          <a:ext cx="3744912" cy="2397125"/>
        </p:xfrm>
        <a:graphic>
          <a:graphicData uri="http://schemas.openxmlformats.org/drawingml/2006/chart">
            <c:chart xmlns:c="http://schemas.openxmlformats.org/drawingml/2006/chart" xmlns:r="http://schemas.openxmlformats.org/officeDocument/2006/relationships" r:id="rId34"/>
          </a:graphicData>
        </a:graphic>
      </p:graphicFrame>
      <p:sp>
        <p:nvSpPr>
          <p:cNvPr id="72" name="Text Placeholder 4">
            <a:extLst>
              <a:ext uri="{FF2B5EF4-FFF2-40B4-BE49-F238E27FC236}">
                <a16:creationId xmlns:a16="http://schemas.microsoft.com/office/drawing/2014/main" id="{1E346177-F7E0-EE68-1FEC-4C4FD274A8AC}"/>
              </a:ext>
            </a:extLst>
          </p:cNvPr>
          <p:cNvSpPr>
            <a:spLocks noGrp="1"/>
          </p:cNvSpPr>
          <p:nvPr>
            <p:custDataLst>
              <p:tags r:id="rId19"/>
            </p:custDataLst>
          </p:nvPr>
        </p:nvSpPr>
        <p:spPr bwMode="auto">
          <a:xfrm>
            <a:off x="4751388" y="5957888"/>
            <a:ext cx="542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3FB8E0E-48C7-420F-8DE4-8232E5C47C07}" type="datetime'''''To''''''''''''''''''''''''''''''p'' ''''''''1''0'''''">
              <a:rPr lang="en-US" altLang="en-US" smtClean="0">
                <a:latin typeface="+mn-lt"/>
              </a:rPr>
              <a:pPr lvl="0" algn="ctr">
                <a:spcBef>
                  <a:spcPct val="0"/>
                </a:spcBef>
                <a:spcAft>
                  <a:spcPct val="0"/>
                </a:spcAft>
              </a:pPr>
              <a:t>Top 10</a:t>
            </a:fld>
            <a:endParaRPr lang="en-US">
              <a:latin typeface="+mn-lt"/>
            </a:endParaRPr>
          </a:p>
        </p:txBody>
      </p:sp>
      <p:sp>
        <p:nvSpPr>
          <p:cNvPr id="24" name="Text Placeholder 4">
            <a:extLst>
              <a:ext uri="{FF2B5EF4-FFF2-40B4-BE49-F238E27FC236}">
                <a16:creationId xmlns:a16="http://schemas.microsoft.com/office/drawing/2014/main" id="{4C1F3293-4EFE-461D-940D-7EE66BAE31C5}"/>
              </a:ext>
            </a:extLst>
          </p:cNvPr>
          <p:cNvSpPr>
            <a:spLocks noGrp="1"/>
          </p:cNvSpPr>
          <p:nvPr>
            <p:custDataLst>
              <p:tags r:id="rId20"/>
            </p:custDataLst>
          </p:nvPr>
        </p:nvSpPr>
        <p:spPr bwMode="gray">
          <a:xfrm>
            <a:off x="5616575" y="4383088"/>
            <a:ext cx="2444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33E14E6-3C79-45FD-835F-2127ABDE801C}" type="datetime'''''''''''''''''''''''4''''''0'''''''''''''''''">
              <a:rPr lang="en-US" altLang="en-US" smtClean="0">
                <a:solidFill>
                  <a:schemeClr val="bg1"/>
                </a:solidFill>
                <a:latin typeface="+mn-lt"/>
              </a:rPr>
              <a:pPr lvl="0" algn="ctr">
                <a:spcBef>
                  <a:spcPct val="0"/>
                </a:spcBef>
                <a:spcAft>
                  <a:spcPct val="0"/>
                </a:spcAft>
              </a:pPr>
              <a:t>40</a:t>
            </a:fld>
            <a:endParaRPr lang="en-US">
              <a:solidFill>
                <a:schemeClr val="bg1"/>
              </a:solidFill>
              <a:latin typeface="+mn-lt"/>
            </a:endParaRPr>
          </a:p>
        </p:txBody>
      </p:sp>
      <p:sp>
        <p:nvSpPr>
          <p:cNvPr id="73" name="Text Placeholder 4">
            <a:extLst>
              <a:ext uri="{FF2B5EF4-FFF2-40B4-BE49-F238E27FC236}">
                <a16:creationId xmlns:a16="http://schemas.microsoft.com/office/drawing/2014/main" id="{A988F37E-57D7-97C3-B5FA-AE0F6ECD03D5}"/>
              </a:ext>
            </a:extLst>
          </p:cNvPr>
          <p:cNvSpPr>
            <a:spLocks noGrp="1"/>
          </p:cNvSpPr>
          <p:nvPr>
            <p:custDataLst>
              <p:tags r:id="rId21"/>
            </p:custDataLst>
          </p:nvPr>
        </p:nvSpPr>
        <p:spPr bwMode="auto">
          <a:xfrm>
            <a:off x="5429250" y="595788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B3EE11E3-E09E-4A9E-9842-AA439598F060}" type="datetime'''Ne''''''''''x''''''''t'''' 4''0'''''''''''''''''''''">
              <a:rPr lang="en-US" altLang="en-US" smtClean="0">
                <a:latin typeface="+mn-lt"/>
              </a:rPr>
              <a:pPr lvl="0" algn="ctr">
                <a:spcBef>
                  <a:spcPct val="0"/>
                </a:spcBef>
                <a:spcAft>
                  <a:spcPct val="0"/>
                </a:spcAft>
              </a:pPr>
              <a:t>Next 40</a:t>
            </a:fld>
            <a:endParaRPr lang="en-US">
              <a:latin typeface="+mn-lt"/>
            </a:endParaRPr>
          </a:p>
        </p:txBody>
      </p:sp>
      <p:sp>
        <p:nvSpPr>
          <p:cNvPr id="26" name="Text Placeholder 4">
            <a:extLst>
              <a:ext uri="{FF2B5EF4-FFF2-40B4-BE49-F238E27FC236}">
                <a16:creationId xmlns:a16="http://schemas.microsoft.com/office/drawing/2014/main" id="{4C1F3293-4EFE-461D-940D-7EE66BAE31C5}"/>
              </a:ext>
            </a:extLst>
          </p:cNvPr>
          <p:cNvSpPr>
            <a:spLocks noGrp="1"/>
          </p:cNvSpPr>
          <p:nvPr>
            <p:custDataLst>
              <p:tags r:id="rId22"/>
            </p:custDataLst>
          </p:nvPr>
        </p:nvSpPr>
        <p:spPr bwMode="gray">
          <a:xfrm>
            <a:off x="6332538" y="3803650"/>
            <a:ext cx="2444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3E31764-81CA-479F-947A-9977524FF00C}" type="datetime'''''''''''''''''''''''''''''''''''''''''''''1''''''''''5'''">
              <a:rPr lang="en-US" altLang="en-US" smtClean="0">
                <a:solidFill>
                  <a:schemeClr val="bg1"/>
                </a:solidFill>
                <a:latin typeface="+mn-lt"/>
              </a:rPr>
              <a:pPr lvl="0" algn="ctr">
                <a:spcBef>
                  <a:spcPct val="0"/>
                </a:spcBef>
                <a:spcAft>
                  <a:spcPct val="0"/>
                </a:spcAft>
              </a:pPr>
              <a:t>15</a:t>
            </a:fld>
            <a:endParaRPr lang="en-US">
              <a:solidFill>
                <a:schemeClr val="bg1"/>
              </a:solidFill>
              <a:latin typeface="+mn-lt"/>
            </a:endParaRPr>
          </a:p>
        </p:txBody>
      </p:sp>
      <p:sp>
        <p:nvSpPr>
          <p:cNvPr id="74" name="Text Placeholder 4">
            <a:extLst>
              <a:ext uri="{FF2B5EF4-FFF2-40B4-BE49-F238E27FC236}">
                <a16:creationId xmlns:a16="http://schemas.microsoft.com/office/drawing/2014/main" id="{B9DC12E7-CB9C-D267-0B0D-862A6D20979C}"/>
              </a:ext>
            </a:extLst>
          </p:cNvPr>
          <p:cNvSpPr>
            <a:spLocks noGrp="1"/>
          </p:cNvSpPr>
          <p:nvPr>
            <p:custDataLst>
              <p:tags r:id="rId23"/>
            </p:custDataLst>
          </p:nvPr>
        </p:nvSpPr>
        <p:spPr bwMode="auto">
          <a:xfrm>
            <a:off x="6145213" y="595788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A395058-BA29-4D17-AB0A-E84F421F0F4E}" type="datetime'''''''''''''''Ne''''x''''''t'''''''''''''''' ''''50'''''''">
              <a:rPr lang="en-US" altLang="en-US" smtClean="0">
                <a:latin typeface="+mn-lt"/>
              </a:rPr>
              <a:pPr lvl="0" algn="ctr">
                <a:spcBef>
                  <a:spcPct val="0"/>
                </a:spcBef>
                <a:spcAft>
                  <a:spcPct val="0"/>
                </a:spcAft>
              </a:pPr>
              <a:t>Next 50</a:t>
            </a:fld>
            <a:endParaRPr lang="en-US">
              <a:latin typeface="+mn-lt"/>
            </a:endParaRPr>
          </a:p>
        </p:txBody>
      </p:sp>
      <p:sp>
        <p:nvSpPr>
          <p:cNvPr id="28" name="Text Placeholder 4">
            <a:extLst>
              <a:ext uri="{FF2B5EF4-FFF2-40B4-BE49-F238E27FC236}">
                <a16:creationId xmlns:a16="http://schemas.microsoft.com/office/drawing/2014/main" id="{4C1F3293-4EFE-461D-940D-7EE66BAE31C5}"/>
              </a:ext>
            </a:extLst>
          </p:cNvPr>
          <p:cNvSpPr>
            <a:spLocks noGrp="1"/>
          </p:cNvSpPr>
          <p:nvPr>
            <p:custDataLst>
              <p:tags r:id="rId24"/>
            </p:custDataLst>
          </p:nvPr>
        </p:nvSpPr>
        <p:spPr bwMode="gray">
          <a:xfrm>
            <a:off x="7097713" y="3602038"/>
            <a:ext cx="147638" cy="212725"/>
          </a:xfrm>
          <a:prstGeom prst="rect">
            <a:avLst/>
          </a:prstGeom>
          <a:solidFill>
            <a:schemeClr val="accent1"/>
          </a:solidFill>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7E33A4D-2BA1-4256-AA6D-929A03FD34C2}" type="datetime'''''''''''''''''''''''''''''''''4'''''''''''''''''''''''">
              <a:rPr lang="en-US" altLang="en-US" smtClean="0">
                <a:solidFill>
                  <a:schemeClr val="bg1"/>
                </a:solidFill>
                <a:latin typeface="+mn-lt"/>
              </a:rPr>
              <a:pPr lvl="0" algn="ctr">
                <a:spcBef>
                  <a:spcPct val="0"/>
                </a:spcBef>
                <a:spcAft>
                  <a:spcPct val="0"/>
                </a:spcAft>
              </a:pPr>
              <a:t>4</a:t>
            </a:fld>
            <a:endParaRPr lang="en-US">
              <a:solidFill>
                <a:schemeClr val="bg1"/>
              </a:solidFill>
              <a:latin typeface="+mn-lt"/>
            </a:endParaRPr>
          </a:p>
        </p:txBody>
      </p:sp>
      <p:sp>
        <p:nvSpPr>
          <p:cNvPr id="75" name="Text Placeholder 4">
            <a:extLst>
              <a:ext uri="{FF2B5EF4-FFF2-40B4-BE49-F238E27FC236}">
                <a16:creationId xmlns:a16="http://schemas.microsoft.com/office/drawing/2014/main" id="{024F9AFA-F447-F205-D866-B144B663ECF5}"/>
              </a:ext>
            </a:extLst>
          </p:cNvPr>
          <p:cNvSpPr>
            <a:spLocks noGrp="1"/>
          </p:cNvSpPr>
          <p:nvPr>
            <p:custDataLst>
              <p:tags r:id="rId25"/>
            </p:custDataLst>
          </p:nvPr>
        </p:nvSpPr>
        <p:spPr bwMode="auto">
          <a:xfrm>
            <a:off x="6994525" y="5957888"/>
            <a:ext cx="352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72DD66E0-D5CC-4207-81D6-D89ABACD1C60}" type="datetime'''''''''''''''R''''e''''''''''''''''''s''''''''''''t'''">
              <a:rPr lang="en-US" altLang="en-US" smtClean="0">
                <a:latin typeface="+mn-lt"/>
              </a:rPr>
              <a:pPr lvl="0" algn="ctr">
                <a:spcBef>
                  <a:spcPct val="0"/>
                </a:spcBef>
                <a:spcAft>
                  <a:spcPct val="0"/>
                </a:spcAft>
              </a:pPr>
              <a:t>Rest</a:t>
            </a:fld>
            <a:endParaRPr lang="en-US">
              <a:latin typeface="+mn-lt"/>
            </a:endParaRPr>
          </a:p>
        </p:txBody>
      </p:sp>
      <p:sp>
        <p:nvSpPr>
          <p:cNvPr id="36" name="Text Placeholder 4">
            <a:extLst>
              <a:ext uri="{FF2B5EF4-FFF2-40B4-BE49-F238E27FC236}">
                <a16:creationId xmlns:a16="http://schemas.microsoft.com/office/drawing/2014/main" id="{4C5E5FB9-A023-E514-D4E7-0D37A8936457}"/>
              </a:ext>
            </a:extLst>
          </p:cNvPr>
          <p:cNvSpPr>
            <a:spLocks noGrp="1"/>
          </p:cNvSpPr>
          <p:nvPr>
            <p:custDataLst>
              <p:tags r:id="rId26"/>
            </p:custDataLst>
          </p:nvPr>
        </p:nvSpPr>
        <p:spPr bwMode="auto">
          <a:xfrm>
            <a:off x="7693025" y="5957888"/>
            <a:ext cx="3889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a:latin typeface="+mn-lt"/>
              </a:rPr>
              <a:t>Total</a:t>
            </a:r>
            <a:endParaRPr lang="en-US">
              <a:latin typeface="+mn-lt"/>
            </a:endParaRPr>
          </a:p>
        </p:txBody>
      </p:sp>
      <p:sp>
        <p:nvSpPr>
          <p:cNvPr id="23" name="Text Placeholder 4">
            <a:extLst>
              <a:ext uri="{FF2B5EF4-FFF2-40B4-BE49-F238E27FC236}">
                <a16:creationId xmlns:a16="http://schemas.microsoft.com/office/drawing/2014/main" id="{4C1F3293-4EFE-461D-940D-7EE66BAE31C5}"/>
              </a:ext>
            </a:extLst>
          </p:cNvPr>
          <p:cNvSpPr>
            <a:spLocks noGrp="1"/>
          </p:cNvSpPr>
          <p:nvPr>
            <p:custDataLst>
              <p:tags r:id="rId27"/>
            </p:custDataLst>
          </p:nvPr>
        </p:nvSpPr>
        <p:spPr bwMode="gray">
          <a:xfrm>
            <a:off x="4900614" y="4673600"/>
            <a:ext cx="2444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472F8CE-0A75-45BE-9C42-5A139E599037}" type="datetime'''''''''''''''''''''''''''4''7'">
              <a:rPr lang="en-US" altLang="en-US" smtClean="0">
                <a:latin typeface="+mn-lt"/>
              </a:rPr>
              <a:pPr lvl="0" algn="ctr">
                <a:spcBef>
                  <a:spcPct val="0"/>
                </a:spcBef>
                <a:spcAft>
                  <a:spcPct val="0"/>
                </a:spcAft>
              </a:pPr>
              <a:t>47</a:t>
            </a:fld>
            <a:endParaRPr lang="en-US">
              <a:latin typeface="+mn-lt"/>
            </a:endParaRPr>
          </a:p>
        </p:txBody>
      </p:sp>
      <p:sp>
        <p:nvSpPr>
          <p:cNvPr id="40" name="Text Placeholder 4">
            <a:extLst>
              <a:ext uri="{FF2B5EF4-FFF2-40B4-BE49-F238E27FC236}">
                <a16:creationId xmlns:a16="http://schemas.microsoft.com/office/drawing/2014/main" id="{4C1F3293-4EFE-461D-940D-7EE66BAE31C5}"/>
              </a:ext>
            </a:extLst>
          </p:cNvPr>
          <p:cNvSpPr>
            <a:spLocks noGrp="1"/>
          </p:cNvSpPr>
          <p:nvPr>
            <p:custDataLst>
              <p:tags r:id="rId28"/>
            </p:custDataLst>
          </p:nvPr>
        </p:nvSpPr>
        <p:spPr bwMode="gray">
          <a:xfrm>
            <a:off x="7716839" y="3429000"/>
            <a:ext cx="3413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77A7A272-8FBD-47F8-B16D-22DAC02917F0}" type="datetime'''''1''''''''''''''0''''6'''''''''''''">
              <a:rPr lang="en-US" altLang="en-US" smtClean="0">
                <a:latin typeface="+mn-lt"/>
              </a:rPr>
              <a:pPr lvl="0" algn="ctr">
                <a:spcBef>
                  <a:spcPct val="0"/>
                </a:spcBef>
                <a:spcAft>
                  <a:spcPct val="0"/>
                </a:spcAft>
              </a:pPr>
              <a:t>106</a:t>
            </a:fld>
            <a:endParaRPr lang="en-US">
              <a:latin typeface="+mn-lt"/>
            </a:endParaRPr>
          </a:p>
        </p:txBody>
      </p:sp>
      <p:sp>
        <p:nvSpPr>
          <p:cNvPr id="7" name="TextBox 6">
            <a:extLst>
              <a:ext uri="{FF2B5EF4-FFF2-40B4-BE49-F238E27FC236}">
                <a16:creationId xmlns:a16="http://schemas.microsoft.com/office/drawing/2014/main" id="{287A12C5-6A0E-0971-25EC-6431FC9B510F}"/>
              </a:ext>
            </a:extLst>
          </p:cNvPr>
          <p:cNvSpPr txBox="1"/>
          <p:nvPr/>
        </p:nvSpPr>
        <p:spPr>
          <a:xfrm>
            <a:off x="9014478" y="2540617"/>
            <a:ext cx="2640779" cy="30931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a:t>To defend and grow PASHA’s portfolio, </a:t>
            </a:r>
            <a:r>
              <a:rPr lang="en-US" b="1"/>
              <a:t>payroll project </a:t>
            </a:r>
            <a:r>
              <a:rPr lang="en-US"/>
              <a:t>must be treated as a holistic</a:t>
            </a:r>
            <a:r>
              <a:rPr lang="en-US" b="1"/>
              <a:t> </a:t>
            </a:r>
            <a:r>
              <a:rPr lang="az-Latn-AZ" b="1"/>
              <a:t>relationship-defense and growth lever</a:t>
            </a:r>
            <a:endParaRPr lang="en-US" b="1"/>
          </a:p>
          <a:p>
            <a:pPr marL="285750" indent="-285750">
              <a:buFont typeface="Arial" panose="020B0604020202020204" pitchFamily="34" charset="0"/>
              <a:buChar char="•"/>
            </a:pPr>
            <a:r>
              <a:rPr lang="en-US"/>
              <a:t>PASHA Bank can prioritize only 10–50 corporate relationships, already securing lock-in of large employee base through </a:t>
            </a:r>
            <a:r>
              <a:rPr lang="en-US" b="1"/>
              <a:t>tailored account plans, bundled offerings, and targeted employee activation</a:t>
            </a:r>
            <a:endParaRPr lang="en-US" b="1">
              <a:solidFill>
                <a:schemeClr val="tx1"/>
              </a:solidFill>
            </a:endParaRPr>
          </a:p>
        </p:txBody>
      </p:sp>
      <p:sp>
        <p:nvSpPr>
          <p:cNvPr id="89" name="TextBox 88">
            <a:extLst>
              <a:ext uri="{FF2B5EF4-FFF2-40B4-BE49-F238E27FC236}">
                <a16:creationId xmlns:a16="http://schemas.microsoft.com/office/drawing/2014/main" id="{06C582FC-D219-D802-0E4B-079C3A8C75E0}"/>
              </a:ext>
            </a:extLst>
          </p:cNvPr>
          <p:cNvSpPr txBox="1"/>
          <p:nvPr/>
        </p:nvSpPr>
        <p:spPr>
          <a:xfrm>
            <a:off x="4665777" y="2547034"/>
            <a:ext cx="3795051"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Groups distribution by employees, </a:t>
            </a:r>
            <a:r>
              <a:rPr lang="en-US"/>
              <a:t>‘000, %</a:t>
            </a:r>
          </a:p>
        </p:txBody>
      </p:sp>
      <p:sp>
        <p:nvSpPr>
          <p:cNvPr id="115" name="Oval 114">
            <a:extLst>
              <a:ext uri="{FF2B5EF4-FFF2-40B4-BE49-F238E27FC236}">
                <a16:creationId xmlns:a16="http://schemas.microsoft.com/office/drawing/2014/main" id="{266624BA-BD78-BC85-DD0F-9F1D8A2414CE}"/>
              </a:ext>
            </a:extLst>
          </p:cNvPr>
          <p:cNvSpPr/>
          <p:nvPr/>
        </p:nvSpPr>
        <p:spPr>
          <a:xfrm>
            <a:off x="4678680" y="2987040"/>
            <a:ext cx="594360" cy="32004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44%</a:t>
            </a:r>
          </a:p>
        </p:txBody>
      </p:sp>
      <p:sp>
        <p:nvSpPr>
          <p:cNvPr id="116" name="Oval 115">
            <a:extLst>
              <a:ext uri="{FF2B5EF4-FFF2-40B4-BE49-F238E27FC236}">
                <a16:creationId xmlns:a16="http://schemas.microsoft.com/office/drawing/2014/main" id="{EA86928E-2E70-350D-998D-4A4D4B7AC60D}"/>
              </a:ext>
            </a:extLst>
          </p:cNvPr>
          <p:cNvSpPr/>
          <p:nvPr/>
        </p:nvSpPr>
        <p:spPr>
          <a:xfrm>
            <a:off x="5444924" y="2987040"/>
            <a:ext cx="594360" cy="32004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38%</a:t>
            </a:r>
          </a:p>
        </p:txBody>
      </p:sp>
      <p:sp>
        <p:nvSpPr>
          <p:cNvPr id="117" name="Oval 116">
            <a:extLst>
              <a:ext uri="{FF2B5EF4-FFF2-40B4-BE49-F238E27FC236}">
                <a16:creationId xmlns:a16="http://schemas.microsoft.com/office/drawing/2014/main" id="{3300A704-2974-1205-0127-9FB4839E10C9}"/>
              </a:ext>
            </a:extLst>
          </p:cNvPr>
          <p:cNvSpPr/>
          <p:nvPr/>
        </p:nvSpPr>
        <p:spPr>
          <a:xfrm>
            <a:off x="6176444" y="2987040"/>
            <a:ext cx="594360" cy="32004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14%</a:t>
            </a:r>
          </a:p>
        </p:txBody>
      </p:sp>
      <p:sp>
        <p:nvSpPr>
          <p:cNvPr id="118" name="Oval 117">
            <a:extLst>
              <a:ext uri="{FF2B5EF4-FFF2-40B4-BE49-F238E27FC236}">
                <a16:creationId xmlns:a16="http://schemas.microsoft.com/office/drawing/2014/main" id="{00815812-DDE9-AEA0-5AEA-21DADCFF26F7}"/>
              </a:ext>
            </a:extLst>
          </p:cNvPr>
          <p:cNvSpPr/>
          <p:nvPr/>
        </p:nvSpPr>
        <p:spPr>
          <a:xfrm>
            <a:off x="6907964" y="2987040"/>
            <a:ext cx="594360" cy="32004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4%</a:t>
            </a:r>
          </a:p>
        </p:txBody>
      </p:sp>
      <p:sp>
        <p:nvSpPr>
          <p:cNvPr id="141" name="Oval 140">
            <a:extLst>
              <a:ext uri="{FF2B5EF4-FFF2-40B4-BE49-F238E27FC236}">
                <a16:creationId xmlns:a16="http://schemas.microsoft.com/office/drawing/2014/main" id="{FC7164BB-2EA0-F65E-8A28-229D5285C725}"/>
              </a:ext>
            </a:extLst>
          </p:cNvPr>
          <p:cNvSpPr/>
          <p:nvPr/>
        </p:nvSpPr>
        <p:spPr>
          <a:xfrm>
            <a:off x="6873240" y="1282262"/>
            <a:ext cx="411480" cy="19812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a:solidFill>
                <a:schemeClr val="tx1"/>
              </a:solidFill>
            </a:endParaRPr>
          </a:p>
        </p:txBody>
      </p:sp>
      <p:sp>
        <p:nvSpPr>
          <p:cNvPr id="142" name="TextBox 141">
            <a:extLst>
              <a:ext uri="{FF2B5EF4-FFF2-40B4-BE49-F238E27FC236}">
                <a16:creationId xmlns:a16="http://schemas.microsoft.com/office/drawing/2014/main" id="{E5779D42-5859-23CD-1585-688DE00C7C40}"/>
              </a:ext>
            </a:extLst>
          </p:cNvPr>
          <p:cNvSpPr txBox="1"/>
          <p:nvPr/>
        </p:nvSpPr>
        <p:spPr>
          <a:xfrm>
            <a:off x="7357871" y="1304378"/>
            <a:ext cx="1102957"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a:t>% total Corporate</a:t>
            </a:r>
          </a:p>
        </p:txBody>
      </p:sp>
      <p:cxnSp>
        <p:nvCxnSpPr>
          <p:cNvPr id="143" name="LineBasicVerticalDefault 54">
            <a:extLst>
              <a:ext uri="{FF2B5EF4-FFF2-40B4-BE49-F238E27FC236}">
                <a16:creationId xmlns:a16="http://schemas.microsoft.com/office/drawing/2014/main" id="{84C57C79-A7BC-0558-D71D-FF11B32FFAA4}"/>
              </a:ext>
            </a:extLst>
          </p:cNvPr>
          <p:cNvCxnSpPr>
            <a:cxnSpLocks/>
          </p:cNvCxnSpPr>
          <p:nvPr>
            <p:custDataLst>
              <p:tags r:id="rId29"/>
            </p:custDataLst>
          </p:nvPr>
        </p:nvCxnSpPr>
        <p:spPr>
          <a:xfrm>
            <a:off x="4310377" y="2547034"/>
            <a:ext cx="0" cy="363888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781DF0B-1CF7-2B69-47BF-04E7B7ADB1A8}"/>
              </a:ext>
            </a:extLst>
          </p:cNvPr>
          <p:cNvSpPr txBox="1">
            <a:spLocks/>
          </p:cNvSpPr>
          <p:nvPr/>
        </p:nvSpPr>
        <p:spPr>
          <a:xfrm>
            <a:off x="8942688" y="1883268"/>
            <a:ext cx="2712573" cy="477327"/>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Key insights</a:t>
            </a:r>
          </a:p>
        </p:txBody>
      </p:sp>
      <p:cxnSp>
        <p:nvCxnSpPr>
          <p:cNvPr id="8" name="Straight Connector 7">
            <a:extLst>
              <a:ext uri="{FF2B5EF4-FFF2-40B4-BE49-F238E27FC236}">
                <a16:creationId xmlns:a16="http://schemas.microsoft.com/office/drawing/2014/main" id="{36835045-02A0-9232-CBFC-F623C5BA3561}"/>
              </a:ext>
            </a:extLst>
          </p:cNvPr>
          <p:cNvCxnSpPr>
            <a:cxnSpLocks/>
          </p:cNvCxnSpPr>
          <p:nvPr/>
        </p:nvCxnSpPr>
        <p:spPr>
          <a:xfrm>
            <a:off x="549305" y="2409916"/>
            <a:ext cx="7953949" cy="23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7F1E7EB-D6F5-5043-43E0-1AE98442B77B}"/>
              </a:ext>
            </a:extLst>
          </p:cNvPr>
          <p:cNvCxnSpPr>
            <a:cxnSpLocks/>
          </p:cNvCxnSpPr>
          <p:nvPr/>
        </p:nvCxnSpPr>
        <p:spPr>
          <a:xfrm>
            <a:off x="8944723" y="1832980"/>
            <a:ext cx="2729117"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01821A-A433-1443-B865-C9AB728834D6}"/>
              </a:ext>
            </a:extLst>
          </p:cNvPr>
          <p:cNvCxnSpPr>
            <a:cxnSpLocks/>
          </p:cNvCxnSpPr>
          <p:nvPr/>
        </p:nvCxnSpPr>
        <p:spPr>
          <a:xfrm flipV="1">
            <a:off x="618755" y="6433177"/>
            <a:ext cx="7953949" cy="23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BF49F01-6501-E45D-CB63-F992B5D61987}"/>
              </a:ext>
            </a:extLst>
          </p:cNvPr>
          <p:cNvCxnSpPr>
            <a:cxnSpLocks/>
          </p:cNvCxnSpPr>
          <p:nvPr/>
        </p:nvCxnSpPr>
        <p:spPr>
          <a:xfrm flipV="1">
            <a:off x="8944723" y="6428172"/>
            <a:ext cx="2528090" cy="7353"/>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81F2702-B4A5-CBB2-14CE-4C60CA8BF80F}"/>
              </a:ext>
            </a:extLst>
          </p:cNvPr>
          <p:cNvCxnSpPr>
            <a:cxnSpLocks/>
          </p:cNvCxnSpPr>
          <p:nvPr/>
        </p:nvCxnSpPr>
        <p:spPr>
          <a:xfrm>
            <a:off x="609600" y="1810387"/>
            <a:ext cx="7953949" cy="23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902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6634D096-3AC1-67A2-EBDF-00D5ED9444A0}"/>
              </a:ext>
            </a:extLst>
          </p:cNvPr>
          <p:cNvGraphicFramePr>
            <a:graphicFrameLocks noChangeAspect="1"/>
          </p:cNvGraphicFramePr>
          <p:nvPr>
            <p:custDataLst>
              <p:tags r:id="rId1"/>
            </p:custDataLst>
            <p:extLst>
              <p:ext uri="{D42A27DB-BD31-4B8C-83A1-F6EECF244321}">
                <p14:modId xmlns:p14="http://schemas.microsoft.com/office/powerpoint/2010/main" val="3406671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606" imgH="608" progId="TCLayout.ActiveDocument.1">
                  <p:embed/>
                </p:oleObj>
              </mc:Choice>
              <mc:Fallback>
                <p:oleObj name="think-cell Slide" r:id="rId37" imgW="606" imgH="608" progId="TCLayout.ActiveDocument.1">
                  <p:embed/>
                  <p:pic>
                    <p:nvPicPr>
                      <p:cNvPr id="5" name="Object 2" hidden="1">
                        <a:extLst>
                          <a:ext uri="{FF2B5EF4-FFF2-40B4-BE49-F238E27FC236}">
                            <a16:creationId xmlns:a16="http://schemas.microsoft.com/office/drawing/2014/main" id="{6634D096-3AC1-67A2-EBDF-00D5ED9444A0}"/>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2E499FBD-F9D4-65C9-25E4-E0CB1203E3F5}"/>
              </a:ext>
            </a:extLst>
          </p:cNvPr>
          <p:cNvSpPr>
            <a:spLocks noGrp="1"/>
          </p:cNvSpPr>
          <p:nvPr>
            <p:ph type="title"/>
            <p:custDataLst>
              <p:tags r:id="rId2"/>
            </p:custDataLst>
          </p:nvPr>
        </p:nvSpPr>
        <p:spPr>
          <a:xfrm>
            <a:off x="554736" y="226624"/>
            <a:ext cx="8901780" cy="677108"/>
          </a:xfrm>
        </p:spPr>
        <p:txBody>
          <a:bodyPr vert="horz"/>
          <a:lstStyle/>
          <a:p>
            <a:r>
              <a:rPr lang="en-US"/>
              <a:t>Low product attachment makes payroll customers vulnerable once salary bank choice is liberalized</a:t>
            </a:r>
          </a:p>
        </p:txBody>
      </p:sp>
      <p:sp>
        <p:nvSpPr>
          <p:cNvPr id="6" name="3. Subtitle">
            <a:extLst>
              <a:ext uri="{FF2B5EF4-FFF2-40B4-BE49-F238E27FC236}">
                <a16:creationId xmlns:a16="http://schemas.microsoft.com/office/drawing/2014/main" id="{F467E939-F0BF-A3E9-5358-5A7BE480CABC}"/>
              </a:ext>
            </a:extLst>
          </p:cNvPr>
          <p:cNvSpPr>
            <a:spLocks noGrp="1"/>
          </p:cNvSpPr>
          <p:nvPr>
            <p:ph type="subTitle" idx="1"/>
            <p:custDataLst>
              <p:tags r:id="rId3"/>
            </p:custDataLst>
          </p:nvPr>
        </p:nvSpPr>
        <p:spPr/>
        <p:txBody>
          <a:bodyPr/>
          <a:lstStyle/>
          <a:p>
            <a:endParaRPr lang="en-US"/>
          </a:p>
        </p:txBody>
      </p:sp>
      <p:sp>
        <p:nvSpPr>
          <p:cNvPr id="7" name="1. On-page tracker">
            <a:extLst>
              <a:ext uri="{FF2B5EF4-FFF2-40B4-BE49-F238E27FC236}">
                <a16:creationId xmlns:a16="http://schemas.microsoft.com/office/drawing/2014/main" id="{DAA43C5F-E5DA-3E3D-D616-27522BEE4FAF}"/>
              </a:ext>
            </a:extLst>
          </p:cNvPr>
          <p:cNvSpPr>
            <a:spLocks noGrp="1"/>
          </p:cNvSpPr>
          <p:nvPr>
            <p:ph type="body" sz="quarter" idx="10"/>
            <p:custDataLst>
              <p:tags r:id="rId4"/>
            </p:custDataLst>
          </p:nvPr>
        </p:nvSpPr>
        <p:spPr/>
        <p:txBody>
          <a:bodyPr/>
          <a:lstStyle/>
          <a:p>
            <a:endParaRPr lang="en-US"/>
          </a:p>
        </p:txBody>
      </p:sp>
      <p:sp>
        <p:nvSpPr>
          <p:cNvPr id="13" name="TextBox 12">
            <a:extLst>
              <a:ext uri="{FF2B5EF4-FFF2-40B4-BE49-F238E27FC236}">
                <a16:creationId xmlns:a16="http://schemas.microsoft.com/office/drawing/2014/main" id="{B82486BD-BACE-AA34-5168-313D523F1968}"/>
              </a:ext>
            </a:extLst>
          </p:cNvPr>
          <p:cNvSpPr txBox="1"/>
          <p:nvPr/>
        </p:nvSpPr>
        <p:spPr>
          <a:xfrm>
            <a:off x="615951" y="1275198"/>
            <a:ext cx="323842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b="1"/>
              <a:t>Affluent customers show higher PASHA attachment</a:t>
            </a:r>
            <a:endParaRPr lang="en-US"/>
          </a:p>
        </p:txBody>
      </p:sp>
      <p:graphicFrame>
        <p:nvGraphicFramePr>
          <p:cNvPr id="70" name="Chart 69">
            <a:extLst>
              <a:ext uri="{FF2B5EF4-FFF2-40B4-BE49-F238E27FC236}">
                <a16:creationId xmlns:a16="http://schemas.microsoft.com/office/drawing/2014/main" id="{CBC857FA-CD20-C900-5D5E-8429729A4C66}"/>
              </a:ext>
            </a:extLst>
          </p:cNvPr>
          <p:cNvGraphicFramePr/>
          <p:nvPr>
            <p:custDataLst>
              <p:tags r:id="rId5"/>
            </p:custDataLst>
            <p:extLst>
              <p:ext uri="{D42A27DB-BD31-4B8C-83A1-F6EECF244321}">
                <p14:modId xmlns:p14="http://schemas.microsoft.com/office/powerpoint/2010/main" val="964767176"/>
              </p:ext>
            </p:extLst>
          </p:nvPr>
        </p:nvGraphicFramePr>
        <p:xfrm>
          <a:off x="533400" y="3175000"/>
          <a:ext cx="2538413" cy="2671763"/>
        </p:xfrm>
        <a:graphic>
          <a:graphicData uri="http://schemas.openxmlformats.org/drawingml/2006/chart">
            <c:chart xmlns:c="http://schemas.openxmlformats.org/drawingml/2006/chart" xmlns:r="http://schemas.openxmlformats.org/officeDocument/2006/relationships" r:id="rId39"/>
          </a:graphicData>
        </a:graphic>
      </p:graphicFrame>
      <p:sp>
        <p:nvSpPr>
          <p:cNvPr id="15" name="Text Placeholder 4">
            <a:extLst>
              <a:ext uri="{FF2B5EF4-FFF2-40B4-BE49-F238E27FC236}">
                <a16:creationId xmlns:a16="http://schemas.microsoft.com/office/drawing/2014/main" id="{8EFBBF97-51E1-9094-6256-F73DFB210B42}"/>
              </a:ext>
            </a:extLst>
          </p:cNvPr>
          <p:cNvSpPr>
            <a:spLocks noGrp="1"/>
          </p:cNvSpPr>
          <p:nvPr>
            <p:custDataLst>
              <p:tags r:id="rId6"/>
            </p:custDataLst>
          </p:nvPr>
        </p:nvSpPr>
        <p:spPr bwMode="gray">
          <a:xfrm>
            <a:off x="1000125" y="3783013"/>
            <a:ext cx="417513" cy="212725"/>
          </a:xfrm>
          <a:prstGeom prst="rect">
            <a:avLst/>
          </a:prstGeom>
          <a:noFill/>
          <a:ln>
            <a:noFill/>
          </a:ln>
          <a:effectLst/>
          <a:extLst>
            <a:ext uri="{909E8E84-426E-40DD-AFC4-6F175D3DCCD1}">
              <a14:hiddenFill xmlns:a14="http://schemas.microsoft.com/office/drawing/2010/main">
                <a:solidFill>
                  <a:schemeClr val="accent3"/>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B3573FD1-69CB-44AD-8F0C-FC84FDE67C7F}" type="datetime'5''''''''''''0''''''''''''%'''">
              <a:rPr lang="en-US" altLang="en-US" smtClean="0">
                <a:latin typeface="+mn-lt"/>
              </a:rPr>
              <a:pPr lvl="0" algn="ctr">
                <a:spcBef>
                  <a:spcPct val="0"/>
                </a:spcBef>
                <a:spcAft>
                  <a:spcPct val="0"/>
                </a:spcAft>
              </a:pPr>
              <a:t>50%</a:t>
            </a:fld>
            <a:endParaRPr lang="en-US">
              <a:latin typeface="+mn-lt"/>
            </a:endParaRPr>
          </a:p>
        </p:txBody>
      </p:sp>
      <p:sp>
        <p:nvSpPr>
          <p:cNvPr id="16" name="Text Placeholder 4">
            <a:extLst>
              <a:ext uri="{FF2B5EF4-FFF2-40B4-BE49-F238E27FC236}">
                <a16:creationId xmlns:a16="http://schemas.microsoft.com/office/drawing/2014/main" id="{6EB550C4-BBA1-32C1-FAC4-389C70CEC98A}"/>
              </a:ext>
            </a:extLst>
          </p:cNvPr>
          <p:cNvSpPr>
            <a:spLocks noGrp="1"/>
          </p:cNvSpPr>
          <p:nvPr>
            <p:custDataLst>
              <p:tags r:id="rId7"/>
            </p:custDataLst>
          </p:nvPr>
        </p:nvSpPr>
        <p:spPr bwMode="gray">
          <a:xfrm>
            <a:off x="1047750" y="4468813"/>
            <a:ext cx="320675" cy="212725"/>
          </a:xfrm>
          <a:prstGeom prst="rect">
            <a:avLst/>
          </a:prstGeom>
          <a:solidFill>
            <a:schemeClr val="accent2"/>
          </a:solidFill>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FC8A83F3-739C-4BF0-82EC-956EDCEBE7ED}" type="datetime'''''''''''4''''''''''''%'''''''''''''''">
              <a:rPr lang="en-US" altLang="en-US" smtClean="0">
                <a:solidFill>
                  <a:schemeClr val="bg1"/>
                </a:solidFill>
                <a:effectLst/>
                <a:latin typeface="+mn-lt"/>
              </a:rPr>
              <a:pPr lvl="0" algn="ctr">
                <a:spcBef>
                  <a:spcPct val="0"/>
                </a:spcBef>
                <a:spcAft>
                  <a:spcPct val="0"/>
                </a:spcAft>
              </a:pPr>
              <a:t>4%</a:t>
            </a:fld>
            <a:endParaRPr lang="en-US">
              <a:solidFill>
                <a:schemeClr val="bg1"/>
              </a:solidFill>
              <a:latin typeface="+mn-lt"/>
            </a:endParaRPr>
          </a:p>
        </p:txBody>
      </p:sp>
      <p:sp>
        <p:nvSpPr>
          <p:cNvPr id="17" name="Text Placeholder 4">
            <a:extLst>
              <a:ext uri="{FF2B5EF4-FFF2-40B4-BE49-F238E27FC236}">
                <a16:creationId xmlns:a16="http://schemas.microsoft.com/office/drawing/2014/main" id="{7A9372B2-6C6F-E154-D63D-3CD5281B4FDA}"/>
              </a:ext>
            </a:extLst>
          </p:cNvPr>
          <p:cNvSpPr>
            <a:spLocks noGrp="1"/>
          </p:cNvSpPr>
          <p:nvPr>
            <p:custDataLst>
              <p:tags r:id="rId8"/>
            </p:custDataLst>
          </p:nvPr>
        </p:nvSpPr>
        <p:spPr bwMode="gray">
          <a:xfrm>
            <a:off x="1000125" y="4895850"/>
            <a:ext cx="4175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2EF3A406-FB1F-4360-B11C-F9B9F1F2E9F3}" type="datetime'''''''''''''''''''''''''''3''''''''''''''''''0''''''''''''%'''">
              <a:rPr lang="en-US" altLang="en-US" smtClean="0">
                <a:solidFill>
                  <a:schemeClr val="bg1"/>
                </a:solidFill>
                <a:latin typeface="+mn-lt"/>
              </a:rPr>
              <a:pPr lvl="0" algn="ctr">
                <a:spcBef>
                  <a:spcPct val="0"/>
                </a:spcBef>
                <a:spcAft>
                  <a:spcPct val="0"/>
                </a:spcAft>
              </a:pPr>
              <a:t>30%</a:t>
            </a:fld>
            <a:endParaRPr lang="en-US">
              <a:solidFill>
                <a:schemeClr val="bg1"/>
              </a:solidFill>
              <a:latin typeface="+mn-lt"/>
            </a:endParaRPr>
          </a:p>
        </p:txBody>
      </p:sp>
      <p:sp>
        <p:nvSpPr>
          <p:cNvPr id="18" name="Text Placeholder 4">
            <a:extLst>
              <a:ext uri="{FF2B5EF4-FFF2-40B4-BE49-F238E27FC236}">
                <a16:creationId xmlns:a16="http://schemas.microsoft.com/office/drawing/2014/main" id="{21572C8C-62EA-D7DE-4FEB-B04E90B9DE81}"/>
              </a:ext>
            </a:extLst>
          </p:cNvPr>
          <p:cNvSpPr>
            <a:spLocks noGrp="1"/>
          </p:cNvSpPr>
          <p:nvPr>
            <p:custDataLst>
              <p:tags r:id="rId9"/>
            </p:custDataLst>
          </p:nvPr>
        </p:nvSpPr>
        <p:spPr bwMode="gray">
          <a:xfrm>
            <a:off x="1000125" y="5464175"/>
            <a:ext cx="4175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444C276-A3AF-4536-88B5-7E54FCAA2A06}" type="datetime'''''''''''''1''''''''''''''''''''''''''''5''''''%'''''''">
              <a:rPr lang="en-US" altLang="en-US" smtClean="0">
                <a:solidFill>
                  <a:schemeClr val="bg1"/>
                </a:solidFill>
                <a:latin typeface="+mn-lt"/>
              </a:rPr>
              <a:pPr lvl="0" algn="ctr">
                <a:spcBef>
                  <a:spcPct val="0"/>
                </a:spcBef>
                <a:spcAft>
                  <a:spcPct val="0"/>
                </a:spcAft>
              </a:pPr>
              <a:t>15%</a:t>
            </a:fld>
            <a:endParaRPr lang="en-US">
              <a:solidFill>
                <a:schemeClr val="bg1"/>
              </a:solidFill>
              <a:latin typeface="+mn-lt"/>
            </a:endParaRPr>
          </a:p>
        </p:txBody>
      </p:sp>
      <p:sp>
        <p:nvSpPr>
          <p:cNvPr id="19" name="Text Placeholder 4">
            <a:extLst>
              <a:ext uri="{FF2B5EF4-FFF2-40B4-BE49-F238E27FC236}">
                <a16:creationId xmlns:a16="http://schemas.microsoft.com/office/drawing/2014/main" id="{31DFB8FA-C389-8484-3419-DD67FE26F001}"/>
              </a:ext>
            </a:extLst>
          </p:cNvPr>
          <p:cNvSpPr>
            <a:spLocks noGrp="1"/>
          </p:cNvSpPr>
          <p:nvPr>
            <p:custDataLst>
              <p:tags r:id="rId10"/>
            </p:custDataLst>
          </p:nvPr>
        </p:nvSpPr>
        <p:spPr bwMode="auto">
          <a:xfrm>
            <a:off x="1008063" y="5822950"/>
            <a:ext cx="4016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FFFD59C-D581-41F4-AE3D-F81E97A3EBA4}" type="datetime'''''''''''''''''''''Ma''''''''''''''''''''''''''s''s'">
              <a:rPr lang="en-US" altLang="en-US" smtClean="0">
                <a:latin typeface="+mn-lt"/>
              </a:rPr>
              <a:pPr lvl="0" algn="ctr">
                <a:spcBef>
                  <a:spcPct val="0"/>
                </a:spcBef>
                <a:spcAft>
                  <a:spcPct val="0"/>
                </a:spcAft>
              </a:pPr>
              <a:t>Mass</a:t>
            </a:fld>
            <a:endParaRPr lang="en-US">
              <a:latin typeface="+mn-lt"/>
            </a:endParaRPr>
          </a:p>
        </p:txBody>
      </p:sp>
      <p:sp>
        <p:nvSpPr>
          <p:cNvPr id="20" name="Text Placeholder 4">
            <a:extLst>
              <a:ext uri="{FF2B5EF4-FFF2-40B4-BE49-F238E27FC236}">
                <a16:creationId xmlns:a16="http://schemas.microsoft.com/office/drawing/2014/main" id="{F5AFCD4A-B9B3-1AEC-8D07-79379E87B650}"/>
              </a:ext>
            </a:extLst>
          </p:cNvPr>
          <p:cNvSpPr>
            <a:spLocks noGrp="1"/>
          </p:cNvSpPr>
          <p:nvPr>
            <p:custDataLst>
              <p:tags r:id="rId11"/>
            </p:custDataLst>
          </p:nvPr>
        </p:nvSpPr>
        <p:spPr bwMode="gray">
          <a:xfrm>
            <a:off x="2187575" y="3565525"/>
            <a:ext cx="417513" cy="212725"/>
          </a:xfrm>
          <a:prstGeom prst="rect">
            <a:avLst/>
          </a:prstGeom>
          <a:noFill/>
          <a:ln>
            <a:noFill/>
          </a:ln>
          <a:effectLst/>
          <a:extLst>
            <a:ext uri="{909E8E84-426E-40DD-AFC4-6F175D3DCCD1}">
              <a14:hiddenFill xmlns:a14="http://schemas.microsoft.com/office/drawing/2010/main">
                <a:solidFill>
                  <a:schemeClr val="accent3"/>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5758521-E8B4-4342-8DE6-AC8BBE5581FB}" type="datetime'3''''''''''''''''''''''''''3''''''%'''''''''">
              <a:rPr lang="en-US" altLang="en-US" smtClean="0">
                <a:latin typeface="+mn-lt"/>
              </a:rPr>
              <a:pPr lvl="0" algn="ctr">
                <a:spcBef>
                  <a:spcPct val="0"/>
                </a:spcBef>
                <a:spcAft>
                  <a:spcPct val="0"/>
                </a:spcAft>
              </a:pPr>
              <a:t>33%</a:t>
            </a:fld>
            <a:endParaRPr lang="en-US">
              <a:latin typeface="+mn-lt"/>
            </a:endParaRPr>
          </a:p>
        </p:txBody>
      </p:sp>
      <p:sp>
        <p:nvSpPr>
          <p:cNvPr id="21" name="Text Placeholder 4">
            <a:extLst>
              <a:ext uri="{FF2B5EF4-FFF2-40B4-BE49-F238E27FC236}">
                <a16:creationId xmlns:a16="http://schemas.microsoft.com/office/drawing/2014/main" id="{66B33A84-1833-6C84-F997-07FB8FA1BE81}"/>
              </a:ext>
            </a:extLst>
          </p:cNvPr>
          <p:cNvSpPr>
            <a:spLocks noGrp="1"/>
          </p:cNvSpPr>
          <p:nvPr>
            <p:custDataLst>
              <p:tags r:id="rId12"/>
            </p:custDataLst>
          </p:nvPr>
        </p:nvSpPr>
        <p:spPr bwMode="gray">
          <a:xfrm>
            <a:off x="2235200" y="4044950"/>
            <a:ext cx="320675" cy="212725"/>
          </a:xfrm>
          <a:prstGeom prst="rect">
            <a:avLst/>
          </a:prstGeom>
          <a:solidFill>
            <a:schemeClr val="accent2"/>
          </a:solidFill>
          <a:ln>
            <a:noFill/>
          </a:ln>
          <a:effec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ED2F62E3-D564-4CDF-94F2-7204EDD89EAE}" type="datetime'''''''5''''''''''''%'">
              <a:rPr lang="en-US" altLang="en-US" smtClean="0">
                <a:solidFill>
                  <a:schemeClr val="bg1"/>
                </a:solidFill>
                <a:effectLst/>
                <a:latin typeface="+mn-lt"/>
              </a:rPr>
              <a:pPr lvl="0" algn="ctr">
                <a:spcBef>
                  <a:spcPct val="0"/>
                </a:spcBef>
                <a:spcAft>
                  <a:spcPct val="0"/>
                </a:spcAft>
              </a:pPr>
              <a:t>5%</a:t>
            </a:fld>
            <a:endParaRPr lang="en-US">
              <a:solidFill>
                <a:schemeClr val="bg1"/>
              </a:solidFill>
              <a:latin typeface="+mn-lt"/>
            </a:endParaRPr>
          </a:p>
        </p:txBody>
      </p:sp>
      <p:sp>
        <p:nvSpPr>
          <p:cNvPr id="22" name="Text Placeholder 4">
            <a:extLst>
              <a:ext uri="{FF2B5EF4-FFF2-40B4-BE49-F238E27FC236}">
                <a16:creationId xmlns:a16="http://schemas.microsoft.com/office/drawing/2014/main" id="{C9B80937-7959-1826-1D45-F423E5833AC4}"/>
              </a:ext>
            </a:extLst>
          </p:cNvPr>
          <p:cNvSpPr>
            <a:spLocks noGrp="1"/>
          </p:cNvSpPr>
          <p:nvPr>
            <p:custDataLst>
              <p:tags r:id="rId13"/>
            </p:custDataLst>
          </p:nvPr>
        </p:nvSpPr>
        <p:spPr bwMode="gray">
          <a:xfrm>
            <a:off x="2187575" y="4483100"/>
            <a:ext cx="4175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AD8D7C12-E33A-4FBA-977A-29817BD75C40}" type="datetime'3''0''''''''''''''''''''''''''''''''''''''%'''''''''">
              <a:rPr lang="en-US" altLang="en-US" smtClean="0">
                <a:solidFill>
                  <a:schemeClr val="bg1"/>
                </a:solidFill>
                <a:latin typeface="+mn-lt"/>
              </a:rPr>
              <a:pPr lvl="0" algn="ctr">
                <a:spcBef>
                  <a:spcPct val="0"/>
                </a:spcBef>
                <a:spcAft>
                  <a:spcPct val="0"/>
                </a:spcAft>
              </a:pPr>
              <a:t>30%</a:t>
            </a:fld>
            <a:endParaRPr lang="en-US">
              <a:solidFill>
                <a:schemeClr val="bg1"/>
              </a:solidFill>
              <a:latin typeface="+mn-lt"/>
            </a:endParaRPr>
          </a:p>
        </p:txBody>
      </p:sp>
      <p:sp>
        <p:nvSpPr>
          <p:cNvPr id="23" name="Text Placeholder 4">
            <a:extLst>
              <a:ext uri="{FF2B5EF4-FFF2-40B4-BE49-F238E27FC236}">
                <a16:creationId xmlns:a16="http://schemas.microsoft.com/office/drawing/2014/main" id="{550EE688-2D98-F6D6-22CF-F4D24ADCDB12}"/>
              </a:ext>
            </a:extLst>
          </p:cNvPr>
          <p:cNvSpPr>
            <a:spLocks noGrp="1"/>
          </p:cNvSpPr>
          <p:nvPr>
            <p:custDataLst>
              <p:tags r:id="rId14"/>
            </p:custDataLst>
          </p:nvPr>
        </p:nvSpPr>
        <p:spPr bwMode="gray">
          <a:xfrm>
            <a:off x="2187575" y="5256213"/>
            <a:ext cx="4175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596A22F-454D-4254-88E8-71A75CAC7E5E}" type="datetime'''''32''''''''''%'''''''''''''''''''''''''''">
              <a:rPr lang="en-US" altLang="en-US" smtClean="0">
                <a:solidFill>
                  <a:schemeClr val="bg1"/>
                </a:solidFill>
                <a:latin typeface="+mn-lt"/>
              </a:rPr>
              <a:pPr lvl="0" algn="ctr">
                <a:spcBef>
                  <a:spcPct val="0"/>
                </a:spcBef>
                <a:spcAft>
                  <a:spcPct val="0"/>
                </a:spcAft>
              </a:pPr>
              <a:t>32%</a:t>
            </a:fld>
            <a:endParaRPr lang="en-US">
              <a:solidFill>
                <a:schemeClr val="bg1"/>
              </a:solidFill>
              <a:latin typeface="+mn-lt"/>
            </a:endParaRPr>
          </a:p>
        </p:txBody>
      </p:sp>
      <p:sp>
        <p:nvSpPr>
          <p:cNvPr id="24" name="Text Placeholder 4">
            <a:extLst>
              <a:ext uri="{FF2B5EF4-FFF2-40B4-BE49-F238E27FC236}">
                <a16:creationId xmlns:a16="http://schemas.microsoft.com/office/drawing/2014/main" id="{5AEEA147-BC9B-7F3C-83CC-19EE954E29C5}"/>
              </a:ext>
            </a:extLst>
          </p:cNvPr>
          <p:cNvSpPr>
            <a:spLocks noGrp="1"/>
          </p:cNvSpPr>
          <p:nvPr>
            <p:custDataLst>
              <p:tags r:id="rId15"/>
            </p:custDataLst>
          </p:nvPr>
        </p:nvSpPr>
        <p:spPr bwMode="auto">
          <a:xfrm>
            <a:off x="2084388" y="5822950"/>
            <a:ext cx="62230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85D50B8D-E72C-420C-BE7C-9CFA29001077}" type="datetime'A''''''f''f''''l''u''''''''en''''''''''t'">
              <a:rPr lang="en-US" altLang="en-US" smtClean="0">
                <a:latin typeface="+mn-lt"/>
              </a:rPr>
              <a:pPr lvl="0" algn="ctr">
                <a:spcBef>
                  <a:spcPct val="0"/>
                </a:spcBef>
                <a:spcAft>
                  <a:spcPct val="0"/>
                </a:spcAft>
              </a:pPr>
              <a:t>Affluent</a:t>
            </a:fld>
            <a:endParaRPr lang="en-US">
              <a:latin typeface="+mn-lt"/>
            </a:endParaRPr>
          </a:p>
        </p:txBody>
      </p:sp>
      <p:sp>
        <p:nvSpPr>
          <p:cNvPr id="25" name="Text Placeholder 4">
            <a:extLst>
              <a:ext uri="{FF2B5EF4-FFF2-40B4-BE49-F238E27FC236}">
                <a16:creationId xmlns:a16="http://schemas.microsoft.com/office/drawing/2014/main" id="{F6ECE166-86B4-E02E-612B-9AE1B0769549}"/>
              </a:ext>
            </a:extLst>
          </p:cNvPr>
          <p:cNvSpPr>
            <a:spLocks noGrp="1"/>
          </p:cNvSpPr>
          <p:nvPr>
            <p:custDataLst>
              <p:tags r:id="rId16"/>
            </p:custDataLst>
          </p:nvPr>
        </p:nvSpPr>
        <p:spPr bwMode="gray">
          <a:xfrm>
            <a:off x="1038225" y="3019425"/>
            <a:ext cx="3413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atin typeface="+mn-lt"/>
              </a:rPr>
              <a:t>152</a:t>
            </a:r>
          </a:p>
        </p:txBody>
      </p:sp>
      <p:sp>
        <p:nvSpPr>
          <p:cNvPr id="26" name="Text Placeholder 4">
            <a:extLst>
              <a:ext uri="{FF2B5EF4-FFF2-40B4-BE49-F238E27FC236}">
                <a16:creationId xmlns:a16="http://schemas.microsoft.com/office/drawing/2014/main" id="{9785F1A4-524F-6C27-BA25-B21B1E200586}"/>
              </a:ext>
            </a:extLst>
          </p:cNvPr>
          <p:cNvSpPr>
            <a:spLocks noGrp="1"/>
          </p:cNvSpPr>
          <p:nvPr>
            <p:custDataLst>
              <p:tags r:id="rId17"/>
            </p:custDataLst>
          </p:nvPr>
        </p:nvSpPr>
        <p:spPr bwMode="gray">
          <a:xfrm>
            <a:off x="2322513" y="3019425"/>
            <a:ext cx="1476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atin typeface="+mn-lt"/>
              </a:rPr>
              <a:t>5</a:t>
            </a:r>
          </a:p>
        </p:txBody>
      </p:sp>
      <p:sp>
        <p:nvSpPr>
          <p:cNvPr id="27" name="Rectangle 26">
            <a:extLst>
              <a:ext uri="{FF2B5EF4-FFF2-40B4-BE49-F238E27FC236}">
                <a16:creationId xmlns:a16="http://schemas.microsoft.com/office/drawing/2014/main" id="{84A9A1AC-2B63-D244-F8AC-63E4F0A1929D}"/>
              </a:ext>
            </a:extLst>
          </p:cNvPr>
          <p:cNvSpPr/>
          <p:nvPr>
            <p:custDataLst>
              <p:tags r:id="rId18"/>
            </p:custDataLst>
          </p:nvPr>
        </p:nvSpPr>
        <p:spPr bwMode="auto">
          <a:xfrm>
            <a:off x="3121025" y="3302000"/>
            <a:ext cx="144463" cy="144463"/>
          </a:xfrm>
          <a:prstGeom prst="rect">
            <a:avLst/>
          </a:prstGeom>
          <a:solidFill>
            <a:schemeClr val="accent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8" name="Rectangle 27">
            <a:extLst>
              <a:ext uri="{FF2B5EF4-FFF2-40B4-BE49-F238E27FC236}">
                <a16:creationId xmlns:a16="http://schemas.microsoft.com/office/drawing/2014/main" id="{8D62E50F-5E50-4CB3-EAAC-6E64D7724BDB}"/>
              </a:ext>
            </a:extLst>
          </p:cNvPr>
          <p:cNvSpPr/>
          <p:nvPr>
            <p:custDataLst>
              <p:tags r:id="rId19"/>
            </p:custDataLst>
          </p:nvPr>
        </p:nvSpPr>
        <p:spPr bwMode="auto">
          <a:xfrm>
            <a:off x="3121025" y="3513138"/>
            <a:ext cx="144463" cy="144463"/>
          </a:xfrm>
          <a:prstGeom prst="rect">
            <a:avLst/>
          </a:prstGeom>
          <a:solidFill>
            <a:schemeClr val="accent2"/>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9" name="Rectangle 28">
            <a:extLst>
              <a:ext uri="{FF2B5EF4-FFF2-40B4-BE49-F238E27FC236}">
                <a16:creationId xmlns:a16="http://schemas.microsoft.com/office/drawing/2014/main" id="{19D9424C-8A4B-4FCE-5356-22036501507E}"/>
              </a:ext>
            </a:extLst>
          </p:cNvPr>
          <p:cNvSpPr/>
          <p:nvPr>
            <p:custDataLst>
              <p:tags r:id="rId20"/>
            </p:custDataLst>
          </p:nvPr>
        </p:nvSpPr>
        <p:spPr bwMode="auto">
          <a:xfrm>
            <a:off x="3121025" y="3724275"/>
            <a:ext cx="144463" cy="144463"/>
          </a:xfrm>
          <a:prstGeom prst="rect">
            <a:avLst/>
          </a:prstGeom>
          <a:solidFill>
            <a:schemeClr val="accent4"/>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0" name="Rectangle 29">
            <a:extLst>
              <a:ext uri="{FF2B5EF4-FFF2-40B4-BE49-F238E27FC236}">
                <a16:creationId xmlns:a16="http://schemas.microsoft.com/office/drawing/2014/main" id="{F53D21CF-3D5A-85FD-B484-1785F6D558A1}"/>
              </a:ext>
            </a:extLst>
          </p:cNvPr>
          <p:cNvSpPr/>
          <p:nvPr>
            <p:custDataLst>
              <p:tags r:id="rId21"/>
            </p:custDataLst>
          </p:nvPr>
        </p:nvSpPr>
        <p:spPr bwMode="auto">
          <a:xfrm>
            <a:off x="3121025" y="3935413"/>
            <a:ext cx="144463" cy="144463"/>
          </a:xfrm>
          <a:prstGeom prst="rect">
            <a:avLst/>
          </a:prstGeom>
          <a:solidFill>
            <a:schemeClr val="accent1"/>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1" name="Text Placeholder 4">
            <a:extLst>
              <a:ext uri="{FF2B5EF4-FFF2-40B4-BE49-F238E27FC236}">
                <a16:creationId xmlns:a16="http://schemas.microsoft.com/office/drawing/2014/main" id="{18541455-C43A-E232-AAFE-78E4781E70EC}"/>
              </a:ext>
            </a:extLst>
          </p:cNvPr>
          <p:cNvSpPr>
            <a:spLocks noGrp="1"/>
          </p:cNvSpPr>
          <p:nvPr>
            <p:custDataLst>
              <p:tags r:id="rId22"/>
            </p:custDataLst>
          </p:nvPr>
        </p:nvSpPr>
        <p:spPr bwMode="auto">
          <a:xfrm>
            <a:off x="3316288" y="3298825"/>
            <a:ext cx="558800" cy="1603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D37DA4C0-2534-48DF-9E58-3846848E99FD}" type="datetime'W''''''i''''''''''''t''h''d''ra''''w'''''''''''''''''">
              <a:rPr lang="en-US" altLang="en-US" sz="1050" smtClean="0">
                <a:latin typeface="+mn-lt"/>
              </a:rPr>
              <a:pPr lvl="0">
                <a:spcBef>
                  <a:spcPct val="0"/>
                </a:spcBef>
                <a:spcAft>
                  <a:spcPct val="0"/>
                </a:spcAft>
              </a:pPr>
              <a:t>Withdraw</a:t>
            </a:fld>
            <a:endParaRPr lang="en-US" sz="1050">
              <a:latin typeface="+mn-lt"/>
            </a:endParaRPr>
          </a:p>
        </p:txBody>
      </p:sp>
      <p:sp>
        <p:nvSpPr>
          <p:cNvPr id="32" name="Text Placeholder 4">
            <a:extLst>
              <a:ext uri="{FF2B5EF4-FFF2-40B4-BE49-F238E27FC236}">
                <a16:creationId xmlns:a16="http://schemas.microsoft.com/office/drawing/2014/main" id="{6833CC8C-6A35-6735-0D44-7E1884A52D6E}"/>
              </a:ext>
            </a:extLst>
          </p:cNvPr>
          <p:cNvSpPr>
            <a:spLocks noGrp="1"/>
          </p:cNvSpPr>
          <p:nvPr>
            <p:custDataLst>
              <p:tags r:id="rId23"/>
            </p:custDataLst>
          </p:nvPr>
        </p:nvSpPr>
        <p:spPr bwMode="auto">
          <a:xfrm>
            <a:off x="3316287" y="3509963"/>
            <a:ext cx="488950" cy="1603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CA88B91-C7FE-4E8D-87CB-746A52B1E766}" type="datetime'''''T''''''''''rans''''''''''''''f''er'''''''">
              <a:rPr lang="en-US" altLang="en-US" sz="1050" smtClean="0">
                <a:latin typeface="+mn-lt"/>
              </a:rPr>
              <a:pPr lvl="0">
                <a:spcBef>
                  <a:spcPct val="0"/>
                </a:spcBef>
                <a:spcAft>
                  <a:spcPct val="0"/>
                </a:spcAft>
              </a:pPr>
              <a:t>Transfer</a:t>
            </a:fld>
            <a:endParaRPr lang="en-US" sz="1050">
              <a:latin typeface="+mn-lt"/>
            </a:endParaRPr>
          </a:p>
        </p:txBody>
      </p:sp>
      <p:sp>
        <p:nvSpPr>
          <p:cNvPr id="33" name="Text Placeholder 4">
            <a:extLst>
              <a:ext uri="{FF2B5EF4-FFF2-40B4-BE49-F238E27FC236}">
                <a16:creationId xmlns:a16="http://schemas.microsoft.com/office/drawing/2014/main" id="{D3D5C6DE-A9F1-788C-DCFC-A3A39F18E200}"/>
              </a:ext>
            </a:extLst>
          </p:cNvPr>
          <p:cNvSpPr>
            <a:spLocks noGrp="1"/>
          </p:cNvSpPr>
          <p:nvPr>
            <p:custDataLst>
              <p:tags r:id="rId24"/>
            </p:custDataLst>
          </p:nvPr>
        </p:nvSpPr>
        <p:spPr bwMode="auto">
          <a:xfrm>
            <a:off x="3316287" y="3721100"/>
            <a:ext cx="509588" cy="1603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95F8906D-3B74-432B-9573-1C34C4B503DA}" type="datetime'''''''''''''''''''''''U''se'' ''c''''ar''''''''d'''''''''''">
              <a:rPr lang="en-US" altLang="en-US" sz="1050" smtClean="0">
                <a:latin typeface="+mn-lt"/>
              </a:rPr>
              <a:pPr lvl="0">
                <a:spcBef>
                  <a:spcPct val="0"/>
                </a:spcBef>
                <a:spcAft>
                  <a:spcPct val="0"/>
                </a:spcAft>
              </a:pPr>
              <a:t>Use card</a:t>
            </a:fld>
            <a:endParaRPr lang="en-US" sz="1050">
              <a:latin typeface="+mn-lt"/>
            </a:endParaRPr>
          </a:p>
        </p:txBody>
      </p:sp>
      <p:sp>
        <p:nvSpPr>
          <p:cNvPr id="34" name="Text Placeholder 4">
            <a:extLst>
              <a:ext uri="{FF2B5EF4-FFF2-40B4-BE49-F238E27FC236}">
                <a16:creationId xmlns:a16="http://schemas.microsoft.com/office/drawing/2014/main" id="{C303354A-B9E3-F8DF-2011-F3645D3A1F10}"/>
              </a:ext>
            </a:extLst>
          </p:cNvPr>
          <p:cNvSpPr>
            <a:spLocks noGrp="1"/>
          </p:cNvSpPr>
          <p:nvPr>
            <p:custDataLst>
              <p:tags r:id="rId25"/>
            </p:custDataLst>
          </p:nvPr>
        </p:nvSpPr>
        <p:spPr bwMode="auto">
          <a:xfrm>
            <a:off x="3316288" y="3932238"/>
            <a:ext cx="773113" cy="1603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B0B8CE13-6C3B-49CD-AE77-4D1061CA457C}" type="datetime'K''''''ee''''''p'' ''''o''n c''''''a''''r''''''''d'''''''''''">
              <a:rPr lang="en-US" altLang="en-US" sz="1050" smtClean="0">
                <a:latin typeface="+mn-lt"/>
              </a:rPr>
              <a:pPr lvl="0">
                <a:spcBef>
                  <a:spcPct val="0"/>
                </a:spcBef>
                <a:spcAft>
                  <a:spcPct val="0"/>
                </a:spcAft>
              </a:pPr>
              <a:t>Keep on card</a:t>
            </a:fld>
            <a:endParaRPr lang="en-US" sz="1050">
              <a:latin typeface="+mn-lt"/>
            </a:endParaRPr>
          </a:p>
        </p:txBody>
      </p:sp>
      <p:sp>
        <p:nvSpPr>
          <p:cNvPr id="51" name="Oval 50">
            <a:extLst>
              <a:ext uri="{FF2B5EF4-FFF2-40B4-BE49-F238E27FC236}">
                <a16:creationId xmlns:a16="http://schemas.microsoft.com/office/drawing/2014/main" id="{C967D726-F41F-DC60-6046-20CDC79011E8}"/>
              </a:ext>
            </a:extLst>
          </p:cNvPr>
          <p:cNvSpPr/>
          <p:nvPr/>
        </p:nvSpPr>
        <p:spPr>
          <a:xfrm flipH="1">
            <a:off x="754311" y="6145587"/>
            <a:ext cx="986629" cy="28021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97%</a:t>
            </a:r>
          </a:p>
        </p:txBody>
      </p:sp>
      <p:sp>
        <p:nvSpPr>
          <p:cNvPr id="52" name="Oval 51">
            <a:extLst>
              <a:ext uri="{FF2B5EF4-FFF2-40B4-BE49-F238E27FC236}">
                <a16:creationId xmlns:a16="http://schemas.microsoft.com/office/drawing/2014/main" id="{00DA4EEB-8095-FD80-F291-BB8D6372C2BC}"/>
              </a:ext>
            </a:extLst>
          </p:cNvPr>
          <p:cNvSpPr/>
          <p:nvPr/>
        </p:nvSpPr>
        <p:spPr>
          <a:xfrm flipH="1">
            <a:off x="1988899" y="6145587"/>
            <a:ext cx="986629" cy="280210"/>
          </a:xfrm>
          <a:prstGeom prst="ellipse">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3%</a:t>
            </a:r>
          </a:p>
        </p:txBody>
      </p:sp>
      <p:sp>
        <p:nvSpPr>
          <p:cNvPr id="53" name="TextBox 52">
            <a:extLst>
              <a:ext uri="{FF2B5EF4-FFF2-40B4-BE49-F238E27FC236}">
                <a16:creationId xmlns:a16="http://schemas.microsoft.com/office/drawing/2014/main" id="{220F9B8B-47D9-5C33-27C2-8C05754A821B}"/>
              </a:ext>
            </a:extLst>
          </p:cNvPr>
          <p:cNvSpPr txBox="1"/>
          <p:nvPr/>
        </p:nvSpPr>
        <p:spPr>
          <a:xfrm>
            <a:off x="615950" y="1873451"/>
            <a:ext cx="3609209" cy="4302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b="1"/>
              <a:t>Distribution of employees based on salary usage habits, </a:t>
            </a:r>
            <a:r>
              <a:rPr lang="en-US"/>
              <a:t>‘000, %</a:t>
            </a:r>
          </a:p>
        </p:txBody>
      </p:sp>
      <p:sp>
        <p:nvSpPr>
          <p:cNvPr id="56" name="TextBox 55">
            <a:extLst>
              <a:ext uri="{FF2B5EF4-FFF2-40B4-BE49-F238E27FC236}">
                <a16:creationId xmlns:a16="http://schemas.microsoft.com/office/drawing/2014/main" id="{8221A864-DA4C-BF73-4968-75215977849D}"/>
              </a:ext>
            </a:extLst>
          </p:cNvPr>
          <p:cNvSpPr txBox="1"/>
          <p:nvPr/>
        </p:nvSpPr>
        <p:spPr>
          <a:xfrm>
            <a:off x="4710433" y="1275198"/>
            <a:ext cx="3950091"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b="1"/>
              <a:t>~60K salary customers can be lost in base scenario </a:t>
            </a:r>
            <a:r>
              <a:rPr lang="en-US"/>
              <a:t>(no action scenario after liberalization)</a:t>
            </a:r>
          </a:p>
        </p:txBody>
      </p:sp>
      <p:cxnSp>
        <p:nvCxnSpPr>
          <p:cNvPr id="41" name="Straight Connector 40">
            <a:extLst>
              <a:ext uri="{FF2B5EF4-FFF2-40B4-BE49-F238E27FC236}">
                <a16:creationId xmlns:a16="http://schemas.microsoft.com/office/drawing/2014/main" id="{072EAA60-5140-DE0E-C96D-7D92C1CB4900}"/>
              </a:ext>
            </a:extLst>
          </p:cNvPr>
          <p:cNvCxnSpPr/>
          <p:nvPr>
            <p:custDataLst>
              <p:tags r:id="rId26"/>
            </p:custDataLst>
          </p:nvPr>
        </p:nvCxnSpPr>
        <p:spPr bwMode="auto">
          <a:xfrm>
            <a:off x="5735638" y="3076575"/>
            <a:ext cx="3778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15CF6A0A-A2C6-3A72-1BEA-5EC89096941C}"/>
              </a:ext>
            </a:extLst>
          </p:cNvPr>
          <p:cNvCxnSpPr/>
          <p:nvPr>
            <p:custDataLst>
              <p:tags r:id="rId27"/>
            </p:custDataLst>
          </p:nvPr>
        </p:nvCxnSpPr>
        <p:spPr bwMode="auto">
          <a:xfrm>
            <a:off x="7059613" y="4003675"/>
            <a:ext cx="3778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79" name="Chart 78">
            <a:extLst>
              <a:ext uri="{FF2B5EF4-FFF2-40B4-BE49-F238E27FC236}">
                <a16:creationId xmlns:a16="http://schemas.microsoft.com/office/drawing/2014/main" id="{8CDAECEC-AB50-13B6-1BFD-6188EEDC98EB}"/>
              </a:ext>
            </a:extLst>
          </p:cNvPr>
          <p:cNvGraphicFramePr/>
          <p:nvPr>
            <p:custDataLst>
              <p:tags r:id="rId28"/>
            </p:custDataLst>
            <p:extLst>
              <p:ext uri="{D42A27DB-BD31-4B8C-83A1-F6EECF244321}">
                <p14:modId xmlns:p14="http://schemas.microsoft.com/office/powerpoint/2010/main" val="2513305762"/>
              </p:ext>
            </p:extLst>
          </p:nvPr>
        </p:nvGraphicFramePr>
        <p:xfrm>
          <a:off x="4516438" y="2994025"/>
          <a:ext cx="4140200" cy="2687638"/>
        </p:xfrm>
        <a:graphic>
          <a:graphicData uri="http://schemas.openxmlformats.org/drawingml/2006/chart">
            <c:chart xmlns:c="http://schemas.openxmlformats.org/drawingml/2006/chart" xmlns:r="http://schemas.openxmlformats.org/officeDocument/2006/relationships" r:id="rId40"/>
          </a:graphicData>
        </a:graphic>
      </p:graphicFrame>
      <p:sp>
        <p:nvSpPr>
          <p:cNvPr id="106" name="Text Placeholder 4">
            <a:extLst>
              <a:ext uri="{FF2B5EF4-FFF2-40B4-BE49-F238E27FC236}">
                <a16:creationId xmlns:a16="http://schemas.microsoft.com/office/drawing/2014/main" id="{4C1F3293-4EFE-461D-940D-7EE66BAE31C5}"/>
              </a:ext>
            </a:extLst>
          </p:cNvPr>
          <p:cNvSpPr>
            <a:spLocks noGrp="1"/>
          </p:cNvSpPr>
          <p:nvPr>
            <p:custDataLst>
              <p:tags r:id="rId29"/>
            </p:custDataLst>
          </p:nvPr>
        </p:nvSpPr>
        <p:spPr bwMode="auto">
          <a:xfrm>
            <a:off x="5060950" y="5657851"/>
            <a:ext cx="4000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a:latin typeface="+mn-lt"/>
              </a:rPr>
              <a:t>2026</a:t>
            </a:r>
            <a:endParaRPr lang="en-US">
              <a:latin typeface="+mn-lt"/>
            </a:endParaRPr>
          </a:p>
        </p:txBody>
      </p:sp>
      <p:sp>
        <p:nvSpPr>
          <p:cNvPr id="87" name="Text Placeholder 4">
            <a:extLst>
              <a:ext uri="{FF2B5EF4-FFF2-40B4-BE49-F238E27FC236}">
                <a16:creationId xmlns:a16="http://schemas.microsoft.com/office/drawing/2014/main" id="{7F175E0A-D23E-4C74-8E24-442B2608C70D}"/>
              </a:ext>
            </a:extLst>
          </p:cNvPr>
          <p:cNvSpPr>
            <a:spLocks noGrp="1"/>
          </p:cNvSpPr>
          <p:nvPr>
            <p:custDataLst>
              <p:tags r:id="rId30"/>
            </p:custDataLst>
          </p:nvPr>
        </p:nvSpPr>
        <p:spPr bwMode="gray">
          <a:xfrm>
            <a:off x="6464300" y="3433763"/>
            <a:ext cx="2444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8F7AB051-3374-440C-8C61-EE5E2D852D7E}" type="datetime'''''''''''''''58'''''''''''''''''''''''''''''">
              <a:rPr lang="en-US" altLang="en-US" smtClean="0">
                <a:solidFill>
                  <a:schemeClr val="bg1"/>
                </a:solidFill>
                <a:latin typeface="+mn-lt"/>
              </a:rPr>
              <a:pPr lvl="0" algn="ctr">
                <a:spcBef>
                  <a:spcPct val="0"/>
                </a:spcBef>
                <a:spcAft>
                  <a:spcPct val="0"/>
                </a:spcAft>
              </a:pPr>
              <a:t>58</a:t>
            </a:fld>
            <a:endParaRPr lang="en-US">
              <a:solidFill>
                <a:schemeClr val="bg1"/>
              </a:solidFill>
              <a:latin typeface="+mn-lt"/>
            </a:endParaRPr>
          </a:p>
        </p:txBody>
      </p:sp>
      <p:sp>
        <p:nvSpPr>
          <p:cNvPr id="109" name="Text Placeholder 4">
            <a:extLst>
              <a:ext uri="{FF2B5EF4-FFF2-40B4-BE49-F238E27FC236}">
                <a16:creationId xmlns:a16="http://schemas.microsoft.com/office/drawing/2014/main" id="{4C1F3293-4EFE-461D-940D-7EE66BAE31C5}"/>
              </a:ext>
            </a:extLst>
          </p:cNvPr>
          <p:cNvSpPr>
            <a:spLocks noGrp="1"/>
          </p:cNvSpPr>
          <p:nvPr>
            <p:custDataLst>
              <p:tags r:id="rId31"/>
            </p:custDataLst>
          </p:nvPr>
        </p:nvSpPr>
        <p:spPr bwMode="auto">
          <a:xfrm>
            <a:off x="5994400" y="5657851"/>
            <a:ext cx="11858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a:latin typeface="+mn-lt"/>
              </a:rPr>
              <a:t>Potential churn</a:t>
            </a:r>
            <a:endParaRPr lang="en-US">
              <a:latin typeface="+mn-lt"/>
            </a:endParaRPr>
          </a:p>
        </p:txBody>
      </p:sp>
      <p:sp>
        <p:nvSpPr>
          <p:cNvPr id="110" name="Text Placeholder 4">
            <a:extLst>
              <a:ext uri="{FF2B5EF4-FFF2-40B4-BE49-F238E27FC236}">
                <a16:creationId xmlns:a16="http://schemas.microsoft.com/office/drawing/2014/main" id="{4C1F3293-4EFE-461D-940D-7EE66BAE31C5}"/>
              </a:ext>
            </a:extLst>
          </p:cNvPr>
          <p:cNvSpPr>
            <a:spLocks noGrp="1"/>
          </p:cNvSpPr>
          <p:nvPr>
            <p:custDataLst>
              <p:tags r:id="rId32"/>
            </p:custDataLst>
          </p:nvPr>
        </p:nvSpPr>
        <p:spPr bwMode="auto">
          <a:xfrm>
            <a:off x="7710488" y="5657850"/>
            <a:ext cx="4000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a:latin typeface="+mn-lt"/>
              </a:rPr>
              <a:t>2029</a:t>
            </a:r>
            <a:endParaRPr lang="en-US">
              <a:latin typeface="+mn-lt"/>
            </a:endParaRPr>
          </a:p>
        </p:txBody>
      </p:sp>
      <p:sp>
        <p:nvSpPr>
          <p:cNvPr id="58" name="Text Placeholder 4">
            <a:extLst>
              <a:ext uri="{FF2B5EF4-FFF2-40B4-BE49-F238E27FC236}">
                <a16:creationId xmlns:a16="http://schemas.microsoft.com/office/drawing/2014/main" id="{4C1F3293-4EFE-461D-940D-7EE66BAE31C5}"/>
              </a:ext>
            </a:extLst>
          </p:cNvPr>
          <p:cNvSpPr>
            <a:spLocks noGrp="1"/>
          </p:cNvSpPr>
          <p:nvPr>
            <p:custDataLst>
              <p:tags r:id="rId33"/>
            </p:custDataLst>
          </p:nvPr>
        </p:nvSpPr>
        <p:spPr bwMode="gray">
          <a:xfrm>
            <a:off x="5091113" y="2838450"/>
            <a:ext cx="3413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01291E2F-A401-4648-B0F2-6E7EE607D872}" type="datetime'''''''''''''''''''1''''''''''5''''''''''''''''''''''''7'''''">
              <a:rPr lang="en-US" altLang="en-US" smtClean="0">
                <a:latin typeface="+mn-lt"/>
              </a:rPr>
              <a:pPr lvl="0" algn="ctr">
                <a:spcBef>
                  <a:spcPct val="0"/>
                </a:spcBef>
                <a:spcAft>
                  <a:spcPct val="0"/>
                </a:spcAft>
              </a:pPr>
              <a:t>157</a:t>
            </a:fld>
            <a:endParaRPr lang="en-US">
              <a:latin typeface="+mn-lt"/>
            </a:endParaRPr>
          </a:p>
        </p:txBody>
      </p:sp>
      <p:sp>
        <p:nvSpPr>
          <p:cNvPr id="95" name="Text Placeholder 4">
            <a:extLst>
              <a:ext uri="{FF2B5EF4-FFF2-40B4-BE49-F238E27FC236}">
                <a16:creationId xmlns:a16="http://schemas.microsoft.com/office/drawing/2014/main" id="{4C1F3293-4EFE-461D-940D-7EE66BAE31C5}"/>
              </a:ext>
            </a:extLst>
          </p:cNvPr>
          <p:cNvSpPr>
            <a:spLocks noGrp="1"/>
          </p:cNvSpPr>
          <p:nvPr>
            <p:custDataLst>
              <p:tags r:id="rId34"/>
            </p:custDataLst>
          </p:nvPr>
        </p:nvSpPr>
        <p:spPr bwMode="gray">
          <a:xfrm>
            <a:off x="7788275" y="3765550"/>
            <a:ext cx="2444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939285F9-3BF0-4C84-9D9F-6D6834509296}" type="datetime'''''''9''''''''''''9'''">
              <a:rPr lang="en-US" altLang="en-US" smtClean="0">
                <a:latin typeface="+mn-lt"/>
              </a:rPr>
              <a:pPr lvl="0" algn="ctr">
                <a:spcBef>
                  <a:spcPct val="0"/>
                </a:spcBef>
                <a:spcAft>
                  <a:spcPct val="0"/>
                </a:spcAft>
              </a:pPr>
              <a:t>99</a:t>
            </a:fld>
            <a:endParaRPr lang="en-US">
              <a:latin typeface="+mn-lt"/>
            </a:endParaRPr>
          </a:p>
        </p:txBody>
      </p:sp>
      <p:sp>
        <p:nvSpPr>
          <p:cNvPr id="115" name="TextBox 114">
            <a:extLst>
              <a:ext uri="{FF2B5EF4-FFF2-40B4-BE49-F238E27FC236}">
                <a16:creationId xmlns:a16="http://schemas.microsoft.com/office/drawing/2014/main" id="{7784A3D8-F8CA-F1E0-DA87-75A72C72728F}"/>
              </a:ext>
            </a:extLst>
          </p:cNvPr>
          <p:cNvSpPr txBox="1"/>
          <p:nvPr/>
        </p:nvSpPr>
        <p:spPr>
          <a:xfrm>
            <a:off x="4710433" y="1873451"/>
            <a:ext cx="37814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b="1"/>
              <a:t>Employee number projections, </a:t>
            </a:r>
            <a:r>
              <a:rPr lang="en-US"/>
              <a:t>‘000</a:t>
            </a:r>
          </a:p>
        </p:txBody>
      </p:sp>
      <p:sp>
        <p:nvSpPr>
          <p:cNvPr id="138" name="Rectangle 137">
            <a:extLst>
              <a:ext uri="{FF2B5EF4-FFF2-40B4-BE49-F238E27FC236}">
                <a16:creationId xmlns:a16="http://schemas.microsoft.com/office/drawing/2014/main" id="{A10F7CA6-04CF-2918-2880-3B9A9DC2F67E}"/>
              </a:ext>
            </a:extLst>
          </p:cNvPr>
          <p:cNvSpPr/>
          <p:nvPr/>
        </p:nvSpPr>
        <p:spPr>
          <a:xfrm>
            <a:off x="753140" y="3245485"/>
            <a:ext cx="910708" cy="1414161"/>
          </a:xfrm>
          <a:prstGeom prst="rect">
            <a:avLst/>
          </a:prstGeom>
          <a:noFill/>
          <a:ln w="28575" cap="sq">
            <a:solidFill>
              <a:schemeClr val="accent6"/>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39" name="Rectangle 138">
            <a:extLst>
              <a:ext uri="{FF2B5EF4-FFF2-40B4-BE49-F238E27FC236}">
                <a16:creationId xmlns:a16="http://schemas.microsoft.com/office/drawing/2014/main" id="{06594230-3FFF-A6C2-63CD-EB62C9F00B53}"/>
              </a:ext>
            </a:extLst>
          </p:cNvPr>
          <p:cNvSpPr/>
          <p:nvPr/>
        </p:nvSpPr>
        <p:spPr>
          <a:xfrm>
            <a:off x="1952143" y="3227653"/>
            <a:ext cx="883924" cy="1028759"/>
          </a:xfrm>
          <a:prstGeom prst="rect">
            <a:avLst/>
          </a:prstGeom>
          <a:noFill/>
          <a:ln w="28575" cap="sq">
            <a:solidFill>
              <a:schemeClr val="accent6"/>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41" name="Rectangle 140">
            <a:extLst>
              <a:ext uri="{FF2B5EF4-FFF2-40B4-BE49-F238E27FC236}">
                <a16:creationId xmlns:a16="http://schemas.microsoft.com/office/drawing/2014/main" id="{3A4C2584-AE57-F713-04AF-8058CCE921A1}"/>
              </a:ext>
            </a:extLst>
          </p:cNvPr>
          <p:cNvSpPr/>
          <p:nvPr/>
        </p:nvSpPr>
        <p:spPr>
          <a:xfrm>
            <a:off x="653458" y="2394794"/>
            <a:ext cx="173618" cy="185195"/>
          </a:xfrm>
          <a:prstGeom prst="rect">
            <a:avLst/>
          </a:prstGeom>
          <a:noFill/>
          <a:ln w="28575" cap="sq">
            <a:solidFill>
              <a:schemeClr val="accent6"/>
            </a:solid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42" name="TextBox 141">
            <a:extLst>
              <a:ext uri="{FF2B5EF4-FFF2-40B4-BE49-F238E27FC236}">
                <a16:creationId xmlns:a16="http://schemas.microsoft.com/office/drawing/2014/main" id="{A8F10738-5706-F31E-DD6A-2D618CC14488}"/>
              </a:ext>
            </a:extLst>
          </p:cNvPr>
          <p:cNvSpPr txBox="1"/>
          <p:nvPr/>
        </p:nvSpPr>
        <p:spPr>
          <a:xfrm>
            <a:off x="872525" y="2394794"/>
            <a:ext cx="2102993"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High risk of churn</a:t>
            </a:r>
          </a:p>
        </p:txBody>
      </p:sp>
      <p:sp>
        <p:nvSpPr>
          <p:cNvPr id="150" name="TextBox 149">
            <a:extLst>
              <a:ext uri="{FF2B5EF4-FFF2-40B4-BE49-F238E27FC236}">
                <a16:creationId xmlns:a16="http://schemas.microsoft.com/office/drawing/2014/main" id="{3F399526-F32C-34B3-2813-3A1FD8D89286}"/>
              </a:ext>
            </a:extLst>
          </p:cNvPr>
          <p:cNvSpPr txBox="1"/>
          <p:nvPr/>
        </p:nvSpPr>
        <p:spPr>
          <a:xfrm>
            <a:off x="4710433" y="2162819"/>
            <a:ext cx="37814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i="1"/>
              <a:t>Baseline scenario</a:t>
            </a:r>
          </a:p>
        </p:txBody>
      </p:sp>
      <p:cxnSp>
        <p:nvCxnSpPr>
          <p:cNvPr id="160" name="LineBasicVerticalDefault 54">
            <a:extLst>
              <a:ext uri="{FF2B5EF4-FFF2-40B4-BE49-F238E27FC236}">
                <a16:creationId xmlns:a16="http://schemas.microsoft.com/office/drawing/2014/main" id="{BF35FC5B-4D81-F07B-A8F2-6105C7CE5EF9}"/>
              </a:ext>
            </a:extLst>
          </p:cNvPr>
          <p:cNvCxnSpPr>
            <a:cxnSpLocks/>
          </p:cNvCxnSpPr>
          <p:nvPr>
            <p:custDataLst>
              <p:tags r:id="rId35"/>
            </p:custDataLst>
          </p:nvPr>
        </p:nvCxnSpPr>
        <p:spPr>
          <a:xfrm>
            <a:off x="4399277" y="1844040"/>
            <a:ext cx="0" cy="4341874"/>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CDFEE675-2BAD-463C-8B47-5C98E86CE63E}"/>
              </a:ext>
            </a:extLst>
          </p:cNvPr>
          <p:cNvSpPr txBox="1">
            <a:spLocks/>
          </p:cNvSpPr>
          <p:nvPr/>
        </p:nvSpPr>
        <p:spPr>
          <a:xfrm>
            <a:off x="8884477" y="1787517"/>
            <a:ext cx="2759655" cy="373308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a:t>Mass segment is </a:t>
            </a:r>
            <a:r>
              <a:rPr lang="en-US" b="1"/>
              <a:t>more susceptible to switch banks</a:t>
            </a:r>
            <a:r>
              <a:rPr lang="en-US"/>
              <a:t>, as they have lowest product and relationship attachments to banks</a:t>
            </a:r>
          </a:p>
          <a:p>
            <a:pPr marL="285750" indent="-285750">
              <a:buFont typeface="Arial" panose="020B0604020202020204" pitchFamily="34" charset="0"/>
              <a:buChar char="•"/>
            </a:pPr>
            <a:r>
              <a:rPr lang="en-US"/>
              <a:t>Based on other countries experience </a:t>
            </a:r>
            <a:r>
              <a:rPr lang="en-US" b="1"/>
              <a:t>30-40% churn </a:t>
            </a:r>
            <a:r>
              <a:rPr lang="en-US"/>
              <a:t>can be expected once liberalization is in force</a:t>
            </a:r>
            <a:endParaRPr lang="en-US" b="1"/>
          </a:p>
          <a:p>
            <a:pPr>
              <a:buNone/>
            </a:pPr>
            <a:endParaRPr lang="en-US"/>
          </a:p>
        </p:txBody>
      </p:sp>
      <p:sp>
        <p:nvSpPr>
          <p:cNvPr id="68" name="TextBox 67">
            <a:extLst>
              <a:ext uri="{FF2B5EF4-FFF2-40B4-BE49-F238E27FC236}">
                <a16:creationId xmlns:a16="http://schemas.microsoft.com/office/drawing/2014/main" id="{D845A593-9B72-5640-F9F0-3D5F547B7EFA}"/>
              </a:ext>
            </a:extLst>
          </p:cNvPr>
          <p:cNvSpPr txBox="1">
            <a:spLocks/>
          </p:cNvSpPr>
          <p:nvPr/>
        </p:nvSpPr>
        <p:spPr>
          <a:xfrm>
            <a:off x="8942688" y="1272540"/>
            <a:ext cx="2712573" cy="395013"/>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Key insights</a:t>
            </a:r>
          </a:p>
        </p:txBody>
      </p:sp>
      <p:cxnSp>
        <p:nvCxnSpPr>
          <p:cNvPr id="3" name="Straight Connector 2">
            <a:extLst>
              <a:ext uri="{FF2B5EF4-FFF2-40B4-BE49-F238E27FC236}">
                <a16:creationId xmlns:a16="http://schemas.microsoft.com/office/drawing/2014/main" id="{A8E528B4-8850-7077-D2AB-E7C8E455B912}"/>
              </a:ext>
            </a:extLst>
          </p:cNvPr>
          <p:cNvCxnSpPr>
            <a:cxnSpLocks/>
          </p:cNvCxnSpPr>
          <p:nvPr/>
        </p:nvCxnSpPr>
        <p:spPr>
          <a:xfrm>
            <a:off x="609600" y="1764667"/>
            <a:ext cx="7953949" cy="23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CDB8328-04F9-9DB0-085F-94DAEBD76847}"/>
              </a:ext>
            </a:extLst>
          </p:cNvPr>
          <p:cNvCxnSpPr>
            <a:cxnSpLocks/>
          </p:cNvCxnSpPr>
          <p:nvPr/>
        </p:nvCxnSpPr>
        <p:spPr>
          <a:xfrm>
            <a:off x="609600" y="1231267"/>
            <a:ext cx="7953949" cy="2348"/>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21FA1CF-ECB5-6236-569B-D9C85866FEC2}"/>
              </a:ext>
            </a:extLst>
          </p:cNvPr>
          <p:cNvCxnSpPr>
            <a:cxnSpLocks/>
          </p:cNvCxnSpPr>
          <p:nvPr/>
        </p:nvCxnSpPr>
        <p:spPr>
          <a:xfrm>
            <a:off x="8944723" y="1238620"/>
            <a:ext cx="2744357"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265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C77A2-CB97-444D-9FDD-79AA71B1FC00}"/>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9A941F5C-A6E3-811A-C3A4-A9DAA82CDE8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606" imgH="608" progId="TCLayout.ActiveDocument.1">
                  <p:embed/>
                </p:oleObj>
              </mc:Choice>
              <mc:Fallback>
                <p:oleObj name="think-cell Slide" r:id="rId26" imgW="606" imgH="608" progId="TCLayout.ActiveDocument.1">
                  <p:embed/>
                  <p:pic>
                    <p:nvPicPr>
                      <p:cNvPr id="5" name="Object 6" hidden="1">
                        <a:extLst>
                          <a:ext uri="{FF2B5EF4-FFF2-40B4-BE49-F238E27FC236}">
                            <a16:creationId xmlns:a16="http://schemas.microsoft.com/office/drawing/2014/main" id="{9A941F5C-A6E3-811A-C3A4-A9DAA82CDE83}"/>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053" name="Rectangle: Rounded Corners 2052">
            <a:extLst>
              <a:ext uri="{FF2B5EF4-FFF2-40B4-BE49-F238E27FC236}">
                <a16:creationId xmlns:a16="http://schemas.microsoft.com/office/drawing/2014/main" id="{F43AC067-E20C-C67F-AD38-65D8B3834E75}"/>
              </a:ext>
            </a:extLst>
          </p:cNvPr>
          <p:cNvSpPr>
            <a:spLocks/>
          </p:cNvSpPr>
          <p:nvPr/>
        </p:nvSpPr>
        <p:spPr>
          <a:xfrm>
            <a:off x="561807" y="1685483"/>
            <a:ext cx="1693713" cy="813878"/>
          </a:xfrm>
          <a:prstGeom prst="roundRect">
            <a:avLst>
              <a:gd name="adj" fmla="val 7125"/>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spcAft>
                <a:spcPts val="300"/>
              </a:spcAft>
            </a:pPr>
            <a:endParaRPr lang="en-US" sz="1400" b="1">
              <a:solidFill>
                <a:schemeClr val="bg1"/>
              </a:solidFill>
            </a:endParaRPr>
          </a:p>
        </p:txBody>
      </p:sp>
      <p:sp>
        <p:nvSpPr>
          <p:cNvPr id="2056" name="Rectangle: Rounded Corners 2055">
            <a:extLst>
              <a:ext uri="{FF2B5EF4-FFF2-40B4-BE49-F238E27FC236}">
                <a16:creationId xmlns:a16="http://schemas.microsoft.com/office/drawing/2014/main" id="{5EA7D38F-3AC2-5033-D80F-64AC20048FE3}"/>
              </a:ext>
            </a:extLst>
          </p:cNvPr>
          <p:cNvSpPr>
            <a:spLocks/>
          </p:cNvSpPr>
          <p:nvPr/>
        </p:nvSpPr>
        <p:spPr>
          <a:xfrm>
            <a:off x="561807" y="2601458"/>
            <a:ext cx="1693713" cy="1194878"/>
          </a:xfrm>
          <a:prstGeom prst="roundRect">
            <a:avLst>
              <a:gd name="adj" fmla="val 7125"/>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spcAft>
                <a:spcPts val="300"/>
              </a:spcAft>
            </a:pPr>
            <a:endParaRPr lang="en-US" sz="1400" b="1">
              <a:solidFill>
                <a:schemeClr val="bg1"/>
              </a:solidFill>
            </a:endParaRPr>
          </a:p>
        </p:txBody>
      </p:sp>
      <p:sp>
        <p:nvSpPr>
          <p:cNvPr id="2057" name="Rectangle: Rounded Corners 2056">
            <a:extLst>
              <a:ext uri="{FF2B5EF4-FFF2-40B4-BE49-F238E27FC236}">
                <a16:creationId xmlns:a16="http://schemas.microsoft.com/office/drawing/2014/main" id="{B719145D-6205-A444-0346-26B101023486}"/>
              </a:ext>
            </a:extLst>
          </p:cNvPr>
          <p:cNvSpPr>
            <a:spLocks/>
          </p:cNvSpPr>
          <p:nvPr/>
        </p:nvSpPr>
        <p:spPr>
          <a:xfrm>
            <a:off x="558271" y="3901588"/>
            <a:ext cx="1693713" cy="1103438"/>
          </a:xfrm>
          <a:prstGeom prst="roundRect">
            <a:avLst>
              <a:gd name="adj" fmla="val 7125"/>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spcAft>
                <a:spcPts val="300"/>
              </a:spcAft>
            </a:pPr>
            <a:endParaRPr lang="en-US" sz="1400" b="1">
              <a:solidFill>
                <a:schemeClr val="bg1"/>
              </a:solidFill>
            </a:endParaRPr>
          </a:p>
        </p:txBody>
      </p:sp>
      <p:sp>
        <p:nvSpPr>
          <p:cNvPr id="3" name="3. Subtitle">
            <a:extLst>
              <a:ext uri="{FF2B5EF4-FFF2-40B4-BE49-F238E27FC236}">
                <a16:creationId xmlns:a16="http://schemas.microsoft.com/office/drawing/2014/main" id="{37456499-07C9-89B7-7C4E-189CCE50BD78}"/>
              </a:ext>
            </a:extLst>
          </p:cNvPr>
          <p:cNvSpPr>
            <a:spLocks noGrp="1"/>
          </p:cNvSpPr>
          <p:nvPr>
            <p:ph type="subTitle" idx="1"/>
            <p:custDataLst>
              <p:tags r:id="rId2"/>
            </p:custDataLst>
          </p:nvPr>
        </p:nvSpPr>
        <p:spPr>
          <a:xfrm>
            <a:off x="543161" y="958596"/>
            <a:ext cx="11082528" cy="246221"/>
          </a:xfrm>
        </p:spPr>
        <p:txBody>
          <a:bodyPr/>
          <a:lstStyle/>
          <a:p>
            <a:endParaRPr lang="en-US"/>
          </a:p>
        </p:txBody>
      </p:sp>
      <p:sp>
        <p:nvSpPr>
          <p:cNvPr id="4" name="1. On-page tracker">
            <a:extLst>
              <a:ext uri="{FF2B5EF4-FFF2-40B4-BE49-F238E27FC236}">
                <a16:creationId xmlns:a16="http://schemas.microsoft.com/office/drawing/2014/main" id="{C3D4C136-09F1-FCDB-87D1-BE95927302BF}"/>
              </a:ext>
            </a:extLst>
          </p:cNvPr>
          <p:cNvSpPr>
            <a:spLocks noGrp="1"/>
          </p:cNvSpPr>
          <p:nvPr>
            <p:ph type="body" sz="quarter" idx="10"/>
            <p:custDataLst>
              <p:tags r:id="rId3"/>
            </p:custDataLst>
          </p:nvPr>
        </p:nvSpPr>
        <p:spPr/>
        <p:txBody>
          <a:bodyPr/>
          <a:lstStyle/>
          <a:p>
            <a:endParaRPr lang="en-US"/>
          </a:p>
        </p:txBody>
      </p:sp>
      <p:sp>
        <p:nvSpPr>
          <p:cNvPr id="8" name="Title 7">
            <a:extLst>
              <a:ext uri="{FF2B5EF4-FFF2-40B4-BE49-F238E27FC236}">
                <a16:creationId xmlns:a16="http://schemas.microsoft.com/office/drawing/2014/main" id="{A0DB5EE1-F706-C39B-959F-9F6CE503F98B}"/>
              </a:ext>
            </a:extLst>
          </p:cNvPr>
          <p:cNvSpPr>
            <a:spLocks noGrp="1"/>
          </p:cNvSpPr>
          <p:nvPr>
            <p:ph type="title"/>
          </p:nvPr>
        </p:nvSpPr>
        <p:spPr>
          <a:xfrm>
            <a:off x="1088019" y="165068"/>
            <a:ext cx="10514518" cy="738664"/>
          </a:xfrm>
        </p:spPr>
        <p:txBody>
          <a:bodyPr vert="horz"/>
          <a:lstStyle/>
          <a:p>
            <a:r>
              <a:rPr lang="en-US"/>
              <a:t>PASHA can ensure corporate lock-in through strategic business-targeted actions</a:t>
            </a:r>
          </a:p>
        </p:txBody>
      </p:sp>
      <p:sp>
        <p:nvSpPr>
          <p:cNvPr id="6" name="TextBox 5">
            <a:extLst>
              <a:ext uri="{FF2B5EF4-FFF2-40B4-BE49-F238E27FC236}">
                <a16:creationId xmlns:a16="http://schemas.microsoft.com/office/drawing/2014/main" id="{AE26DF23-2412-4CFA-77EA-627CCB2E5820}"/>
              </a:ext>
            </a:extLst>
          </p:cNvPr>
          <p:cNvSpPr txBox="1"/>
          <p:nvPr>
            <p:custDataLst>
              <p:tags r:id="rId4"/>
            </p:custDataLst>
          </p:nvPr>
        </p:nvSpPr>
        <p:spPr>
          <a:xfrm>
            <a:off x="554734" y="1364094"/>
            <a:ext cx="2003063"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Strategic Action</a:t>
            </a:r>
          </a:p>
        </p:txBody>
      </p:sp>
      <p:sp>
        <p:nvSpPr>
          <p:cNvPr id="7" name="TextBox 6">
            <a:extLst>
              <a:ext uri="{FF2B5EF4-FFF2-40B4-BE49-F238E27FC236}">
                <a16:creationId xmlns:a16="http://schemas.microsoft.com/office/drawing/2014/main" id="{68EE1E43-4361-8C05-C6B6-33461BC8FDB7}"/>
              </a:ext>
            </a:extLst>
          </p:cNvPr>
          <p:cNvSpPr txBox="1"/>
          <p:nvPr>
            <p:custDataLst>
              <p:tags r:id="rId5"/>
            </p:custDataLst>
          </p:nvPr>
        </p:nvSpPr>
        <p:spPr>
          <a:xfrm>
            <a:off x="623675" y="1872793"/>
            <a:ext cx="1562905" cy="43088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b="1">
                <a:solidFill>
                  <a:schemeClr val="bg1"/>
                </a:solidFill>
              </a:rPr>
              <a:t>Exclusive long-term contracts</a:t>
            </a:r>
          </a:p>
        </p:txBody>
      </p:sp>
      <p:sp>
        <p:nvSpPr>
          <p:cNvPr id="10" name="TextBox 9">
            <a:extLst>
              <a:ext uri="{FF2B5EF4-FFF2-40B4-BE49-F238E27FC236}">
                <a16:creationId xmlns:a16="http://schemas.microsoft.com/office/drawing/2014/main" id="{D395F4E3-C19C-0CB7-40DC-E5FCDD0E12EF}"/>
              </a:ext>
            </a:extLst>
          </p:cNvPr>
          <p:cNvSpPr txBox="1"/>
          <p:nvPr>
            <p:custDataLst>
              <p:tags r:id="rId6"/>
            </p:custDataLst>
          </p:nvPr>
        </p:nvSpPr>
        <p:spPr>
          <a:xfrm>
            <a:off x="623675" y="2836082"/>
            <a:ext cx="1562905" cy="64633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b="1">
                <a:solidFill>
                  <a:schemeClr val="bg1"/>
                </a:solidFill>
              </a:rPr>
              <a:t>Bundles &amp; preferential lending</a:t>
            </a:r>
          </a:p>
        </p:txBody>
      </p:sp>
      <p:sp>
        <p:nvSpPr>
          <p:cNvPr id="12" name="TextBox 11">
            <a:extLst>
              <a:ext uri="{FF2B5EF4-FFF2-40B4-BE49-F238E27FC236}">
                <a16:creationId xmlns:a16="http://schemas.microsoft.com/office/drawing/2014/main" id="{4CA348C1-5607-733E-8876-1C7F022F23A1}"/>
              </a:ext>
            </a:extLst>
          </p:cNvPr>
          <p:cNvSpPr txBox="1"/>
          <p:nvPr>
            <p:custDataLst>
              <p:tags r:id="rId7"/>
            </p:custDataLst>
          </p:nvPr>
        </p:nvSpPr>
        <p:spPr>
          <a:xfrm>
            <a:off x="623675" y="4237864"/>
            <a:ext cx="1562905" cy="43088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fontAlgn="t">
              <a:buNone/>
            </a:pPr>
            <a:r>
              <a:rPr lang="en-US" b="1">
                <a:solidFill>
                  <a:schemeClr val="bg1"/>
                </a:solidFill>
              </a:rPr>
              <a:t>Value prop for decision makers</a:t>
            </a:r>
          </a:p>
        </p:txBody>
      </p:sp>
      <p:sp>
        <p:nvSpPr>
          <p:cNvPr id="14" name="TextBox 13">
            <a:extLst>
              <a:ext uri="{FF2B5EF4-FFF2-40B4-BE49-F238E27FC236}">
                <a16:creationId xmlns:a16="http://schemas.microsoft.com/office/drawing/2014/main" id="{18E6DB81-1976-DDCD-5DC5-8AD0C40C853F}"/>
              </a:ext>
            </a:extLst>
          </p:cNvPr>
          <p:cNvSpPr txBox="1"/>
          <p:nvPr>
            <p:custDataLst>
              <p:tags r:id="rId8"/>
            </p:custDataLst>
          </p:nvPr>
        </p:nvSpPr>
        <p:spPr>
          <a:xfrm>
            <a:off x="2365037" y="1364094"/>
            <a:ext cx="3391706"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Description &amp; Enhancements</a:t>
            </a:r>
          </a:p>
        </p:txBody>
      </p:sp>
      <p:sp>
        <p:nvSpPr>
          <p:cNvPr id="15" name="TextBox 14">
            <a:extLst>
              <a:ext uri="{FF2B5EF4-FFF2-40B4-BE49-F238E27FC236}">
                <a16:creationId xmlns:a16="http://schemas.microsoft.com/office/drawing/2014/main" id="{96093111-FFD2-AFAB-139B-3200F87E65E5}"/>
              </a:ext>
            </a:extLst>
          </p:cNvPr>
          <p:cNvSpPr txBox="1"/>
          <p:nvPr>
            <p:custDataLst>
              <p:tags r:id="rId9"/>
            </p:custDataLst>
          </p:nvPr>
        </p:nvSpPr>
        <p:spPr>
          <a:xfrm>
            <a:off x="2365037" y="1706538"/>
            <a:ext cx="3941170" cy="7559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sz="1300"/>
              <a:t>Sign 3-year </a:t>
            </a:r>
            <a:r>
              <a:rPr lang="en-US" sz="1300" b="1"/>
              <a:t>exclusive payroll agreements </a:t>
            </a:r>
            <a:r>
              <a:rPr lang="en-US" sz="1300"/>
              <a:t>with a </a:t>
            </a:r>
            <a:r>
              <a:rPr lang="en-US" sz="1300" b="1"/>
              <a:t>lump-sum promotion</a:t>
            </a:r>
            <a:r>
              <a:rPr lang="en-US" sz="1300"/>
              <a:t>/</a:t>
            </a:r>
            <a:r>
              <a:rPr lang="en-US" sz="1300" b="1"/>
              <a:t>bonus</a:t>
            </a:r>
            <a:r>
              <a:rPr lang="en-US" sz="1300"/>
              <a:t> (cash incentive) upfront to the company to win their payroll mandate</a:t>
            </a:r>
          </a:p>
        </p:txBody>
      </p:sp>
      <p:sp>
        <p:nvSpPr>
          <p:cNvPr id="17" name="TextBox 16">
            <a:extLst>
              <a:ext uri="{FF2B5EF4-FFF2-40B4-BE49-F238E27FC236}">
                <a16:creationId xmlns:a16="http://schemas.microsoft.com/office/drawing/2014/main" id="{D641A970-1E2E-72EE-8660-C39F5EEB7900}"/>
              </a:ext>
            </a:extLst>
          </p:cNvPr>
          <p:cNvSpPr txBox="1"/>
          <p:nvPr>
            <p:custDataLst>
              <p:tags r:id="rId10"/>
            </p:custDataLst>
          </p:nvPr>
        </p:nvSpPr>
        <p:spPr>
          <a:xfrm>
            <a:off x="2365036" y="2669827"/>
            <a:ext cx="3948429" cy="1103387"/>
          </a:xfrm>
          <a:prstGeom prst="rect">
            <a:avLst/>
          </a:prstGeom>
        </p:spPr>
        <p:txBody>
          <a:bodyPr vert="horz" wrap="square" lIns="0" tIns="0" rIns="0" bIns="0" rtlCol="0" anchor="t">
            <a:noAutofit/>
          </a:bodyPr>
          <a:lstStyle>
            <a:defPPr>
              <a:defRPr lang="en-US"/>
            </a:defPPr>
            <a:lvl1pPr marL="285750" lvl="0" indent="-285750">
              <a:lnSpc>
                <a:spcPct val="100000"/>
              </a:lnSpc>
              <a:spcBef>
                <a:spcPts val="300"/>
              </a:spcBef>
              <a:spcAft>
                <a:spcPts val="300"/>
              </a:spcAft>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a:t>Offer the company </a:t>
            </a:r>
            <a:r>
              <a:rPr lang="en-US" sz="1300" b="1"/>
              <a:t>"Payroll Support Loans" </a:t>
            </a:r>
            <a:r>
              <a:rPr lang="en-US" sz="1300"/>
              <a:t>to cover short-term payroll needs</a:t>
            </a:r>
          </a:p>
          <a:p>
            <a:r>
              <a:rPr lang="en-US" sz="1300"/>
              <a:t>Bundles/platforms with </a:t>
            </a:r>
            <a:r>
              <a:rPr lang="en-US" sz="1300" b="1"/>
              <a:t>comprehensive employee products</a:t>
            </a:r>
            <a:r>
              <a:rPr lang="en-US" sz="1300"/>
              <a:t>, insurance and pension plans as a ‘one-stop-shop’</a:t>
            </a:r>
          </a:p>
        </p:txBody>
      </p:sp>
      <p:sp>
        <p:nvSpPr>
          <p:cNvPr id="18" name="TextBox 17">
            <a:extLst>
              <a:ext uri="{FF2B5EF4-FFF2-40B4-BE49-F238E27FC236}">
                <a16:creationId xmlns:a16="http://schemas.microsoft.com/office/drawing/2014/main" id="{BB73587F-A8ED-D4A9-0B09-FF691E802149}"/>
              </a:ext>
            </a:extLst>
          </p:cNvPr>
          <p:cNvSpPr txBox="1"/>
          <p:nvPr>
            <p:custDataLst>
              <p:tags r:id="rId11"/>
            </p:custDataLst>
          </p:nvPr>
        </p:nvSpPr>
        <p:spPr>
          <a:xfrm>
            <a:off x="2365037" y="3932417"/>
            <a:ext cx="3615349" cy="755967"/>
          </a:xfrm>
          <a:prstGeom prst="rect">
            <a:avLst/>
          </a:prstGeom>
        </p:spPr>
        <p:txBody>
          <a:bodyPr vert="horz" wrap="square" lIns="0" tIns="0" rIns="0" bIns="0" rtlCol="0" anchor="t">
            <a:noAutofit/>
          </a:bodyPr>
          <a:lstStyle>
            <a:defPPr>
              <a:defRPr lang="en-US"/>
            </a:defPPr>
            <a:lvl1pPr marL="285750" lvl="0" indent="-285750">
              <a:lnSpc>
                <a:spcPct val="100000"/>
              </a:lnSpc>
              <a:spcBef>
                <a:spcPts val="300"/>
              </a:spcBef>
              <a:spcAft>
                <a:spcPts val="300"/>
              </a:spcAft>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b="1"/>
              <a:t>Target the CFOs and CEOs</a:t>
            </a:r>
            <a:r>
              <a:rPr lang="en-US" sz="1300"/>
              <a:t>. Offer VIP Private Banking status, waived fees on corporate trade finance, and salary rebates (e.g., 1% cashback to the company on total salaries transferred)</a:t>
            </a:r>
          </a:p>
        </p:txBody>
      </p:sp>
      <p:sp>
        <p:nvSpPr>
          <p:cNvPr id="19" name="TextBox 18">
            <a:extLst>
              <a:ext uri="{FF2B5EF4-FFF2-40B4-BE49-F238E27FC236}">
                <a16:creationId xmlns:a16="http://schemas.microsoft.com/office/drawing/2014/main" id="{ACF22263-9C14-39BE-A26E-CB8A36595ECE}"/>
              </a:ext>
            </a:extLst>
          </p:cNvPr>
          <p:cNvSpPr txBox="1"/>
          <p:nvPr>
            <p:custDataLst>
              <p:tags r:id="rId12"/>
            </p:custDataLst>
          </p:nvPr>
        </p:nvSpPr>
        <p:spPr>
          <a:xfrm>
            <a:off x="6574420" y="1364094"/>
            <a:ext cx="2003063"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Market Examples</a:t>
            </a:r>
          </a:p>
        </p:txBody>
      </p:sp>
      <p:sp>
        <p:nvSpPr>
          <p:cNvPr id="20" name="TextBox 19">
            <a:extLst>
              <a:ext uri="{FF2B5EF4-FFF2-40B4-BE49-F238E27FC236}">
                <a16:creationId xmlns:a16="http://schemas.microsoft.com/office/drawing/2014/main" id="{B5550C7A-21E9-AD05-AA66-A9BF386EAC6B}"/>
              </a:ext>
            </a:extLst>
          </p:cNvPr>
          <p:cNvSpPr txBox="1"/>
          <p:nvPr>
            <p:custDataLst>
              <p:tags r:id="rId13"/>
            </p:custDataLst>
          </p:nvPr>
        </p:nvSpPr>
        <p:spPr>
          <a:xfrm>
            <a:off x="6574420" y="1706538"/>
            <a:ext cx="2974694" cy="7559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a:t>Garanti BBVA and </a:t>
            </a:r>
            <a:r>
              <a:rPr lang="en-US" sz="1300" err="1"/>
              <a:t>Akbank</a:t>
            </a:r>
            <a:r>
              <a:rPr lang="en-US" sz="1300"/>
              <a:t> use "</a:t>
            </a:r>
            <a:r>
              <a:rPr lang="en-US" sz="1300" b="1" err="1"/>
              <a:t>Maaş</a:t>
            </a:r>
            <a:r>
              <a:rPr lang="en-US" sz="1300" b="1"/>
              <a:t> </a:t>
            </a:r>
            <a:r>
              <a:rPr lang="en-US" sz="1300" b="1" err="1"/>
              <a:t>Promosyonu</a:t>
            </a:r>
            <a:r>
              <a:rPr lang="en-US" sz="1300"/>
              <a:t>" model to fiercely compete for public and private sector payrolls</a:t>
            </a:r>
          </a:p>
        </p:txBody>
      </p:sp>
      <p:sp>
        <p:nvSpPr>
          <p:cNvPr id="24" name="TextBox 23">
            <a:extLst>
              <a:ext uri="{FF2B5EF4-FFF2-40B4-BE49-F238E27FC236}">
                <a16:creationId xmlns:a16="http://schemas.microsoft.com/office/drawing/2014/main" id="{A6A4CE4C-61E1-CCE3-5E0C-F794F258E9C7}"/>
              </a:ext>
            </a:extLst>
          </p:cNvPr>
          <p:cNvSpPr txBox="1"/>
          <p:nvPr>
            <p:custDataLst>
              <p:tags r:id="rId14"/>
            </p:custDataLst>
          </p:nvPr>
        </p:nvSpPr>
        <p:spPr>
          <a:xfrm>
            <a:off x="6574420" y="2669827"/>
            <a:ext cx="3133460" cy="7559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a:t>ABB’s </a:t>
            </a:r>
            <a:r>
              <a:rPr lang="en-US" sz="1300" b="1"/>
              <a:t>Payroll Support credit line </a:t>
            </a:r>
            <a:r>
              <a:rPr lang="en-US" sz="1300"/>
              <a:t>covers short-term payroll needs</a:t>
            </a:r>
          </a:p>
          <a:p>
            <a:r>
              <a:rPr lang="en-US" sz="1300"/>
              <a:t>İşbank often bundles corporate loans with </a:t>
            </a:r>
            <a:r>
              <a:rPr lang="en-US" sz="1300" b="1"/>
              <a:t>group life and health insurance packages</a:t>
            </a:r>
          </a:p>
        </p:txBody>
      </p:sp>
      <p:sp>
        <p:nvSpPr>
          <p:cNvPr id="25" name="TextBox 24">
            <a:extLst>
              <a:ext uri="{FF2B5EF4-FFF2-40B4-BE49-F238E27FC236}">
                <a16:creationId xmlns:a16="http://schemas.microsoft.com/office/drawing/2014/main" id="{9B444194-DD7F-601D-CC90-7AD19C7D69D0}"/>
              </a:ext>
            </a:extLst>
          </p:cNvPr>
          <p:cNvSpPr txBox="1"/>
          <p:nvPr>
            <p:custDataLst>
              <p:tags r:id="rId15"/>
            </p:custDataLst>
          </p:nvPr>
        </p:nvSpPr>
        <p:spPr>
          <a:xfrm>
            <a:off x="6547738" y="3932417"/>
            <a:ext cx="2908778" cy="7559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a:t>QNB Finansbank offers </a:t>
            </a:r>
            <a:r>
              <a:rPr lang="en-US" sz="1300" b="1"/>
              <a:t>specialized premium credit cards </a:t>
            </a:r>
            <a:r>
              <a:rPr lang="en-US" sz="1300"/>
              <a:t>and high-yield corporate deposits strictly for the executives of their payroll clients</a:t>
            </a:r>
          </a:p>
        </p:txBody>
      </p:sp>
      <p:cxnSp>
        <p:nvCxnSpPr>
          <p:cNvPr id="36" name="Straight Connector 35">
            <a:extLst>
              <a:ext uri="{FF2B5EF4-FFF2-40B4-BE49-F238E27FC236}">
                <a16:creationId xmlns:a16="http://schemas.microsoft.com/office/drawing/2014/main" id="{7E7EDD04-1A9E-8193-40BC-E98557FF6423}"/>
              </a:ext>
            </a:extLst>
          </p:cNvPr>
          <p:cNvCxnSpPr>
            <a:cxnSpLocks/>
          </p:cNvCxnSpPr>
          <p:nvPr>
            <p:custDataLst>
              <p:tags r:id="rId16"/>
            </p:custDataLst>
          </p:nvPr>
        </p:nvCxnSpPr>
        <p:spPr>
          <a:xfrm>
            <a:off x="554734" y="1643038"/>
            <a:ext cx="11031316" cy="0"/>
          </a:xfrm>
          <a:prstGeom prst="line">
            <a:avLst/>
          </a:prstGeom>
          <a:ln w="12700" cap="sq">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DAF1F819-A1C6-726B-8AC6-3A0F5DEE3824}"/>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660255" y="1724716"/>
            <a:ext cx="1510665" cy="27118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C994E90-3986-84AB-91F4-8D426A8DCE56}"/>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822181" y="2174559"/>
            <a:ext cx="1318260" cy="142811"/>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C51592EE-DECF-4655-CEE4-8A26B8DCB199}"/>
              </a:ext>
            </a:extLst>
          </p:cNvPr>
          <p:cNvGrpSpPr/>
          <p:nvPr/>
        </p:nvGrpSpPr>
        <p:grpSpPr>
          <a:xfrm>
            <a:off x="561807" y="5111853"/>
            <a:ext cx="1693713" cy="920557"/>
            <a:chOff x="561807" y="2599882"/>
            <a:chExt cx="1693713" cy="920557"/>
          </a:xfrm>
        </p:grpSpPr>
        <p:sp>
          <p:nvSpPr>
            <p:cNvPr id="2055" name="Rectangle: Rounded Corners 2054">
              <a:extLst>
                <a:ext uri="{FF2B5EF4-FFF2-40B4-BE49-F238E27FC236}">
                  <a16:creationId xmlns:a16="http://schemas.microsoft.com/office/drawing/2014/main" id="{6D3E6789-2C0B-DB11-1C13-404A2BB23558}"/>
                </a:ext>
              </a:extLst>
            </p:cNvPr>
            <p:cNvSpPr>
              <a:spLocks/>
            </p:cNvSpPr>
            <p:nvPr/>
          </p:nvSpPr>
          <p:spPr>
            <a:xfrm>
              <a:off x="561807" y="2599882"/>
              <a:ext cx="1693713" cy="920557"/>
            </a:xfrm>
            <a:prstGeom prst="roundRect">
              <a:avLst>
                <a:gd name="adj" fmla="val 7125"/>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spcAft>
                  <a:spcPts val="300"/>
                </a:spcAft>
              </a:pPr>
              <a:endParaRPr lang="en-US" sz="1400" b="1">
                <a:solidFill>
                  <a:schemeClr val="bg1"/>
                </a:solidFill>
              </a:endParaRPr>
            </a:p>
          </p:txBody>
        </p:sp>
        <p:sp>
          <p:nvSpPr>
            <p:cNvPr id="9" name="TextBox 8">
              <a:extLst>
                <a:ext uri="{FF2B5EF4-FFF2-40B4-BE49-F238E27FC236}">
                  <a16:creationId xmlns:a16="http://schemas.microsoft.com/office/drawing/2014/main" id="{2446C276-F5C5-356E-C4D8-26AEF2B83DC0}"/>
                </a:ext>
              </a:extLst>
            </p:cNvPr>
            <p:cNvSpPr txBox="1"/>
            <p:nvPr>
              <p:custDataLst>
                <p:tags r:id="rId23"/>
              </p:custDataLst>
            </p:nvPr>
          </p:nvSpPr>
          <p:spPr>
            <a:xfrm>
              <a:off x="623675" y="2813633"/>
              <a:ext cx="1562905" cy="43088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b="1">
                  <a:solidFill>
                    <a:schemeClr val="bg1"/>
                  </a:solidFill>
                </a:rPr>
                <a:t>ERP &amp; Treasury Integration</a:t>
              </a:r>
            </a:p>
          </p:txBody>
        </p:sp>
      </p:grpSp>
      <p:sp>
        <p:nvSpPr>
          <p:cNvPr id="16" name="TextBox 15">
            <a:extLst>
              <a:ext uri="{FF2B5EF4-FFF2-40B4-BE49-F238E27FC236}">
                <a16:creationId xmlns:a16="http://schemas.microsoft.com/office/drawing/2014/main" id="{D60E8750-DA77-3F40-7588-0B12625F29D7}"/>
              </a:ext>
            </a:extLst>
          </p:cNvPr>
          <p:cNvSpPr txBox="1"/>
          <p:nvPr>
            <p:custDataLst>
              <p:tags r:id="rId17"/>
            </p:custDataLst>
          </p:nvPr>
        </p:nvSpPr>
        <p:spPr>
          <a:xfrm>
            <a:off x="2365038" y="5159349"/>
            <a:ext cx="3514902" cy="755967"/>
          </a:xfrm>
          <a:prstGeom prst="rect">
            <a:avLst/>
          </a:prstGeom>
        </p:spPr>
        <p:txBody>
          <a:bodyPr vert="horz" wrap="square" lIns="0" tIns="0" rIns="0" bIns="0" rtlCol="0" anchor="t">
            <a:noAutofit/>
          </a:bodyPr>
          <a:lstStyle>
            <a:defPPr>
              <a:defRPr lang="en-US"/>
            </a:defPPr>
            <a:lvl1pPr marL="285750" lvl="0" indent="-285750">
              <a:lnSpc>
                <a:spcPct val="100000"/>
              </a:lnSpc>
              <a:spcBef>
                <a:spcPts val="300"/>
              </a:spcBef>
              <a:spcAft>
                <a:spcPts val="300"/>
              </a:spcAft>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a:t>Offer </a:t>
            </a:r>
            <a:r>
              <a:rPr lang="en-US" sz="1300" b="1"/>
              <a:t>mandatory automated mass-upload systems </a:t>
            </a:r>
            <a:r>
              <a:rPr lang="en-US" sz="1300"/>
              <a:t>and dedicated digital HR portals for seamless onboarding and offboarding of employees</a:t>
            </a:r>
          </a:p>
        </p:txBody>
      </p:sp>
      <p:sp>
        <p:nvSpPr>
          <p:cNvPr id="21" name="TextBox 20">
            <a:extLst>
              <a:ext uri="{FF2B5EF4-FFF2-40B4-BE49-F238E27FC236}">
                <a16:creationId xmlns:a16="http://schemas.microsoft.com/office/drawing/2014/main" id="{8B3A1B65-EA76-BB74-3D61-8E00875AABFB}"/>
              </a:ext>
            </a:extLst>
          </p:cNvPr>
          <p:cNvSpPr txBox="1"/>
          <p:nvPr>
            <p:custDataLst>
              <p:tags r:id="rId18"/>
            </p:custDataLst>
          </p:nvPr>
        </p:nvSpPr>
        <p:spPr>
          <a:xfrm>
            <a:off x="6574419" y="5174118"/>
            <a:ext cx="3136739" cy="7559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300" err="1"/>
              <a:t>Yapı</a:t>
            </a:r>
            <a:r>
              <a:rPr lang="en-US" sz="1300"/>
              <a:t> </a:t>
            </a:r>
            <a:r>
              <a:rPr lang="en-US" sz="1300" err="1"/>
              <a:t>Kredi</a:t>
            </a:r>
            <a:r>
              <a:rPr lang="en-US" sz="1300"/>
              <a:t> offers deep integration with </a:t>
            </a:r>
            <a:r>
              <a:rPr lang="en-US" sz="1300" b="1"/>
              <a:t>corporate accounting systems</a:t>
            </a:r>
            <a:r>
              <a:rPr lang="en-US" sz="1300"/>
              <a:t>, making the </a:t>
            </a:r>
            <a:r>
              <a:rPr lang="en-US" sz="1300" b="1"/>
              <a:t>operational cost of switching banks high </a:t>
            </a:r>
            <a:r>
              <a:rPr lang="en-US" sz="1300"/>
              <a:t>for HR and Finance</a:t>
            </a:r>
          </a:p>
        </p:txBody>
      </p:sp>
      <p:pic>
        <p:nvPicPr>
          <p:cNvPr id="2054" name="Picture 6">
            <a:extLst>
              <a:ext uri="{FF2B5EF4-FFF2-40B4-BE49-F238E27FC236}">
                <a16:creationId xmlns:a16="http://schemas.microsoft.com/office/drawing/2014/main" id="{18E81E70-0929-A2AE-8188-7CF3659EEABF}"/>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860280" y="5087531"/>
            <a:ext cx="975360" cy="54864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4BC2E2A5-BBC5-1935-E9F0-DB0D8EB5329C}"/>
              </a:ext>
            </a:extLst>
          </p:cNvPr>
          <p:cNvPicPr>
            <a:picLocks noChangeAspect="1"/>
          </p:cNvPicPr>
          <p:nvPr/>
        </p:nvPicPr>
        <p:blipFill>
          <a:blip r:embed="rId31"/>
          <a:stretch>
            <a:fillRect/>
          </a:stretch>
        </p:blipFill>
        <p:spPr>
          <a:xfrm>
            <a:off x="9982200" y="5578068"/>
            <a:ext cx="892352" cy="286703"/>
          </a:xfrm>
          <a:prstGeom prst="rect">
            <a:avLst/>
          </a:prstGeom>
        </p:spPr>
      </p:pic>
      <p:pic>
        <p:nvPicPr>
          <p:cNvPr id="57" name="Picture 56">
            <a:extLst>
              <a:ext uri="{FF2B5EF4-FFF2-40B4-BE49-F238E27FC236}">
                <a16:creationId xmlns:a16="http://schemas.microsoft.com/office/drawing/2014/main" id="{D519D85F-3B60-2A41-0497-25BF07F7C4D9}"/>
              </a:ext>
            </a:extLst>
          </p:cNvPr>
          <p:cNvPicPr>
            <a:picLocks noChangeAspect="1"/>
          </p:cNvPicPr>
          <p:nvPr/>
        </p:nvPicPr>
        <p:blipFill>
          <a:blip r:embed="rId31"/>
          <a:stretch>
            <a:fillRect/>
          </a:stretch>
        </p:blipFill>
        <p:spPr>
          <a:xfrm>
            <a:off x="10035135" y="3335953"/>
            <a:ext cx="892352" cy="286703"/>
          </a:xfrm>
          <a:prstGeom prst="rect">
            <a:avLst/>
          </a:prstGeom>
        </p:spPr>
      </p:pic>
      <p:pic>
        <p:nvPicPr>
          <p:cNvPr id="2058" name="Picture 10" descr="QNB Finansbank Şirketi Profil Bilgileri">
            <a:extLst>
              <a:ext uri="{FF2B5EF4-FFF2-40B4-BE49-F238E27FC236}">
                <a16:creationId xmlns:a16="http://schemas.microsoft.com/office/drawing/2014/main" id="{CB56105B-2BFA-DFFD-68A8-BFC590FC4DFC}"/>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814560" y="4083039"/>
            <a:ext cx="1188720" cy="47761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BB">
            <a:extLst>
              <a:ext uri="{FF2B5EF4-FFF2-40B4-BE49-F238E27FC236}">
                <a16:creationId xmlns:a16="http://schemas.microsoft.com/office/drawing/2014/main" id="{76903C32-D44B-A32B-85E8-4F8816EEFDA0}"/>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982200" y="2639376"/>
            <a:ext cx="924910" cy="418498"/>
          </a:xfrm>
          <a:prstGeom prst="rect">
            <a:avLst/>
          </a:prstGeom>
          <a:noFill/>
          <a:extLst>
            <a:ext uri="{909E8E84-426E-40DD-AFC4-6F175D3DCCD1}">
              <a14:hiddenFill xmlns:a14="http://schemas.microsoft.com/office/drawing/2010/main">
                <a:solidFill>
                  <a:srgbClr val="FFFFFF"/>
                </a:solidFill>
              </a14:hiddenFill>
            </a:ext>
          </a:extLst>
        </p:spPr>
      </p:pic>
      <p:cxnSp>
        <p:nvCxnSpPr>
          <p:cNvPr id="58" name="LineBasicDefault 58">
            <a:extLst>
              <a:ext uri="{FF2B5EF4-FFF2-40B4-BE49-F238E27FC236}">
                <a16:creationId xmlns:a16="http://schemas.microsoft.com/office/drawing/2014/main" id="{0D26EB2E-1A85-BDBE-AD60-908C5956168A}"/>
              </a:ext>
            </a:extLst>
          </p:cNvPr>
          <p:cNvCxnSpPr>
            <a:cxnSpLocks/>
          </p:cNvCxnSpPr>
          <p:nvPr>
            <p:custDataLst>
              <p:tags r:id="rId19"/>
            </p:custDataLst>
          </p:nvPr>
        </p:nvCxnSpPr>
        <p:spPr>
          <a:xfrm>
            <a:off x="554734" y="5059941"/>
            <a:ext cx="11058146"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1" name="LineBasicDefault 58">
            <a:extLst>
              <a:ext uri="{FF2B5EF4-FFF2-40B4-BE49-F238E27FC236}">
                <a16:creationId xmlns:a16="http://schemas.microsoft.com/office/drawing/2014/main" id="{AF7FCAEF-AB03-CCBC-7735-7B1EB5F8F115}"/>
              </a:ext>
            </a:extLst>
          </p:cNvPr>
          <p:cNvCxnSpPr>
            <a:cxnSpLocks/>
          </p:cNvCxnSpPr>
          <p:nvPr>
            <p:custDataLst>
              <p:tags r:id="rId20"/>
            </p:custDataLst>
          </p:nvPr>
        </p:nvCxnSpPr>
        <p:spPr>
          <a:xfrm>
            <a:off x="554734" y="2554276"/>
            <a:ext cx="11058146"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2" name="LineBasicDefault 58">
            <a:extLst>
              <a:ext uri="{FF2B5EF4-FFF2-40B4-BE49-F238E27FC236}">
                <a16:creationId xmlns:a16="http://schemas.microsoft.com/office/drawing/2014/main" id="{89ECA1CB-B95D-3C39-D649-CFFF5E4E2A5C}"/>
              </a:ext>
            </a:extLst>
          </p:cNvPr>
          <p:cNvCxnSpPr>
            <a:cxnSpLocks/>
          </p:cNvCxnSpPr>
          <p:nvPr>
            <p:custDataLst>
              <p:tags r:id="rId21"/>
            </p:custDataLst>
          </p:nvPr>
        </p:nvCxnSpPr>
        <p:spPr>
          <a:xfrm>
            <a:off x="554734" y="3849676"/>
            <a:ext cx="11058146"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7" name="TrackerNumBlue 35">
            <a:extLst>
              <a:ext uri="{FF2B5EF4-FFF2-40B4-BE49-F238E27FC236}">
                <a16:creationId xmlns:a16="http://schemas.microsoft.com/office/drawing/2014/main" id="{49F00899-5CC6-C157-FCA4-C1E72292CD28}"/>
              </a:ext>
            </a:extLst>
          </p:cNvPr>
          <p:cNvSpPr/>
          <p:nvPr>
            <p:custDataLst>
              <p:tags r:id="rId22"/>
            </p:custDataLst>
          </p:nvPr>
        </p:nvSpPr>
        <p:spPr>
          <a:xfrm>
            <a:off x="547688" y="219043"/>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A</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spTree>
    <p:extLst>
      <p:ext uri="{BB962C8B-B14F-4D97-AF65-F5344CB8AC3E}">
        <p14:creationId xmlns:p14="http://schemas.microsoft.com/office/powerpoint/2010/main" val="674957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E26E4-0A2C-EFAA-DB54-A3E755CD1885}"/>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A909C04C-ABA3-274C-CCB2-ED9DCB673F96}"/>
              </a:ext>
            </a:extLst>
          </p:cNvPr>
          <p:cNvGraphicFramePr>
            <a:graphicFrameLocks noChangeAspect="1"/>
          </p:cNvGraphicFramePr>
          <p:nvPr>
            <p:custDataLst>
              <p:tags r:id="rId1"/>
            </p:custDataLst>
            <p:extLst>
              <p:ext uri="{D42A27DB-BD31-4B8C-83A1-F6EECF244321}">
                <p14:modId xmlns:p14="http://schemas.microsoft.com/office/powerpoint/2010/main" val="1983854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606" imgH="608" progId="TCLayout.ActiveDocument.1">
                  <p:embed/>
                </p:oleObj>
              </mc:Choice>
              <mc:Fallback>
                <p:oleObj name="think-cell Slide" r:id="rId18" imgW="606" imgH="608" progId="TCLayout.ActiveDocument.1">
                  <p:embed/>
                  <p:pic>
                    <p:nvPicPr>
                      <p:cNvPr id="5" name="Object 6" hidden="1">
                        <a:extLst>
                          <a:ext uri="{FF2B5EF4-FFF2-40B4-BE49-F238E27FC236}">
                            <a16:creationId xmlns:a16="http://schemas.microsoft.com/office/drawing/2014/main" id="{A909C04C-ABA3-274C-CCB2-ED9DCB673F96}"/>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6BCE2C4-3506-722B-8811-01A5C6367871}"/>
              </a:ext>
            </a:extLst>
          </p:cNvPr>
          <p:cNvSpPr>
            <a:spLocks noGrp="1"/>
          </p:cNvSpPr>
          <p:nvPr>
            <p:ph type="title"/>
            <p:custDataLst>
              <p:tags r:id="rId2"/>
            </p:custDataLst>
          </p:nvPr>
        </p:nvSpPr>
        <p:spPr>
          <a:xfrm>
            <a:off x="1040871" y="164161"/>
            <a:ext cx="7119281" cy="738664"/>
          </a:xfrm>
        </p:spPr>
        <p:txBody>
          <a:bodyPr vert="horz"/>
          <a:lstStyle/>
          <a:p>
            <a:r>
              <a:rPr lang="en-US"/>
              <a:t>Local competitive gap spans every dimension of salary card usage </a:t>
            </a:r>
          </a:p>
        </p:txBody>
      </p:sp>
      <p:sp>
        <p:nvSpPr>
          <p:cNvPr id="19" name="Text Placeholder 18">
            <a:extLst>
              <a:ext uri="{FF2B5EF4-FFF2-40B4-BE49-F238E27FC236}">
                <a16:creationId xmlns:a16="http://schemas.microsoft.com/office/drawing/2014/main" id="{A9AA2428-69C7-6D5B-E518-8A260D28924A}"/>
              </a:ext>
            </a:extLst>
          </p:cNvPr>
          <p:cNvSpPr>
            <a:spLocks noGrp="1"/>
          </p:cNvSpPr>
          <p:nvPr>
            <p:ph type="body" sz="quarter" idx="10"/>
          </p:nvPr>
        </p:nvSpPr>
        <p:spPr/>
        <p:txBody>
          <a:bodyPr/>
          <a:lstStyle/>
          <a:p>
            <a:endParaRPr lang="en-US"/>
          </a:p>
        </p:txBody>
      </p:sp>
      <p:sp>
        <p:nvSpPr>
          <p:cNvPr id="9" name="TrackerNumBlue 35">
            <a:extLst>
              <a:ext uri="{FF2B5EF4-FFF2-40B4-BE49-F238E27FC236}">
                <a16:creationId xmlns:a16="http://schemas.microsoft.com/office/drawing/2014/main" id="{4DF029F2-EE92-4DEC-E392-83873C5CFB2F}"/>
              </a:ext>
            </a:extLst>
          </p:cNvPr>
          <p:cNvSpPr/>
          <p:nvPr>
            <p:custDataLst>
              <p:tags r:id="rId3"/>
            </p:custDataLst>
          </p:nvPr>
        </p:nvSpPr>
        <p:spPr>
          <a:xfrm>
            <a:off x="547688" y="319943"/>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B</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sp>
        <p:nvSpPr>
          <p:cNvPr id="14" name="TextBox 13">
            <a:extLst>
              <a:ext uri="{FF2B5EF4-FFF2-40B4-BE49-F238E27FC236}">
                <a16:creationId xmlns:a16="http://schemas.microsoft.com/office/drawing/2014/main" id="{85557C05-CB56-C1D8-CB5F-198029B86789}"/>
              </a:ext>
            </a:extLst>
          </p:cNvPr>
          <p:cNvSpPr txBox="1"/>
          <p:nvPr/>
        </p:nvSpPr>
        <p:spPr>
          <a:xfrm>
            <a:off x="554735" y="1456096"/>
            <a:ext cx="4064000"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Feature</a:t>
            </a:r>
          </a:p>
        </p:txBody>
      </p:sp>
      <p:sp>
        <p:nvSpPr>
          <p:cNvPr id="10" name="TextBox 9">
            <a:extLst>
              <a:ext uri="{FF2B5EF4-FFF2-40B4-BE49-F238E27FC236}">
                <a16:creationId xmlns:a16="http://schemas.microsoft.com/office/drawing/2014/main" id="{148282D7-D68E-AA17-07B5-46C178377210}"/>
              </a:ext>
            </a:extLst>
          </p:cNvPr>
          <p:cNvSpPr txBox="1"/>
          <p:nvPr/>
        </p:nvSpPr>
        <p:spPr>
          <a:xfrm>
            <a:off x="554735" y="2429629"/>
            <a:ext cx="1021817"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Interest on Balance</a:t>
            </a:r>
          </a:p>
        </p:txBody>
      </p:sp>
      <p:sp>
        <p:nvSpPr>
          <p:cNvPr id="11" name="TextBox 10">
            <a:extLst>
              <a:ext uri="{FF2B5EF4-FFF2-40B4-BE49-F238E27FC236}">
                <a16:creationId xmlns:a16="http://schemas.microsoft.com/office/drawing/2014/main" id="{E5068998-7862-B820-907A-F9C31A82C42B}"/>
              </a:ext>
            </a:extLst>
          </p:cNvPr>
          <p:cNvSpPr txBox="1"/>
          <p:nvPr/>
        </p:nvSpPr>
        <p:spPr>
          <a:xfrm>
            <a:off x="554736" y="2895287"/>
            <a:ext cx="1286894"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Ecosystem &amp; Loyalty</a:t>
            </a:r>
          </a:p>
        </p:txBody>
      </p:sp>
      <p:sp>
        <p:nvSpPr>
          <p:cNvPr id="12" name="TextBox 11">
            <a:extLst>
              <a:ext uri="{FF2B5EF4-FFF2-40B4-BE49-F238E27FC236}">
                <a16:creationId xmlns:a16="http://schemas.microsoft.com/office/drawing/2014/main" id="{CDD00EEE-FCC4-BECC-A1AB-9F53C84BBA8E}"/>
              </a:ext>
            </a:extLst>
          </p:cNvPr>
          <p:cNvSpPr txBox="1"/>
          <p:nvPr/>
        </p:nvSpPr>
        <p:spPr>
          <a:xfrm>
            <a:off x="554735" y="3545611"/>
            <a:ext cx="1946727"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Credit Lines</a:t>
            </a:r>
          </a:p>
        </p:txBody>
      </p:sp>
      <p:sp>
        <p:nvSpPr>
          <p:cNvPr id="13" name="TextBox 12">
            <a:extLst>
              <a:ext uri="{FF2B5EF4-FFF2-40B4-BE49-F238E27FC236}">
                <a16:creationId xmlns:a16="http://schemas.microsoft.com/office/drawing/2014/main" id="{F98673AA-EEDD-F7D3-FE0A-E1E9C280BD19}"/>
              </a:ext>
            </a:extLst>
          </p:cNvPr>
          <p:cNvSpPr txBox="1"/>
          <p:nvPr/>
        </p:nvSpPr>
        <p:spPr>
          <a:xfrm>
            <a:off x="554735" y="4324856"/>
            <a:ext cx="1200493"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Grace Period </a:t>
            </a:r>
            <a:r>
              <a:rPr lang="en-US" sz="1200"/>
              <a:t>(on unlocked credit products)</a:t>
            </a:r>
            <a:endParaRPr lang="en-US" sz="1200" b="1"/>
          </a:p>
        </p:txBody>
      </p:sp>
      <p:sp>
        <p:nvSpPr>
          <p:cNvPr id="16" name="TextBox 15">
            <a:extLst>
              <a:ext uri="{FF2B5EF4-FFF2-40B4-BE49-F238E27FC236}">
                <a16:creationId xmlns:a16="http://schemas.microsoft.com/office/drawing/2014/main" id="{148279DF-0938-E0FE-4773-7F06AFC3245E}"/>
              </a:ext>
            </a:extLst>
          </p:cNvPr>
          <p:cNvSpPr txBox="1"/>
          <p:nvPr/>
        </p:nvSpPr>
        <p:spPr>
          <a:xfrm>
            <a:off x="554735" y="5009905"/>
            <a:ext cx="1946727"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BNPL/</a:t>
            </a:r>
            <a:r>
              <a:rPr lang="en-US" sz="1200" b="1" err="1"/>
              <a:t>Taksit</a:t>
            </a:r>
            <a:endParaRPr lang="en-US" sz="1200" b="1"/>
          </a:p>
        </p:txBody>
      </p:sp>
      <p:sp>
        <p:nvSpPr>
          <p:cNvPr id="18" name="TextBox 17">
            <a:extLst>
              <a:ext uri="{FF2B5EF4-FFF2-40B4-BE49-F238E27FC236}">
                <a16:creationId xmlns:a16="http://schemas.microsoft.com/office/drawing/2014/main" id="{578D2B09-4564-B052-A8FD-85DE568A01C5}"/>
              </a:ext>
            </a:extLst>
          </p:cNvPr>
          <p:cNvSpPr txBox="1"/>
          <p:nvPr/>
        </p:nvSpPr>
        <p:spPr>
          <a:xfrm>
            <a:off x="554736" y="5660232"/>
            <a:ext cx="1146742"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Corporate commissions</a:t>
            </a:r>
          </a:p>
        </p:txBody>
      </p:sp>
      <p:sp>
        <p:nvSpPr>
          <p:cNvPr id="20" name="TextBox 19">
            <a:extLst>
              <a:ext uri="{FF2B5EF4-FFF2-40B4-BE49-F238E27FC236}">
                <a16:creationId xmlns:a16="http://schemas.microsoft.com/office/drawing/2014/main" id="{FBDE30BF-DC8C-9548-D1D1-C38E73C2C200}"/>
              </a:ext>
            </a:extLst>
          </p:cNvPr>
          <p:cNvSpPr txBox="1"/>
          <p:nvPr/>
        </p:nvSpPr>
        <p:spPr>
          <a:xfrm>
            <a:off x="554735" y="1779305"/>
            <a:ext cx="1946727"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Cashback</a:t>
            </a:r>
          </a:p>
        </p:txBody>
      </p:sp>
      <p:cxnSp>
        <p:nvCxnSpPr>
          <p:cNvPr id="76" name="LineBasicDefault 76">
            <a:extLst>
              <a:ext uri="{FF2B5EF4-FFF2-40B4-BE49-F238E27FC236}">
                <a16:creationId xmlns:a16="http://schemas.microsoft.com/office/drawing/2014/main" id="{F2B4CE2E-C7BE-3274-E57A-F2DD519A9316}"/>
              </a:ext>
            </a:extLst>
          </p:cNvPr>
          <p:cNvCxnSpPr>
            <a:cxnSpLocks/>
          </p:cNvCxnSpPr>
          <p:nvPr>
            <p:custDataLst>
              <p:tags r:id="rId4"/>
            </p:custDataLst>
          </p:nvPr>
        </p:nvCxnSpPr>
        <p:spPr>
          <a:xfrm>
            <a:off x="554736" y="1731142"/>
            <a:ext cx="8970265"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LineBasicDefault 76">
            <a:extLst>
              <a:ext uri="{FF2B5EF4-FFF2-40B4-BE49-F238E27FC236}">
                <a16:creationId xmlns:a16="http://schemas.microsoft.com/office/drawing/2014/main" id="{F0698245-F7A0-AF8C-7EF9-7DAA5A87C39B}"/>
              </a:ext>
            </a:extLst>
          </p:cNvPr>
          <p:cNvCxnSpPr>
            <a:cxnSpLocks/>
          </p:cNvCxnSpPr>
          <p:nvPr>
            <p:custDataLst>
              <p:tags r:id="rId5"/>
            </p:custDataLst>
          </p:nvPr>
        </p:nvCxnSpPr>
        <p:spPr>
          <a:xfrm>
            <a:off x="554736" y="2350986"/>
            <a:ext cx="8970265"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3" name="LineBasicDefault 76">
            <a:extLst>
              <a:ext uri="{FF2B5EF4-FFF2-40B4-BE49-F238E27FC236}">
                <a16:creationId xmlns:a16="http://schemas.microsoft.com/office/drawing/2014/main" id="{322AF9DE-528C-94B6-332D-8884BAFA4BBB}"/>
              </a:ext>
            </a:extLst>
          </p:cNvPr>
          <p:cNvCxnSpPr>
            <a:cxnSpLocks/>
          </p:cNvCxnSpPr>
          <p:nvPr>
            <p:custDataLst>
              <p:tags r:id="rId6"/>
            </p:custDataLst>
          </p:nvPr>
        </p:nvCxnSpPr>
        <p:spPr>
          <a:xfrm>
            <a:off x="554736" y="2831884"/>
            <a:ext cx="8970265"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LineBasicDefault 76">
            <a:extLst>
              <a:ext uri="{FF2B5EF4-FFF2-40B4-BE49-F238E27FC236}">
                <a16:creationId xmlns:a16="http://schemas.microsoft.com/office/drawing/2014/main" id="{54AD2D5A-7869-6BF2-7DB2-207AA57A42E0}"/>
              </a:ext>
            </a:extLst>
          </p:cNvPr>
          <p:cNvCxnSpPr>
            <a:cxnSpLocks/>
          </p:cNvCxnSpPr>
          <p:nvPr>
            <p:custDataLst>
              <p:tags r:id="rId7"/>
            </p:custDataLst>
          </p:nvPr>
        </p:nvCxnSpPr>
        <p:spPr>
          <a:xfrm>
            <a:off x="554736" y="3466968"/>
            <a:ext cx="8970265"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5" name="LineBasicDefault 76">
            <a:extLst>
              <a:ext uri="{FF2B5EF4-FFF2-40B4-BE49-F238E27FC236}">
                <a16:creationId xmlns:a16="http://schemas.microsoft.com/office/drawing/2014/main" id="{3C86D3CC-9B8C-A850-FAEA-D25AF0CA97B5}"/>
              </a:ext>
            </a:extLst>
          </p:cNvPr>
          <p:cNvCxnSpPr>
            <a:cxnSpLocks/>
          </p:cNvCxnSpPr>
          <p:nvPr>
            <p:custDataLst>
              <p:tags r:id="rId8"/>
            </p:custDataLst>
          </p:nvPr>
        </p:nvCxnSpPr>
        <p:spPr>
          <a:xfrm>
            <a:off x="554736" y="4265698"/>
            <a:ext cx="8970265"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LineBasicDefault 76">
            <a:extLst>
              <a:ext uri="{FF2B5EF4-FFF2-40B4-BE49-F238E27FC236}">
                <a16:creationId xmlns:a16="http://schemas.microsoft.com/office/drawing/2014/main" id="{BC46C596-16A5-393E-3AA4-FA2003098DA9}"/>
              </a:ext>
            </a:extLst>
          </p:cNvPr>
          <p:cNvCxnSpPr>
            <a:cxnSpLocks/>
          </p:cNvCxnSpPr>
          <p:nvPr>
            <p:custDataLst>
              <p:tags r:id="rId9"/>
            </p:custDataLst>
          </p:nvPr>
        </p:nvCxnSpPr>
        <p:spPr>
          <a:xfrm>
            <a:off x="554736" y="4947082"/>
            <a:ext cx="8970265"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7" name="LineBasicDefault 76">
            <a:extLst>
              <a:ext uri="{FF2B5EF4-FFF2-40B4-BE49-F238E27FC236}">
                <a16:creationId xmlns:a16="http://schemas.microsoft.com/office/drawing/2014/main" id="{E52EB141-44A8-472A-D1A9-78F8A56434FE}"/>
              </a:ext>
            </a:extLst>
          </p:cNvPr>
          <p:cNvCxnSpPr>
            <a:cxnSpLocks/>
          </p:cNvCxnSpPr>
          <p:nvPr>
            <p:custDataLst>
              <p:tags r:id="rId10"/>
            </p:custDataLst>
          </p:nvPr>
        </p:nvCxnSpPr>
        <p:spPr>
          <a:xfrm>
            <a:off x="554735" y="5581586"/>
            <a:ext cx="8970265"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D38CC14-D3F8-3097-9A94-E7A264F2D36D}"/>
              </a:ext>
            </a:extLst>
          </p:cNvPr>
          <p:cNvSpPr txBox="1"/>
          <p:nvPr/>
        </p:nvSpPr>
        <p:spPr>
          <a:xfrm>
            <a:off x="4774727" y="2429629"/>
            <a:ext cx="1253046"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N/A </a:t>
            </a:r>
            <a:r>
              <a:rPr lang="en-US" sz="1100"/>
              <a:t>on standard salary card</a:t>
            </a:r>
          </a:p>
        </p:txBody>
      </p:sp>
      <p:sp>
        <p:nvSpPr>
          <p:cNvPr id="42" name="TextBox 41">
            <a:extLst>
              <a:ext uri="{FF2B5EF4-FFF2-40B4-BE49-F238E27FC236}">
                <a16:creationId xmlns:a16="http://schemas.microsoft.com/office/drawing/2014/main" id="{3438BE98-EA4E-819E-C0ED-7AF1C6042069}"/>
              </a:ext>
            </a:extLst>
          </p:cNvPr>
          <p:cNvSpPr txBox="1"/>
          <p:nvPr/>
        </p:nvSpPr>
        <p:spPr>
          <a:xfrm>
            <a:off x="4774727" y="2895287"/>
            <a:ext cx="1201510"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az-Latn-AZ" sz="1100" b="1"/>
              <a:t>Fayda Max Tiers </a:t>
            </a:r>
            <a:r>
              <a:rPr lang="az-Latn-AZ" sz="1100"/>
              <a:t>(Bronze, Silver, Gold, Prime)</a:t>
            </a:r>
            <a:endParaRPr lang="en-US" sz="1100"/>
          </a:p>
        </p:txBody>
      </p:sp>
      <p:sp>
        <p:nvSpPr>
          <p:cNvPr id="43" name="TextBox 42">
            <a:extLst>
              <a:ext uri="{FF2B5EF4-FFF2-40B4-BE49-F238E27FC236}">
                <a16:creationId xmlns:a16="http://schemas.microsoft.com/office/drawing/2014/main" id="{F75C5A9D-4EBA-D7D9-D727-968E4EDF85DE}"/>
              </a:ext>
            </a:extLst>
          </p:cNvPr>
          <p:cNvSpPr txBox="1"/>
          <p:nvPr/>
        </p:nvSpPr>
        <p:spPr>
          <a:xfrm>
            <a:off x="4774727" y="3545611"/>
            <a:ext cx="1452743" cy="67710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Instant "</a:t>
            </a:r>
            <a:r>
              <a:rPr lang="en-US" sz="1100" b="1"/>
              <a:t>Advance Credit</a:t>
            </a:r>
            <a:r>
              <a:rPr lang="en-US" sz="1100"/>
              <a:t>" (up to 1,000 AZN) &amp; </a:t>
            </a:r>
            <a:r>
              <a:rPr lang="en-US" sz="1100" b="1"/>
              <a:t>preferential cash loans</a:t>
            </a:r>
          </a:p>
        </p:txBody>
      </p:sp>
      <p:sp>
        <p:nvSpPr>
          <p:cNvPr id="44" name="TextBox 43">
            <a:extLst>
              <a:ext uri="{FF2B5EF4-FFF2-40B4-BE49-F238E27FC236}">
                <a16:creationId xmlns:a16="http://schemas.microsoft.com/office/drawing/2014/main" id="{8E84230C-366B-7311-07E2-BEFC65694F0F}"/>
              </a:ext>
            </a:extLst>
          </p:cNvPr>
          <p:cNvSpPr txBox="1"/>
          <p:nvPr/>
        </p:nvSpPr>
        <p:spPr>
          <a:xfrm>
            <a:off x="4774727" y="4324856"/>
            <a:ext cx="1431722"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40 days </a:t>
            </a:r>
            <a:r>
              <a:rPr lang="en-US" sz="1100"/>
              <a:t>on the instant "Advance Credit" line</a:t>
            </a:r>
          </a:p>
        </p:txBody>
      </p:sp>
      <p:sp>
        <p:nvSpPr>
          <p:cNvPr id="45" name="TextBox 44">
            <a:extLst>
              <a:ext uri="{FF2B5EF4-FFF2-40B4-BE49-F238E27FC236}">
                <a16:creationId xmlns:a16="http://schemas.microsoft.com/office/drawing/2014/main" id="{BF6FBA34-D714-9C0A-29C1-CD564DF2E8FC}"/>
              </a:ext>
            </a:extLst>
          </p:cNvPr>
          <p:cNvSpPr txBox="1"/>
          <p:nvPr/>
        </p:nvSpPr>
        <p:spPr>
          <a:xfrm>
            <a:off x="4774727" y="5009905"/>
            <a:ext cx="1167580"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30 months </a:t>
            </a:r>
            <a:r>
              <a:rPr lang="en-US" sz="1100"/>
              <a:t>on credit products</a:t>
            </a:r>
          </a:p>
        </p:txBody>
      </p:sp>
      <p:sp>
        <p:nvSpPr>
          <p:cNvPr id="46" name="TextBox 45">
            <a:extLst>
              <a:ext uri="{FF2B5EF4-FFF2-40B4-BE49-F238E27FC236}">
                <a16:creationId xmlns:a16="http://schemas.microsoft.com/office/drawing/2014/main" id="{E373AB03-D1ED-1323-D3C1-864319A8C3EC}"/>
              </a:ext>
            </a:extLst>
          </p:cNvPr>
          <p:cNvSpPr txBox="1"/>
          <p:nvPr/>
        </p:nvSpPr>
        <p:spPr>
          <a:xfrm>
            <a:off x="4774727" y="5660232"/>
            <a:ext cx="1337129"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Standard</a:t>
            </a:r>
            <a:r>
              <a:rPr lang="en-US" sz="1100"/>
              <a:t> </a:t>
            </a:r>
            <a:r>
              <a:rPr lang="en-US" sz="1100" b="1"/>
              <a:t>0.8%</a:t>
            </a:r>
            <a:r>
              <a:rPr lang="en-US" sz="1100"/>
              <a:t>; 10 AZN service fee, free card delivery</a:t>
            </a:r>
          </a:p>
        </p:txBody>
      </p:sp>
      <p:sp>
        <p:nvSpPr>
          <p:cNvPr id="47" name="TextBox 46">
            <a:extLst>
              <a:ext uri="{FF2B5EF4-FFF2-40B4-BE49-F238E27FC236}">
                <a16:creationId xmlns:a16="http://schemas.microsoft.com/office/drawing/2014/main" id="{07BC41A2-2D71-3DF9-5A36-F24AE6EDA5BC}"/>
              </a:ext>
            </a:extLst>
          </p:cNvPr>
          <p:cNvSpPr txBox="1"/>
          <p:nvPr/>
        </p:nvSpPr>
        <p:spPr>
          <a:xfrm>
            <a:off x="4774727" y="1779305"/>
            <a:ext cx="1274067"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15% </a:t>
            </a:r>
            <a:r>
              <a:rPr lang="en-US" sz="1100"/>
              <a:t>(Fayda Max), 3% utilities</a:t>
            </a:r>
          </a:p>
        </p:txBody>
      </p:sp>
      <p:pic>
        <p:nvPicPr>
          <p:cNvPr id="99" name="Picture 12" descr="ABB">
            <a:extLst>
              <a:ext uri="{FF2B5EF4-FFF2-40B4-BE49-F238E27FC236}">
                <a16:creationId xmlns:a16="http://schemas.microsoft.com/office/drawing/2014/main" id="{C4EFECCF-707D-D72B-FE8B-8B256DC8C84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74727" y="1353099"/>
            <a:ext cx="714703" cy="323384"/>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613A0336-D3E2-AC1D-070C-E3B67F8F7122}"/>
              </a:ext>
            </a:extLst>
          </p:cNvPr>
          <p:cNvSpPr txBox="1"/>
          <p:nvPr/>
        </p:nvSpPr>
        <p:spPr>
          <a:xfrm>
            <a:off x="3309027" y="2429629"/>
            <a:ext cx="1168961"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N/A </a:t>
            </a:r>
            <a:r>
              <a:rPr lang="en-US" sz="1100"/>
              <a:t>on standard salary card</a:t>
            </a:r>
          </a:p>
        </p:txBody>
      </p:sp>
      <p:sp>
        <p:nvSpPr>
          <p:cNvPr id="35" name="TextBox 34">
            <a:extLst>
              <a:ext uri="{FF2B5EF4-FFF2-40B4-BE49-F238E27FC236}">
                <a16:creationId xmlns:a16="http://schemas.microsoft.com/office/drawing/2014/main" id="{F102F19E-B6AA-FDE6-6D50-E1A96BBEF1EC}"/>
              </a:ext>
            </a:extLst>
          </p:cNvPr>
          <p:cNvSpPr txBox="1"/>
          <p:nvPr/>
        </p:nvSpPr>
        <p:spPr>
          <a:xfrm>
            <a:off x="3309027" y="2895287"/>
            <a:ext cx="1589376"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Bir Ecosystem </a:t>
            </a:r>
            <a:r>
              <a:rPr lang="en-US" sz="1100"/>
              <a:t>integration</a:t>
            </a:r>
          </a:p>
        </p:txBody>
      </p:sp>
      <p:sp>
        <p:nvSpPr>
          <p:cNvPr id="36" name="TextBox 35">
            <a:extLst>
              <a:ext uri="{FF2B5EF4-FFF2-40B4-BE49-F238E27FC236}">
                <a16:creationId xmlns:a16="http://schemas.microsoft.com/office/drawing/2014/main" id="{B675BCEA-3A95-37AA-4CBA-8877995E812E}"/>
              </a:ext>
            </a:extLst>
          </p:cNvPr>
          <p:cNvSpPr txBox="1"/>
          <p:nvPr/>
        </p:nvSpPr>
        <p:spPr>
          <a:xfrm>
            <a:off x="3309027" y="3545611"/>
            <a:ext cx="1599886"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30K AZN</a:t>
            </a:r>
          </a:p>
        </p:txBody>
      </p:sp>
      <p:sp>
        <p:nvSpPr>
          <p:cNvPr id="37" name="TextBox 36">
            <a:extLst>
              <a:ext uri="{FF2B5EF4-FFF2-40B4-BE49-F238E27FC236}">
                <a16:creationId xmlns:a16="http://schemas.microsoft.com/office/drawing/2014/main" id="{6798890E-6530-3ADA-CAA0-E44A1269BDBB}"/>
              </a:ext>
            </a:extLst>
          </p:cNvPr>
          <p:cNvSpPr txBox="1"/>
          <p:nvPr/>
        </p:nvSpPr>
        <p:spPr>
          <a:xfrm>
            <a:off x="3309027" y="4324856"/>
            <a:ext cx="1599886"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63 days</a:t>
            </a:r>
          </a:p>
        </p:txBody>
      </p:sp>
      <p:sp>
        <p:nvSpPr>
          <p:cNvPr id="38" name="TextBox 37">
            <a:extLst>
              <a:ext uri="{FF2B5EF4-FFF2-40B4-BE49-F238E27FC236}">
                <a16:creationId xmlns:a16="http://schemas.microsoft.com/office/drawing/2014/main" id="{41F07805-87C3-2868-EE49-0B8C559B1ED3}"/>
              </a:ext>
            </a:extLst>
          </p:cNvPr>
          <p:cNvSpPr txBox="1"/>
          <p:nvPr/>
        </p:nvSpPr>
        <p:spPr>
          <a:xfrm>
            <a:off x="3309027" y="5009905"/>
            <a:ext cx="1137429"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N/A </a:t>
            </a:r>
            <a:r>
              <a:rPr lang="en-US" sz="1100"/>
              <a:t>on default salary</a:t>
            </a:r>
          </a:p>
        </p:txBody>
      </p:sp>
      <p:sp>
        <p:nvSpPr>
          <p:cNvPr id="39" name="TextBox 38">
            <a:extLst>
              <a:ext uri="{FF2B5EF4-FFF2-40B4-BE49-F238E27FC236}">
                <a16:creationId xmlns:a16="http://schemas.microsoft.com/office/drawing/2014/main" id="{30C22A90-F7F9-D7A6-D3CF-AEA449338CFD}"/>
              </a:ext>
            </a:extLst>
          </p:cNvPr>
          <p:cNvSpPr txBox="1"/>
          <p:nvPr/>
        </p:nvSpPr>
        <p:spPr>
          <a:xfrm>
            <a:off x="3309027" y="5660232"/>
            <a:ext cx="1186773"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0.8% standard</a:t>
            </a:r>
            <a:r>
              <a:rPr lang="en-US" sz="1100"/>
              <a:t> commission, free card delivery</a:t>
            </a:r>
          </a:p>
        </p:txBody>
      </p:sp>
      <p:sp>
        <p:nvSpPr>
          <p:cNvPr id="40" name="TextBox 39">
            <a:extLst>
              <a:ext uri="{FF2B5EF4-FFF2-40B4-BE49-F238E27FC236}">
                <a16:creationId xmlns:a16="http://schemas.microsoft.com/office/drawing/2014/main" id="{2F7B949B-B8DD-45E3-DE95-CB04A35BE9F2}"/>
              </a:ext>
            </a:extLst>
          </p:cNvPr>
          <p:cNvSpPr txBox="1"/>
          <p:nvPr/>
        </p:nvSpPr>
        <p:spPr>
          <a:xfrm>
            <a:off x="3309027" y="1779305"/>
            <a:ext cx="1174193"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30% </a:t>
            </a:r>
            <a:r>
              <a:rPr lang="en-US" sz="1100"/>
              <a:t>at partners, 1.5% base</a:t>
            </a:r>
          </a:p>
        </p:txBody>
      </p:sp>
      <p:pic>
        <p:nvPicPr>
          <p:cNvPr id="3076" name="Picture 4">
            <a:extLst>
              <a:ext uri="{FF2B5EF4-FFF2-40B4-BE49-F238E27FC236}">
                <a16:creationId xmlns:a16="http://schemas.microsoft.com/office/drawing/2014/main" id="{FCF7BEE6-82AA-1581-434E-2C24ABCE9AD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39579" y="1331749"/>
            <a:ext cx="1168994" cy="391948"/>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230EC287-17F5-E3F5-46C5-AFE2987F8975}"/>
              </a:ext>
            </a:extLst>
          </p:cNvPr>
          <p:cNvSpPr txBox="1"/>
          <p:nvPr/>
        </p:nvSpPr>
        <p:spPr>
          <a:xfrm>
            <a:off x="6340301" y="2429629"/>
            <a:ext cx="1599886"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7% </a:t>
            </a:r>
            <a:r>
              <a:rPr lang="en-US" sz="1100"/>
              <a:t>annual</a:t>
            </a:r>
          </a:p>
        </p:txBody>
      </p:sp>
      <p:sp>
        <p:nvSpPr>
          <p:cNvPr id="49" name="TextBox 48">
            <a:extLst>
              <a:ext uri="{FF2B5EF4-FFF2-40B4-BE49-F238E27FC236}">
                <a16:creationId xmlns:a16="http://schemas.microsoft.com/office/drawing/2014/main" id="{EA765E09-7836-43C1-6CB5-46210217BFE6}"/>
              </a:ext>
            </a:extLst>
          </p:cNvPr>
          <p:cNvSpPr txBox="1"/>
          <p:nvPr/>
        </p:nvSpPr>
        <p:spPr>
          <a:xfrm>
            <a:off x="6340301" y="2895287"/>
            <a:ext cx="1289829"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az-Latn-AZ" sz="1100"/>
              <a:t>UCard</a:t>
            </a:r>
            <a:r>
              <a:rPr lang="az-Latn-AZ" sz="1100" b="1"/>
              <a:t> </a:t>
            </a:r>
            <a:r>
              <a:rPr lang="az-Latn-AZ" sz="1100"/>
              <a:t>Cashback</a:t>
            </a:r>
            <a:r>
              <a:rPr lang="az-Latn-AZ" sz="1100" b="1"/>
              <a:t> Tiers</a:t>
            </a:r>
            <a:r>
              <a:rPr lang="en-US" sz="1100" b="1"/>
              <a:t> at partner networks</a:t>
            </a:r>
          </a:p>
        </p:txBody>
      </p:sp>
      <p:sp>
        <p:nvSpPr>
          <p:cNvPr id="50" name="TextBox 49">
            <a:extLst>
              <a:ext uri="{FF2B5EF4-FFF2-40B4-BE49-F238E27FC236}">
                <a16:creationId xmlns:a16="http://schemas.microsoft.com/office/drawing/2014/main" id="{17C410CD-0695-F496-7315-6A59DB9509CD}"/>
              </a:ext>
            </a:extLst>
          </p:cNvPr>
          <p:cNvSpPr txBox="1"/>
          <p:nvPr/>
        </p:nvSpPr>
        <p:spPr>
          <a:xfrm>
            <a:off x="6340301" y="3545611"/>
            <a:ext cx="1396396"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Eligible to unlock the UCard credit limit (</a:t>
            </a:r>
            <a:r>
              <a:rPr lang="en-US" sz="1100" b="1"/>
              <a:t>up to 15x salary</a:t>
            </a:r>
            <a:r>
              <a:rPr lang="en-US" sz="1100"/>
              <a:t>)</a:t>
            </a:r>
          </a:p>
        </p:txBody>
      </p:sp>
      <p:sp>
        <p:nvSpPr>
          <p:cNvPr id="51" name="TextBox 50">
            <a:extLst>
              <a:ext uri="{FF2B5EF4-FFF2-40B4-BE49-F238E27FC236}">
                <a16:creationId xmlns:a16="http://schemas.microsoft.com/office/drawing/2014/main" id="{DFFF6B98-0AC1-E4FA-9DC1-E1935EDB5472}"/>
              </a:ext>
            </a:extLst>
          </p:cNvPr>
          <p:cNvSpPr txBox="1"/>
          <p:nvPr/>
        </p:nvSpPr>
        <p:spPr>
          <a:xfrm>
            <a:off x="6340301" y="4324856"/>
            <a:ext cx="1489526"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72 days </a:t>
            </a:r>
            <a:r>
              <a:rPr lang="en-US" sz="1100"/>
              <a:t>on UCard credit operations</a:t>
            </a:r>
          </a:p>
        </p:txBody>
      </p:sp>
      <p:sp>
        <p:nvSpPr>
          <p:cNvPr id="52" name="TextBox 51">
            <a:extLst>
              <a:ext uri="{FF2B5EF4-FFF2-40B4-BE49-F238E27FC236}">
                <a16:creationId xmlns:a16="http://schemas.microsoft.com/office/drawing/2014/main" id="{9CAE572F-0B2F-278B-955F-78EAF0F12553}"/>
              </a:ext>
            </a:extLst>
          </p:cNvPr>
          <p:cNvSpPr txBox="1"/>
          <p:nvPr/>
        </p:nvSpPr>
        <p:spPr>
          <a:xfrm>
            <a:off x="6340301" y="5009905"/>
            <a:ext cx="1289829"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a:t>
            </a:r>
            <a:r>
              <a:rPr lang="en-US" sz="1100" err="1"/>
              <a:t>Albalı</a:t>
            </a:r>
            <a:r>
              <a:rPr lang="en-US" sz="1100"/>
              <a:t>' credit feature (opt-in) – </a:t>
            </a:r>
            <a:r>
              <a:rPr lang="en-US" sz="1100" b="1"/>
              <a:t>up to 18 months</a:t>
            </a:r>
          </a:p>
        </p:txBody>
      </p:sp>
      <p:sp>
        <p:nvSpPr>
          <p:cNvPr id="53" name="TextBox 52">
            <a:extLst>
              <a:ext uri="{FF2B5EF4-FFF2-40B4-BE49-F238E27FC236}">
                <a16:creationId xmlns:a16="http://schemas.microsoft.com/office/drawing/2014/main" id="{62978CA3-7C77-E5CE-97CF-C83C10A20EB1}"/>
              </a:ext>
            </a:extLst>
          </p:cNvPr>
          <p:cNvSpPr txBox="1"/>
          <p:nvPr/>
        </p:nvSpPr>
        <p:spPr>
          <a:xfrm>
            <a:off x="6340301" y="5660231"/>
            <a:ext cx="1176476"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az-Latn-AZ" sz="1100" b="1"/>
              <a:t>Case-by-case </a:t>
            </a:r>
            <a:r>
              <a:rPr lang="az-Latn-AZ" sz="1100"/>
              <a:t>rates</a:t>
            </a:r>
            <a:endParaRPr lang="en-US" sz="1100"/>
          </a:p>
        </p:txBody>
      </p:sp>
      <p:sp>
        <p:nvSpPr>
          <p:cNvPr id="54" name="TextBox 53">
            <a:extLst>
              <a:ext uri="{FF2B5EF4-FFF2-40B4-BE49-F238E27FC236}">
                <a16:creationId xmlns:a16="http://schemas.microsoft.com/office/drawing/2014/main" id="{C7454F42-522E-9EAC-F37D-CB76C74C054A}"/>
              </a:ext>
            </a:extLst>
          </p:cNvPr>
          <p:cNvSpPr txBox="1"/>
          <p:nvPr/>
        </p:nvSpPr>
        <p:spPr>
          <a:xfrm>
            <a:off x="6340301" y="1779305"/>
            <a:ext cx="1599886"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30% </a:t>
            </a:r>
            <a:r>
              <a:rPr lang="en-US" sz="1100"/>
              <a:t>cashback on the default UCard</a:t>
            </a:r>
          </a:p>
        </p:txBody>
      </p:sp>
      <p:pic>
        <p:nvPicPr>
          <p:cNvPr id="3078" name="Picture 6">
            <a:extLst>
              <a:ext uri="{FF2B5EF4-FFF2-40B4-BE49-F238E27FC236}">
                <a16:creationId xmlns:a16="http://schemas.microsoft.com/office/drawing/2014/main" id="{48DAF109-3207-D02A-108D-104A7045B16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40301" y="1387365"/>
            <a:ext cx="1049282" cy="252248"/>
          </a:xfrm>
          <a:prstGeom prst="rect">
            <a:avLst/>
          </a:prstGeom>
          <a:noFill/>
          <a:extLst>
            <a:ext uri="{909E8E84-426E-40DD-AFC4-6F175D3DCCD1}">
              <a14:hiddenFill xmlns:a14="http://schemas.microsoft.com/office/drawing/2010/main">
                <a:solidFill>
                  <a:srgbClr val="FFFFFF"/>
                </a:solidFill>
              </a14:hiddenFill>
            </a:ext>
          </a:extLst>
        </p:spPr>
      </p:pic>
      <p:sp>
        <p:nvSpPr>
          <p:cNvPr id="55" name="TextBox 54">
            <a:extLst>
              <a:ext uri="{FF2B5EF4-FFF2-40B4-BE49-F238E27FC236}">
                <a16:creationId xmlns:a16="http://schemas.microsoft.com/office/drawing/2014/main" id="{2AA3E733-9434-F5E1-F21A-16E3FB0CBA14}"/>
              </a:ext>
            </a:extLst>
          </p:cNvPr>
          <p:cNvSpPr txBox="1"/>
          <p:nvPr/>
        </p:nvSpPr>
        <p:spPr>
          <a:xfrm>
            <a:off x="8185396" y="2429629"/>
            <a:ext cx="1366029"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N/A </a:t>
            </a:r>
            <a:r>
              <a:rPr lang="en-US" sz="1100"/>
              <a:t>on standard salary card</a:t>
            </a:r>
          </a:p>
        </p:txBody>
      </p:sp>
      <p:sp>
        <p:nvSpPr>
          <p:cNvPr id="56" name="TextBox 55">
            <a:extLst>
              <a:ext uri="{FF2B5EF4-FFF2-40B4-BE49-F238E27FC236}">
                <a16:creationId xmlns:a16="http://schemas.microsoft.com/office/drawing/2014/main" id="{0EE4122C-BA00-5A6D-85F4-EDA64D947493}"/>
              </a:ext>
            </a:extLst>
          </p:cNvPr>
          <p:cNvSpPr txBox="1"/>
          <p:nvPr/>
        </p:nvSpPr>
        <p:spPr>
          <a:xfrm>
            <a:off x="8185396" y="2895287"/>
            <a:ext cx="1057613"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Discount network</a:t>
            </a:r>
          </a:p>
        </p:txBody>
      </p:sp>
      <p:sp>
        <p:nvSpPr>
          <p:cNvPr id="57" name="TextBox 56">
            <a:extLst>
              <a:ext uri="{FF2B5EF4-FFF2-40B4-BE49-F238E27FC236}">
                <a16:creationId xmlns:a16="http://schemas.microsoft.com/office/drawing/2014/main" id="{56D42F13-09FF-BA22-EF7D-5AB16BD59DD3}"/>
              </a:ext>
            </a:extLst>
          </p:cNvPr>
          <p:cNvSpPr txBox="1"/>
          <p:nvPr/>
        </p:nvSpPr>
        <p:spPr>
          <a:xfrm>
            <a:off x="8185396" y="3545611"/>
            <a:ext cx="1209704" cy="67710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Eligible for </a:t>
            </a:r>
            <a:r>
              <a:rPr lang="en-US" sz="1100" b="1"/>
              <a:t>consumer loans on preferential terms</a:t>
            </a:r>
          </a:p>
        </p:txBody>
      </p:sp>
      <p:sp>
        <p:nvSpPr>
          <p:cNvPr id="58" name="TextBox 57">
            <a:extLst>
              <a:ext uri="{FF2B5EF4-FFF2-40B4-BE49-F238E27FC236}">
                <a16:creationId xmlns:a16="http://schemas.microsoft.com/office/drawing/2014/main" id="{F5626F25-FCB2-2DA6-B456-B9B85EFDC8EA}"/>
              </a:ext>
            </a:extLst>
          </p:cNvPr>
          <p:cNvSpPr txBox="1"/>
          <p:nvPr/>
        </p:nvSpPr>
        <p:spPr>
          <a:xfrm>
            <a:off x="8185396" y="4324856"/>
            <a:ext cx="1599886"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Dependent on the specific credit</a:t>
            </a:r>
          </a:p>
        </p:txBody>
      </p:sp>
      <p:sp>
        <p:nvSpPr>
          <p:cNvPr id="59" name="TextBox 58">
            <a:extLst>
              <a:ext uri="{FF2B5EF4-FFF2-40B4-BE49-F238E27FC236}">
                <a16:creationId xmlns:a16="http://schemas.microsoft.com/office/drawing/2014/main" id="{9488D4AA-9E1D-A143-0FB0-3C8C77A31D4C}"/>
              </a:ext>
            </a:extLst>
          </p:cNvPr>
          <p:cNvSpPr txBox="1"/>
          <p:nvPr/>
        </p:nvSpPr>
        <p:spPr>
          <a:xfrm>
            <a:off x="8185396" y="5009904"/>
            <a:ext cx="989785"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N/A </a:t>
            </a:r>
            <a:r>
              <a:rPr lang="en-US" sz="1100"/>
              <a:t>on default salary</a:t>
            </a:r>
          </a:p>
        </p:txBody>
      </p:sp>
      <p:sp>
        <p:nvSpPr>
          <p:cNvPr id="60" name="TextBox 59">
            <a:extLst>
              <a:ext uri="{FF2B5EF4-FFF2-40B4-BE49-F238E27FC236}">
                <a16:creationId xmlns:a16="http://schemas.microsoft.com/office/drawing/2014/main" id="{2F995D1F-AA20-67DE-000C-4DDD02D8CA50}"/>
              </a:ext>
            </a:extLst>
          </p:cNvPr>
          <p:cNvSpPr txBox="1"/>
          <p:nvPr/>
        </p:nvSpPr>
        <p:spPr>
          <a:xfrm>
            <a:off x="8185396" y="5660232"/>
            <a:ext cx="1209704"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0.6% </a:t>
            </a:r>
            <a:r>
              <a:rPr lang="en-US" sz="1100" b="1"/>
              <a:t>standard</a:t>
            </a:r>
            <a:r>
              <a:rPr lang="en-US" sz="1100"/>
              <a:t> commission. Free card issuance</a:t>
            </a:r>
          </a:p>
        </p:txBody>
      </p:sp>
      <p:sp>
        <p:nvSpPr>
          <p:cNvPr id="61" name="TextBox 60">
            <a:extLst>
              <a:ext uri="{FF2B5EF4-FFF2-40B4-BE49-F238E27FC236}">
                <a16:creationId xmlns:a16="http://schemas.microsoft.com/office/drawing/2014/main" id="{BA4D65DB-1700-E73B-1960-2732E5760A89}"/>
              </a:ext>
            </a:extLst>
          </p:cNvPr>
          <p:cNvSpPr txBox="1"/>
          <p:nvPr/>
        </p:nvSpPr>
        <p:spPr>
          <a:xfrm>
            <a:off x="8185396" y="1779305"/>
            <a:ext cx="1383848"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err="1"/>
              <a:t>Neobonuses</a:t>
            </a:r>
            <a:r>
              <a:rPr lang="en-US" sz="1100"/>
              <a:t> and </a:t>
            </a:r>
            <a:r>
              <a:rPr lang="en-US" sz="1100" err="1"/>
              <a:t>PayCard</a:t>
            </a:r>
            <a:r>
              <a:rPr lang="en-US" sz="1100"/>
              <a:t> Bonus up to </a:t>
            </a:r>
            <a:r>
              <a:rPr lang="en-US" sz="1100" b="1"/>
              <a:t>25% discounts</a:t>
            </a:r>
          </a:p>
        </p:txBody>
      </p:sp>
      <p:pic>
        <p:nvPicPr>
          <p:cNvPr id="3080" name="Picture 8" descr="Bank Respublika digital logo | Bank Respublika">
            <a:extLst>
              <a:ext uri="{FF2B5EF4-FFF2-40B4-BE49-F238E27FC236}">
                <a16:creationId xmlns:a16="http://schemas.microsoft.com/office/drawing/2014/main" id="{10B40D6A-5468-E17E-8946-43CCB0405D3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122334" y="1285382"/>
            <a:ext cx="1041673" cy="435664"/>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4AA893B0-3BC1-19AD-502A-45E6A3B3F6B2}"/>
              </a:ext>
            </a:extLst>
          </p:cNvPr>
          <p:cNvSpPr txBox="1"/>
          <p:nvPr/>
        </p:nvSpPr>
        <p:spPr>
          <a:xfrm>
            <a:off x="1942934" y="2429629"/>
            <a:ext cx="1448449"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6% annual </a:t>
            </a:r>
            <a:r>
              <a:rPr lang="en-US" sz="1100"/>
              <a:t>on balance &gt;1000 AZN</a:t>
            </a:r>
          </a:p>
        </p:txBody>
      </p:sp>
      <p:sp>
        <p:nvSpPr>
          <p:cNvPr id="63" name="TextBox 62">
            <a:extLst>
              <a:ext uri="{FF2B5EF4-FFF2-40B4-BE49-F238E27FC236}">
                <a16:creationId xmlns:a16="http://schemas.microsoft.com/office/drawing/2014/main" id="{58D49492-4678-4070-3662-01D6C7D1171B}"/>
              </a:ext>
            </a:extLst>
          </p:cNvPr>
          <p:cNvSpPr txBox="1"/>
          <p:nvPr/>
        </p:nvSpPr>
        <p:spPr>
          <a:xfrm>
            <a:off x="1942934" y="2895287"/>
            <a:ext cx="1284575"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Visa</a:t>
            </a:r>
            <a:r>
              <a:rPr lang="az-Latn-AZ" sz="1100"/>
              <a:t> </a:t>
            </a:r>
            <a:r>
              <a:rPr lang="az-Latn-AZ" sz="1100" b="1"/>
              <a:t>discount network</a:t>
            </a:r>
            <a:endParaRPr lang="en-US" sz="1100" b="1"/>
          </a:p>
        </p:txBody>
      </p:sp>
      <p:sp>
        <p:nvSpPr>
          <p:cNvPr id="64" name="TextBox 63">
            <a:extLst>
              <a:ext uri="{FF2B5EF4-FFF2-40B4-BE49-F238E27FC236}">
                <a16:creationId xmlns:a16="http://schemas.microsoft.com/office/drawing/2014/main" id="{999CA14D-1E2D-E549-4466-5130AA50DF1D}"/>
              </a:ext>
            </a:extLst>
          </p:cNvPr>
          <p:cNvSpPr txBox="1"/>
          <p:nvPr/>
        </p:nvSpPr>
        <p:spPr>
          <a:xfrm>
            <a:off x="1942934" y="3545611"/>
            <a:ext cx="1494782"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Lending capped</a:t>
            </a:r>
            <a:endParaRPr lang="en-US" sz="1100"/>
          </a:p>
        </p:txBody>
      </p:sp>
      <p:sp>
        <p:nvSpPr>
          <p:cNvPr id="65" name="TextBox 64">
            <a:extLst>
              <a:ext uri="{FF2B5EF4-FFF2-40B4-BE49-F238E27FC236}">
                <a16:creationId xmlns:a16="http://schemas.microsoft.com/office/drawing/2014/main" id="{CD07BB66-E48F-2D49-E5F7-DA9CDC2DA6F5}"/>
              </a:ext>
            </a:extLst>
          </p:cNvPr>
          <p:cNvSpPr txBox="1"/>
          <p:nvPr/>
        </p:nvSpPr>
        <p:spPr>
          <a:xfrm>
            <a:off x="1942934" y="4324856"/>
            <a:ext cx="1452740"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Dependent on the specific credit</a:t>
            </a:r>
          </a:p>
        </p:txBody>
      </p:sp>
      <p:sp>
        <p:nvSpPr>
          <p:cNvPr id="66" name="TextBox 65">
            <a:extLst>
              <a:ext uri="{FF2B5EF4-FFF2-40B4-BE49-F238E27FC236}">
                <a16:creationId xmlns:a16="http://schemas.microsoft.com/office/drawing/2014/main" id="{91827456-8045-DC56-CAD4-7CFBA8DFC821}"/>
              </a:ext>
            </a:extLst>
          </p:cNvPr>
          <p:cNvSpPr txBox="1"/>
          <p:nvPr/>
        </p:nvSpPr>
        <p:spPr>
          <a:xfrm>
            <a:off x="1942934" y="5009905"/>
            <a:ext cx="1147107"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N/A</a:t>
            </a:r>
            <a:r>
              <a:rPr lang="en-US" sz="1100"/>
              <a:t>; </a:t>
            </a:r>
            <a:br>
              <a:rPr lang="en-US" sz="1100"/>
            </a:br>
            <a:r>
              <a:rPr lang="en-US" sz="1100" b="1"/>
              <a:t>Lending capped</a:t>
            </a:r>
          </a:p>
        </p:txBody>
      </p:sp>
      <p:sp>
        <p:nvSpPr>
          <p:cNvPr id="67" name="TextBox 66">
            <a:extLst>
              <a:ext uri="{FF2B5EF4-FFF2-40B4-BE49-F238E27FC236}">
                <a16:creationId xmlns:a16="http://schemas.microsoft.com/office/drawing/2014/main" id="{D243335A-E297-268F-F23E-806F3BA0066E}"/>
              </a:ext>
            </a:extLst>
          </p:cNvPr>
          <p:cNvSpPr txBox="1"/>
          <p:nvPr/>
        </p:nvSpPr>
        <p:spPr>
          <a:xfrm>
            <a:off x="1942934" y="5660232"/>
            <a:ext cx="1489194"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Up to 1.2%. </a:t>
            </a:r>
            <a:br>
              <a:rPr lang="en-US" sz="1100" b="1"/>
            </a:br>
            <a:r>
              <a:rPr lang="en-US" sz="1100"/>
              <a:t>Free delivery</a:t>
            </a:r>
          </a:p>
        </p:txBody>
      </p:sp>
      <p:sp>
        <p:nvSpPr>
          <p:cNvPr id="68" name="TextBox 67">
            <a:extLst>
              <a:ext uri="{FF2B5EF4-FFF2-40B4-BE49-F238E27FC236}">
                <a16:creationId xmlns:a16="http://schemas.microsoft.com/office/drawing/2014/main" id="{D96F48C6-A24F-8389-FBE0-23F911BA2426}"/>
              </a:ext>
            </a:extLst>
          </p:cNvPr>
          <p:cNvSpPr txBox="1"/>
          <p:nvPr/>
        </p:nvSpPr>
        <p:spPr>
          <a:xfrm>
            <a:off x="1942934" y="1779305"/>
            <a:ext cx="834991" cy="5078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0.5%-3% cashback, </a:t>
            </a:r>
            <a:r>
              <a:rPr lang="en-US" sz="1100"/>
              <a:t>2x VAT</a:t>
            </a:r>
          </a:p>
        </p:txBody>
      </p:sp>
      <p:pic>
        <p:nvPicPr>
          <p:cNvPr id="3082" name="Picture 10">
            <a:extLst>
              <a:ext uri="{FF2B5EF4-FFF2-40B4-BE49-F238E27FC236}">
                <a16:creationId xmlns:a16="http://schemas.microsoft.com/office/drawing/2014/main" id="{E00883DD-0946-ED17-5057-C73CECEDFFA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95693" y="1383491"/>
            <a:ext cx="1338755" cy="323148"/>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5F891471-0C00-D661-112E-1991840E122E}"/>
              </a:ext>
            </a:extLst>
          </p:cNvPr>
          <p:cNvSpPr/>
          <p:nvPr/>
        </p:nvSpPr>
        <p:spPr>
          <a:xfrm>
            <a:off x="9616440" y="0"/>
            <a:ext cx="2575560" cy="6858000"/>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3" name="TextBox 2">
            <a:extLst>
              <a:ext uri="{FF2B5EF4-FFF2-40B4-BE49-F238E27FC236}">
                <a16:creationId xmlns:a16="http://schemas.microsoft.com/office/drawing/2014/main" id="{07A2762A-0617-3B40-5BFF-8D853E9F69EE}"/>
              </a:ext>
            </a:extLst>
          </p:cNvPr>
          <p:cNvSpPr txBox="1"/>
          <p:nvPr/>
        </p:nvSpPr>
        <p:spPr>
          <a:xfrm>
            <a:off x="9753600" y="2172844"/>
            <a:ext cx="2133600" cy="31085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buFont typeface="Arial" panose="020B0604020202020204" pitchFamily="34" charset="0"/>
              <a:buChar char="•"/>
            </a:pPr>
            <a:r>
              <a:rPr lang="en-US" sz="1200"/>
              <a:t>Competing with established mass-market retail banks on standard features will </a:t>
            </a:r>
            <a:r>
              <a:rPr lang="en-US" sz="1200" b="1"/>
              <a:t>require aggressive retail focus</a:t>
            </a:r>
          </a:p>
          <a:p>
            <a:pPr marL="285750" indent="-285750">
              <a:buFont typeface="Arial" panose="020B0604020202020204" pitchFamily="34" charset="0"/>
              <a:buChar char="•"/>
            </a:pPr>
            <a:r>
              <a:rPr lang="en-US" sz="1200"/>
              <a:t>However, PASHA lending offering is limited due to </a:t>
            </a:r>
            <a:r>
              <a:rPr lang="en-US" sz="1200" b="1"/>
              <a:t>portfolio and sales restrictions </a:t>
            </a:r>
            <a:r>
              <a:rPr lang="en-US" sz="1200"/>
              <a:t>imposed by Pasha Holding</a:t>
            </a:r>
          </a:p>
          <a:p>
            <a:pPr marL="285750" indent="-285750">
              <a:buFont typeface="Arial" panose="020B0604020202020204" pitchFamily="34" charset="0"/>
              <a:buChar char="•"/>
            </a:pPr>
            <a:r>
              <a:rPr lang="en-US" sz="1200"/>
              <a:t>PASHA can limit retail ambitions to a targeted, defensive play </a:t>
            </a:r>
            <a:r>
              <a:rPr lang="en-US" sz="1200" b="1"/>
              <a:t>focused on retaining corporate payroll </a:t>
            </a:r>
            <a:r>
              <a:rPr lang="en-US" sz="1200"/>
              <a:t>and </a:t>
            </a:r>
            <a:r>
              <a:rPr lang="en-US" sz="1200" b="1"/>
              <a:t>cross-selling to existing base only</a:t>
            </a:r>
          </a:p>
        </p:txBody>
      </p:sp>
      <p:sp>
        <p:nvSpPr>
          <p:cNvPr id="15" name="TextBox 14">
            <a:extLst>
              <a:ext uri="{FF2B5EF4-FFF2-40B4-BE49-F238E27FC236}">
                <a16:creationId xmlns:a16="http://schemas.microsoft.com/office/drawing/2014/main" id="{A525D7FA-B86B-BAB8-285B-F86246551066}"/>
              </a:ext>
            </a:extLst>
          </p:cNvPr>
          <p:cNvSpPr txBox="1">
            <a:spLocks/>
          </p:cNvSpPr>
          <p:nvPr/>
        </p:nvSpPr>
        <p:spPr>
          <a:xfrm>
            <a:off x="9753601" y="1802340"/>
            <a:ext cx="2278380" cy="273992"/>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Key insights</a:t>
            </a:r>
          </a:p>
        </p:txBody>
      </p:sp>
      <p:sp>
        <p:nvSpPr>
          <p:cNvPr id="21" name="TextBox 20">
            <a:extLst>
              <a:ext uri="{FF2B5EF4-FFF2-40B4-BE49-F238E27FC236}">
                <a16:creationId xmlns:a16="http://schemas.microsoft.com/office/drawing/2014/main" id="{41C6991B-3DEF-D46A-0385-D7A93C2C4AD1}"/>
              </a:ext>
            </a:extLst>
          </p:cNvPr>
          <p:cNvSpPr txBox="1"/>
          <p:nvPr/>
        </p:nvSpPr>
        <p:spPr>
          <a:xfrm>
            <a:off x="1942934" y="3777104"/>
            <a:ext cx="1101209"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Salary advance up to 80%</a:t>
            </a:r>
          </a:p>
        </p:txBody>
      </p:sp>
      <p:grpSp>
        <p:nvGrpSpPr>
          <p:cNvPr id="30" name="AsteriskWhite 31">
            <a:extLst>
              <a:ext uri="{FF2B5EF4-FFF2-40B4-BE49-F238E27FC236}">
                <a16:creationId xmlns:a16="http://schemas.microsoft.com/office/drawing/2014/main" id="{E6028F07-ACB6-0562-43CC-157CBB9CD7AA}"/>
              </a:ext>
            </a:extLst>
          </p:cNvPr>
          <p:cNvGrpSpPr>
            <a:grpSpLocks noChangeAspect="1"/>
          </p:cNvGrpSpPr>
          <p:nvPr>
            <p:custDataLst>
              <p:tags r:id="rId11"/>
            </p:custDataLst>
          </p:nvPr>
        </p:nvGrpSpPr>
        <p:grpSpPr>
          <a:xfrm>
            <a:off x="1652609" y="1779305"/>
            <a:ext cx="199342" cy="199342"/>
            <a:chOff x="1016000" y="1016000"/>
            <a:chExt cx="396228" cy="396228"/>
          </a:xfrm>
        </p:grpSpPr>
        <p:sp>
          <p:nvSpPr>
            <p:cNvPr id="25" name="Oval 24">
              <a:extLst>
                <a:ext uri="{FF2B5EF4-FFF2-40B4-BE49-F238E27FC236}">
                  <a16:creationId xmlns:a16="http://schemas.microsoft.com/office/drawing/2014/main" id="{9D4C4662-D424-A80A-9351-C3FE6F8C621A}"/>
                </a:ext>
              </a:extLst>
            </p:cNvPr>
            <p:cNvSpPr/>
            <p:nvPr/>
          </p:nvSpPr>
          <p:spPr>
            <a:xfrm>
              <a:off x="1016000" y="1016000"/>
              <a:ext cx="396228" cy="396228"/>
            </a:xfrm>
            <a:prstGeom prst="ellipse">
              <a:avLst/>
            </a:prstGeom>
            <a:solidFill>
              <a:schemeClr val="bg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29" name="Graphic 28">
              <a:extLst>
                <a:ext uri="{FF2B5EF4-FFF2-40B4-BE49-F238E27FC236}">
                  <a16:creationId xmlns:a16="http://schemas.microsoft.com/office/drawing/2014/main" id="{31E29890-5B11-D700-5567-C57EB8CD98B9}"/>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023614" y="1023614"/>
              <a:ext cx="381000" cy="381000"/>
            </a:xfrm>
            <a:prstGeom prst="rect">
              <a:avLst/>
            </a:prstGeom>
          </p:spPr>
        </p:pic>
      </p:grpSp>
      <p:grpSp>
        <p:nvGrpSpPr>
          <p:cNvPr id="33" name="AsteriskWhite 31">
            <a:extLst>
              <a:ext uri="{FF2B5EF4-FFF2-40B4-BE49-F238E27FC236}">
                <a16:creationId xmlns:a16="http://schemas.microsoft.com/office/drawing/2014/main" id="{9CD6EBD4-AF6E-100E-FE45-B59624C76641}"/>
              </a:ext>
            </a:extLst>
          </p:cNvPr>
          <p:cNvGrpSpPr>
            <a:grpSpLocks noChangeAspect="1"/>
          </p:cNvGrpSpPr>
          <p:nvPr>
            <p:custDataLst>
              <p:tags r:id="rId12"/>
            </p:custDataLst>
          </p:nvPr>
        </p:nvGrpSpPr>
        <p:grpSpPr>
          <a:xfrm>
            <a:off x="1652609" y="2429629"/>
            <a:ext cx="199342" cy="199342"/>
            <a:chOff x="1016000" y="1016000"/>
            <a:chExt cx="396228" cy="396228"/>
          </a:xfrm>
        </p:grpSpPr>
        <p:sp>
          <p:nvSpPr>
            <p:cNvPr id="69" name="Oval 68">
              <a:extLst>
                <a:ext uri="{FF2B5EF4-FFF2-40B4-BE49-F238E27FC236}">
                  <a16:creationId xmlns:a16="http://schemas.microsoft.com/office/drawing/2014/main" id="{423D42B8-8F1D-41C0-E40F-F597C7F84665}"/>
                </a:ext>
              </a:extLst>
            </p:cNvPr>
            <p:cNvSpPr/>
            <p:nvPr/>
          </p:nvSpPr>
          <p:spPr>
            <a:xfrm>
              <a:off x="1016000" y="1016000"/>
              <a:ext cx="396228" cy="396228"/>
            </a:xfrm>
            <a:prstGeom prst="ellipse">
              <a:avLst/>
            </a:prstGeom>
            <a:solidFill>
              <a:schemeClr val="bg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0" name="Graphic 69">
              <a:extLst>
                <a:ext uri="{FF2B5EF4-FFF2-40B4-BE49-F238E27FC236}">
                  <a16:creationId xmlns:a16="http://schemas.microsoft.com/office/drawing/2014/main" id="{EC919521-A6FB-1A70-C96A-D3967AB6E114}"/>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023614" y="1023614"/>
              <a:ext cx="381000" cy="381000"/>
            </a:xfrm>
            <a:prstGeom prst="rect">
              <a:avLst/>
            </a:prstGeom>
          </p:spPr>
        </p:pic>
      </p:grpSp>
      <p:grpSp>
        <p:nvGrpSpPr>
          <p:cNvPr id="71" name="AsteriskWhite 31">
            <a:extLst>
              <a:ext uri="{FF2B5EF4-FFF2-40B4-BE49-F238E27FC236}">
                <a16:creationId xmlns:a16="http://schemas.microsoft.com/office/drawing/2014/main" id="{3E64369B-FB94-E5CE-F2A6-236013C94000}"/>
              </a:ext>
            </a:extLst>
          </p:cNvPr>
          <p:cNvGrpSpPr>
            <a:grpSpLocks noChangeAspect="1"/>
          </p:cNvGrpSpPr>
          <p:nvPr>
            <p:custDataLst>
              <p:tags r:id="rId13"/>
            </p:custDataLst>
          </p:nvPr>
        </p:nvGrpSpPr>
        <p:grpSpPr>
          <a:xfrm>
            <a:off x="1652609" y="3777104"/>
            <a:ext cx="199342" cy="199342"/>
            <a:chOff x="1016000" y="1016000"/>
            <a:chExt cx="396228" cy="396228"/>
          </a:xfrm>
        </p:grpSpPr>
        <p:sp>
          <p:nvSpPr>
            <p:cNvPr id="72" name="Oval 71">
              <a:extLst>
                <a:ext uri="{FF2B5EF4-FFF2-40B4-BE49-F238E27FC236}">
                  <a16:creationId xmlns:a16="http://schemas.microsoft.com/office/drawing/2014/main" id="{FDCF244F-5882-4660-C970-E7C355B5FD9D}"/>
                </a:ext>
              </a:extLst>
            </p:cNvPr>
            <p:cNvSpPr/>
            <p:nvPr/>
          </p:nvSpPr>
          <p:spPr>
            <a:xfrm>
              <a:off x="1016000" y="1016000"/>
              <a:ext cx="396228" cy="396228"/>
            </a:xfrm>
            <a:prstGeom prst="ellipse">
              <a:avLst/>
            </a:prstGeom>
            <a:solidFill>
              <a:schemeClr val="bg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3" name="Graphic 72">
              <a:extLst>
                <a:ext uri="{FF2B5EF4-FFF2-40B4-BE49-F238E27FC236}">
                  <a16:creationId xmlns:a16="http://schemas.microsoft.com/office/drawing/2014/main" id="{A8442F85-0207-A667-BBF1-CA60F2DE7AD8}"/>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023614" y="1023614"/>
              <a:ext cx="381000" cy="381000"/>
            </a:xfrm>
            <a:prstGeom prst="rect">
              <a:avLst/>
            </a:prstGeom>
          </p:spPr>
        </p:pic>
      </p:grpSp>
      <p:grpSp>
        <p:nvGrpSpPr>
          <p:cNvPr id="74" name="AsteriskWhite 31">
            <a:extLst>
              <a:ext uri="{FF2B5EF4-FFF2-40B4-BE49-F238E27FC236}">
                <a16:creationId xmlns:a16="http://schemas.microsoft.com/office/drawing/2014/main" id="{9085C3C7-0C5D-6C2C-6BC8-CFF5DAABE477}"/>
              </a:ext>
            </a:extLst>
          </p:cNvPr>
          <p:cNvGrpSpPr>
            <a:grpSpLocks noChangeAspect="1"/>
          </p:cNvGrpSpPr>
          <p:nvPr>
            <p:custDataLst>
              <p:tags r:id="rId14"/>
            </p:custDataLst>
          </p:nvPr>
        </p:nvGrpSpPr>
        <p:grpSpPr>
          <a:xfrm>
            <a:off x="6930664" y="884720"/>
            <a:ext cx="199342" cy="199342"/>
            <a:chOff x="1016000" y="1016000"/>
            <a:chExt cx="396228" cy="396228"/>
          </a:xfrm>
        </p:grpSpPr>
        <p:sp>
          <p:nvSpPr>
            <p:cNvPr id="75" name="Oval 74">
              <a:extLst>
                <a:ext uri="{FF2B5EF4-FFF2-40B4-BE49-F238E27FC236}">
                  <a16:creationId xmlns:a16="http://schemas.microsoft.com/office/drawing/2014/main" id="{7F11511C-44B2-D4CA-00E2-9F0DDA63A96D}"/>
                </a:ext>
              </a:extLst>
            </p:cNvPr>
            <p:cNvSpPr/>
            <p:nvPr/>
          </p:nvSpPr>
          <p:spPr>
            <a:xfrm>
              <a:off x="1016000" y="1016000"/>
              <a:ext cx="396228" cy="396228"/>
            </a:xfrm>
            <a:prstGeom prst="ellipse">
              <a:avLst/>
            </a:prstGeom>
            <a:solidFill>
              <a:schemeClr val="bg1"/>
            </a:solidFill>
            <a:ln w="6350" cap="sq">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77" name="Graphic 76">
              <a:extLst>
                <a:ext uri="{FF2B5EF4-FFF2-40B4-BE49-F238E27FC236}">
                  <a16:creationId xmlns:a16="http://schemas.microsoft.com/office/drawing/2014/main" id="{6B8D19CB-54BA-2F5B-B863-376EE9E1909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023614" y="1023614"/>
              <a:ext cx="381000" cy="381000"/>
            </a:xfrm>
            <a:prstGeom prst="rect">
              <a:avLst/>
            </a:prstGeom>
          </p:spPr>
        </p:pic>
      </p:grpSp>
      <p:sp>
        <p:nvSpPr>
          <p:cNvPr id="79" name="TextBox 78">
            <a:extLst>
              <a:ext uri="{FF2B5EF4-FFF2-40B4-BE49-F238E27FC236}">
                <a16:creationId xmlns:a16="http://schemas.microsoft.com/office/drawing/2014/main" id="{85FEDFD2-894B-EAD2-0BB5-9C7E15791AA2}"/>
              </a:ext>
            </a:extLst>
          </p:cNvPr>
          <p:cNvSpPr txBox="1"/>
          <p:nvPr/>
        </p:nvSpPr>
        <p:spPr>
          <a:xfrm>
            <a:off x="7221752" y="899753"/>
            <a:ext cx="2246339"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t>Visa initiative, not currently offered</a:t>
            </a:r>
          </a:p>
        </p:txBody>
      </p:sp>
      <p:cxnSp>
        <p:nvCxnSpPr>
          <p:cNvPr id="80" name="LineBasicDefault 76">
            <a:extLst>
              <a:ext uri="{FF2B5EF4-FFF2-40B4-BE49-F238E27FC236}">
                <a16:creationId xmlns:a16="http://schemas.microsoft.com/office/drawing/2014/main" id="{29723DEB-F53F-8724-D9E9-C67642392819}"/>
              </a:ext>
            </a:extLst>
          </p:cNvPr>
          <p:cNvCxnSpPr>
            <a:cxnSpLocks/>
          </p:cNvCxnSpPr>
          <p:nvPr>
            <p:custDataLst>
              <p:tags r:id="rId15"/>
            </p:custDataLst>
          </p:nvPr>
        </p:nvCxnSpPr>
        <p:spPr>
          <a:xfrm>
            <a:off x="9795641" y="1731142"/>
            <a:ext cx="2220312"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669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6E33E-49B7-7ADB-4CC9-FB3613CD69FD}"/>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1A5B13CD-1F2F-11B2-702A-CF15B5CCE2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606" imgH="608" progId="TCLayout.ActiveDocument.1">
                  <p:embed/>
                </p:oleObj>
              </mc:Choice>
              <mc:Fallback>
                <p:oleObj name="think-cell Slide" r:id="rId18" imgW="606" imgH="608" progId="TCLayout.ActiveDocument.1">
                  <p:embed/>
                  <p:pic>
                    <p:nvPicPr>
                      <p:cNvPr id="5" name="Object 6" hidden="1">
                        <a:extLst>
                          <a:ext uri="{FF2B5EF4-FFF2-40B4-BE49-F238E27FC236}">
                            <a16:creationId xmlns:a16="http://schemas.microsoft.com/office/drawing/2014/main" id="{1A5B13CD-1F2F-11B2-702A-CF15B5CCE29C}"/>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12" name="Rectangle: Rounded Corners 11">
            <a:extLst>
              <a:ext uri="{FF2B5EF4-FFF2-40B4-BE49-F238E27FC236}">
                <a16:creationId xmlns:a16="http://schemas.microsoft.com/office/drawing/2014/main" id="{5CC4EB51-2E06-7769-C973-23CB1358D737}"/>
              </a:ext>
            </a:extLst>
          </p:cNvPr>
          <p:cNvSpPr>
            <a:spLocks/>
          </p:cNvSpPr>
          <p:nvPr/>
        </p:nvSpPr>
        <p:spPr>
          <a:xfrm>
            <a:off x="561807" y="3003823"/>
            <a:ext cx="1171663" cy="2865120"/>
          </a:xfrm>
          <a:prstGeom prst="roundRect">
            <a:avLst>
              <a:gd name="adj" fmla="val 10870"/>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spcAft>
                <a:spcPts val="300"/>
              </a:spcAft>
            </a:pPr>
            <a:r>
              <a:rPr lang="en-US" sz="1400" b="1">
                <a:solidFill>
                  <a:schemeClr val="bg1"/>
                </a:solidFill>
              </a:rPr>
              <a:t>Salary-specific privileges</a:t>
            </a:r>
          </a:p>
        </p:txBody>
      </p:sp>
      <p:sp>
        <p:nvSpPr>
          <p:cNvPr id="11" name="Rectangle: Rounded Corners 10">
            <a:extLst>
              <a:ext uri="{FF2B5EF4-FFF2-40B4-BE49-F238E27FC236}">
                <a16:creationId xmlns:a16="http://schemas.microsoft.com/office/drawing/2014/main" id="{A2B10F5D-9F23-B1AE-FC31-815F401BAF67}"/>
              </a:ext>
            </a:extLst>
          </p:cNvPr>
          <p:cNvSpPr>
            <a:spLocks/>
          </p:cNvSpPr>
          <p:nvPr/>
        </p:nvSpPr>
        <p:spPr>
          <a:xfrm>
            <a:off x="561807" y="1732745"/>
            <a:ext cx="1171663" cy="1179637"/>
          </a:xfrm>
          <a:prstGeom prst="roundRect">
            <a:avLst>
              <a:gd name="adj" fmla="val 10870"/>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spcAft>
                <a:spcPts val="300"/>
              </a:spcAft>
            </a:pPr>
            <a:r>
              <a:rPr lang="en-US" sz="1400" b="1">
                <a:solidFill>
                  <a:schemeClr val="bg1"/>
                </a:solidFill>
              </a:rPr>
              <a:t>Essential incentives</a:t>
            </a:r>
          </a:p>
        </p:txBody>
      </p:sp>
      <p:sp>
        <p:nvSpPr>
          <p:cNvPr id="2" name="2. Slide Title">
            <a:extLst>
              <a:ext uri="{FF2B5EF4-FFF2-40B4-BE49-F238E27FC236}">
                <a16:creationId xmlns:a16="http://schemas.microsoft.com/office/drawing/2014/main" id="{D7C40715-B885-1851-A835-C7005DD4BD8B}"/>
              </a:ext>
            </a:extLst>
          </p:cNvPr>
          <p:cNvSpPr>
            <a:spLocks noGrp="1"/>
          </p:cNvSpPr>
          <p:nvPr>
            <p:ph type="title"/>
            <p:custDataLst>
              <p:tags r:id="rId2"/>
            </p:custDataLst>
          </p:nvPr>
        </p:nvSpPr>
        <p:spPr>
          <a:xfrm>
            <a:off x="1058972" y="165068"/>
            <a:ext cx="10578290" cy="738664"/>
          </a:xfrm>
          <a:noFill/>
          <a:ln/>
          <a:extLst>
            <a:ext uri="{909E8E84-426E-40DD-AFC4-6F175D3DCCD1}">
              <a14:hiddenFill xmlns:a14="http://schemas.microsoft.com/office/drawing/2010/main">
                <a:solidFill>
                  <a:srgbClr val="FFFFFF"/>
                </a:solidFill>
              </a14:hiddenFill>
            </a:ext>
          </a:extLst>
        </p:spPr>
        <p:txBody>
          <a:bodyPr vert="horz"/>
          <a:lstStyle/>
          <a:p>
            <a:r>
              <a:rPr lang="en-US">
                <a:latin typeface="+mj-lt"/>
              </a:rPr>
              <a:t>PASHA Bank can further protect its salary customers through revamping its value proposition and increasing lending limits</a:t>
            </a:r>
          </a:p>
        </p:txBody>
      </p:sp>
      <p:sp>
        <p:nvSpPr>
          <p:cNvPr id="82" name="3. Subtitle">
            <a:extLst>
              <a:ext uri="{FF2B5EF4-FFF2-40B4-BE49-F238E27FC236}">
                <a16:creationId xmlns:a16="http://schemas.microsoft.com/office/drawing/2014/main" id="{666FA33D-9CFE-E48D-B2E6-A7C2698B7C8F}"/>
              </a:ext>
            </a:extLst>
          </p:cNvPr>
          <p:cNvSpPr>
            <a:spLocks noGrp="1"/>
          </p:cNvSpPr>
          <p:nvPr>
            <p:ph type="subTitle" idx="1"/>
            <p:custDataLst>
              <p:tags r:id="rId3"/>
            </p:custDataLst>
          </p:nvPr>
        </p:nvSpPr>
        <p:spPr/>
        <p:txBody>
          <a:bodyPr/>
          <a:lstStyle/>
          <a:p>
            <a:endParaRPr lang="en-US"/>
          </a:p>
        </p:txBody>
      </p:sp>
      <p:sp>
        <p:nvSpPr>
          <p:cNvPr id="83" name="1. On-page tracker">
            <a:extLst>
              <a:ext uri="{FF2B5EF4-FFF2-40B4-BE49-F238E27FC236}">
                <a16:creationId xmlns:a16="http://schemas.microsoft.com/office/drawing/2014/main" id="{3DBF8566-6BD5-89AF-E85B-7CB93FEE003F}"/>
              </a:ext>
            </a:extLst>
          </p:cNvPr>
          <p:cNvSpPr>
            <a:spLocks noGrp="1"/>
          </p:cNvSpPr>
          <p:nvPr>
            <p:ph type="body" sz="quarter" idx="10"/>
            <p:custDataLst>
              <p:tags r:id="rId4"/>
            </p:custDataLst>
          </p:nvPr>
        </p:nvSpPr>
        <p:spPr/>
        <p:txBody>
          <a:bodyPr/>
          <a:lstStyle/>
          <a:p>
            <a:endParaRPr lang="en-US"/>
          </a:p>
        </p:txBody>
      </p:sp>
      <p:cxnSp>
        <p:nvCxnSpPr>
          <p:cNvPr id="127" name="LineBasicDefault 127">
            <a:extLst>
              <a:ext uri="{FF2B5EF4-FFF2-40B4-BE49-F238E27FC236}">
                <a16:creationId xmlns:a16="http://schemas.microsoft.com/office/drawing/2014/main" id="{4B2D084D-719D-2B8B-772A-23E38138198E}"/>
              </a:ext>
            </a:extLst>
          </p:cNvPr>
          <p:cNvCxnSpPr>
            <a:cxnSpLocks/>
          </p:cNvCxnSpPr>
          <p:nvPr>
            <p:custDataLst>
              <p:tags r:id="rId5"/>
            </p:custDataLst>
          </p:nvPr>
        </p:nvCxnSpPr>
        <p:spPr>
          <a:xfrm>
            <a:off x="533463" y="1674127"/>
            <a:ext cx="11103799"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47" name="Graphic 146">
            <a:extLst>
              <a:ext uri="{FF2B5EF4-FFF2-40B4-BE49-F238E27FC236}">
                <a16:creationId xmlns:a16="http://schemas.microsoft.com/office/drawing/2014/main" id="{5AF20AFB-0D51-FD38-D6D0-F2CB00AEABD3}"/>
              </a:ext>
            </a:extLst>
          </p:cNvPr>
          <p:cNvPicPr>
            <a:picLocks/>
          </p:cNvPicPr>
          <p:nvPr/>
        </p:nvPicPr>
        <p:blipFill>
          <a:blip>
            <a:extLst>
              <a:ext uri="{96DAC541-7B7A-43D3-8B79-37D633B846F1}">
                <asvg:svgBlip xmlns:asvg="http://schemas.microsoft.com/office/drawing/2016/SVG/main" r:embed="rId20"/>
              </a:ext>
            </a:extLst>
          </a:blip>
          <a:stretch>
            <a:fillRect/>
          </a:stretch>
        </p:blipFill>
        <p:spPr>
          <a:xfrm>
            <a:off x="746209" y="4977063"/>
            <a:ext cx="406816" cy="406816"/>
          </a:xfrm>
          <a:prstGeom prst="rect">
            <a:avLst/>
          </a:prstGeom>
        </p:spPr>
      </p:pic>
      <p:pic>
        <p:nvPicPr>
          <p:cNvPr id="150" name="Graphic 149">
            <a:extLst>
              <a:ext uri="{FF2B5EF4-FFF2-40B4-BE49-F238E27FC236}">
                <a16:creationId xmlns:a16="http://schemas.microsoft.com/office/drawing/2014/main" id="{AF913463-BC64-839F-F6C4-D6A1D7490643}"/>
              </a:ext>
            </a:extLst>
          </p:cNvPr>
          <p:cNvPicPr>
            <a:picLocks/>
          </p:cNvPicPr>
          <p:nvPr/>
        </p:nvPicPr>
        <p:blipFill>
          <a:blip>
            <a:extLst>
              <a:ext uri="{96DAC541-7B7A-43D3-8B79-37D633B846F1}">
                <asvg:svgBlip xmlns:asvg="http://schemas.microsoft.com/office/drawing/2016/SVG/main" r:embed="rId21"/>
              </a:ext>
            </a:extLst>
          </a:blip>
          <a:stretch>
            <a:fillRect/>
          </a:stretch>
        </p:blipFill>
        <p:spPr>
          <a:xfrm>
            <a:off x="730506" y="2341697"/>
            <a:ext cx="406816" cy="406816"/>
          </a:xfrm>
          <a:prstGeom prst="rect">
            <a:avLst/>
          </a:prstGeom>
        </p:spPr>
      </p:pic>
      <p:sp>
        <p:nvSpPr>
          <p:cNvPr id="7" name="TrackerNumBlue 35">
            <a:extLst>
              <a:ext uri="{FF2B5EF4-FFF2-40B4-BE49-F238E27FC236}">
                <a16:creationId xmlns:a16="http://schemas.microsoft.com/office/drawing/2014/main" id="{5CAD4B4F-1716-03DB-B69A-1380A5CF4A55}"/>
              </a:ext>
            </a:extLst>
          </p:cNvPr>
          <p:cNvSpPr/>
          <p:nvPr>
            <p:custDataLst>
              <p:tags r:id="rId6"/>
            </p:custDataLst>
          </p:nvPr>
        </p:nvSpPr>
        <p:spPr>
          <a:xfrm>
            <a:off x="547688" y="219043"/>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B</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cxnSp>
        <p:nvCxnSpPr>
          <p:cNvPr id="9" name="LineBasicStrong 47">
            <a:extLst>
              <a:ext uri="{FF2B5EF4-FFF2-40B4-BE49-F238E27FC236}">
                <a16:creationId xmlns:a16="http://schemas.microsoft.com/office/drawing/2014/main" id="{1BE9811E-C629-A34B-0F1D-D47AB09911E6}"/>
              </a:ext>
            </a:extLst>
          </p:cNvPr>
          <p:cNvCxnSpPr>
            <a:cxnSpLocks/>
          </p:cNvCxnSpPr>
          <p:nvPr>
            <p:custDataLst>
              <p:tags r:id="rId7"/>
            </p:custDataLst>
          </p:nvPr>
        </p:nvCxnSpPr>
        <p:spPr>
          <a:xfrm>
            <a:off x="544223" y="5915323"/>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LineBasicDefault 127">
            <a:extLst>
              <a:ext uri="{FF2B5EF4-FFF2-40B4-BE49-F238E27FC236}">
                <a16:creationId xmlns:a16="http://schemas.microsoft.com/office/drawing/2014/main" id="{6D110E99-A3B4-E590-E514-0574DE5F79B7}"/>
              </a:ext>
            </a:extLst>
          </p:cNvPr>
          <p:cNvCxnSpPr>
            <a:cxnSpLocks/>
          </p:cNvCxnSpPr>
          <p:nvPr>
            <p:custDataLst>
              <p:tags r:id="rId8"/>
            </p:custDataLst>
          </p:nvPr>
        </p:nvCxnSpPr>
        <p:spPr>
          <a:xfrm>
            <a:off x="533463" y="2942893"/>
            <a:ext cx="11103799" cy="0"/>
          </a:xfrm>
          <a:prstGeom prst="straightConnector1">
            <a:avLst/>
          </a:prstGeom>
          <a:ln w="6350" cap="sq">
            <a:solidFill>
              <a:schemeClr val="bg2">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6BDF952-11E4-0ACA-C052-CFA41C8CA3AC}"/>
              </a:ext>
            </a:extLst>
          </p:cNvPr>
          <p:cNvSpPr txBox="1"/>
          <p:nvPr/>
        </p:nvSpPr>
        <p:spPr>
          <a:xfrm>
            <a:off x="554736" y="1349823"/>
            <a:ext cx="2198563"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Category</a:t>
            </a:r>
          </a:p>
        </p:txBody>
      </p:sp>
      <p:sp>
        <p:nvSpPr>
          <p:cNvPr id="15" name="TextBox 14">
            <a:extLst>
              <a:ext uri="{FF2B5EF4-FFF2-40B4-BE49-F238E27FC236}">
                <a16:creationId xmlns:a16="http://schemas.microsoft.com/office/drawing/2014/main" id="{785C55D9-8CA3-053C-03D6-B00BEC17F63C}"/>
              </a:ext>
            </a:extLst>
          </p:cNvPr>
          <p:cNvSpPr txBox="1">
            <a:spLocks/>
          </p:cNvSpPr>
          <p:nvPr/>
        </p:nvSpPr>
        <p:spPr>
          <a:xfrm>
            <a:off x="1889113" y="1349823"/>
            <a:ext cx="9637869" cy="21544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Example of product/service offerings</a:t>
            </a:r>
          </a:p>
        </p:txBody>
      </p:sp>
      <p:sp>
        <p:nvSpPr>
          <p:cNvPr id="18" name="TextBox 17">
            <a:extLst>
              <a:ext uri="{FF2B5EF4-FFF2-40B4-BE49-F238E27FC236}">
                <a16:creationId xmlns:a16="http://schemas.microsoft.com/office/drawing/2014/main" id="{55EA97EF-EF5D-A4CE-CF8E-D21D285FD5A2}"/>
              </a:ext>
            </a:extLst>
          </p:cNvPr>
          <p:cNvSpPr txBox="1"/>
          <p:nvPr/>
        </p:nvSpPr>
        <p:spPr>
          <a:xfrm>
            <a:off x="1889114" y="1726937"/>
            <a:ext cx="8200818"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sym typeface=""/>
              </a:rPr>
              <a:t>Higher </a:t>
            </a:r>
            <a:r>
              <a:rPr lang="en-US" b="1">
                <a:sym typeface=""/>
              </a:rPr>
              <a:t>cashback</a:t>
            </a:r>
            <a:r>
              <a:rPr lang="en-US">
                <a:sym typeface=""/>
              </a:rPr>
              <a:t> (capped per month), </a:t>
            </a:r>
            <a:r>
              <a:rPr lang="en-US" b="1">
                <a:sym typeface=""/>
              </a:rPr>
              <a:t>miles</a:t>
            </a:r>
            <a:r>
              <a:rPr lang="en-US">
                <a:sym typeface=""/>
              </a:rPr>
              <a:t>, or unique categories that reward card usage</a:t>
            </a:r>
          </a:p>
        </p:txBody>
      </p:sp>
      <p:sp>
        <p:nvSpPr>
          <p:cNvPr id="20" name="TextBox 19">
            <a:extLst>
              <a:ext uri="{FF2B5EF4-FFF2-40B4-BE49-F238E27FC236}">
                <a16:creationId xmlns:a16="http://schemas.microsoft.com/office/drawing/2014/main" id="{8222D3BA-47E1-F5A4-D705-E3B600787B8B}"/>
              </a:ext>
            </a:extLst>
          </p:cNvPr>
          <p:cNvSpPr txBox="1"/>
          <p:nvPr/>
        </p:nvSpPr>
        <p:spPr>
          <a:xfrm>
            <a:off x="1889114" y="2043531"/>
            <a:ext cx="8200818"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sym typeface=""/>
              </a:rPr>
              <a:t>Free or discounted </a:t>
            </a:r>
            <a:r>
              <a:rPr lang="en-US" b="1">
                <a:sym typeface=""/>
              </a:rPr>
              <a:t>access to a suite of non-banking services </a:t>
            </a:r>
            <a:r>
              <a:rPr lang="en-US">
                <a:sym typeface=""/>
              </a:rPr>
              <a:t>in the ecosystem</a:t>
            </a:r>
          </a:p>
        </p:txBody>
      </p:sp>
      <p:sp>
        <p:nvSpPr>
          <p:cNvPr id="21" name="TextBox 20">
            <a:extLst>
              <a:ext uri="{FF2B5EF4-FFF2-40B4-BE49-F238E27FC236}">
                <a16:creationId xmlns:a16="http://schemas.microsoft.com/office/drawing/2014/main" id="{76D9D16C-AC43-7B92-A222-F48B744C038B}"/>
              </a:ext>
            </a:extLst>
          </p:cNvPr>
          <p:cNvSpPr txBox="1"/>
          <p:nvPr/>
        </p:nvSpPr>
        <p:spPr>
          <a:xfrm>
            <a:off x="1889114" y="2360125"/>
            <a:ext cx="8200818"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b="1">
                <a:sym typeface=""/>
              </a:rPr>
              <a:t>Unlimited free cash withdrawals </a:t>
            </a:r>
            <a:r>
              <a:rPr lang="en-US">
                <a:sym typeface=""/>
              </a:rPr>
              <a:t>at the bank's own ATMs or partner network ATMs</a:t>
            </a:r>
          </a:p>
        </p:txBody>
      </p:sp>
      <p:sp>
        <p:nvSpPr>
          <p:cNvPr id="22" name="TextBox 21">
            <a:extLst>
              <a:ext uri="{FF2B5EF4-FFF2-40B4-BE49-F238E27FC236}">
                <a16:creationId xmlns:a16="http://schemas.microsoft.com/office/drawing/2014/main" id="{DFCD4603-E915-9A0A-B3E3-C3DAB3CEF4E3}"/>
              </a:ext>
            </a:extLst>
          </p:cNvPr>
          <p:cNvSpPr txBox="1"/>
          <p:nvPr/>
        </p:nvSpPr>
        <p:spPr>
          <a:xfrm>
            <a:off x="1889113" y="2676719"/>
            <a:ext cx="7349479"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sym typeface=""/>
              </a:rPr>
              <a:t>Welcome bonus, such as </a:t>
            </a:r>
            <a:r>
              <a:rPr lang="en-US" b="1">
                <a:sym typeface=""/>
              </a:rPr>
              <a:t>cash bonus lump sum </a:t>
            </a:r>
            <a:r>
              <a:rPr lang="en-US">
                <a:sym typeface=""/>
              </a:rPr>
              <a:t>upon switching to PBA as salary bank</a:t>
            </a:r>
          </a:p>
        </p:txBody>
      </p:sp>
      <p:sp>
        <p:nvSpPr>
          <p:cNvPr id="23" name="TextBox 22">
            <a:extLst>
              <a:ext uri="{FF2B5EF4-FFF2-40B4-BE49-F238E27FC236}">
                <a16:creationId xmlns:a16="http://schemas.microsoft.com/office/drawing/2014/main" id="{4AA66D6A-13F0-F9B0-296E-34E9BB7EB593}"/>
              </a:ext>
            </a:extLst>
          </p:cNvPr>
          <p:cNvSpPr txBox="1"/>
          <p:nvPr/>
        </p:nvSpPr>
        <p:spPr>
          <a:xfrm>
            <a:off x="1889114" y="2993313"/>
            <a:ext cx="7712086" cy="2154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sym typeface=""/>
              </a:rPr>
              <a:t>Automatic upgrades to </a:t>
            </a:r>
            <a:r>
              <a:rPr lang="en-US" b="1">
                <a:sym typeface=""/>
              </a:rPr>
              <a:t>higher banking tier</a:t>
            </a:r>
            <a:r>
              <a:rPr lang="en-US">
                <a:sym typeface=""/>
              </a:rPr>
              <a:t> segments based on payroll/transaction volume</a:t>
            </a:r>
          </a:p>
        </p:txBody>
      </p:sp>
      <p:sp>
        <p:nvSpPr>
          <p:cNvPr id="24" name="TextBox 23">
            <a:extLst>
              <a:ext uri="{FF2B5EF4-FFF2-40B4-BE49-F238E27FC236}">
                <a16:creationId xmlns:a16="http://schemas.microsoft.com/office/drawing/2014/main" id="{EE2047FC-A185-E92F-07FD-0C913F7763F8}"/>
              </a:ext>
            </a:extLst>
          </p:cNvPr>
          <p:cNvSpPr txBox="1"/>
          <p:nvPr/>
        </p:nvSpPr>
        <p:spPr>
          <a:xfrm>
            <a:off x="1889114" y="3309907"/>
            <a:ext cx="6498142" cy="430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b="1">
                <a:sym typeface=""/>
              </a:rPr>
              <a:t>Preferential rates </a:t>
            </a:r>
            <a:r>
              <a:rPr lang="en-US">
                <a:sym typeface=""/>
              </a:rPr>
              <a:t>on core products like mortgages &amp; deposits, or a higher likelihood of loan approval as more payroll services are used</a:t>
            </a:r>
          </a:p>
        </p:txBody>
      </p:sp>
      <p:sp>
        <p:nvSpPr>
          <p:cNvPr id="25" name="TextBox 24">
            <a:extLst>
              <a:ext uri="{FF2B5EF4-FFF2-40B4-BE49-F238E27FC236}">
                <a16:creationId xmlns:a16="http://schemas.microsoft.com/office/drawing/2014/main" id="{C5685DEE-F63C-7CD3-66ED-3A179C437B07}"/>
              </a:ext>
            </a:extLst>
          </p:cNvPr>
          <p:cNvSpPr txBox="1"/>
          <p:nvPr/>
        </p:nvSpPr>
        <p:spPr>
          <a:xfrm>
            <a:off x="1889114" y="3841944"/>
            <a:ext cx="6992128" cy="430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sym typeface=""/>
              </a:rPr>
              <a:t>Automatically </a:t>
            </a:r>
            <a:r>
              <a:rPr lang="en-US" b="1">
                <a:sym typeface=""/>
              </a:rPr>
              <a:t>sweeping excess idle salary cash into investment products</a:t>
            </a:r>
            <a:r>
              <a:rPr lang="en-US">
                <a:sym typeface=""/>
              </a:rPr>
              <a:t> once a threshold is met</a:t>
            </a:r>
          </a:p>
        </p:txBody>
      </p:sp>
      <p:sp>
        <p:nvSpPr>
          <p:cNvPr id="27" name="TextBox 26">
            <a:extLst>
              <a:ext uri="{FF2B5EF4-FFF2-40B4-BE49-F238E27FC236}">
                <a16:creationId xmlns:a16="http://schemas.microsoft.com/office/drawing/2014/main" id="{308C09B9-9D24-3702-9D34-3D5C2CAFD22A}"/>
              </a:ext>
            </a:extLst>
          </p:cNvPr>
          <p:cNvSpPr txBox="1"/>
          <p:nvPr/>
        </p:nvSpPr>
        <p:spPr>
          <a:xfrm>
            <a:off x="1889113" y="4350831"/>
            <a:ext cx="7023659" cy="430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b="1">
                <a:sym typeface=""/>
              </a:rPr>
              <a:t>Saving rate “boosters”</a:t>
            </a:r>
            <a:r>
              <a:rPr lang="en-US">
                <a:sym typeface=""/>
              </a:rPr>
              <a:t>, when higher interest rate on savings, activated only in months salary is deposited</a:t>
            </a:r>
          </a:p>
        </p:txBody>
      </p:sp>
      <p:sp>
        <p:nvSpPr>
          <p:cNvPr id="28" name="TextBox 27">
            <a:extLst>
              <a:ext uri="{FF2B5EF4-FFF2-40B4-BE49-F238E27FC236}">
                <a16:creationId xmlns:a16="http://schemas.microsoft.com/office/drawing/2014/main" id="{B84BA9C9-388F-4E8C-E6EC-60AA73A3CAF4}"/>
              </a:ext>
            </a:extLst>
          </p:cNvPr>
          <p:cNvSpPr txBox="1"/>
          <p:nvPr/>
        </p:nvSpPr>
        <p:spPr>
          <a:xfrm>
            <a:off x="1889113" y="4906018"/>
            <a:ext cx="7163447" cy="430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b="1">
                <a:sym typeface=""/>
              </a:rPr>
              <a:t>Early Salary Access</a:t>
            </a:r>
            <a:r>
              <a:rPr lang="en-US">
                <a:sym typeface=""/>
              </a:rPr>
              <a:t>, when payroll funds are released to the customer 1 to 2 days before the official payday</a:t>
            </a:r>
          </a:p>
        </p:txBody>
      </p:sp>
      <p:sp>
        <p:nvSpPr>
          <p:cNvPr id="3" name="TextBox 2">
            <a:extLst>
              <a:ext uri="{FF2B5EF4-FFF2-40B4-BE49-F238E27FC236}">
                <a16:creationId xmlns:a16="http://schemas.microsoft.com/office/drawing/2014/main" id="{534E39BF-716B-F754-E328-4E5D23CBF163}"/>
              </a:ext>
            </a:extLst>
          </p:cNvPr>
          <p:cNvSpPr txBox="1"/>
          <p:nvPr/>
        </p:nvSpPr>
        <p:spPr>
          <a:xfrm>
            <a:off x="1889113" y="5438056"/>
            <a:ext cx="6172321" cy="4308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b="1"/>
              <a:t>BNPL </a:t>
            </a:r>
            <a:r>
              <a:rPr lang="en-US"/>
              <a:t>as direct installment options at checkout, allowing employees to split large retail purchases without applying for a separate loan</a:t>
            </a:r>
          </a:p>
        </p:txBody>
      </p:sp>
      <p:pic>
        <p:nvPicPr>
          <p:cNvPr id="4" name="Picture 2">
            <a:extLst>
              <a:ext uri="{FF2B5EF4-FFF2-40B4-BE49-F238E27FC236}">
                <a16:creationId xmlns:a16="http://schemas.microsoft.com/office/drawing/2014/main" id="{36D84CDB-B2E2-B6E7-F487-FB5B5E2869A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736455" y="2690580"/>
            <a:ext cx="1215070" cy="2181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QNB Finansbank Şirketi Profil Bilgileri">
            <a:extLst>
              <a:ext uri="{FF2B5EF4-FFF2-40B4-BE49-F238E27FC236}">
                <a16:creationId xmlns:a16="http://schemas.microsoft.com/office/drawing/2014/main" id="{5AB5F2FD-89A2-C64E-19BE-817AE8872C6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989092" y="1747607"/>
            <a:ext cx="689862" cy="27717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a:extLst>
              <a:ext uri="{FF2B5EF4-FFF2-40B4-BE49-F238E27FC236}">
                <a16:creationId xmlns:a16="http://schemas.microsoft.com/office/drawing/2014/main" id="{AED40C50-610D-4EB0-5F3A-FCD8DBD2189B}"/>
              </a:ext>
            </a:extLst>
          </p:cNvPr>
          <p:cNvPicPr>
            <a:picLocks noChangeArrowheads="1"/>
          </p:cNvPicPr>
          <p:nvPr/>
        </p:nvPicPr>
        <p:blipFill rotWithShape="1">
          <a:blip r:embed="rId24">
            <a:extLst>
              <a:ext uri="{28A0092B-C50C-407E-A947-70E740481C1C}">
                <a14:useLocalDpi xmlns:a14="http://schemas.microsoft.com/office/drawing/2010/main" val="0"/>
              </a:ext>
            </a:extLst>
          </a:blip>
          <a:srcRect r="40277" b="-9316"/>
          <a:stretch>
            <a:fillRect/>
          </a:stretch>
        </p:blipFill>
        <p:spPr bwMode="auto">
          <a:xfrm>
            <a:off x="9634968" y="2035820"/>
            <a:ext cx="749253" cy="30678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a:extLst>
              <a:ext uri="{FF2B5EF4-FFF2-40B4-BE49-F238E27FC236}">
                <a16:creationId xmlns:a16="http://schemas.microsoft.com/office/drawing/2014/main" id="{375033D3-7EC3-4CE5-10AF-A8B4B68A2738}"/>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440893" y="2029925"/>
            <a:ext cx="732579" cy="262698"/>
          </a:xfrm>
          <a:prstGeom prst="rect">
            <a:avLst/>
          </a:prstGeom>
          <a:noFill/>
          <a:extLst>
            <a:ext uri="{909E8E84-426E-40DD-AFC4-6F175D3DCCD1}">
              <a14:hiddenFill xmlns:a14="http://schemas.microsoft.com/office/drawing/2010/main">
                <a:solidFill>
                  <a:srgbClr val="FFFFFF"/>
                </a:solidFill>
              </a14:hiddenFill>
            </a:ext>
          </a:extLst>
        </p:spPr>
      </p:pic>
      <p:pic>
        <p:nvPicPr>
          <p:cNvPr id="17" name="object 5">
            <a:extLst>
              <a:ext uri="{FF2B5EF4-FFF2-40B4-BE49-F238E27FC236}">
                <a16:creationId xmlns:a16="http://schemas.microsoft.com/office/drawing/2014/main" id="{E1F60C1B-D45F-A914-8182-F58D0608D768}"/>
              </a:ext>
            </a:extLst>
          </p:cNvPr>
          <p:cNvPicPr/>
          <p:nvPr/>
        </p:nvPicPr>
        <p:blipFill>
          <a:blip r:embed="rId26" cstate="print"/>
          <a:stretch>
            <a:fillRect/>
          </a:stretch>
        </p:blipFill>
        <p:spPr>
          <a:xfrm>
            <a:off x="10179292" y="2362457"/>
            <a:ext cx="648815" cy="170395"/>
          </a:xfrm>
          <a:prstGeom prst="rect">
            <a:avLst/>
          </a:prstGeom>
        </p:spPr>
      </p:pic>
      <p:pic>
        <p:nvPicPr>
          <p:cNvPr id="26" name="Picture 4">
            <a:extLst>
              <a:ext uri="{FF2B5EF4-FFF2-40B4-BE49-F238E27FC236}">
                <a16:creationId xmlns:a16="http://schemas.microsoft.com/office/drawing/2014/main" id="{7D34FC6D-CAD0-412C-69F8-4A84DFEA1EB4}"/>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696057" y="1810669"/>
            <a:ext cx="1318260" cy="14281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4">
            <a:extLst>
              <a:ext uri="{FF2B5EF4-FFF2-40B4-BE49-F238E27FC236}">
                <a16:creationId xmlns:a16="http://schemas.microsoft.com/office/drawing/2014/main" id="{65FAA069-F1DD-4F38-009C-47A113978B80}"/>
              </a:ext>
            </a:extLst>
          </p:cNvPr>
          <p:cNvPicPr>
            <a:picLocks noChangeArrowheads="1"/>
          </p:cNvPicPr>
          <p:nvPr/>
        </p:nvPicPr>
        <p:blipFill rotWithShape="1">
          <a:blip r:embed="rId24">
            <a:extLst>
              <a:ext uri="{28A0092B-C50C-407E-A947-70E740481C1C}">
                <a14:useLocalDpi xmlns:a14="http://schemas.microsoft.com/office/drawing/2010/main" val="0"/>
              </a:ext>
            </a:extLst>
          </a:blip>
          <a:srcRect r="40277" b="-9316"/>
          <a:stretch>
            <a:fillRect/>
          </a:stretch>
        </p:blipFill>
        <p:spPr bwMode="auto">
          <a:xfrm>
            <a:off x="9634968" y="2981752"/>
            <a:ext cx="749253" cy="30678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 descr="QNB Finansbank Şirketi Profil Bilgileri">
            <a:extLst>
              <a:ext uri="{FF2B5EF4-FFF2-40B4-BE49-F238E27FC236}">
                <a16:creationId xmlns:a16="http://schemas.microsoft.com/office/drawing/2014/main" id="{ACDDA63C-DCA9-589A-4164-1E7CEDDEA22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600209" y="2966807"/>
            <a:ext cx="689862" cy="27717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2" descr="ABB">
            <a:extLst>
              <a:ext uri="{FF2B5EF4-FFF2-40B4-BE49-F238E27FC236}">
                <a16:creationId xmlns:a16="http://schemas.microsoft.com/office/drawing/2014/main" id="{6E19B417-C194-C146-56E2-E22FB725B828}"/>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0026869" y="3399955"/>
            <a:ext cx="714703" cy="32338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0">
            <a:extLst>
              <a:ext uri="{FF2B5EF4-FFF2-40B4-BE49-F238E27FC236}">
                <a16:creationId xmlns:a16="http://schemas.microsoft.com/office/drawing/2014/main" id="{1AADB4AD-8028-6382-54CE-657F2F2763EB}"/>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0735182" y="3953317"/>
            <a:ext cx="838875" cy="30081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a:extLst>
              <a:ext uri="{FF2B5EF4-FFF2-40B4-BE49-F238E27FC236}">
                <a16:creationId xmlns:a16="http://schemas.microsoft.com/office/drawing/2014/main" id="{0DFF59B4-2E98-B510-88E2-753962461A6A}"/>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506870" y="4017843"/>
            <a:ext cx="1112972" cy="120572"/>
          </a:xfrm>
          <a:prstGeom prst="rect">
            <a:avLst/>
          </a:prstGeom>
          <a:noFill/>
          <a:extLst>
            <a:ext uri="{909E8E84-426E-40DD-AFC4-6F175D3DCCD1}">
              <a14:hiddenFill xmlns:a14="http://schemas.microsoft.com/office/drawing/2010/main">
                <a:solidFill>
                  <a:srgbClr val="FFFFFF"/>
                </a:solidFill>
              </a14:hiddenFill>
            </a:ext>
          </a:extLst>
        </p:spPr>
      </p:pic>
      <p:pic>
        <p:nvPicPr>
          <p:cNvPr id="34" name="object 5">
            <a:extLst>
              <a:ext uri="{FF2B5EF4-FFF2-40B4-BE49-F238E27FC236}">
                <a16:creationId xmlns:a16="http://schemas.microsoft.com/office/drawing/2014/main" id="{A6CD04C6-517E-9C40-D9D1-651D2FF3BAD2}"/>
              </a:ext>
            </a:extLst>
          </p:cNvPr>
          <p:cNvPicPr/>
          <p:nvPr/>
        </p:nvPicPr>
        <p:blipFill>
          <a:blip r:embed="rId26" cstate="print"/>
          <a:stretch>
            <a:fillRect/>
          </a:stretch>
        </p:blipFill>
        <p:spPr>
          <a:xfrm>
            <a:off x="10053168" y="4443505"/>
            <a:ext cx="782998" cy="205635"/>
          </a:xfrm>
          <a:prstGeom prst="rect">
            <a:avLst/>
          </a:prstGeom>
        </p:spPr>
      </p:pic>
      <p:pic>
        <p:nvPicPr>
          <p:cNvPr id="36" name="Picture 2">
            <a:extLst>
              <a:ext uri="{FF2B5EF4-FFF2-40B4-BE49-F238E27FC236}">
                <a16:creationId xmlns:a16="http://schemas.microsoft.com/office/drawing/2014/main" id="{4A85F64C-98CF-DB88-D788-BEE7649022A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767987" y="4971328"/>
            <a:ext cx="1332170" cy="239142"/>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LineBasicDefault 37">
            <a:extLst>
              <a:ext uri="{FF2B5EF4-FFF2-40B4-BE49-F238E27FC236}">
                <a16:creationId xmlns:a16="http://schemas.microsoft.com/office/drawing/2014/main" id="{BBE95474-29CB-F0A3-8440-C6588AFFADF9}"/>
              </a:ext>
            </a:extLst>
          </p:cNvPr>
          <p:cNvCxnSpPr>
            <a:cxnSpLocks/>
          </p:cNvCxnSpPr>
          <p:nvPr>
            <p:custDataLst>
              <p:tags r:id="rId9"/>
            </p:custDataLst>
          </p:nvPr>
        </p:nvCxnSpPr>
        <p:spPr>
          <a:xfrm>
            <a:off x="1889114" y="2022770"/>
            <a:ext cx="9777369"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LineBasicDefault 37">
            <a:extLst>
              <a:ext uri="{FF2B5EF4-FFF2-40B4-BE49-F238E27FC236}">
                <a16:creationId xmlns:a16="http://schemas.microsoft.com/office/drawing/2014/main" id="{AD0771ED-4C4E-1958-275C-84D9201918DA}"/>
              </a:ext>
            </a:extLst>
          </p:cNvPr>
          <p:cNvCxnSpPr>
            <a:cxnSpLocks/>
          </p:cNvCxnSpPr>
          <p:nvPr>
            <p:custDataLst>
              <p:tags r:id="rId10"/>
            </p:custDataLst>
          </p:nvPr>
        </p:nvCxnSpPr>
        <p:spPr>
          <a:xfrm>
            <a:off x="1889114" y="2327570"/>
            <a:ext cx="7254886"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LineBasicDefault 37">
            <a:extLst>
              <a:ext uri="{FF2B5EF4-FFF2-40B4-BE49-F238E27FC236}">
                <a16:creationId xmlns:a16="http://schemas.microsoft.com/office/drawing/2014/main" id="{E246BFA2-962A-FA47-44F0-358141C5B7D4}"/>
              </a:ext>
            </a:extLst>
          </p:cNvPr>
          <p:cNvCxnSpPr>
            <a:cxnSpLocks/>
          </p:cNvCxnSpPr>
          <p:nvPr>
            <p:custDataLst>
              <p:tags r:id="rId11"/>
            </p:custDataLst>
          </p:nvPr>
        </p:nvCxnSpPr>
        <p:spPr>
          <a:xfrm>
            <a:off x="1889114" y="2621860"/>
            <a:ext cx="9745838"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5" name="LineBasicDefault 37">
            <a:extLst>
              <a:ext uri="{FF2B5EF4-FFF2-40B4-BE49-F238E27FC236}">
                <a16:creationId xmlns:a16="http://schemas.microsoft.com/office/drawing/2014/main" id="{19D88CA2-9D40-8A35-3659-CA76132F569C}"/>
              </a:ext>
            </a:extLst>
          </p:cNvPr>
          <p:cNvCxnSpPr>
            <a:cxnSpLocks/>
          </p:cNvCxnSpPr>
          <p:nvPr>
            <p:custDataLst>
              <p:tags r:id="rId12"/>
            </p:custDataLst>
          </p:nvPr>
        </p:nvCxnSpPr>
        <p:spPr>
          <a:xfrm>
            <a:off x="1889114" y="3284012"/>
            <a:ext cx="9745838"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LineBasicDefault 37">
            <a:extLst>
              <a:ext uri="{FF2B5EF4-FFF2-40B4-BE49-F238E27FC236}">
                <a16:creationId xmlns:a16="http://schemas.microsoft.com/office/drawing/2014/main" id="{3DF99B4B-2AE6-2370-B282-540211C116A1}"/>
              </a:ext>
            </a:extLst>
          </p:cNvPr>
          <p:cNvCxnSpPr>
            <a:cxnSpLocks/>
          </p:cNvCxnSpPr>
          <p:nvPr>
            <p:custDataLst>
              <p:tags r:id="rId13"/>
            </p:custDataLst>
          </p:nvPr>
        </p:nvCxnSpPr>
        <p:spPr>
          <a:xfrm>
            <a:off x="1889114" y="3799019"/>
            <a:ext cx="9745838"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7" name="LineBasicDefault 37">
            <a:extLst>
              <a:ext uri="{FF2B5EF4-FFF2-40B4-BE49-F238E27FC236}">
                <a16:creationId xmlns:a16="http://schemas.microsoft.com/office/drawing/2014/main" id="{537DDC69-73D6-65AA-96E4-F946A582CAFE}"/>
              </a:ext>
            </a:extLst>
          </p:cNvPr>
          <p:cNvCxnSpPr>
            <a:cxnSpLocks/>
          </p:cNvCxnSpPr>
          <p:nvPr>
            <p:custDataLst>
              <p:tags r:id="rId14"/>
            </p:custDataLst>
          </p:nvPr>
        </p:nvCxnSpPr>
        <p:spPr>
          <a:xfrm>
            <a:off x="1889114" y="4324534"/>
            <a:ext cx="9745838"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8" name="LineBasicDefault 37">
            <a:extLst>
              <a:ext uri="{FF2B5EF4-FFF2-40B4-BE49-F238E27FC236}">
                <a16:creationId xmlns:a16="http://schemas.microsoft.com/office/drawing/2014/main" id="{FDEA0533-E860-39E2-091E-0775A74017ED}"/>
              </a:ext>
            </a:extLst>
          </p:cNvPr>
          <p:cNvCxnSpPr>
            <a:cxnSpLocks/>
          </p:cNvCxnSpPr>
          <p:nvPr>
            <p:custDataLst>
              <p:tags r:id="rId15"/>
            </p:custDataLst>
          </p:nvPr>
        </p:nvCxnSpPr>
        <p:spPr>
          <a:xfrm>
            <a:off x="1889114" y="4818520"/>
            <a:ext cx="9745838"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9" name="LineBasicDefault 37">
            <a:extLst>
              <a:ext uri="{FF2B5EF4-FFF2-40B4-BE49-F238E27FC236}">
                <a16:creationId xmlns:a16="http://schemas.microsoft.com/office/drawing/2014/main" id="{494396D0-E4B1-A04A-4DE3-5C4F7743A125}"/>
              </a:ext>
            </a:extLst>
          </p:cNvPr>
          <p:cNvCxnSpPr>
            <a:cxnSpLocks/>
          </p:cNvCxnSpPr>
          <p:nvPr>
            <p:custDataLst>
              <p:tags r:id="rId16"/>
            </p:custDataLst>
          </p:nvPr>
        </p:nvCxnSpPr>
        <p:spPr>
          <a:xfrm>
            <a:off x="1889114" y="5365058"/>
            <a:ext cx="9745838"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26" name="Picture 2" descr="Открыть счет в Каспи Банк - YB Case 2026">
            <a:extLst>
              <a:ext uri="{FF2B5EF4-FFF2-40B4-BE49-F238E27FC236}">
                <a16:creationId xmlns:a16="http://schemas.microsoft.com/office/drawing/2014/main" id="{0F05A065-5061-4A85-3F5C-DC6F102D761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0322035" y="5431185"/>
            <a:ext cx="1291897" cy="35233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6">
            <a:extLst>
              <a:ext uri="{FF2B5EF4-FFF2-40B4-BE49-F238E27FC236}">
                <a16:creationId xmlns:a16="http://schemas.microsoft.com/office/drawing/2014/main" id="{CD1F05B1-8620-E605-8313-DC9964942100}"/>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470425" y="5525779"/>
            <a:ext cx="918122" cy="220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211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F0A9D-50E3-6FF6-B4F3-141937CE1344}"/>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475A27D6-4E7F-9180-93CD-20B7EEE31E0A}"/>
              </a:ext>
            </a:extLst>
          </p:cNvPr>
          <p:cNvGraphicFramePr>
            <a:graphicFrameLocks noChangeAspect="1"/>
          </p:cNvGraphicFramePr>
          <p:nvPr>
            <p:custDataLst>
              <p:tags r:id="rId1"/>
            </p:custDataLst>
            <p:extLst>
              <p:ext uri="{D42A27DB-BD31-4B8C-83A1-F6EECF244321}">
                <p14:modId xmlns:p14="http://schemas.microsoft.com/office/powerpoint/2010/main" val="4030581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606" imgH="608" progId="TCLayout.ActiveDocument.1">
                  <p:embed/>
                </p:oleObj>
              </mc:Choice>
              <mc:Fallback>
                <p:oleObj name="think-cell Slide" r:id="rId34" imgW="606" imgH="608" progId="TCLayout.ActiveDocument.1">
                  <p:embed/>
                  <p:pic>
                    <p:nvPicPr>
                      <p:cNvPr id="5" name="Object 2" hidden="1">
                        <a:extLst>
                          <a:ext uri="{FF2B5EF4-FFF2-40B4-BE49-F238E27FC236}">
                            <a16:creationId xmlns:a16="http://schemas.microsoft.com/office/drawing/2014/main" id="{475A27D6-4E7F-9180-93CD-20B7EEE31E0A}"/>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156" name="Rectangle 155">
            <a:extLst>
              <a:ext uri="{FF2B5EF4-FFF2-40B4-BE49-F238E27FC236}">
                <a16:creationId xmlns:a16="http://schemas.microsoft.com/office/drawing/2014/main" id="{C666651F-4035-FF9F-7515-A056868814D5}"/>
              </a:ext>
            </a:extLst>
          </p:cNvPr>
          <p:cNvSpPr/>
          <p:nvPr/>
        </p:nvSpPr>
        <p:spPr>
          <a:xfrm>
            <a:off x="3900667" y="4653023"/>
            <a:ext cx="4849794" cy="439837"/>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err="1">
              <a:solidFill>
                <a:schemeClr val="bg1"/>
              </a:solidFill>
            </a:endParaRPr>
          </a:p>
        </p:txBody>
      </p:sp>
      <p:sp>
        <p:nvSpPr>
          <p:cNvPr id="119" name="Rectangle 118">
            <a:extLst>
              <a:ext uri="{FF2B5EF4-FFF2-40B4-BE49-F238E27FC236}">
                <a16:creationId xmlns:a16="http://schemas.microsoft.com/office/drawing/2014/main" id="{5C7BC3EC-0601-86C0-5CA8-EA441A5EEAA4}"/>
              </a:ext>
            </a:extLst>
          </p:cNvPr>
          <p:cNvSpPr/>
          <p:nvPr/>
        </p:nvSpPr>
        <p:spPr>
          <a:xfrm>
            <a:off x="3900666" y="3474720"/>
            <a:ext cx="4831853" cy="1085705"/>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err="1">
              <a:solidFill>
                <a:schemeClr val="bg1"/>
              </a:solidFill>
            </a:endParaRPr>
          </a:p>
        </p:txBody>
      </p:sp>
      <p:sp>
        <p:nvSpPr>
          <p:cNvPr id="2" name="2. Slide Title">
            <a:extLst>
              <a:ext uri="{FF2B5EF4-FFF2-40B4-BE49-F238E27FC236}">
                <a16:creationId xmlns:a16="http://schemas.microsoft.com/office/drawing/2014/main" id="{80651B9E-9912-EF4A-1B73-D9C159CBFA74}"/>
              </a:ext>
            </a:extLst>
          </p:cNvPr>
          <p:cNvSpPr>
            <a:spLocks noGrp="1"/>
          </p:cNvSpPr>
          <p:nvPr>
            <p:ph type="title"/>
            <p:custDataLst>
              <p:tags r:id="rId2"/>
            </p:custDataLst>
          </p:nvPr>
        </p:nvSpPr>
        <p:spPr>
          <a:xfrm>
            <a:off x="1050131" y="554084"/>
            <a:ext cx="7137428" cy="677108"/>
          </a:xfrm>
        </p:spPr>
        <p:txBody>
          <a:bodyPr vert="horz"/>
          <a:lstStyle/>
          <a:p>
            <a:r>
              <a:rPr lang="en-US"/>
              <a:t>Within salary customers, affluent can offer stronger revenue upside through higher salary volumes and product penetration</a:t>
            </a:r>
          </a:p>
        </p:txBody>
      </p:sp>
      <p:sp>
        <p:nvSpPr>
          <p:cNvPr id="374" name="1. On-page tracker">
            <a:extLst>
              <a:ext uri="{FF2B5EF4-FFF2-40B4-BE49-F238E27FC236}">
                <a16:creationId xmlns:a16="http://schemas.microsoft.com/office/drawing/2014/main" id="{B70D64B8-969A-28B2-2C56-C917A35B27BB}"/>
              </a:ext>
            </a:extLst>
          </p:cNvPr>
          <p:cNvSpPr>
            <a:spLocks noGrp="1"/>
          </p:cNvSpPr>
          <p:nvPr>
            <p:ph type="body" sz="quarter" idx="10"/>
            <p:custDataLst>
              <p:tags r:id="rId3"/>
            </p:custDataLst>
          </p:nvPr>
        </p:nvSpPr>
        <p:spPr/>
        <p:txBody>
          <a:bodyPr/>
          <a:lstStyle/>
          <a:p>
            <a:endParaRPr lang="en-US"/>
          </a:p>
        </p:txBody>
      </p:sp>
      <p:sp>
        <p:nvSpPr>
          <p:cNvPr id="448" name="4. Footnote">
            <a:extLst>
              <a:ext uri="{FF2B5EF4-FFF2-40B4-BE49-F238E27FC236}">
                <a16:creationId xmlns:a16="http://schemas.microsoft.com/office/drawing/2014/main" id="{91D0CFCD-E08C-4C8E-E406-562CBDE32836}"/>
              </a:ext>
            </a:extLst>
          </p:cNvPr>
          <p:cNvSpPr txBox="1">
            <a:spLocks/>
          </p:cNvSpPr>
          <p:nvPr>
            <p:custDataLst>
              <p:tags r:id="rId4"/>
            </p:custDataLst>
          </p:nvPr>
        </p:nvSpPr>
        <p:spPr>
          <a:xfrm>
            <a:off x="544225" y="6527430"/>
            <a:ext cx="5751471" cy="21715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sz="700"/>
              <a:t>1.	Only employees who received payments in May 2026; there are 11K total customers holding other products </a:t>
            </a:r>
          </a:p>
        </p:txBody>
      </p:sp>
      <p:sp>
        <p:nvSpPr>
          <p:cNvPr id="456" name="TrackerNumBlue 35">
            <a:extLst>
              <a:ext uri="{FF2B5EF4-FFF2-40B4-BE49-F238E27FC236}">
                <a16:creationId xmlns:a16="http://schemas.microsoft.com/office/drawing/2014/main" id="{EC13D26E-8402-4996-27C2-C8A66E4FA18E}"/>
              </a:ext>
            </a:extLst>
          </p:cNvPr>
          <p:cNvSpPr/>
          <p:nvPr>
            <p:custDataLst>
              <p:tags r:id="rId5"/>
            </p:custDataLst>
          </p:nvPr>
        </p:nvSpPr>
        <p:spPr>
          <a:xfrm>
            <a:off x="547688" y="226624"/>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2</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sp>
        <p:nvSpPr>
          <p:cNvPr id="28" name="TextBox 27">
            <a:extLst>
              <a:ext uri="{FF2B5EF4-FFF2-40B4-BE49-F238E27FC236}">
                <a16:creationId xmlns:a16="http://schemas.microsoft.com/office/drawing/2014/main" id="{D700D581-9D30-8023-307C-1A3EE440F361}"/>
              </a:ext>
            </a:extLst>
          </p:cNvPr>
          <p:cNvSpPr txBox="1"/>
          <p:nvPr/>
        </p:nvSpPr>
        <p:spPr>
          <a:xfrm>
            <a:off x="4060142" y="2536365"/>
            <a:ext cx="1438024"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 of other product owners</a:t>
            </a:r>
          </a:p>
        </p:txBody>
      </p:sp>
      <p:sp>
        <p:nvSpPr>
          <p:cNvPr id="30" name="TextBox 29">
            <a:extLst>
              <a:ext uri="{FF2B5EF4-FFF2-40B4-BE49-F238E27FC236}">
                <a16:creationId xmlns:a16="http://schemas.microsoft.com/office/drawing/2014/main" id="{18D3B5C7-3389-055A-3744-D4CFC9DE7DC5}"/>
              </a:ext>
            </a:extLst>
          </p:cNvPr>
          <p:cNvSpPr txBox="1"/>
          <p:nvPr/>
        </p:nvSpPr>
        <p:spPr>
          <a:xfrm>
            <a:off x="4281732" y="4780608"/>
            <a:ext cx="1437894"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Deposit holding %</a:t>
            </a:r>
          </a:p>
        </p:txBody>
      </p:sp>
      <p:sp>
        <p:nvSpPr>
          <p:cNvPr id="32" name="TextBox 31">
            <a:extLst>
              <a:ext uri="{FF2B5EF4-FFF2-40B4-BE49-F238E27FC236}">
                <a16:creationId xmlns:a16="http://schemas.microsoft.com/office/drawing/2014/main" id="{425DD824-9A28-532B-941F-22620E27E7EC}"/>
              </a:ext>
            </a:extLst>
          </p:cNvPr>
          <p:cNvSpPr txBox="1"/>
          <p:nvPr/>
        </p:nvSpPr>
        <p:spPr>
          <a:xfrm>
            <a:off x="4281732" y="5302635"/>
            <a:ext cx="1126912"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Credit card, %</a:t>
            </a:r>
          </a:p>
        </p:txBody>
      </p:sp>
      <p:sp>
        <p:nvSpPr>
          <p:cNvPr id="33" name="TextBox 32">
            <a:extLst>
              <a:ext uri="{FF2B5EF4-FFF2-40B4-BE49-F238E27FC236}">
                <a16:creationId xmlns:a16="http://schemas.microsoft.com/office/drawing/2014/main" id="{66E1E34C-BC97-EFF9-F461-EBEF138B9A73}"/>
              </a:ext>
            </a:extLst>
          </p:cNvPr>
          <p:cNvSpPr txBox="1"/>
          <p:nvPr/>
        </p:nvSpPr>
        <p:spPr>
          <a:xfrm>
            <a:off x="4281732" y="5847573"/>
            <a:ext cx="1054776"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Insurance, %</a:t>
            </a:r>
          </a:p>
        </p:txBody>
      </p:sp>
      <p:sp>
        <p:nvSpPr>
          <p:cNvPr id="465" name="TextBox 464">
            <a:extLst>
              <a:ext uri="{FF2B5EF4-FFF2-40B4-BE49-F238E27FC236}">
                <a16:creationId xmlns:a16="http://schemas.microsoft.com/office/drawing/2014/main" id="{4CF15D4F-1FE0-9DD4-BB67-EDAE2DA56025}"/>
              </a:ext>
            </a:extLst>
          </p:cNvPr>
          <p:cNvSpPr txBox="1"/>
          <p:nvPr/>
        </p:nvSpPr>
        <p:spPr>
          <a:xfrm>
            <a:off x="544226" y="1532459"/>
            <a:ext cx="3059586"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lvl="1" indent="0">
              <a:buNone/>
            </a:pPr>
            <a:r>
              <a:rPr lang="en-US" sz="1200"/>
              <a:t>Despite representing only 3% of the employees, affluents receive </a:t>
            </a:r>
            <a:r>
              <a:rPr lang="en-US" sz="1200" b="1"/>
              <a:t>28% of total monthly salary volumes…</a:t>
            </a:r>
            <a:endParaRPr lang="en-US" sz="1200"/>
          </a:p>
        </p:txBody>
      </p:sp>
      <p:sp>
        <p:nvSpPr>
          <p:cNvPr id="458" name="TextBox 457">
            <a:extLst>
              <a:ext uri="{FF2B5EF4-FFF2-40B4-BE49-F238E27FC236}">
                <a16:creationId xmlns:a16="http://schemas.microsoft.com/office/drawing/2014/main" id="{1F8B688E-16C2-B867-4471-A4474C7EF39D}"/>
              </a:ext>
            </a:extLst>
          </p:cNvPr>
          <p:cNvSpPr txBox="1"/>
          <p:nvPr/>
        </p:nvSpPr>
        <p:spPr>
          <a:xfrm>
            <a:off x="4281732" y="3667818"/>
            <a:ext cx="1104470"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Retail loan, %</a:t>
            </a:r>
          </a:p>
        </p:txBody>
      </p:sp>
      <p:sp>
        <p:nvSpPr>
          <p:cNvPr id="476" name="TextBox 475">
            <a:extLst>
              <a:ext uri="{FF2B5EF4-FFF2-40B4-BE49-F238E27FC236}">
                <a16:creationId xmlns:a16="http://schemas.microsoft.com/office/drawing/2014/main" id="{BF90A5A9-2B0C-DD79-7A8C-A8387C537258}"/>
              </a:ext>
            </a:extLst>
          </p:cNvPr>
          <p:cNvSpPr txBox="1"/>
          <p:nvPr/>
        </p:nvSpPr>
        <p:spPr>
          <a:xfrm>
            <a:off x="4281732" y="4212757"/>
            <a:ext cx="1016304" cy="184666"/>
          </a:xfrm>
          <a:prstGeom prst="rect">
            <a:avLst/>
          </a:prstGeom>
        </p:spPr>
        <p:txBody>
          <a:bodyPr vert="horz" wrap="non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Mortgage, %</a:t>
            </a:r>
          </a:p>
        </p:txBody>
      </p:sp>
      <p:graphicFrame>
        <p:nvGraphicFramePr>
          <p:cNvPr id="164" name="Chart 163">
            <a:extLst>
              <a:ext uri="{FF2B5EF4-FFF2-40B4-BE49-F238E27FC236}">
                <a16:creationId xmlns:a16="http://schemas.microsoft.com/office/drawing/2014/main" id="{C4F26F8C-9B8D-FC17-1B28-5B41BF3B80B2}"/>
              </a:ext>
            </a:extLst>
          </p:cNvPr>
          <p:cNvGraphicFramePr/>
          <p:nvPr>
            <p:custDataLst>
              <p:tags r:id="rId6"/>
            </p:custDataLst>
            <p:extLst>
              <p:ext uri="{D42A27DB-BD31-4B8C-83A1-F6EECF244321}">
                <p14:modId xmlns:p14="http://schemas.microsoft.com/office/powerpoint/2010/main" val="139487865"/>
              </p:ext>
            </p:extLst>
          </p:nvPr>
        </p:nvGraphicFramePr>
        <p:xfrm>
          <a:off x="7148513" y="2325688"/>
          <a:ext cx="1149350" cy="3986212"/>
        </p:xfrm>
        <a:graphic>
          <a:graphicData uri="http://schemas.openxmlformats.org/drawingml/2006/chart">
            <c:chart xmlns:c="http://schemas.openxmlformats.org/drawingml/2006/chart" xmlns:r="http://schemas.openxmlformats.org/officeDocument/2006/relationships" r:id="rId36"/>
          </a:graphicData>
        </a:graphic>
      </p:graphicFrame>
      <p:sp>
        <p:nvSpPr>
          <p:cNvPr id="135" name="Text Placeholder 4">
            <a:extLst>
              <a:ext uri="{FF2B5EF4-FFF2-40B4-BE49-F238E27FC236}">
                <a16:creationId xmlns:a16="http://schemas.microsoft.com/office/drawing/2014/main" id="{FDFB8E78-8EB3-0F31-4E89-535DDF2C1F5D}"/>
              </a:ext>
            </a:extLst>
          </p:cNvPr>
          <p:cNvSpPr>
            <a:spLocks noGrp="1"/>
          </p:cNvSpPr>
          <p:nvPr>
            <p:custDataLst>
              <p:tags r:id="rId7"/>
            </p:custDataLst>
          </p:nvPr>
        </p:nvSpPr>
        <p:spPr bwMode="gray">
          <a:xfrm>
            <a:off x="7758113" y="3683000"/>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212ED2A-CFF4-40AE-AA76-BB586CDA1EAC}" type="datetime'''''''''2''''''''8''''''''''''''%'''''''''''''''''">
              <a:rPr lang="en-US" altLang="en-US" sz="1200" smtClean="0">
                <a:latin typeface="+mn-lt"/>
              </a:rPr>
              <a:pPr lvl="0">
                <a:spcBef>
                  <a:spcPct val="0"/>
                </a:spcBef>
                <a:spcAft>
                  <a:spcPct val="0"/>
                </a:spcAft>
              </a:pPr>
              <a:t>28%</a:t>
            </a:fld>
            <a:endParaRPr lang="en-US" sz="1200">
              <a:latin typeface="+mn-lt"/>
            </a:endParaRPr>
          </a:p>
        </p:txBody>
      </p:sp>
      <p:sp>
        <p:nvSpPr>
          <p:cNvPr id="136" name="Text Placeholder 4">
            <a:extLst>
              <a:ext uri="{FF2B5EF4-FFF2-40B4-BE49-F238E27FC236}">
                <a16:creationId xmlns:a16="http://schemas.microsoft.com/office/drawing/2014/main" id="{57A5DCAF-3496-816F-D90A-9D6E6FADD1EB}"/>
              </a:ext>
            </a:extLst>
          </p:cNvPr>
          <p:cNvSpPr>
            <a:spLocks noGrp="1"/>
          </p:cNvSpPr>
          <p:nvPr>
            <p:custDataLst>
              <p:tags r:id="rId8"/>
            </p:custDataLst>
          </p:nvPr>
        </p:nvSpPr>
        <p:spPr bwMode="gray">
          <a:xfrm>
            <a:off x="7453313" y="4227513"/>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3BD2A2A3-6003-4E71-8E64-DA93823E8B05}" type="datetime'''''1''''''''''''1''''''''%'''''''''''''''''''''''''">
              <a:rPr lang="en-US" altLang="en-US" sz="1200" smtClean="0">
                <a:latin typeface="+mn-lt"/>
              </a:rPr>
              <a:pPr lvl="0">
                <a:spcBef>
                  <a:spcPct val="0"/>
                </a:spcBef>
                <a:spcAft>
                  <a:spcPct val="0"/>
                </a:spcAft>
              </a:pPr>
              <a:t>11%</a:t>
            </a:fld>
            <a:endParaRPr lang="en-US" sz="1200">
              <a:latin typeface="+mn-lt"/>
            </a:endParaRPr>
          </a:p>
        </p:txBody>
      </p:sp>
      <p:sp>
        <p:nvSpPr>
          <p:cNvPr id="51" name="Text Placeholder 4">
            <a:extLst>
              <a:ext uri="{FF2B5EF4-FFF2-40B4-BE49-F238E27FC236}">
                <a16:creationId xmlns:a16="http://schemas.microsoft.com/office/drawing/2014/main" id="{4C1F3293-4EFE-461D-940D-7EE66BAE31C5}"/>
              </a:ext>
            </a:extLst>
          </p:cNvPr>
          <p:cNvSpPr>
            <a:spLocks noGrp="1"/>
          </p:cNvSpPr>
          <p:nvPr>
            <p:custDataLst>
              <p:tags r:id="rId9"/>
            </p:custDataLst>
          </p:nvPr>
        </p:nvSpPr>
        <p:spPr bwMode="gray">
          <a:xfrm>
            <a:off x="7312025" y="4773613"/>
            <a:ext cx="2762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29737AE5-ACAE-47BE-8222-B3A0BB8BDA8B}" type="datetime'''''''''''3''''''''''''''''''''%'''''''''''''">
              <a:rPr lang="en-US" altLang="en-US" sz="1200" smtClean="0">
                <a:latin typeface="+mn-lt"/>
              </a:rPr>
              <a:pPr lvl="0">
                <a:spcBef>
                  <a:spcPct val="0"/>
                </a:spcBef>
                <a:spcAft>
                  <a:spcPct val="0"/>
                </a:spcAft>
              </a:pPr>
              <a:t>3%</a:t>
            </a:fld>
            <a:endParaRPr lang="en-US" sz="1200">
              <a:latin typeface="+mn-lt"/>
            </a:endParaRPr>
          </a:p>
        </p:txBody>
      </p:sp>
      <p:sp>
        <p:nvSpPr>
          <p:cNvPr id="15" name="Text Placeholder 4">
            <a:extLst>
              <a:ext uri="{FF2B5EF4-FFF2-40B4-BE49-F238E27FC236}">
                <a16:creationId xmlns:a16="http://schemas.microsoft.com/office/drawing/2014/main" id="{4C1F3293-4EFE-461D-940D-7EE66BAE31C5}"/>
              </a:ext>
            </a:extLst>
          </p:cNvPr>
          <p:cNvSpPr>
            <a:spLocks noGrp="1"/>
          </p:cNvSpPr>
          <p:nvPr>
            <p:custDataLst>
              <p:tags r:id="rId10"/>
            </p:custDataLst>
          </p:nvPr>
        </p:nvSpPr>
        <p:spPr bwMode="gray">
          <a:xfrm>
            <a:off x="8240713" y="5319713"/>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1961CD9-1224-4894-9A51-83E75BA47847}" type="datetime'''''''''''''''''5''''''''''''''''4''''''''''''''''''''''%'">
              <a:rPr lang="en-US" altLang="en-US" sz="1200" smtClean="0">
                <a:latin typeface="+mn-lt"/>
              </a:rPr>
              <a:pPr lvl="0">
                <a:spcBef>
                  <a:spcPct val="0"/>
                </a:spcBef>
                <a:spcAft>
                  <a:spcPct val="0"/>
                </a:spcAft>
              </a:pPr>
              <a:t>54%</a:t>
            </a:fld>
            <a:endParaRPr lang="en-US" sz="1200">
              <a:latin typeface="+mn-lt"/>
            </a:endParaRPr>
          </a:p>
        </p:txBody>
      </p:sp>
      <p:sp>
        <p:nvSpPr>
          <p:cNvPr id="55" name="Text Placeholder 4">
            <a:extLst>
              <a:ext uri="{FF2B5EF4-FFF2-40B4-BE49-F238E27FC236}">
                <a16:creationId xmlns:a16="http://schemas.microsoft.com/office/drawing/2014/main" id="{4C1F3293-4EFE-461D-940D-7EE66BAE31C5}"/>
              </a:ext>
            </a:extLst>
          </p:cNvPr>
          <p:cNvSpPr>
            <a:spLocks noGrp="1"/>
          </p:cNvSpPr>
          <p:nvPr>
            <p:custDataLst>
              <p:tags r:id="rId11"/>
            </p:custDataLst>
          </p:nvPr>
        </p:nvSpPr>
        <p:spPr bwMode="gray">
          <a:xfrm>
            <a:off x="7367588" y="5865813"/>
            <a:ext cx="2762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F76E80FB-54EF-47AE-BB54-5E42D180CB40}" type="datetime'''''''''''''''6%'''''">
              <a:rPr lang="en-US" altLang="en-US" sz="1200" smtClean="0">
                <a:latin typeface="+mn-lt"/>
              </a:rPr>
              <a:pPr lvl="0">
                <a:spcBef>
                  <a:spcPct val="0"/>
                </a:spcBef>
                <a:spcAft>
                  <a:spcPct val="0"/>
                </a:spcAft>
              </a:pPr>
              <a:t>6%</a:t>
            </a:fld>
            <a:endParaRPr lang="en-US" sz="1200">
              <a:latin typeface="+mn-lt"/>
            </a:endParaRPr>
          </a:p>
        </p:txBody>
      </p:sp>
      <p:graphicFrame>
        <p:nvGraphicFramePr>
          <p:cNvPr id="162" name="Chart 161">
            <a:extLst>
              <a:ext uri="{FF2B5EF4-FFF2-40B4-BE49-F238E27FC236}">
                <a16:creationId xmlns:a16="http://schemas.microsoft.com/office/drawing/2014/main" id="{A7715F66-217D-3BD7-3A11-C3735286C07D}"/>
              </a:ext>
            </a:extLst>
          </p:cNvPr>
          <p:cNvGraphicFramePr/>
          <p:nvPr>
            <p:custDataLst>
              <p:tags r:id="rId12"/>
            </p:custDataLst>
            <p:extLst>
              <p:ext uri="{D42A27DB-BD31-4B8C-83A1-F6EECF244321}">
                <p14:modId xmlns:p14="http://schemas.microsoft.com/office/powerpoint/2010/main" val="3398260006"/>
              </p:ext>
            </p:extLst>
          </p:nvPr>
        </p:nvGraphicFramePr>
        <p:xfrm>
          <a:off x="5767388" y="2325688"/>
          <a:ext cx="1033462" cy="3986212"/>
        </p:xfrm>
        <a:graphic>
          <a:graphicData uri="http://schemas.openxmlformats.org/drawingml/2006/chart">
            <c:chart xmlns:c="http://schemas.openxmlformats.org/drawingml/2006/chart" xmlns:r="http://schemas.openxmlformats.org/officeDocument/2006/relationships" r:id="rId37"/>
          </a:graphicData>
        </a:graphic>
      </p:graphicFrame>
      <p:sp>
        <p:nvSpPr>
          <p:cNvPr id="129" name="Text Placeholder 4">
            <a:extLst>
              <a:ext uri="{FF2B5EF4-FFF2-40B4-BE49-F238E27FC236}">
                <a16:creationId xmlns:a16="http://schemas.microsoft.com/office/drawing/2014/main" id="{C4C5EFB7-A9A3-048E-AC1D-8A02CAE19D1F}"/>
              </a:ext>
            </a:extLst>
          </p:cNvPr>
          <p:cNvSpPr>
            <a:spLocks noGrp="1"/>
          </p:cNvSpPr>
          <p:nvPr>
            <p:custDataLst>
              <p:tags r:id="rId13"/>
            </p:custDataLst>
          </p:nvPr>
        </p:nvSpPr>
        <p:spPr bwMode="gray">
          <a:xfrm>
            <a:off x="6743700" y="3683000"/>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88E06C42-B579-48A2-91FD-C601B676E741}" type="datetime'3''''''''''''''''''8%'''''''''''''''">
              <a:rPr lang="en-US" altLang="en-US" sz="1200" smtClean="0">
                <a:latin typeface="+mn-lt"/>
              </a:rPr>
              <a:pPr lvl="0">
                <a:spcBef>
                  <a:spcPct val="0"/>
                </a:spcBef>
                <a:spcAft>
                  <a:spcPct val="0"/>
                </a:spcAft>
              </a:pPr>
              <a:t>38%</a:t>
            </a:fld>
            <a:endParaRPr lang="en-US" sz="1200">
              <a:latin typeface="+mn-lt"/>
            </a:endParaRPr>
          </a:p>
        </p:txBody>
      </p:sp>
      <p:sp>
        <p:nvSpPr>
          <p:cNvPr id="130" name="Text Placeholder 4">
            <a:extLst>
              <a:ext uri="{FF2B5EF4-FFF2-40B4-BE49-F238E27FC236}">
                <a16:creationId xmlns:a16="http://schemas.microsoft.com/office/drawing/2014/main" id="{F39D5BCB-8D41-04F4-6406-D4384E38C3CE}"/>
              </a:ext>
            </a:extLst>
          </p:cNvPr>
          <p:cNvSpPr>
            <a:spLocks noGrp="1"/>
          </p:cNvSpPr>
          <p:nvPr>
            <p:custDataLst>
              <p:tags r:id="rId14"/>
            </p:custDataLst>
          </p:nvPr>
        </p:nvSpPr>
        <p:spPr bwMode="gray">
          <a:xfrm>
            <a:off x="6632575" y="4227513"/>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ECA02858-EA9B-44E6-A061-48C58ABCE158}" type="datetime'''''''''3''''''3''''''''''''''''''%'''">
              <a:rPr lang="en-US" altLang="en-US" sz="1200" smtClean="0">
                <a:latin typeface="+mn-lt"/>
              </a:rPr>
              <a:pPr lvl="0">
                <a:spcBef>
                  <a:spcPct val="0"/>
                </a:spcBef>
                <a:spcAft>
                  <a:spcPct val="0"/>
                </a:spcAft>
              </a:pPr>
              <a:t>33%</a:t>
            </a:fld>
            <a:endParaRPr lang="en-US" sz="1200">
              <a:latin typeface="+mn-lt"/>
            </a:endParaRPr>
          </a:p>
        </p:txBody>
      </p:sp>
      <p:sp>
        <p:nvSpPr>
          <p:cNvPr id="490" name="Text Placeholder 4">
            <a:extLst>
              <a:ext uri="{FF2B5EF4-FFF2-40B4-BE49-F238E27FC236}">
                <a16:creationId xmlns:a16="http://schemas.microsoft.com/office/drawing/2014/main" id="{4C1F3293-4EFE-461D-940D-7EE66BAE31C5}"/>
              </a:ext>
            </a:extLst>
          </p:cNvPr>
          <p:cNvSpPr>
            <a:spLocks noGrp="1"/>
          </p:cNvSpPr>
          <p:nvPr>
            <p:custDataLst>
              <p:tags r:id="rId15"/>
            </p:custDataLst>
          </p:nvPr>
        </p:nvSpPr>
        <p:spPr bwMode="gray">
          <a:xfrm>
            <a:off x="6107113" y="4773613"/>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07BCBF24-D447-4A51-99F4-556A0AA4078D}" type="datetime'''''''''''1''''''''''0''''%'''''''''''''''''''''''''''''''''">
              <a:rPr lang="en-US" altLang="en-US" sz="1200" smtClean="0">
                <a:effectLst/>
                <a:latin typeface="+mn-lt"/>
              </a:rPr>
              <a:pPr lvl="0">
                <a:spcBef>
                  <a:spcPct val="0"/>
                </a:spcBef>
                <a:spcAft>
                  <a:spcPct val="0"/>
                </a:spcAft>
              </a:pPr>
              <a:t>10%</a:t>
            </a:fld>
            <a:endParaRPr lang="en-US" sz="1200">
              <a:latin typeface="+mn-lt"/>
            </a:endParaRPr>
          </a:p>
        </p:txBody>
      </p:sp>
      <p:sp>
        <p:nvSpPr>
          <p:cNvPr id="491" name="Text Placeholder 4">
            <a:extLst>
              <a:ext uri="{FF2B5EF4-FFF2-40B4-BE49-F238E27FC236}">
                <a16:creationId xmlns:a16="http://schemas.microsoft.com/office/drawing/2014/main" id="{4C1F3293-4EFE-461D-940D-7EE66BAE31C5}"/>
              </a:ext>
            </a:extLst>
          </p:cNvPr>
          <p:cNvSpPr>
            <a:spLocks noGrp="1"/>
          </p:cNvSpPr>
          <p:nvPr>
            <p:custDataLst>
              <p:tags r:id="rId16"/>
            </p:custDataLst>
          </p:nvPr>
        </p:nvSpPr>
        <p:spPr bwMode="gray">
          <a:xfrm>
            <a:off x="6043613" y="5319713"/>
            <a:ext cx="2762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49E2CA60-564D-4670-B0DB-896451BB2ED6}" type="datetime'''''''''''7''%'''''''''''''''''''''''''">
              <a:rPr lang="en-US" altLang="en-US" sz="1200" smtClean="0">
                <a:effectLst/>
                <a:latin typeface="+mn-lt"/>
              </a:rPr>
              <a:pPr lvl="0">
                <a:spcBef>
                  <a:spcPct val="0"/>
                </a:spcBef>
                <a:spcAft>
                  <a:spcPct val="0"/>
                </a:spcAft>
              </a:pPr>
              <a:t>7%</a:t>
            </a:fld>
            <a:endParaRPr lang="en-US" sz="1200">
              <a:latin typeface="+mn-lt"/>
            </a:endParaRPr>
          </a:p>
        </p:txBody>
      </p:sp>
      <p:sp>
        <p:nvSpPr>
          <p:cNvPr id="492" name="Text Placeholder 4">
            <a:extLst>
              <a:ext uri="{FF2B5EF4-FFF2-40B4-BE49-F238E27FC236}">
                <a16:creationId xmlns:a16="http://schemas.microsoft.com/office/drawing/2014/main" id="{4C1F3293-4EFE-461D-940D-7EE66BAE31C5}"/>
              </a:ext>
            </a:extLst>
          </p:cNvPr>
          <p:cNvSpPr>
            <a:spLocks noGrp="1"/>
          </p:cNvSpPr>
          <p:nvPr>
            <p:custDataLst>
              <p:tags r:id="rId17"/>
            </p:custDataLst>
          </p:nvPr>
        </p:nvSpPr>
        <p:spPr bwMode="gray">
          <a:xfrm>
            <a:off x="6232525" y="5865813"/>
            <a:ext cx="3587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52156F26-32C1-477E-BDA9-0F6170C3C8DA}" type="datetime'''''''''1''''''''''6''%'''''''''''">
              <a:rPr lang="en-US" altLang="en-US" sz="1200" smtClean="0">
                <a:effectLst/>
                <a:latin typeface="+mn-lt"/>
              </a:rPr>
              <a:pPr lvl="0">
                <a:spcBef>
                  <a:spcPct val="0"/>
                </a:spcBef>
                <a:spcAft>
                  <a:spcPct val="0"/>
                </a:spcAft>
              </a:pPr>
              <a:t>16%</a:t>
            </a:fld>
            <a:endParaRPr lang="en-US" sz="1200">
              <a:latin typeface="+mn-lt"/>
            </a:endParaRPr>
          </a:p>
        </p:txBody>
      </p:sp>
      <p:cxnSp>
        <p:nvCxnSpPr>
          <p:cNvPr id="81" name="LineBasicVerticalDefault 54">
            <a:extLst>
              <a:ext uri="{FF2B5EF4-FFF2-40B4-BE49-F238E27FC236}">
                <a16:creationId xmlns:a16="http://schemas.microsoft.com/office/drawing/2014/main" id="{D7AC5CB4-0D5A-4F77-8D32-9986FC70CF3A}"/>
              </a:ext>
            </a:extLst>
          </p:cNvPr>
          <p:cNvCxnSpPr>
            <a:cxnSpLocks/>
          </p:cNvCxnSpPr>
          <p:nvPr>
            <p:custDataLst>
              <p:tags r:id="rId18"/>
            </p:custDataLst>
          </p:nvPr>
        </p:nvCxnSpPr>
        <p:spPr>
          <a:xfrm>
            <a:off x="3839076" y="2171700"/>
            <a:ext cx="0" cy="4014214"/>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6" name="Chart 5">
            <a:extLst>
              <a:ext uri="{FF2B5EF4-FFF2-40B4-BE49-F238E27FC236}">
                <a16:creationId xmlns:a16="http://schemas.microsoft.com/office/drawing/2014/main" id="{514081FD-2768-E044-5504-D19B6C62AAD8}"/>
              </a:ext>
            </a:extLst>
          </p:cNvPr>
          <p:cNvGraphicFramePr/>
          <p:nvPr>
            <p:custDataLst>
              <p:tags r:id="rId19"/>
            </p:custDataLst>
            <p:extLst>
              <p:ext uri="{D42A27DB-BD31-4B8C-83A1-F6EECF244321}">
                <p14:modId xmlns:p14="http://schemas.microsoft.com/office/powerpoint/2010/main" val="3998455715"/>
              </p:ext>
            </p:extLst>
          </p:nvPr>
        </p:nvGraphicFramePr>
        <p:xfrm>
          <a:off x="290513" y="3513138"/>
          <a:ext cx="2309812" cy="2452687"/>
        </p:xfrm>
        <a:graphic>
          <a:graphicData uri="http://schemas.openxmlformats.org/drawingml/2006/chart">
            <c:chart xmlns:c="http://schemas.openxmlformats.org/drawingml/2006/chart" xmlns:r="http://schemas.openxmlformats.org/officeDocument/2006/relationships" r:id="rId38"/>
          </a:graphicData>
        </a:graphic>
      </p:graphicFrame>
      <p:sp>
        <p:nvSpPr>
          <p:cNvPr id="85" name="Text Placeholder 4">
            <a:extLst>
              <a:ext uri="{FF2B5EF4-FFF2-40B4-BE49-F238E27FC236}">
                <a16:creationId xmlns:a16="http://schemas.microsoft.com/office/drawing/2014/main" id="{AFE4A61C-366D-9DDF-E160-A842047E40A7}"/>
              </a:ext>
            </a:extLst>
          </p:cNvPr>
          <p:cNvSpPr>
            <a:spLocks noGrp="1"/>
          </p:cNvSpPr>
          <p:nvPr>
            <p:custDataLst>
              <p:tags r:id="rId20"/>
            </p:custDataLst>
          </p:nvPr>
        </p:nvSpPr>
        <p:spPr bwMode="gray">
          <a:xfrm>
            <a:off x="1306513" y="3717925"/>
            <a:ext cx="276225" cy="182563"/>
          </a:xfrm>
          <a:prstGeom prst="rect">
            <a:avLst/>
          </a:prstGeom>
          <a:solidFill>
            <a:schemeClr val="accent6"/>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31D3B502-8608-4CF2-BC1A-1C3E1D9314E0}" type="datetime'''''''''3''''''''''%'''''''''''''''''''''">
              <a:rPr lang="en-US" altLang="en-US" sz="1200" smtClean="0">
                <a:effectLst/>
                <a:latin typeface="+mn-lt"/>
              </a:rPr>
              <a:pPr lvl="0" algn="ctr">
                <a:spcBef>
                  <a:spcPct val="0"/>
                </a:spcBef>
                <a:spcAft>
                  <a:spcPct val="0"/>
                </a:spcAft>
              </a:pPr>
              <a:t>3%</a:t>
            </a:fld>
            <a:endParaRPr lang="en-US" sz="1200">
              <a:latin typeface="+mn-lt"/>
            </a:endParaRPr>
          </a:p>
        </p:txBody>
      </p:sp>
      <p:sp>
        <p:nvSpPr>
          <p:cNvPr id="86" name="Text Placeholder 4">
            <a:extLst>
              <a:ext uri="{FF2B5EF4-FFF2-40B4-BE49-F238E27FC236}">
                <a16:creationId xmlns:a16="http://schemas.microsoft.com/office/drawing/2014/main" id="{481DEA04-F8DF-6F9A-6C3E-EFA6129BBF48}"/>
              </a:ext>
            </a:extLst>
          </p:cNvPr>
          <p:cNvSpPr>
            <a:spLocks noGrp="1"/>
          </p:cNvSpPr>
          <p:nvPr>
            <p:custDataLst>
              <p:tags r:id="rId21"/>
            </p:custDataLst>
          </p:nvPr>
        </p:nvSpPr>
        <p:spPr bwMode="auto">
          <a:xfrm>
            <a:off x="987425" y="5749925"/>
            <a:ext cx="9159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C9D1E686-A62F-4F40-B4AE-31B55BDA16D6}" type="datetime'''''''''E''''''''mp''''''l''o''''yee''s'''''','''' K'''">
              <a:rPr lang="en-US" altLang="en-US" sz="1200" smtClean="0">
                <a:latin typeface="+mn-lt"/>
              </a:rPr>
              <a:pPr lvl="0" algn="ctr">
                <a:spcBef>
                  <a:spcPct val="0"/>
                </a:spcBef>
                <a:spcAft>
                  <a:spcPct val="0"/>
                </a:spcAft>
              </a:pPr>
              <a:t>Employees, K</a:t>
            </a:fld>
            <a:endParaRPr lang="en-US" sz="1200">
              <a:latin typeface="+mn-lt"/>
            </a:endParaRPr>
          </a:p>
        </p:txBody>
      </p:sp>
      <p:sp>
        <p:nvSpPr>
          <p:cNvPr id="89" name="Text Placeholder 4">
            <a:extLst>
              <a:ext uri="{FF2B5EF4-FFF2-40B4-BE49-F238E27FC236}">
                <a16:creationId xmlns:a16="http://schemas.microsoft.com/office/drawing/2014/main" id="{32445D90-DACF-4B3E-08A8-24E8086B9E8F}"/>
              </a:ext>
            </a:extLst>
          </p:cNvPr>
          <p:cNvSpPr>
            <a:spLocks noGrp="1"/>
          </p:cNvSpPr>
          <p:nvPr>
            <p:custDataLst>
              <p:tags r:id="rId22"/>
            </p:custDataLst>
          </p:nvPr>
        </p:nvSpPr>
        <p:spPr bwMode="gray">
          <a:xfrm>
            <a:off x="1298575" y="3535363"/>
            <a:ext cx="292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buNone/>
            </a:pPr>
            <a:r>
              <a:rPr lang="en-US" sz="1200">
                <a:latin typeface="+mn-lt"/>
              </a:rPr>
              <a:t>156</a:t>
            </a:r>
          </a:p>
        </p:txBody>
      </p:sp>
      <p:graphicFrame>
        <p:nvGraphicFramePr>
          <p:cNvPr id="8" name="Chart 7">
            <a:extLst>
              <a:ext uri="{FF2B5EF4-FFF2-40B4-BE49-F238E27FC236}">
                <a16:creationId xmlns:a16="http://schemas.microsoft.com/office/drawing/2014/main" id="{4FB0B147-415B-0A79-2312-CA3BB4471ECF}"/>
              </a:ext>
            </a:extLst>
          </p:cNvPr>
          <p:cNvGraphicFramePr/>
          <p:nvPr>
            <p:custDataLst>
              <p:tags r:id="rId23"/>
            </p:custDataLst>
            <p:extLst>
              <p:ext uri="{D42A27DB-BD31-4B8C-83A1-F6EECF244321}">
                <p14:modId xmlns:p14="http://schemas.microsoft.com/office/powerpoint/2010/main" val="686779794"/>
              </p:ext>
            </p:extLst>
          </p:nvPr>
        </p:nvGraphicFramePr>
        <p:xfrm>
          <a:off x="1781175" y="3513138"/>
          <a:ext cx="2309813" cy="2452687"/>
        </p:xfrm>
        <a:graphic>
          <a:graphicData uri="http://schemas.openxmlformats.org/drawingml/2006/chart">
            <c:chart xmlns:c="http://schemas.openxmlformats.org/drawingml/2006/chart" xmlns:r="http://schemas.openxmlformats.org/officeDocument/2006/relationships" r:id="rId39"/>
          </a:graphicData>
        </a:graphic>
      </p:graphicFrame>
      <p:sp>
        <p:nvSpPr>
          <p:cNvPr id="105" name="Text Placeholder 4">
            <a:extLst>
              <a:ext uri="{FF2B5EF4-FFF2-40B4-BE49-F238E27FC236}">
                <a16:creationId xmlns:a16="http://schemas.microsoft.com/office/drawing/2014/main" id="{B0864008-9652-A9F7-E73E-4660C0EBC042}"/>
              </a:ext>
            </a:extLst>
          </p:cNvPr>
          <p:cNvSpPr>
            <a:spLocks noGrp="1"/>
          </p:cNvSpPr>
          <p:nvPr>
            <p:custDataLst>
              <p:tags r:id="rId24"/>
            </p:custDataLst>
          </p:nvPr>
        </p:nvSpPr>
        <p:spPr bwMode="auto">
          <a:xfrm>
            <a:off x="2373313" y="5749926"/>
            <a:ext cx="1123950"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sz="1200">
                <a:latin typeface="+mn-lt"/>
              </a:rPr>
              <a:t>Salary monthly volume, Mn AZN</a:t>
            </a:r>
            <a:endParaRPr lang="en-US" sz="1200">
              <a:latin typeface="+mn-lt"/>
            </a:endParaRPr>
          </a:p>
        </p:txBody>
      </p:sp>
      <p:sp>
        <p:nvSpPr>
          <p:cNvPr id="106" name="Text Placeholder 4">
            <a:extLst>
              <a:ext uri="{FF2B5EF4-FFF2-40B4-BE49-F238E27FC236}">
                <a16:creationId xmlns:a16="http://schemas.microsoft.com/office/drawing/2014/main" id="{D45492DC-7480-D212-2D20-9DDB745FB7DB}"/>
              </a:ext>
            </a:extLst>
          </p:cNvPr>
          <p:cNvSpPr>
            <a:spLocks noGrp="1"/>
          </p:cNvSpPr>
          <p:nvPr>
            <p:custDataLst>
              <p:tags r:id="rId25"/>
            </p:custDataLst>
          </p:nvPr>
        </p:nvSpPr>
        <p:spPr bwMode="gray">
          <a:xfrm>
            <a:off x="2789238" y="3571875"/>
            <a:ext cx="2921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DD3A84EC-F562-45ED-8EAD-DB9D5EE2D713}" type="datetime'''''''''''''''''''''''''''''''''''''''202'''''''''''''''''">
              <a:rPr lang="en-US" altLang="en-US" sz="1200" smtClean="0">
                <a:latin typeface="+mn-lt"/>
              </a:rPr>
              <a:pPr lvl="0" algn="ctr">
                <a:spcBef>
                  <a:spcPct val="0"/>
                </a:spcBef>
                <a:spcAft>
                  <a:spcPct val="0"/>
                </a:spcAft>
              </a:pPr>
              <a:t>202</a:t>
            </a:fld>
            <a:endParaRPr lang="en-US" sz="1200">
              <a:latin typeface="+mn-lt"/>
            </a:endParaRPr>
          </a:p>
        </p:txBody>
      </p:sp>
      <p:sp>
        <p:nvSpPr>
          <p:cNvPr id="113" name="TextBox 112">
            <a:extLst>
              <a:ext uri="{FF2B5EF4-FFF2-40B4-BE49-F238E27FC236}">
                <a16:creationId xmlns:a16="http://schemas.microsoft.com/office/drawing/2014/main" id="{FBCCA29F-83CC-F0F2-65F1-7131E168FD71}"/>
              </a:ext>
            </a:extLst>
          </p:cNvPr>
          <p:cNvSpPr txBox="1">
            <a:spLocks/>
          </p:cNvSpPr>
          <p:nvPr/>
        </p:nvSpPr>
        <p:spPr>
          <a:xfrm>
            <a:off x="3931774" y="1717125"/>
            <a:ext cx="4755023" cy="3693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lvl="1" indent="0">
              <a:buNone/>
            </a:pPr>
            <a:r>
              <a:rPr lang="en-US" sz="1200"/>
              <a:t>…and exhibit </a:t>
            </a:r>
            <a:r>
              <a:rPr lang="en-US" sz="1200" b="1"/>
              <a:t>higher penetration of non-salary products </a:t>
            </a:r>
            <a:r>
              <a:rPr lang="en-US" sz="1200"/>
              <a:t>and are </a:t>
            </a:r>
            <a:r>
              <a:rPr lang="en-US" sz="1200" b="1"/>
              <a:t>more likely to hold lending products</a:t>
            </a:r>
            <a:r>
              <a:rPr lang="en-US" sz="1200"/>
              <a:t> </a:t>
            </a:r>
          </a:p>
        </p:txBody>
      </p:sp>
      <p:sp>
        <p:nvSpPr>
          <p:cNvPr id="75" name="TextBox 74">
            <a:extLst>
              <a:ext uri="{FF2B5EF4-FFF2-40B4-BE49-F238E27FC236}">
                <a16:creationId xmlns:a16="http://schemas.microsoft.com/office/drawing/2014/main" id="{A740278F-55C5-6B96-28D8-7CD71AA99743}"/>
              </a:ext>
            </a:extLst>
          </p:cNvPr>
          <p:cNvSpPr txBox="1"/>
          <p:nvPr/>
        </p:nvSpPr>
        <p:spPr>
          <a:xfrm>
            <a:off x="5916810" y="2599909"/>
            <a:ext cx="531787"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rPr>
              <a:t>431</a:t>
            </a:r>
          </a:p>
        </p:txBody>
      </p:sp>
      <p:sp>
        <p:nvSpPr>
          <p:cNvPr id="76" name="TextBox 75">
            <a:extLst>
              <a:ext uri="{FF2B5EF4-FFF2-40B4-BE49-F238E27FC236}">
                <a16:creationId xmlns:a16="http://schemas.microsoft.com/office/drawing/2014/main" id="{01F12087-926A-F330-4C20-8C695FFA88AD}"/>
              </a:ext>
            </a:extLst>
          </p:cNvPr>
          <p:cNvSpPr txBox="1"/>
          <p:nvPr/>
        </p:nvSpPr>
        <p:spPr>
          <a:xfrm>
            <a:off x="7251850" y="2599909"/>
            <a:ext cx="531787"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rPr>
              <a:t>2861</a:t>
            </a:r>
          </a:p>
        </p:txBody>
      </p:sp>
      <p:sp>
        <p:nvSpPr>
          <p:cNvPr id="78" name="Rectangle 77">
            <a:extLst>
              <a:ext uri="{FF2B5EF4-FFF2-40B4-BE49-F238E27FC236}">
                <a16:creationId xmlns:a16="http://schemas.microsoft.com/office/drawing/2014/main" id="{B34B8EAE-E8B9-290A-0ADA-4A55D9B3BD64}"/>
              </a:ext>
            </a:extLst>
          </p:cNvPr>
          <p:cNvSpPr/>
          <p:nvPr/>
        </p:nvSpPr>
        <p:spPr>
          <a:xfrm>
            <a:off x="7110805" y="2377440"/>
            <a:ext cx="150607" cy="110236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err="1">
              <a:solidFill>
                <a:schemeClr val="bg1"/>
              </a:solidFill>
            </a:endParaRPr>
          </a:p>
        </p:txBody>
      </p:sp>
      <p:sp>
        <p:nvSpPr>
          <p:cNvPr id="82" name="Rectangle 81">
            <a:extLst>
              <a:ext uri="{FF2B5EF4-FFF2-40B4-BE49-F238E27FC236}">
                <a16:creationId xmlns:a16="http://schemas.microsoft.com/office/drawing/2014/main" id="{91928B1F-D025-5B85-88A2-8BF2CD87FBDF}"/>
              </a:ext>
            </a:extLst>
          </p:cNvPr>
          <p:cNvSpPr/>
          <p:nvPr/>
        </p:nvSpPr>
        <p:spPr>
          <a:xfrm>
            <a:off x="5810968" y="2377440"/>
            <a:ext cx="100763" cy="1109472"/>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400" err="1">
              <a:solidFill>
                <a:schemeClr val="bg1"/>
              </a:solidFill>
            </a:endParaRPr>
          </a:p>
        </p:txBody>
      </p:sp>
      <p:sp>
        <p:nvSpPr>
          <p:cNvPr id="108" name="TextBox 107">
            <a:extLst>
              <a:ext uri="{FF2B5EF4-FFF2-40B4-BE49-F238E27FC236}">
                <a16:creationId xmlns:a16="http://schemas.microsoft.com/office/drawing/2014/main" id="{7AC6A49E-80C0-FEAA-3EB1-A3C21B7A3980}"/>
              </a:ext>
            </a:extLst>
          </p:cNvPr>
          <p:cNvSpPr txBox="1"/>
          <p:nvPr/>
        </p:nvSpPr>
        <p:spPr>
          <a:xfrm>
            <a:off x="4254405" y="3037491"/>
            <a:ext cx="1300098"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i="1"/>
              <a:t>% of segment customers</a:t>
            </a:r>
          </a:p>
        </p:txBody>
      </p:sp>
      <p:sp>
        <p:nvSpPr>
          <p:cNvPr id="110" name="TextBox 109">
            <a:extLst>
              <a:ext uri="{FF2B5EF4-FFF2-40B4-BE49-F238E27FC236}">
                <a16:creationId xmlns:a16="http://schemas.microsoft.com/office/drawing/2014/main" id="{A87C201F-FF3D-5229-CB73-5A952685A3E7}"/>
              </a:ext>
            </a:extLst>
          </p:cNvPr>
          <p:cNvSpPr txBox="1"/>
          <p:nvPr/>
        </p:nvSpPr>
        <p:spPr>
          <a:xfrm>
            <a:off x="5916810" y="3145212"/>
            <a:ext cx="531787"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rPr>
              <a:t>9%</a:t>
            </a:r>
          </a:p>
        </p:txBody>
      </p:sp>
      <p:sp>
        <p:nvSpPr>
          <p:cNvPr id="114" name="TextBox 113">
            <a:extLst>
              <a:ext uri="{FF2B5EF4-FFF2-40B4-BE49-F238E27FC236}">
                <a16:creationId xmlns:a16="http://schemas.microsoft.com/office/drawing/2014/main" id="{93265521-D59A-3F36-2C5D-35A3A7E6278F}"/>
              </a:ext>
            </a:extLst>
          </p:cNvPr>
          <p:cNvSpPr txBox="1"/>
          <p:nvPr/>
        </p:nvSpPr>
        <p:spPr>
          <a:xfrm>
            <a:off x="7251850" y="3145212"/>
            <a:ext cx="531787"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rPr>
              <a:t>2%</a:t>
            </a:r>
          </a:p>
        </p:txBody>
      </p:sp>
      <p:sp>
        <p:nvSpPr>
          <p:cNvPr id="115" name="TextBox 114">
            <a:extLst>
              <a:ext uri="{FF2B5EF4-FFF2-40B4-BE49-F238E27FC236}">
                <a16:creationId xmlns:a16="http://schemas.microsoft.com/office/drawing/2014/main" id="{83F94919-5CA8-66A5-EDA1-A665871BC838}"/>
              </a:ext>
            </a:extLst>
          </p:cNvPr>
          <p:cNvSpPr txBox="1"/>
          <p:nvPr/>
        </p:nvSpPr>
        <p:spPr>
          <a:xfrm>
            <a:off x="9004252" y="1624698"/>
            <a:ext cx="2882947" cy="15465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600" lvl="1" indent="0">
              <a:buNone/>
            </a:pPr>
            <a:r>
              <a:rPr lang="en-US"/>
              <a:t>Both groups have </a:t>
            </a:r>
            <a:r>
              <a:rPr lang="en-US" b="1"/>
              <a:t>low non-salary product penetration rate </a:t>
            </a:r>
            <a:r>
              <a:rPr lang="en-US"/>
              <a:t>with Affluent higher at </a:t>
            </a:r>
            <a:r>
              <a:rPr lang="en-US" b="1"/>
              <a:t>9%</a:t>
            </a:r>
          </a:p>
          <a:p>
            <a:pPr marL="3600" lvl="1" indent="0">
              <a:buNone/>
            </a:pPr>
            <a:r>
              <a:rPr lang="en-US"/>
              <a:t>Affluent clients are </a:t>
            </a:r>
            <a:r>
              <a:rPr lang="en-US" b="1"/>
              <a:t>more</a:t>
            </a:r>
            <a:r>
              <a:rPr lang="en-US"/>
              <a:t> </a:t>
            </a:r>
            <a:r>
              <a:rPr lang="en-US" b="1"/>
              <a:t>receptive and engaged than Mass</a:t>
            </a:r>
            <a:r>
              <a:rPr lang="en-US"/>
              <a:t>, and keep higher volumes – primary target for cross-sell</a:t>
            </a:r>
            <a:endParaRPr lang="en-US" b="1"/>
          </a:p>
        </p:txBody>
      </p:sp>
      <p:sp>
        <p:nvSpPr>
          <p:cNvPr id="152" name="TextBox 151">
            <a:extLst>
              <a:ext uri="{FF2B5EF4-FFF2-40B4-BE49-F238E27FC236}">
                <a16:creationId xmlns:a16="http://schemas.microsoft.com/office/drawing/2014/main" id="{FE27D5B6-D724-CC89-E4E2-16763AC08368}"/>
              </a:ext>
            </a:extLst>
          </p:cNvPr>
          <p:cNvSpPr txBox="1"/>
          <p:nvPr/>
        </p:nvSpPr>
        <p:spPr>
          <a:xfrm>
            <a:off x="9143150" y="3455235"/>
            <a:ext cx="2697752" cy="24083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t>Affluent customers hold </a:t>
            </a:r>
            <a:r>
              <a:rPr lang="en-US" b="1"/>
              <a:t>more revenue-generating</a:t>
            </a:r>
            <a:r>
              <a:rPr lang="en-US"/>
              <a:t> products – </a:t>
            </a:r>
            <a:r>
              <a:rPr lang="en-US" b="1"/>
              <a:t>3 times more likely to have a mortgage </a:t>
            </a:r>
            <a:r>
              <a:rPr lang="en-US"/>
              <a:t>and</a:t>
            </a:r>
            <a:r>
              <a:rPr lang="en-US" b="1"/>
              <a:t> </a:t>
            </a:r>
            <a:r>
              <a:rPr lang="en-US"/>
              <a:t>have </a:t>
            </a:r>
            <a:r>
              <a:rPr lang="en-US" b="1"/>
              <a:t>higher penetration of retail loans</a:t>
            </a:r>
            <a:br>
              <a:rPr lang="en-US" b="1"/>
            </a:br>
            <a:endParaRPr lang="en-US" b="1"/>
          </a:p>
          <a:p>
            <a:pPr lvl="1"/>
            <a:r>
              <a:rPr lang="en-US" b="1"/>
              <a:t>Higher deposit holdings </a:t>
            </a:r>
            <a:r>
              <a:rPr lang="en-US"/>
              <a:t>(10% vs. 3%) also provide crucial funding for the bank's lending activities</a:t>
            </a:r>
          </a:p>
        </p:txBody>
      </p:sp>
      <p:sp>
        <p:nvSpPr>
          <p:cNvPr id="154" name="Oval 153">
            <a:extLst>
              <a:ext uri="{FF2B5EF4-FFF2-40B4-BE49-F238E27FC236}">
                <a16:creationId xmlns:a16="http://schemas.microsoft.com/office/drawing/2014/main" id="{774619CA-8E24-82AF-CC33-6ECD8A8DFF7F}"/>
              </a:ext>
            </a:extLst>
          </p:cNvPr>
          <p:cNvSpPr/>
          <p:nvPr/>
        </p:nvSpPr>
        <p:spPr>
          <a:xfrm>
            <a:off x="9051403" y="3427843"/>
            <a:ext cx="277792" cy="277792"/>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1</a:t>
            </a:r>
          </a:p>
        </p:txBody>
      </p:sp>
      <p:sp>
        <p:nvSpPr>
          <p:cNvPr id="155" name="Oval 154">
            <a:extLst>
              <a:ext uri="{FF2B5EF4-FFF2-40B4-BE49-F238E27FC236}">
                <a16:creationId xmlns:a16="http://schemas.microsoft.com/office/drawing/2014/main" id="{F9419788-DF45-46C0-73B3-14D296CC77F3}"/>
              </a:ext>
            </a:extLst>
          </p:cNvPr>
          <p:cNvSpPr/>
          <p:nvPr/>
        </p:nvSpPr>
        <p:spPr>
          <a:xfrm>
            <a:off x="9051403" y="5001423"/>
            <a:ext cx="277792" cy="277792"/>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bg1"/>
                </a:solidFill>
              </a:rPr>
              <a:t>2</a:t>
            </a:r>
          </a:p>
        </p:txBody>
      </p:sp>
      <p:cxnSp>
        <p:nvCxnSpPr>
          <p:cNvPr id="161" name="Straight Connector 160">
            <a:extLst>
              <a:ext uri="{FF2B5EF4-FFF2-40B4-BE49-F238E27FC236}">
                <a16:creationId xmlns:a16="http://schemas.microsoft.com/office/drawing/2014/main" id="{5DA54B61-42F9-81D0-48FC-6823876F954B}"/>
              </a:ext>
            </a:extLst>
          </p:cNvPr>
          <p:cNvCxnSpPr>
            <a:cxnSpLocks/>
          </p:cNvCxnSpPr>
          <p:nvPr/>
        </p:nvCxnSpPr>
        <p:spPr>
          <a:xfrm>
            <a:off x="544226" y="2124101"/>
            <a:ext cx="3191012"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78916CDF-5C14-8C97-C846-BFDD260970D7}"/>
              </a:ext>
            </a:extLst>
          </p:cNvPr>
          <p:cNvCxnSpPr>
            <a:cxnSpLocks/>
          </p:cNvCxnSpPr>
          <p:nvPr/>
        </p:nvCxnSpPr>
        <p:spPr>
          <a:xfrm>
            <a:off x="3931774" y="2124101"/>
            <a:ext cx="4755023"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0A250150-6182-B51A-82BE-7ADFEA1DA928}"/>
              </a:ext>
            </a:extLst>
          </p:cNvPr>
          <p:cNvSpPr txBox="1"/>
          <p:nvPr/>
        </p:nvSpPr>
        <p:spPr>
          <a:xfrm>
            <a:off x="544226" y="2832916"/>
            <a:ext cx="647002"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i="1"/>
              <a:t>Affluent</a:t>
            </a:r>
          </a:p>
        </p:txBody>
      </p:sp>
      <p:sp>
        <p:nvSpPr>
          <p:cNvPr id="173" name="TextBox 172">
            <a:extLst>
              <a:ext uri="{FF2B5EF4-FFF2-40B4-BE49-F238E27FC236}">
                <a16:creationId xmlns:a16="http://schemas.microsoft.com/office/drawing/2014/main" id="{B1964400-5622-A66F-5A21-12B7512A211E}"/>
              </a:ext>
            </a:extLst>
          </p:cNvPr>
          <p:cNvSpPr txBox="1"/>
          <p:nvPr/>
        </p:nvSpPr>
        <p:spPr>
          <a:xfrm>
            <a:off x="544226" y="3134089"/>
            <a:ext cx="647002"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i="1"/>
              <a:t>Mass</a:t>
            </a:r>
          </a:p>
        </p:txBody>
      </p:sp>
      <p:sp>
        <p:nvSpPr>
          <p:cNvPr id="174" name="TextBox 173">
            <a:extLst>
              <a:ext uri="{FF2B5EF4-FFF2-40B4-BE49-F238E27FC236}">
                <a16:creationId xmlns:a16="http://schemas.microsoft.com/office/drawing/2014/main" id="{4255FA58-6F5D-2595-56A3-A23FDC6381D3}"/>
              </a:ext>
            </a:extLst>
          </p:cNvPr>
          <p:cNvSpPr txBox="1"/>
          <p:nvPr/>
        </p:nvSpPr>
        <p:spPr>
          <a:xfrm>
            <a:off x="544226" y="2542286"/>
            <a:ext cx="2344719"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Average monthly salary, </a:t>
            </a:r>
            <a:r>
              <a:rPr lang="en-US" sz="1200"/>
              <a:t>AZN</a:t>
            </a:r>
          </a:p>
        </p:txBody>
      </p:sp>
      <p:sp>
        <p:nvSpPr>
          <p:cNvPr id="175" name="TextBox 174">
            <a:extLst>
              <a:ext uri="{FF2B5EF4-FFF2-40B4-BE49-F238E27FC236}">
                <a16:creationId xmlns:a16="http://schemas.microsoft.com/office/drawing/2014/main" id="{EEFE0309-024D-56E7-9DEE-2D08C990098A}"/>
              </a:ext>
            </a:extLst>
          </p:cNvPr>
          <p:cNvSpPr txBox="1"/>
          <p:nvPr/>
        </p:nvSpPr>
        <p:spPr>
          <a:xfrm>
            <a:off x="1695934" y="3107404"/>
            <a:ext cx="887596" cy="227216"/>
          </a:xfrm>
          <a:prstGeom prst="ellipse">
            <a:avLst/>
          </a:prstGeom>
          <a:solidFill>
            <a:srgbClr val="0A5637"/>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050" b="1">
                <a:solidFill>
                  <a:schemeClr val="bg1"/>
                </a:solidFill>
              </a:rPr>
              <a:t>&lt;5000</a:t>
            </a:r>
          </a:p>
        </p:txBody>
      </p:sp>
      <p:sp>
        <p:nvSpPr>
          <p:cNvPr id="176" name="TextBox 175">
            <a:extLst>
              <a:ext uri="{FF2B5EF4-FFF2-40B4-BE49-F238E27FC236}">
                <a16:creationId xmlns:a16="http://schemas.microsoft.com/office/drawing/2014/main" id="{4CB22D6E-67DC-6BFB-5F93-69E740881734}"/>
              </a:ext>
            </a:extLst>
          </p:cNvPr>
          <p:cNvSpPr txBox="1"/>
          <p:nvPr/>
        </p:nvSpPr>
        <p:spPr>
          <a:xfrm>
            <a:off x="1695934" y="2806231"/>
            <a:ext cx="887596" cy="227216"/>
          </a:xfrm>
          <a:prstGeom prst="ellipse">
            <a:avLst/>
          </a:prstGeom>
          <a:solidFill>
            <a:srgbClr val="F7D147"/>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buClr>
                <a:schemeClr val="tx1"/>
              </a:buClr>
            </a:pPr>
            <a:r>
              <a:rPr lang="en-US" sz="1050" b="1">
                <a:solidFill>
                  <a:schemeClr val="tx1"/>
                </a:solidFill>
              </a:rPr>
              <a:t>5000+</a:t>
            </a:r>
          </a:p>
        </p:txBody>
      </p:sp>
      <p:sp>
        <p:nvSpPr>
          <p:cNvPr id="177" name="TextBox 176">
            <a:extLst>
              <a:ext uri="{FF2B5EF4-FFF2-40B4-BE49-F238E27FC236}">
                <a16:creationId xmlns:a16="http://schemas.microsoft.com/office/drawing/2014/main" id="{C51EF5EC-E278-7798-2A78-E178697CC28C}"/>
              </a:ext>
            </a:extLst>
          </p:cNvPr>
          <p:cNvSpPr txBox="1"/>
          <p:nvPr/>
        </p:nvSpPr>
        <p:spPr>
          <a:xfrm>
            <a:off x="5835161" y="2358465"/>
            <a:ext cx="647002"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Affluent</a:t>
            </a:r>
          </a:p>
        </p:txBody>
      </p:sp>
      <p:sp>
        <p:nvSpPr>
          <p:cNvPr id="178" name="TextBox 177">
            <a:extLst>
              <a:ext uri="{FF2B5EF4-FFF2-40B4-BE49-F238E27FC236}">
                <a16:creationId xmlns:a16="http://schemas.microsoft.com/office/drawing/2014/main" id="{6CE12402-C5B6-94C5-7F84-A56B450B1223}"/>
              </a:ext>
            </a:extLst>
          </p:cNvPr>
          <p:cNvSpPr txBox="1"/>
          <p:nvPr/>
        </p:nvSpPr>
        <p:spPr>
          <a:xfrm>
            <a:off x="7238169" y="2358465"/>
            <a:ext cx="647002"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Mass</a:t>
            </a:r>
          </a:p>
        </p:txBody>
      </p:sp>
      <p:sp>
        <p:nvSpPr>
          <p:cNvPr id="3" name="TextBox 2">
            <a:extLst>
              <a:ext uri="{FF2B5EF4-FFF2-40B4-BE49-F238E27FC236}">
                <a16:creationId xmlns:a16="http://schemas.microsoft.com/office/drawing/2014/main" id="{C7A28FA2-8E6A-8824-FC2A-FF8A46502EA1}"/>
              </a:ext>
            </a:extLst>
          </p:cNvPr>
          <p:cNvSpPr txBox="1">
            <a:spLocks/>
          </p:cNvSpPr>
          <p:nvPr/>
        </p:nvSpPr>
        <p:spPr>
          <a:xfrm>
            <a:off x="8975833" y="1167062"/>
            <a:ext cx="2953407" cy="325407"/>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rPr>
              <a:t>Key insights</a:t>
            </a:r>
          </a:p>
        </p:txBody>
      </p:sp>
      <p:cxnSp>
        <p:nvCxnSpPr>
          <p:cNvPr id="13" name="LineBasicDefault 13">
            <a:extLst>
              <a:ext uri="{FF2B5EF4-FFF2-40B4-BE49-F238E27FC236}">
                <a16:creationId xmlns:a16="http://schemas.microsoft.com/office/drawing/2014/main" id="{DEF9FB31-A0B9-DEF3-FE28-3EEC8535A862}"/>
              </a:ext>
            </a:extLst>
          </p:cNvPr>
          <p:cNvCxnSpPr>
            <a:cxnSpLocks/>
          </p:cNvCxnSpPr>
          <p:nvPr>
            <p:custDataLst>
              <p:tags r:id="rId26"/>
            </p:custDataLst>
          </p:nvPr>
        </p:nvCxnSpPr>
        <p:spPr>
          <a:xfrm>
            <a:off x="4060142" y="2960547"/>
            <a:ext cx="4655595"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LineBasicDefault 13">
            <a:extLst>
              <a:ext uri="{FF2B5EF4-FFF2-40B4-BE49-F238E27FC236}">
                <a16:creationId xmlns:a16="http://schemas.microsoft.com/office/drawing/2014/main" id="{73A135F5-6094-A390-6D59-EF10AE499215}"/>
              </a:ext>
            </a:extLst>
          </p:cNvPr>
          <p:cNvCxnSpPr>
            <a:cxnSpLocks/>
          </p:cNvCxnSpPr>
          <p:nvPr>
            <p:custDataLst>
              <p:tags r:id="rId27"/>
            </p:custDataLst>
          </p:nvPr>
        </p:nvCxnSpPr>
        <p:spPr>
          <a:xfrm>
            <a:off x="4060142" y="3458258"/>
            <a:ext cx="4655595"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LineBasicDefault 13">
            <a:extLst>
              <a:ext uri="{FF2B5EF4-FFF2-40B4-BE49-F238E27FC236}">
                <a16:creationId xmlns:a16="http://schemas.microsoft.com/office/drawing/2014/main" id="{4174AA68-EA0F-3559-194F-BAA4D5371846}"/>
              </a:ext>
            </a:extLst>
          </p:cNvPr>
          <p:cNvCxnSpPr>
            <a:cxnSpLocks/>
          </p:cNvCxnSpPr>
          <p:nvPr>
            <p:custDataLst>
              <p:tags r:id="rId28"/>
            </p:custDataLst>
          </p:nvPr>
        </p:nvCxnSpPr>
        <p:spPr>
          <a:xfrm>
            <a:off x="4060142" y="4036993"/>
            <a:ext cx="4655595"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23885369-87E9-BEA7-CE32-7F1143B58365}"/>
              </a:ext>
            </a:extLst>
          </p:cNvPr>
          <p:cNvSpPr/>
          <p:nvPr/>
        </p:nvSpPr>
        <p:spPr>
          <a:xfrm>
            <a:off x="3973021" y="3939887"/>
            <a:ext cx="221027" cy="221027"/>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151" name="Oval 150">
            <a:extLst>
              <a:ext uri="{FF2B5EF4-FFF2-40B4-BE49-F238E27FC236}">
                <a16:creationId xmlns:a16="http://schemas.microsoft.com/office/drawing/2014/main" id="{9827BE3A-4763-6FF2-7D15-FDB35F921818}"/>
              </a:ext>
            </a:extLst>
          </p:cNvPr>
          <p:cNvSpPr/>
          <p:nvPr/>
        </p:nvSpPr>
        <p:spPr>
          <a:xfrm>
            <a:off x="3973021" y="4762428"/>
            <a:ext cx="221027" cy="221027"/>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bg1"/>
                </a:solidFill>
              </a:rPr>
              <a:t>2</a:t>
            </a:r>
          </a:p>
        </p:txBody>
      </p:sp>
      <p:cxnSp>
        <p:nvCxnSpPr>
          <p:cNvPr id="20" name="LineBasicDefault 13">
            <a:extLst>
              <a:ext uri="{FF2B5EF4-FFF2-40B4-BE49-F238E27FC236}">
                <a16:creationId xmlns:a16="http://schemas.microsoft.com/office/drawing/2014/main" id="{CF106241-2B5D-C46D-D5C9-58F12E70A9D1}"/>
              </a:ext>
            </a:extLst>
          </p:cNvPr>
          <p:cNvCxnSpPr>
            <a:cxnSpLocks/>
          </p:cNvCxnSpPr>
          <p:nvPr>
            <p:custDataLst>
              <p:tags r:id="rId29"/>
            </p:custDataLst>
          </p:nvPr>
        </p:nvCxnSpPr>
        <p:spPr>
          <a:xfrm>
            <a:off x="4060142" y="4605953"/>
            <a:ext cx="4655595"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LineBasicDefault 13">
            <a:extLst>
              <a:ext uri="{FF2B5EF4-FFF2-40B4-BE49-F238E27FC236}">
                <a16:creationId xmlns:a16="http://schemas.microsoft.com/office/drawing/2014/main" id="{38F97304-77E3-40A8-6BFA-23A8E1AA896B}"/>
              </a:ext>
            </a:extLst>
          </p:cNvPr>
          <p:cNvCxnSpPr>
            <a:cxnSpLocks/>
          </p:cNvCxnSpPr>
          <p:nvPr>
            <p:custDataLst>
              <p:tags r:id="rId30"/>
            </p:custDataLst>
          </p:nvPr>
        </p:nvCxnSpPr>
        <p:spPr>
          <a:xfrm>
            <a:off x="4060142" y="5154593"/>
            <a:ext cx="4655595"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LineBasicDefault 13">
            <a:extLst>
              <a:ext uri="{FF2B5EF4-FFF2-40B4-BE49-F238E27FC236}">
                <a16:creationId xmlns:a16="http://schemas.microsoft.com/office/drawing/2014/main" id="{F63CC516-6792-30A5-4B30-EC4ED6F549D6}"/>
              </a:ext>
            </a:extLst>
          </p:cNvPr>
          <p:cNvCxnSpPr>
            <a:cxnSpLocks/>
          </p:cNvCxnSpPr>
          <p:nvPr>
            <p:custDataLst>
              <p:tags r:id="rId31"/>
            </p:custDataLst>
          </p:nvPr>
        </p:nvCxnSpPr>
        <p:spPr>
          <a:xfrm>
            <a:off x="4060142" y="5682913"/>
            <a:ext cx="4655595" cy="0"/>
          </a:xfrm>
          <a:prstGeom prst="straightConnector1">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167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B5F722B5-6168-6C08-0F06-36B59C736EC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606" imgH="608" progId="TCLayout.ActiveDocument.1">
                  <p:embed/>
                </p:oleObj>
              </mc:Choice>
              <mc:Fallback>
                <p:oleObj name="think-cell Slide" r:id="rId12" imgW="606" imgH="608" progId="TCLayout.ActiveDocument.1">
                  <p:embed/>
                  <p:pic>
                    <p:nvPicPr>
                      <p:cNvPr id="5" name="Object 6" hidden="1">
                        <a:extLst>
                          <a:ext uri="{FF2B5EF4-FFF2-40B4-BE49-F238E27FC236}">
                            <a16:creationId xmlns:a16="http://schemas.microsoft.com/office/drawing/2014/main" id="{B5F722B5-6168-6C08-0F06-36B59C736EC8}"/>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F90FF83F-E2D6-7157-34DE-DB409A0CC350}"/>
              </a:ext>
            </a:extLst>
          </p:cNvPr>
          <p:cNvSpPr>
            <a:spLocks noGrp="1"/>
          </p:cNvSpPr>
          <p:nvPr>
            <p:ph type="title"/>
            <p:custDataLst>
              <p:tags r:id="rId2"/>
            </p:custDataLst>
          </p:nvPr>
        </p:nvSpPr>
        <p:spPr>
          <a:xfrm>
            <a:off x="1088020" y="165068"/>
            <a:ext cx="10549242" cy="738664"/>
          </a:xfrm>
        </p:spPr>
        <p:txBody>
          <a:bodyPr vert="horz"/>
          <a:lstStyle/>
          <a:p>
            <a:r>
              <a:rPr lang="en-US"/>
              <a:t>Regional banks differentiate for affluent through service model and product access</a:t>
            </a:r>
          </a:p>
        </p:txBody>
      </p:sp>
      <p:sp>
        <p:nvSpPr>
          <p:cNvPr id="3" name="3. Subtitle">
            <a:extLst>
              <a:ext uri="{FF2B5EF4-FFF2-40B4-BE49-F238E27FC236}">
                <a16:creationId xmlns:a16="http://schemas.microsoft.com/office/drawing/2014/main" id="{59440F99-B5CB-A95A-AB09-90AB0F139CE6}"/>
              </a:ext>
            </a:extLst>
          </p:cNvPr>
          <p:cNvSpPr>
            <a:spLocks noGrp="1"/>
          </p:cNvSpPr>
          <p:nvPr>
            <p:ph type="subTitle" idx="1"/>
            <p:custDataLst>
              <p:tags r:id="rId3"/>
            </p:custDataLst>
          </p:nvPr>
        </p:nvSpPr>
        <p:spPr/>
        <p:txBody>
          <a:bodyPr/>
          <a:lstStyle/>
          <a:p>
            <a:endParaRPr lang="en-US"/>
          </a:p>
        </p:txBody>
      </p:sp>
      <p:sp>
        <p:nvSpPr>
          <p:cNvPr id="4" name="1. On-page tracker">
            <a:extLst>
              <a:ext uri="{FF2B5EF4-FFF2-40B4-BE49-F238E27FC236}">
                <a16:creationId xmlns:a16="http://schemas.microsoft.com/office/drawing/2014/main" id="{C3259214-4677-D5CC-2544-C7B56B180D14}"/>
              </a:ext>
            </a:extLst>
          </p:cNvPr>
          <p:cNvSpPr>
            <a:spLocks noGrp="1"/>
          </p:cNvSpPr>
          <p:nvPr>
            <p:ph type="body" sz="quarter" idx="10"/>
            <p:custDataLst>
              <p:tags r:id="rId4"/>
            </p:custDataLst>
          </p:nvPr>
        </p:nvSpPr>
        <p:spPr/>
        <p:txBody>
          <a:bodyPr/>
          <a:lstStyle/>
          <a:p>
            <a:endParaRPr lang="en-US"/>
          </a:p>
        </p:txBody>
      </p:sp>
      <p:sp>
        <p:nvSpPr>
          <p:cNvPr id="10" name="TextBox 9">
            <a:extLst>
              <a:ext uri="{FF2B5EF4-FFF2-40B4-BE49-F238E27FC236}">
                <a16:creationId xmlns:a16="http://schemas.microsoft.com/office/drawing/2014/main" id="{49702319-AD4D-9A48-BA99-1243EF02DD1F}"/>
              </a:ext>
            </a:extLst>
          </p:cNvPr>
          <p:cNvSpPr txBox="1"/>
          <p:nvPr/>
        </p:nvSpPr>
        <p:spPr>
          <a:xfrm>
            <a:off x="554735" y="1508647"/>
            <a:ext cx="2051831"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Bank</a:t>
            </a:r>
          </a:p>
        </p:txBody>
      </p:sp>
      <p:sp>
        <p:nvSpPr>
          <p:cNvPr id="16" name="TextBox 15">
            <a:extLst>
              <a:ext uri="{FF2B5EF4-FFF2-40B4-BE49-F238E27FC236}">
                <a16:creationId xmlns:a16="http://schemas.microsoft.com/office/drawing/2014/main" id="{25EFD0F0-8576-6757-A067-8C45BDFC48C0}"/>
              </a:ext>
            </a:extLst>
          </p:cNvPr>
          <p:cNvSpPr txBox="1"/>
          <p:nvPr/>
        </p:nvSpPr>
        <p:spPr>
          <a:xfrm>
            <a:off x="2688335" y="1508647"/>
            <a:ext cx="2051831"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Market</a:t>
            </a:r>
          </a:p>
        </p:txBody>
      </p:sp>
      <p:sp>
        <p:nvSpPr>
          <p:cNvPr id="22" name="TextBox 21">
            <a:extLst>
              <a:ext uri="{FF2B5EF4-FFF2-40B4-BE49-F238E27FC236}">
                <a16:creationId xmlns:a16="http://schemas.microsoft.com/office/drawing/2014/main" id="{94706C99-EFB7-BBB5-1FB1-F023AF1F25EC}"/>
              </a:ext>
            </a:extLst>
          </p:cNvPr>
          <p:cNvSpPr txBox="1"/>
          <p:nvPr/>
        </p:nvSpPr>
        <p:spPr>
          <a:xfrm>
            <a:off x="4160713" y="1508647"/>
            <a:ext cx="2051831"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Affluent Proposition</a:t>
            </a:r>
          </a:p>
        </p:txBody>
      </p:sp>
      <p:sp>
        <p:nvSpPr>
          <p:cNvPr id="23" name="TextBox 22">
            <a:extLst>
              <a:ext uri="{FF2B5EF4-FFF2-40B4-BE49-F238E27FC236}">
                <a16:creationId xmlns:a16="http://schemas.microsoft.com/office/drawing/2014/main" id="{E3CA6587-7602-A7BD-5C18-2D82723CBE51}"/>
              </a:ext>
            </a:extLst>
          </p:cNvPr>
          <p:cNvSpPr txBox="1"/>
          <p:nvPr/>
        </p:nvSpPr>
        <p:spPr>
          <a:xfrm>
            <a:off x="4160713" y="1973206"/>
            <a:ext cx="3996246"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Bonus Premium: </a:t>
            </a:r>
            <a:r>
              <a:rPr lang="en-US" b="1"/>
              <a:t>dedicated RM, priority queuing</a:t>
            </a:r>
            <a:r>
              <a:rPr lang="en-US"/>
              <a:t>, premium card, </a:t>
            </a:r>
            <a:r>
              <a:rPr lang="en-US" b="1"/>
              <a:t>investment advisory</a:t>
            </a:r>
          </a:p>
        </p:txBody>
      </p:sp>
      <p:sp>
        <p:nvSpPr>
          <p:cNvPr id="24" name="TextBox 23">
            <a:extLst>
              <a:ext uri="{FF2B5EF4-FFF2-40B4-BE49-F238E27FC236}">
                <a16:creationId xmlns:a16="http://schemas.microsoft.com/office/drawing/2014/main" id="{FC90079A-AE41-73C6-238E-DCF6F605ECA0}"/>
              </a:ext>
            </a:extLst>
          </p:cNvPr>
          <p:cNvSpPr txBox="1"/>
          <p:nvPr/>
        </p:nvSpPr>
        <p:spPr>
          <a:xfrm>
            <a:off x="4160713" y="2695610"/>
            <a:ext cx="3478578"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Maximum tier: </a:t>
            </a:r>
            <a:r>
              <a:rPr lang="en-US" b="1"/>
              <a:t>0.10pp lower rate </a:t>
            </a:r>
            <a:r>
              <a:rPr lang="en-US"/>
              <a:t>on cash loans, </a:t>
            </a:r>
            <a:r>
              <a:rPr lang="en-US" b="1"/>
              <a:t>bundled insurance, salary advance, priority mortgage</a:t>
            </a:r>
          </a:p>
        </p:txBody>
      </p:sp>
      <p:sp>
        <p:nvSpPr>
          <p:cNvPr id="26" name="TextBox 25">
            <a:extLst>
              <a:ext uri="{FF2B5EF4-FFF2-40B4-BE49-F238E27FC236}">
                <a16:creationId xmlns:a16="http://schemas.microsoft.com/office/drawing/2014/main" id="{D6724218-5530-2084-81A9-E3BC74589D70}"/>
              </a:ext>
            </a:extLst>
          </p:cNvPr>
          <p:cNvSpPr txBox="1"/>
          <p:nvPr/>
        </p:nvSpPr>
        <p:spPr>
          <a:xfrm>
            <a:off x="4160713" y="4571308"/>
            <a:ext cx="3607363"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Private Banking </a:t>
            </a:r>
            <a:r>
              <a:rPr lang="en-US"/>
              <a:t>for $100K+ AUM; "Halyk Premier" for affluent – </a:t>
            </a:r>
            <a:r>
              <a:rPr lang="en-US" b="1"/>
              <a:t>RM, investment platform, higher bonuses</a:t>
            </a:r>
          </a:p>
        </p:txBody>
      </p:sp>
      <p:sp>
        <p:nvSpPr>
          <p:cNvPr id="27" name="TextBox 26">
            <a:extLst>
              <a:ext uri="{FF2B5EF4-FFF2-40B4-BE49-F238E27FC236}">
                <a16:creationId xmlns:a16="http://schemas.microsoft.com/office/drawing/2014/main" id="{5F2F68DD-E3F0-A3FB-1C09-7F431BCD35D0}"/>
              </a:ext>
            </a:extLst>
          </p:cNvPr>
          <p:cNvSpPr txBox="1"/>
          <p:nvPr/>
        </p:nvSpPr>
        <p:spPr>
          <a:xfrm>
            <a:off x="4160713" y="5509156"/>
            <a:ext cx="3756371"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Premier: dedicated </a:t>
            </a:r>
            <a:r>
              <a:rPr lang="en-US" b="1"/>
              <a:t>RM, investment products</a:t>
            </a:r>
            <a:r>
              <a:rPr lang="en-US"/>
              <a:t>, preferential rates, </a:t>
            </a:r>
            <a:r>
              <a:rPr lang="en-US" b="1"/>
              <a:t>lifestyle perks</a:t>
            </a:r>
          </a:p>
        </p:txBody>
      </p:sp>
      <p:sp>
        <p:nvSpPr>
          <p:cNvPr id="28" name="TextBox 27">
            <a:extLst>
              <a:ext uri="{FF2B5EF4-FFF2-40B4-BE49-F238E27FC236}">
                <a16:creationId xmlns:a16="http://schemas.microsoft.com/office/drawing/2014/main" id="{8C4719A1-75C7-6F25-2E40-F2FD91D450DB}"/>
              </a:ext>
            </a:extLst>
          </p:cNvPr>
          <p:cNvSpPr txBox="1"/>
          <p:nvPr/>
        </p:nvSpPr>
        <p:spPr>
          <a:xfrm>
            <a:off x="8490044" y="1508647"/>
            <a:ext cx="2051831"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Key Differentiator</a:t>
            </a:r>
          </a:p>
        </p:txBody>
      </p:sp>
      <p:sp>
        <p:nvSpPr>
          <p:cNvPr id="29" name="TextBox 28">
            <a:extLst>
              <a:ext uri="{FF2B5EF4-FFF2-40B4-BE49-F238E27FC236}">
                <a16:creationId xmlns:a16="http://schemas.microsoft.com/office/drawing/2014/main" id="{F7745FCE-F8BC-544F-21A5-82B38405B7FD}"/>
              </a:ext>
            </a:extLst>
          </p:cNvPr>
          <p:cNvSpPr txBox="1"/>
          <p:nvPr/>
        </p:nvSpPr>
        <p:spPr>
          <a:xfrm>
            <a:off x="8490044" y="1973206"/>
            <a:ext cx="2640411"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Integration with </a:t>
            </a:r>
            <a:r>
              <a:rPr lang="en-US" b="1"/>
              <a:t>BBVA global wealth platform</a:t>
            </a:r>
          </a:p>
        </p:txBody>
      </p:sp>
      <p:sp>
        <p:nvSpPr>
          <p:cNvPr id="30" name="TextBox 29">
            <a:extLst>
              <a:ext uri="{FF2B5EF4-FFF2-40B4-BE49-F238E27FC236}">
                <a16:creationId xmlns:a16="http://schemas.microsoft.com/office/drawing/2014/main" id="{FF36CDE6-EE9A-55B4-C516-1EA2AF02E1BC}"/>
              </a:ext>
            </a:extLst>
          </p:cNvPr>
          <p:cNvSpPr txBox="1"/>
          <p:nvPr/>
        </p:nvSpPr>
        <p:spPr>
          <a:xfrm>
            <a:off x="8490045" y="2695610"/>
            <a:ext cx="2482756"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Scale: 1M+ salary customers with </a:t>
            </a:r>
            <a:r>
              <a:rPr lang="en-US" b="1"/>
              <a:t>automatic tier upgrade</a:t>
            </a:r>
            <a:endParaRPr lang="en-US"/>
          </a:p>
        </p:txBody>
      </p:sp>
      <p:sp>
        <p:nvSpPr>
          <p:cNvPr id="32" name="TextBox 31">
            <a:extLst>
              <a:ext uri="{FF2B5EF4-FFF2-40B4-BE49-F238E27FC236}">
                <a16:creationId xmlns:a16="http://schemas.microsoft.com/office/drawing/2014/main" id="{CBD4BB14-2516-7B7C-779F-66115D595A99}"/>
              </a:ext>
            </a:extLst>
          </p:cNvPr>
          <p:cNvSpPr txBox="1"/>
          <p:nvPr/>
        </p:nvSpPr>
        <p:spPr>
          <a:xfrm>
            <a:off x="8490044" y="4571308"/>
            <a:ext cx="2640411"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Corporate bank defending affluent via </a:t>
            </a:r>
            <a:r>
              <a:rPr lang="en-US" b="1"/>
              <a:t>relationship</a:t>
            </a:r>
          </a:p>
        </p:txBody>
      </p:sp>
      <p:sp>
        <p:nvSpPr>
          <p:cNvPr id="33" name="TextBox 32">
            <a:extLst>
              <a:ext uri="{FF2B5EF4-FFF2-40B4-BE49-F238E27FC236}">
                <a16:creationId xmlns:a16="http://schemas.microsoft.com/office/drawing/2014/main" id="{14ED429D-EC35-2C87-C42C-74C6E83255B4}"/>
              </a:ext>
            </a:extLst>
          </p:cNvPr>
          <p:cNvSpPr txBox="1"/>
          <p:nvPr/>
        </p:nvSpPr>
        <p:spPr>
          <a:xfrm>
            <a:off x="8490044" y="5509156"/>
            <a:ext cx="2640411"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60% salary market share - massive cross-sell base</a:t>
            </a:r>
          </a:p>
        </p:txBody>
      </p:sp>
      <p:pic>
        <p:nvPicPr>
          <p:cNvPr id="35" name="Picture 34">
            <a:extLst>
              <a:ext uri="{FF2B5EF4-FFF2-40B4-BE49-F238E27FC236}">
                <a16:creationId xmlns:a16="http://schemas.microsoft.com/office/drawing/2014/main" id="{3D543C96-A0B8-A3E4-0405-15EA63FBD1FD}"/>
              </a:ext>
            </a:extLst>
          </p:cNvPr>
          <p:cNvPicPr>
            <a:picLocks noChangeAspect="1"/>
          </p:cNvPicPr>
          <p:nvPr/>
        </p:nvPicPr>
        <p:blipFill>
          <a:blip r:embed="rId14"/>
          <a:stretch>
            <a:fillRect/>
          </a:stretch>
        </p:blipFill>
        <p:spPr>
          <a:xfrm>
            <a:off x="2729455" y="1973205"/>
            <a:ext cx="477872" cy="318581"/>
          </a:xfrm>
          <a:prstGeom prst="rect">
            <a:avLst/>
          </a:prstGeom>
          <a:ln>
            <a:solidFill>
              <a:srgbClr val="CCCCCC"/>
            </a:solidFill>
          </a:ln>
        </p:spPr>
      </p:pic>
      <p:pic>
        <p:nvPicPr>
          <p:cNvPr id="37" name="Picture 36">
            <a:extLst>
              <a:ext uri="{FF2B5EF4-FFF2-40B4-BE49-F238E27FC236}">
                <a16:creationId xmlns:a16="http://schemas.microsoft.com/office/drawing/2014/main" id="{B4E15417-D0FA-6AC6-62B4-CB91AB5966B9}"/>
              </a:ext>
            </a:extLst>
          </p:cNvPr>
          <p:cNvPicPr>
            <a:picLocks noChangeAspect="1"/>
          </p:cNvPicPr>
          <p:nvPr/>
        </p:nvPicPr>
        <p:blipFill>
          <a:blip r:embed="rId14"/>
          <a:stretch>
            <a:fillRect/>
          </a:stretch>
        </p:blipFill>
        <p:spPr>
          <a:xfrm>
            <a:off x="2729455" y="2826644"/>
            <a:ext cx="477872" cy="318581"/>
          </a:xfrm>
          <a:prstGeom prst="rect">
            <a:avLst/>
          </a:prstGeom>
          <a:ln>
            <a:solidFill>
              <a:srgbClr val="CCCCCC"/>
            </a:solidFill>
          </a:ln>
        </p:spPr>
      </p:pic>
      <p:pic>
        <p:nvPicPr>
          <p:cNvPr id="41" name="Picture 40">
            <a:extLst>
              <a:ext uri="{FF2B5EF4-FFF2-40B4-BE49-F238E27FC236}">
                <a16:creationId xmlns:a16="http://schemas.microsoft.com/office/drawing/2014/main" id="{81FE9955-0B9F-7B62-9EDC-24465CED569A}"/>
              </a:ext>
            </a:extLst>
          </p:cNvPr>
          <p:cNvPicPr>
            <a:picLocks noChangeAspect="1"/>
          </p:cNvPicPr>
          <p:nvPr/>
        </p:nvPicPr>
        <p:blipFill>
          <a:blip r:embed="rId15"/>
          <a:stretch>
            <a:fillRect/>
          </a:stretch>
        </p:blipFill>
        <p:spPr>
          <a:xfrm>
            <a:off x="2729455" y="4596588"/>
            <a:ext cx="477872" cy="318581"/>
          </a:xfrm>
          <a:prstGeom prst="rect">
            <a:avLst/>
          </a:prstGeom>
          <a:ln>
            <a:solidFill>
              <a:srgbClr val="CCCCCC"/>
            </a:solidFill>
          </a:ln>
        </p:spPr>
      </p:pic>
      <p:pic>
        <p:nvPicPr>
          <p:cNvPr id="43" name="Picture 42">
            <a:extLst>
              <a:ext uri="{FF2B5EF4-FFF2-40B4-BE49-F238E27FC236}">
                <a16:creationId xmlns:a16="http://schemas.microsoft.com/office/drawing/2014/main" id="{020E9CDD-334B-CF90-D14F-D159D8573D60}"/>
              </a:ext>
            </a:extLst>
          </p:cNvPr>
          <p:cNvPicPr>
            <a:picLocks noChangeAspect="1"/>
          </p:cNvPicPr>
          <p:nvPr/>
        </p:nvPicPr>
        <p:blipFill>
          <a:blip r:embed="rId16"/>
          <a:stretch>
            <a:fillRect/>
          </a:stretch>
        </p:blipFill>
        <p:spPr>
          <a:xfrm>
            <a:off x="2729455" y="5509156"/>
            <a:ext cx="477872" cy="318581"/>
          </a:xfrm>
          <a:prstGeom prst="rect">
            <a:avLst/>
          </a:prstGeom>
          <a:ln>
            <a:solidFill>
              <a:srgbClr val="CCCCCC"/>
            </a:solidFill>
          </a:ln>
        </p:spPr>
      </p:pic>
      <p:pic>
        <p:nvPicPr>
          <p:cNvPr id="46" name="Picture 2">
            <a:extLst>
              <a:ext uri="{FF2B5EF4-FFF2-40B4-BE49-F238E27FC236}">
                <a16:creationId xmlns:a16="http://schemas.microsoft.com/office/drawing/2014/main" id="{88CC861F-AECD-C391-E7A5-F4ECCA8447F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54734" y="1973206"/>
            <a:ext cx="1581261" cy="28385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4">
            <a:extLst>
              <a:ext uri="{FF2B5EF4-FFF2-40B4-BE49-F238E27FC236}">
                <a16:creationId xmlns:a16="http://schemas.microsoft.com/office/drawing/2014/main" id="{66342ABF-FEF2-4AD0-4452-1DA41309E349}"/>
              </a:ext>
            </a:extLst>
          </p:cNvPr>
          <p:cNvPicPr>
            <a:picLocks noChangeArrowheads="1"/>
          </p:cNvPicPr>
          <p:nvPr/>
        </p:nvPicPr>
        <p:blipFill rotWithShape="1">
          <a:blip r:embed="rId18">
            <a:extLst>
              <a:ext uri="{28A0092B-C50C-407E-A947-70E740481C1C}">
                <a14:useLocalDpi xmlns:a14="http://schemas.microsoft.com/office/drawing/2010/main" val="0"/>
              </a:ext>
            </a:extLst>
          </a:blip>
          <a:srcRect r="40277" b="-9316"/>
          <a:stretch>
            <a:fillRect/>
          </a:stretch>
        </p:blipFill>
        <p:spPr bwMode="auto">
          <a:xfrm>
            <a:off x="554734" y="5509156"/>
            <a:ext cx="1504917" cy="616189"/>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020ED82B-789F-21A2-21D2-11F7A7C1B71F}"/>
              </a:ext>
            </a:extLst>
          </p:cNvPr>
          <p:cNvSpPr txBox="1"/>
          <p:nvPr/>
        </p:nvSpPr>
        <p:spPr>
          <a:xfrm>
            <a:off x="4160713" y="3633459"/>
            <a:ext cx="3428687"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Axess Platinum: </a:t>
            </a:r>
            <a:r>
              <a:rPr lang="en-US" b="1"/>
              <a:t>multiplied rewards</a:t>
            </a:r>
            <a:r>
              <a:rPr lang="en-US"/>
              <a:t>, preferential mortgage (-0.25pp), auto-savings</a:t>
            </a:r>
          </a:p>
        </p:txBody>
      </p:sp>
      <p:sp>
        <p:nvSpPr>
          <p:cNvPr id="31" name="TextBox 30">
            <a:extLst>
              <a:ext uri="{FF2B5EF4-FFF2-40B4-BE49-F238E27FC236}">
                <a16:creationId xmlns:a16="http://schemas.microsoft.com/office/drawing/2014/main" id="{05AC8BC3-10BD-D517-C813-9E6442482A87}"/>
              </a:ext>
            </a:extLst>
          </p:cNvPr>
          <p:cNvSpPr txBox="1"/>
          <p:nvPr/>
        </p:nvSpPr>
        <p:spPr>
          <a:xfrm>
            <a:off x="8490044" y="3848902"/>
            <a:ext cx="2640411"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Digital-first</a:t>
            </a:r>
            <a:r>
              <a:rPr lang="en-US"/>
              <a:t>, all services via app</a:t>
            </a:r>
          </a:p>
        </p:txBody>
      </p:sp>
      <p:pic>
        <p:nvPicPr>
          <p:cNvPr id="39" name="Picture 38">
            <a:extLst>
              <a:ext uri="{FF2B5EF4-FFF2-40B4-BE49-F238E27FC236}">
                <a16:creationId xmlns:a16="http://schemas.microsoft.com/office/drawing/2014/main" id="{F490F49A-0875-B249-7126-81959C54CE78}"/>
              </a:ext>
            </a:extLst>
          </p:cNvPr>
          <p:cNvPicPr>
            <a:picLocks noChangeAspect="1"/>
          </p:cNvPicPr>
          <p:nvPr/>
        </p:nvPicPr>
        <p:blipFill>
          <a:blip r:embed="rId14"/>
          <a:stretch>
            <a:fillRect/>
          </a:stretch>
        </p:blipFill>
        <p:spPr>
          <a:xfrm>
            <a:off x="2729455" y="3789274"/>
            <a:ext cx="477872" cy="318581"/>
          </a:xfrm>
          <a:prstGeom prst="rect">
            <a:avLst/>
          </a:prstGeom>
          <a:ln>
            <a:solidFill>
              <a:srgbClr val="CCCCCC"/>
            </a:solidFill>
          </a:ln>
        </p:spPr>
      </p:pic>
      <p:pic>
        <p:nvPicPr>
          <p:cNvPr id="48" name="Picture 4">
            <a:extLst>
              <a:ext uri="{FF2B5EF4-FFF2-40B4-BE49-F238E27FC236}">
                <a16:creationId xmlns:a16="http://schemas.microsoft.com/office/drawing/2014/main" id="{E306470C-F44A-CCD6-7919-ACB64931AD0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4735" y="3789275"/>
            <a:ext cx="1715554" cy="18585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74FFE156-E18F-B1F2-46D1-409069F3E9F4}"/>
              </a:ext>
            </a:extLst>
          </p:cNvPr>
          <p:cNvPicPr>
            <a:picLocks noChangeAspect="1"/>
          </p:cNvPicPr>
          <p:nvPr/>
        </p:nvPicPr>
        <p:blipFill>
          <a:blip r:embed="rId20"/>
          <a:stretch>
            <a:fillRect/>
          </a:stretch>
        </p:blipFill>
        <p:spPr>
          <a:xfrm>
            <a:off x="554735" y="2826645"/>
            <a:ext cx="1161284" cy="373108"/>
          </a:xfrm>
          <a:prstGeom prst="rect">
            <a:avLst/>
          </a:prstGeom>
        </p:spPr>
      </p:pic>
      <p:cxnSp>
        <p:nvCxnSpPr>
          <p:cNvPr id="50" name="LineBasicDefault 50">
            <a:extLst>
              <a:ext uri="{FF2B5EF4-FFF2-40B4-BE49-F238E27FC236}">
                <a16:creationId xmlns:a16="http://schemas.microsoft.com/office/drawing/2014/main" id="{5E97AB53-A341-774C-7672-A5D505FD0FAE}"/>
              </a:ext>
            </a:extLst>
          </p:cNvPr>
          <p:cNvCxnSpPr>
            <a:cxnSpLocks/>
          </p:cNvCxnSpPr>
          <p:nvPr>
            <p:custDataLst>
              <p:tags r:id="rId5"/>
            </p:custDataLst>
          </p:nvPr>
        </p:nvCxnSpPr>
        <p:spPr>
          <a:xfrm>
            <a:off x="554735" y="1804714"/>
            <a:ext cx="11090727"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3" name="LineBasicDefault 50">
            <a:extLst>
              <a:ext uri="{FF2B5EF4-FFF2-40B4-BE49-F238E27FC236}">
                <a16:creationId xmlns:a16="http://schemas.microsoft.com/office/drawing/2014/main" id="{0DB55621-6014-25F1-356D-8FB2F2994992}"/>
              </a:ext>
            </a:extLst>
          </p:cNvPr>
          <p:cNvCxnSpPr>
            <a:cxnSpLocks/>
          </p:cNvCxnSpPr>
          <p:nvPr>
            <p:custDataLst>
              <p:tags r:id="rId6"/>
            </p:custDataLst>
          </p:nvPr>
        </p:nvCxnSpPr>
        <p:spPr>
          <a:xfrm>
            <a:off x="554735" y="2549851"/>
            <a:ext cx="11090727"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LineBasicDefault 50">
            <a:extLst>
              <a:ext uri="{FF2B5EF4-FFF2-40B4-BE49-F238E27FC236}">
                <a16:creationId xmlns:a16="http://schemas.microsoft.com/office/drawing/2014/main" id="{C1178D4E-12B6-E9D3-9746-5F8781D57BD3}"/>
              </a:ext>
            </a:extLst>
          </p:cNvPr>
          <p:cNvCxnSpPr>
            <a:cxnSpLocks/>
          </p:cNvCxnSpPr>
          <p:nvPr>
            <p:custDataLst>
              <p:tags r:id="rId7"/>
            </p:custDataLst>
          </p:nvPr>
        </p:nvCxnSpPr>
        <p:spPr>
          <a:xfrm>
            <a:off x="554735" y="3487700"/>
            <a:ext cx="11090727"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5" name="LineBasicDefault 50">
            <a:extLst>
              <a:ext uri="{FF2B5EF4-FFF2-40B4-BE49-F238E27FC236}">
                <a16:creationId xmlns:a16="http://schemas.microsoft.com/office/drawing/2014/main" id="{FB8ECBA8-F1E5-90DC-C945-2853EC56A025}"/>
              </a:ext>
            </a:extLst>
          </p:cNvPr>
          <p:cNvCxnSpPr>
            <a:cxnSpLocks/>
          </p:cNvCxnSpPr>
          <p:nvPr>
            <p:custDataLst>
              <p:tags r:id="rId8"/>
            </p:custDataLst>
          </p:nvPr>
        </p:nvCxnSpPr>
        <p:spPr>
          <a:xfrm>
            <a:off x="554735" y="4425549"/>
            <a:ext cx="11090727"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6" name="LineBasicDefault 50">
            <a:extLst>
              <a:ext uri="{FF2B5EF4-FFF2-40B4-BE49-F238E27FC236}">
                <a16:creationId xmlns:a16="http://schemas.microsoft.com/office/drawing/2014/main" id="{B1427E24-AB8E-C9A7-34D8-20348875824A}"/>
              </a:ext>
            </a:extLst>
          </p:cNvPr>
          <p:cNvCxnSpPr>
            <a:cxnSpLocks/>
          </p:cNvCxnSpPr>
          <p:nvPr>
            <p:custDataLst>
              <p:tags r:id="rId9"/>
            </p:custDataLst>
          </p:nvPr>
        </p:nvCxnSpPr>
        <p:spPr>
          <a:xfrm>
            <a:off x="554735" y="5363398"/>
            <a:ext cx="11090727"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5122" name="Picture 2" descr="Halyk Bank - Платежи, Переводы, Кредиты и Многое Другое">
            <a:extLst>
              <a:ext uri="{FF2B5EF4-FFF2-40B4-BE49-F238E27FC236}">
                <a16:creationId xmlns:a16="http://schemas.microsoft.com/office/drawing/2014/main" id="{86BA8F6E-0CE0-108F-FAF4-54BA00F6EA9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1609" y="4596588"/>
            <a:ext cx="1412000" cy="499457"/>
          </a:xfrm>
          <a:prstGeom prst="rect">
            <a:avLst/>
          </a:prstGeom>
          <a:noFill/>
          <a:extLst>
            <a:ext uri="{909E8E84-426E-40DD-AFC4-6F175D3DCCD1}">
              <a14:hiddenFill xmlns:a14="http://schemas.microsoft.com/office/drawing/2010/main">
                <a:solidFill>
                  <a:srgbClr val="FFFFFF"/>
                </a:solidFill>
              </a14:hiddenFill>
            </a:ext>
          </a:extLst>
        </p:spPr>
      </p:pic>
      <p:sp>
        <p:nvSpPr>
          <p:cNvPr id="58" name="TrackerNumBlue 35">
            <a:extLst>
              <a:ext uri="{FF2B5EF4-FFF2-40B4-BE49-F238E27FC236}">
                <a16:creationId xmlns:a16="http://schemas.microsoft.com/office/drawing/2014/main" id="{6AF7CEB5-C034-DB5A-FB1A-5B9BCB07D2B0}"/>
              </a:ext>
            </a:extLst>
          </p:cNvPr>
          <p:cNvSpPr/>
          <p:nvPr>
            <p:custDataLst>
              <p:tags r:id="rId10"/>
            </p:custDataLst>
          </p:nvPr>
        </p:nvSpPr>
        <p:spPr>
          <a:xfrm>
            <a:off x="547688" y="226624"/>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2</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spTree>
    <p:extLst>
      <p:ext uri="{BB962C8B-B14F-4D97-AF65-F5344CB8AC3E}">
        <p14:creationId xmlns:p14="http://schemas.microsoft.com/office/powerpoint/2010/main" val="1646782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BA7C5E8-09E8-88B4-CF59-84FB152F241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606" imgH="608" progId="TCLayout.ActiveDocument.1">
                  <p:embed/>
                </p:oleObj>
              </mc:Choice>
              <mc:Fallback>
                <p:oleObj name="think-cell Slide" r:id="rId16" imgW="606" imgH="608" progId="TCLayout.ActiveDocument.1">
                  <p:embed/>
                  <p:pic>
                    <p:nvPicPr>
                      <p:cNvPr id="5" name="think-cell data - do not delete" hidden="1">
                        <a:extLst>
                          <a:ext uri="{FF2B5EF4-FFF2-40B4-BE49-F238E27FC236}">
                            <a16:creationId xmlns:a16="http://schemas.microsoft.com/office/drawing/2014/main" id="{ABA7C5E8-09E8-88B4-CF59-84FB152F2410}"/>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pic>
        <p:nvPicPr>
          <p:cNvPr id="2082" name="Picture 34" descr="Union Bank of India - YouTube">
            <a:extLst>
              <a:ext uri="{FF2B5EF4-FFF2-40B4-BE49-F238E27FC236}">
                <a16:creationId xmlns:a16="http://schemas.microsoft.com/office/drawing/2014/main" id="{98FB1C23-A315-B5E6-D1CB-9CDDA413C06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174524" y="5205429"/>
            <a:ext cx="642040" cy="642040"/>
          </a:xfrm>
          <a:prstGeom prst="rect">
            <a:avLst/>
          </a:prstGeom>
          <a:noFill/>
          <a:extLst>
            <a:ext uri="{909E8E84-426E-40DD-AFC4-6F175D3DCCD1}">
              <a14:hiddenFill xmlns:a14="http://schemas.microsoft.com/office/drawing/2010/main">
                <a:solidFill>
                  <a:srgbClr val="FFFFFF"/>
                </a:solidFill>
              </a14:hiddenFill>
            </a:ext>
          </a:extLst>
        </p:spPr>
      </p:pic>
      <p:sp>
        <p:nvSpPr>
          <p:cNvPr id="2" name="2. Slide Title">
            <a:extLst>
              <a:ext uri="{FF2B5EF4-FFF2-40B4-BE49-F238E27FC236}">
                <a16:creationId xmlns:a16="http://schemas.microsoft.com/office/drawing/2014/main" id="{09038153-8520-D3B6-6C65-24898F86908D}"/>
              </a:ext>
            </a:extLst>
          </p:cNvPr>
          <p:cNvSpPr>
            <a:spLocks noGrp="1"/>
          </p:cNvSpPr>
          <p:nvPr>
            <p:ph type="title"/>
            <p:custDataLst>
              <p:tags r:id="rId2"/>
            </p:custDataLst>
          </p:nvPr>
        </p:nvSpPr>
        <p:spPr>
          <a:xfrm>
            <a:off x="1003822" y="465178"/>
            <a:ext cx="9992127" cy="738664"/>
          </a:xfrm>
        </p:spPr>
        <p:txBody>
          <a:bodyPr vert="horz"/>
          <a:lstStyle/>
          <a:p>
            <a:r>
              <a:rPr lang="en-US"/>
              <a:t>Winning in affluent segment will require differentiated offers and services</a:t>
            </a:r>
          </a:p>
        </p:txBody>
      </p:sp>
      <p:sp>
        <p:nvSpPr>
          <p:cNvPr id="4" name="1. On-page tracker">
            <a:extLst>
              <a:ext uri="{FF2B5EF4-FFF2-40B4-BE49-F238E27FC236}">
                <a16:creationId xmlns:a16="http://schemas.microsoft.com/office/drawing/2014/main" id="{BCFED2C6-E12A-6CAB-07FB-120D36F6CE22}"/>
              </a:ext>
            </a:extLst>
          </p:cNvPr>
          <p:cNvSpPr>
            <a:spLocks noGrp="1"/>
          </p:cNvSpPr>
          <p:nvPr>
            <p:ph type="body" sz="quarter" idx="10"/>
            <p:custDataLst>
              <p:tags r:id="rId3"/>
            </p:custDataLst>
          </p:nvPr>
        </p:nvSpPr>
        <p:spPr/>
        <p:txBody>
          <a:bodyPr/>
          <a:lstStyle/>
          <a:p>
            <a:endParaRPr lang="en-US"/>
          </a:p>
        </p:txBody>
      </p:sp>
      <p:sp>
        <p:nvSpPr>
          <p:cNvPr id="24" name="TrackerNumBlue 35">
            <a:extLst>
              <a:ext uri="{FF2B5EF4-FFF2-40B4-BE49-F238E27FC236}">
                <a16:creationId xmlns:a16="http://schemas.microsoft.com/office/drawing/2014/main" id="{29A9F030-27F4-8175-1E48-D768575C3CFB}"/>
              </a:ext>
            </a:extLst>
          </p:cNvPr>
          <p:cNvSpPr/>
          <p:nvPr>
            <p:custDataLst>
              <p:tags r:id="rId4"/>
            </p:custDataLst>
          </p:nvPr>
        </p:nvSpPr>
        <p:spPr>
          <a:xfrm>
            <a:off x="547688" y="503460"/>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2</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sp>
        <p:nvSpPr>
          <p:cNvPr id="13" name="TextBox 12">
            <a:extLst>
              <a:ext uri="{FF2B5EF4-FFF2-40B4-BE49-F238E27FC236}">
                <a16:creationId xmlns:a16="http://schemas.microsoft.com/office/drawing/2014/main" id="{9AC353F6-A6E7-9232-1C45-BD1856AE47AC}"/>
              </a:ext>
            </a:extLst>
          </p:cNvPr>
          <p:cNvSpPr txBox="1"/>
          <p:nvPr/>
        </p:nvSpPr>
        <p:spPr>
          <a:xfrm>
            <a:off x="554736" y="1688179"/>
            <a:ext cx="2198563"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Component</a:t>
            </a:r>
          </a:p>
        </p:txBody>
      </p:sp>
      <p:sp>
        <p:nvSpPr>
          <p:cNvPr id="14" name="TextBox 13">
            <a:extLst>
              <a:ext uri="{FF2B5EF4-FFF2-40B4-BE49-F238E27FC236}">
                <a16:creationId xmlns:a16="http://schemas.microsoft.com/office/drawing/2014/main" id="{58E93C11-DF66-5A95-DA69-8DDE17DC0E38}"/>
              </a:ext>
            </a:extLst>
          </p:cNvPr>
          <p:cNvSpPr txBox="1">
            <a:spLocks/>
          </p:cNvSpPr>
          <p:nvPr/>
        </p:nvSpPr>
        <p:spPr>
          <a:xfrm>
            <a:off x="2522483" y="1688179"/>
            <a:ext cx="4902975" cy="215444"/>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Example of product/service offerings</a:t>
            </a:r>
          </a:p>
        </p:txBody>
      </p:sp>
      <p:cxnSp>
        <p:nvCxnSpPr>
          <p:cNvPr id="6" name="GreyLineContentSeparatorDefault 73">
            <a:extLst>
              <a:ext uri="{FF2B5EF4-FFF2-40B4-BE49-F238E27FC236}">
                <a16:creationId xmlns:a16="http://schemas.microsoft.com/office/drawing/2014/main" id="{BC87D648-D84D-7059-15F4-EFCB477ADC15}"/>
              </a:ext>
            </a:extLst>
          </p:cNvPr>
          <p:cNvCxnSpPr>
            <a:cxnSpLocks/>
          </p:cNvCxnSpPr>
          <p:nvPr>
            <p:custDataLst>
              <p:tags r:id="rId5"/>
            </p:custDataLst>
          </p:nvPr>
        </p:nvCxnSpPr>
        <p:spPr>
          <a:xfrm>
            <a:off x="554736" y="2699684"/>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B29579A3-0A2F-CB9B-C005-F0898AA4C483}"/>
              </a:ext>
            </a:extLst>
          </p:cNvPr>
          <p:cNvPicPr>
            <a:picLocks/>
          </p:cNvPicPr>
          <p:nvPr/>
        </p:nvPicPr>
        <p:blipFill>
          <a:blip>
            <a:extLst>
              <a:ext uri="{96DAC541-7B7A-43D3-8B79-37D633B846F1}">
                <asvg:svgBlip xmlns:asvg="http://schemas.microsoft.com/office/drawing/2016/SVG/main" r:embed="rId19"/>
              </a:ext>
            </a:extLst>
          </a:blip>
          <a:stretch>
            <a:fillRect/>
          </a:stretch>
        </p:blipFill>
        <p:spPr>
          <a:xfrm>
            <a:off x="568390" y="2743841"/>
            <a:ext cx="408933" cy="408933"/>
          </a:xfrm>
          <a:prstGeom prst="rect">
            <a:avLst/>
          </a:prstGeom>
        </p:spPr>
      </p:pic>
      <p:sp>
        <p:nvSpPr>
          <p:cNvPr id="17" name="TextBox 16">
            <a:extLst>
              <a:ext uri="{FF2B5EF4-FFF2-40B4-BE49-F238E27FC236}">
                <a16:creationId xmlns:a16="http://schemas.microsoft.com/office/drawing/2014/main" id="{1E3BE70B-A131-3B90-30D1-A65A2BFC37B9}"/>
              </a:ext>
            </a:extLst>
          </p:cNvPr>
          <p:cNvSpPr txBox="1"/>
          <p:nvPr/>
        </p:nvSpPr>
        <p:spPr>
          <a:xfrm>
            <a:off x="1093867" y="2743841"/>
            <a:ext cx="1224000"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cs typeface="+mn-cs"/>
              </a:rPr>
              <a:t>Cards</a:t>
            </a:r>
          </a:p>
        </p:txBody>
      </p:sp>
      <p:sp>
        <p:nvSpPr>
          <p:cNvPr id="18" name="TextBox 17">
            <a:extLst>
              <a:ext uri="{FF2B5EF4-FFF2-40B4-BE49-F238E27FC236}">
                <a16:creationId xmlns:a16="http://schemas.microsoft.com/office/drawing/2014/main" id="{AD44082B-802B-92AE-7CEA-E69ACF275829}"/>
              </a:ext>
            </a:extLst>
          </p:cNvPr>
          <p:cNvSpPr txBox="1">
            <a:spLocks/>
          </p:cNvSpPr>
          <p:nvPr/>
        </p:nvSpPr>
        <p:spPr>
          <a:xfrm>
            <a:off x="2522483" y="2743841"/>
            <a:ext cx="5394602"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Differentiated credit and/or debit card: </a:t>
            </a:r>
            <a:r>
              <a:rPr lang="en-US" sz="1200" i="1"/>
              <a:t>24x7 Concierge service, international and domestic lounge access, complimentary add-on cards</a:t>
            </a:r>
          </a:p>
        </p:txBody>
      </p:sp>
      <p:cxnSp>
        <p:nvCxnSpPr>
          <p:cNvPr id="7" name="GreyLineContentSeparatorDefault 73">
            <a:extLst>
              <a:ext uri="{FF2B5EF4-FFF2-40B4-BE49-F238E27FC236}">
                <a16:creationId xmlns:a16="http://schemas.microsoft.com/office/drawing/2014/main" id="{80C8F046-5625-F630-9A6E-3891D9F4948F}"/>
              </a:ext>
            </a:extLst>
          </p:cNvPr>
          <p:cNvCxnSpPr>
            <a:cxnSpLocks/>
          </p:cNvCxnSpPr>
          <p:nvPr>
            <p:custDataLst>
              <p:tags r:id="rId6"/>
            </p:custDataLst>
          </p:nvPr>
        </p:nvCxnSpPr>
        <p:spPr>
          <a:xfrm>
            <a:off x="554736" y="4360364"/>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CA052A82-7558-8170-E6D0-1DF1E7B4D06F}"/>
              </a:ext>
            </a:extLst>
          </p:cNvPr>
          <p:cNvPicPr>
            <a:picLocks/>
          </p:cNvPicPr>
          <p:nvPr/>
        </p:nvPicPr>
        <p:blipFill>
          <a:blip>
            <a:extLst>
              <a:ext uri="{96DAC541-7B7A-43D3-8B79-37D633B846F1}">
                <asvg:svgBlip xmlns:asvg="http://schemas.microsoft.com/office/drawing/2016/SVG/main" r:embed="rId20"/>
              </a:ext>
            </a:extLst>
          </a:blip>
          <a:stretch>
            <a:fillRect/>
          </a:stretch>
        </p:blipFill>
        <p:spPr>
          <a:xfrm>
            <a:off x="568390" y="4404521"/>
            <a:ext cx="408933" cy="408933"/>
          </a:xfrm>
          <a:prstGeom prst="rect">
            <a:avLst/>
          </a:prstGeom>
        </p:spPr>
      </p:pic>
      <p:sp>
        <p:nvSpPr>
          <p:cNvPr id="22" name="TextBox 21">
            <a:extLst>
              <a:ext uri="{FF2B5EF4-FFF2-40B4-BE49-F238E27FC236}">
                <a16:creationId xmlns:a16="http://schemas.microsoft.com/office/drawing/2014/main" id="{27F6FB6B-E65B-4385-D04E-19D53155E7DA}"/>
              </a:ext>
            </a:extLst>
          </p:cNvPr>
          <p:cNvSpPr txBox="1"/>
          <p:nvPr/>
        </p:nvSpPr>
        <p:spPr>
          <a:xfrm>
            <a:off x="1093867" y="4404521"/>
            <a:ext cx="1224000"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cs typeface="+mn-cs"/>
              </a:rPr>
              <a:t>Products &amp; services</a:t>
            </a:r>
          </a:p>
        </p:txBody>
      </p:sp>
      <p:sp>
        <p:nvSpPr>
          <p:cNvPr id="25" name="TextBox 24">
            <a:extLst>
              <a:ext uri="{FF2B5EF4-FFF2-40B4-BE49-F238E27FC236}">
                <a16:creationId xmlns:a16="http://schemas.microsoft.com/office/drawing/2014/main" id="{B547E212-1047-D4A4-9F7D-E345184042FB}"/>
              </a:ext>
            </a:extLst>
          </p:cNvPr>
          <p:cNvSpPr txBox="1">
            <a:spLocks/>
          </p:cNvSpPr>
          <p:nvPr/>
        </p:nvSpPr>
        <p:spPr>
          <a:xfrm>
            <a:off x="2522483" y="4404521"/>
            <a:ext cx="5672393" cy="81560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Early upgrade to Private segment (i.e., free benefits), </a:t>
            </a:r>
            <a:r>
              <a:rPr lang="en-US" sz="1200"/>
              <a:t>canceled after 6 months if Private conditions are unmet</a:t>
            </a:r>
          </a:p>
          <a:p>
            <a:r>
              <a:rPr lang="en-US" sz="1200"/>
              <a:t>Access to packaged investment vehicles like Structured Products (Equity-Linked or Currency-Linked Notes) with accessible minimums</a:t>
            </a:r>
          </a:p>
        </p:txBody>
      </p:sp>
      <p:cxnSp>
        <p:nvCxnSpPr>
          <p:cNvPr id="8" name="GreyLineContentSeparatorDefault 73">
            <a:extLst>
              <a:ext uri="{FF2B5EF4-FFF2-40B4-BE49-F238E27FC236}">
                <a16:creationId xmlns:a16="http://schemas.microsoft.com/office/drawing/2014/main" id="{33934E08-A310-7FA5-530B-EB15BEEFB954}"/>
              </a:ext>
            </a:extLst>
          </p:cNvPr>
          <p:cNvCxnSpPr>
            <a:cxnSpLocks/>
          </p:cNvCxnSpPr>
          <p:nvPr>
            <p:custDataLst>
              <p:tags r:id="rId7"/>
            </p:custDataLst>
          </p:nvPr>
        </p:nvCxnSpPr>
        <p:spPr>
          <a:xfrm>
            <a:off x="554736" y="5272244"/>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60E621C5-39E3-1C24-7E20-7C68BE64DE54}"/>
              </a:ext>
            </a:extLst>
          </p:cNvPr>
          <p:cNvPicPr>
            <a:picLocks/>
          </p:cNvPicPr>
          <p:nvPr/>
        </p:nvPicPr>
        <p:blipFill>
          <a:blip>
            <a:extLst>
              <a:ext uri="{96DAC541-7B7A-43D3-8B79-37D633B846F1}">
                <asvg:svgBlip xmlns:asvg="http://schemas.microsoft.com/office/drawing/2016/SVG/main" r:embed="rId21"/>
              </a:ext>
            </a:extLst>
          </a:blip>
          <a:stretch>
            <a:fillRect/>
          </a:stretch>
        </p:blipFill>
        <p:spPr>
          <a:xfrm>
            <a:off x="568390" y="5316401"/>
            <a:ext cx="408933" cy="408933"/>
          </a:xfrm>
          <a:prstGeom prst="rect">
            <a:avLst/>
          </a:prstGeom>
        </p:spPr>
      </p:pic>
      <p:sp>
        <p:nvSpPr>
          <p:cNvPr id="29" name="TextBox 28">
            <a:extLst>
              <a:ext uri="{FF2B5EF4-FFF2-40B4-BE49-F238E27FC236}">
                <a16:creationId xmlns:a16="http://schemas.microsoft.com/office/drawing/2014/main" id="{A1B2B68D-E19B-5C94-6E76-E295EB013E9C}"/>
              </a:ext>
            </a:extLst>
          </p:cNvPr>
          <p:cNvSpPr txBox="1"/>
          <p:nvPr/>
        </p:nvSpPr>
        <p:spPr>
          <a:xfrm>
            <a:off x="1093867" y="5316401"/>
            <a:ext cx="1224000"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cs typeface="+mn-cs"/>
              </a:rPr>
              <a:t>Service model</a:t>
            </a:r>
          </a:p>
        </p:txBody>
      </p:sp>
      <p:sp>
        <p:nvSpPr>
          <p:cNvPr id="30" name="TextBox 29">
            <a:extLst>
              <a:ext uri="{FF2B5EF4-FFF2-40B4-BE49-F238E27FC236}">
                <a16:creationId xmlns:a16="http://schemas.microsoft.com/office/drawing/2014/main" id="{E6485FBE-D8D8-9030-D7EC-AD577ABF3525}"/>
              </a:ext>
            </a:extLst>
          </p:cNvPr>
          <p:cNvSpPr txBox="1">
            <a:spLocks/>
          </p:cNvSpPr>
          <p:nvPr/>
        </p:nvSpPr>
        <p:spPr>
          <a:xfrm>
            <a:off x="2522483" y="5316401"/>
            <a:ext cx="6251127" cy="44627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Remote or Virtual RM </a:t>
            </a:r>
            <a:r>
              <a:rPr lang="en-US" sz="1200"/>
              <a:t>for </a:t>
            </a:r>
            <a:r>
              <a:rPr lang="en-US" sz="1200" b="1"/>
              <a:t>ease of access </a:t>
            </a:r>
            <a:r>
              <a:rPr lang="en-US" sz="1200"/>
              <a:t>(with 24x7 direct line) and </a:t>
            </a:r>
            <a:r>
              <a:rPr lang="en-US" sz="1200" b="1"/>
              <a:t>cost-</a:t>
            </a:r>
            <a:r>
              <a:rPr lang="en-US" sz="1200" b="1" err="1"/>
              <a:t>effeciency</a:t>
            </a:r>
            <a:endParaRPr lang="en-US" sz="1200" b="1"/>
          </a:p>
          <a:p>
            <a:r>
              <a:rPr lang="en-US" sz="1200" b="1"/>
              <a:t>Priority phone line or </a:t>
            </a:r>
            <a:r>
              <a:rPr lang="en-US" sz="1200" b="1" err="1"/>
              <a:t>Whatsapp</a:t>
            </a:r>
            <a:endParaRPr lang="en-US" sz="1200" b="1"/>
          </a:p>
        </p:txBody>
      </p:sp>
      <p:cxnSp>
        <p:nvCxnSpPr>
          <p:cNvPr id="9" name="GreyLineContentSeparatorDefault 73">
            <a:extLst>
              <a:ext uri="{FF2B5EF4-FFF2-40B4-BE49-F238E27FC236}">
                <a16:creationId xmlns:a16="http://schemas.microsoft.com/office/drawing/2014/main" id="{6F64517A-D086-71CB-2101-110640EA9FB3}"/>
              </a:ext>
            </a:extLst>
          </p:cNvPr>
          <p:cNvCxnSpPr>
            <a:cxnSpLocks/>
          </p:cNvCxnSpPr>
          <p:nvPr>
            <p:custDataLst>
              <p:tags r:id="rId8"/>
            </p:custDataLst>
          </p:nvPr>
        </p:nvCxnSpPr>
        <p:spPr>
          <a:xfrm>
            <a:off x="554736" y="5814792"/>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3" name="Graphic 32">
            <a:extLst>
              <a:ext uri="{FF2B5EF4-FFF2-40B4-BE49-F238E27FC236}">
                <a16:creationId xmlns:a16="http://schemas.microsoft.com/office/drawing/2014/main" id="{0F917C58-11DB-A4E5-20E5-FC460D011667}"/>
              </a:ext>
            </a:extLst>
          </p:cNvPr>
          <p:cNvPicPr>
            <a:picLocks/>
          </p:cNvPicPr>
          <p:nvPr/>
        </p:nvPicPr>
        <p:blipFill>
          <a:blip>
            <a:extLst>
              <a:ext uri="{96DAC541-7B7A-43D3-8B79-37D633B846F1}">
                <asvg:svgBlip xmlns:asvg="http://schemas.microsoft.com/office/drawing/2016/SVG/main" r:embed="rId22"/>
              </a:ext>
            </a:extLst>
          </a:blip>
          <a:stretch>
            <a:fillRect/>
          </a:stretch>
        </p:blipFill>
        <p:spPr>
          <a:xfrm>
            <a:off x="568390" y="5858945"/>
            <a:ext cx="408933" cy="408933"/>
          </a:xfrm>
          <a:prstGeom prst="rect">
            <a:avLst/>
          </a:prstGeom>
        </p:spPr>
      </p:pic>
      <p:sp>
        <p:nvSpPr>
          <p:cNvPr id="34" name="TextBox 33">
            <a:extLst>
              <a:ext uri="{FF2B5EF4-FFF2-40B4-BE49-F238E27FC236}">
                <a16:creationId xmlns:a16="http://schemas.microsoft.com/office/drawing/2014/main" id="{44AB9209-3227-F98D-A6D6-A8B7D2E2BC79}"/>
              </a:ext>
            </a:extLst>
          </p:cNvPr>
          <p:cNvSpPr txBox="1"/>
          <p:nvPr/>
        </p:nvSpPr>
        <p:spPr>
          <a:xfrm>
            <a:off x="1093867" y="5858945"/>
            <a:ext cx="1224000"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cs typeface="+mn-cs"/>
              </a:rPr>
              <a:t>Channels</a:t>
            </a:r>
          </a:p>
        </p:txBody>
      </p:sp>
      <p:sp>
        <p:nvSpPr>
          <p:cNvPr id="35" name="TextBox 34">
            <a:extLst>
              <a:ext uri="{FF2B5EF4-FFF2-40B4-BE49-F238E27FC236}">
                <a16:creationId xmlns:a16="http://schemas.microsoft.com/office/drawing/2014/main" id="{9FE7F88C-F4F9-1779-DB92-825596E1CD17}"/>
              </a:ext>
            </a:extLst>
          </p:cNvPr>
          <p:cNvSpPr txBox="1">
            <a:spLocks/>
          </p:cNvSpPr>
          <p:nvPr/>
        </p:nvSpPr>
        <p:spPr>
          <a:xfrm>
            <a:off x="2522483" y="5858945"/>
            <a:ext cx="6908901" cy="44627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Dedicated Affluent app </a:t>
            </a:r>
            <a:r>
              <a:rPr lang="en-US" sz="1200"/>
              <a:t>with tailored features and differentiated offering </a:t>
            </a:r>
          </a:p>
          <a:p>
            <a:r>
              <a:rPr lang="en-US" sz="1200" b="1"/>
              <a:t>Improved and digitalized user experience </a:t>
            </a:r>
            <a:r>
              <a:rPr lang="en-US" sz="1200"/>
              <a:t>throughout </a:t>
            </a:r>
            <a:r>
              <a:rPr lang="en-US" sz="1200" b="1"/>
              <a:t>customer journey </a:t>
            </a:r>
            <a:r>
              <a:rPr lang="en-US" sz="1200"/>
              <a:t>via different tools</a:t>
            </a:r>
          </a:p>
        </p:txBody>
      </p:sp>
      <p:cxnSp>
        <p:nvCxnSpPr>
          <p:cNvPr id="12" name="GreyLineContentSeparatorDefault 73">
            <a:extLst>
              <a:ext uri="{FF2B5EF4-FFF2-40B4-BE49-F238E27FC236}">
                <a16:creationId xmlns:a16="http://schemas.microsoft.com/office/drawing/2014/main" id="{2258AA46-7A37-DF51-E4B1-2DE5D2AD9F3E}"/>
              </a:ext>
            </a:extLst>
          </p:cNvPr>
          <p:cNvCxnSpPr>
            <a:cxnSpLocks/>
          </p:cNvCxnSpPr>
          <p:nvPr>
            <p:custDataLst>
              <p:tags r:id="rId9"/>
            </p:custDataLst>
          </p:nvPr>
        </p:nvCxnSpPr>
        <p:spPr>
          <a:xfrm>
            <a:off x="554736" y="1933903"/>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8" name="Graphic 37">
            <a:extLst>
              <a:ext uri="{FF2B5EF4-FFF2-40B4-BE49-F238E27FC236}">
                <a16:creationId xmlns:a16="http://schemas.microsoft.com/office/drawing/2014/main" id="{C8480A62-9BB5-D40E-8332-DF4A55333F76}"/>
              </a:ext>
            </a:extLst>
          </p:cNvPr>
          <p:cNvPicPr>
            <a:picLocks/>
          </p:cNvPicPr>
          <p:nvPr/>
        </p:nvPicPr>
        <p:blipFill>
          <a:blip>
            <a:extLst>
              <a:ext uri="{96DAC541-7B7A-43D3-8B79-37D633B846F1}">
                <asvg:svgBlip xmlns:asvg="http://schemas.microsoft.com/office/drawing/2016/SVG/main" r:embed="rId23"/>
              </a:ext>
            </a:extLst>
          </a:blip>
          <a:stretch>
            <a:fillRect/>
          </a:stretch>
        </p:blipFill>
        <p:spPr>
          <a:xfrm>
            <a:off x="568390" y="2016627"/>
            <a:ext cx="408933" cy="408933"/>
          </a:xfrm>
          <a:prstGeom prst="rect">
            <a:avLst/>
          </a:prstGeom>
        </p:spPr>
      </p:pic>
      <p:sp>
        <p:nvSpPr>
          <p:cNvPr id="39" name="TextBox 38">
            <a:extLst>
              <a:ext uri="{FF2B5EF4-FFF2-40B4-BE49-F238E27FC236}">
                <a16:creationId xmlns:a16="http://schemas.microsoft.com/office/drawing/2014/main" id="{99E6BF9C-76B9-A886-7EAE-0F80691F76B2}"/>
              </a:ext>
            </a:extLst>
          </p:cNvPr>
          <p:cNvSpPr txBox="1"/>
          <p:nvPr/>
        </p:nvSpPr>
        <p:spPr>
          <a:xfrm>
            <a:off x="1093867" y="2016627"/>
            <a:ext cx="1224000"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cs typeface="+mn-cs"/>
              </a:rPr>
              <a:t>Preferential rates</a:t>
            </a:r>
          </a:p>
        </p:txBody>
      </p:sp>
      <p:sp>
        <p:nvSpPr>
          <p:cNvPr id="41" name="TextBox 40">
            <a:extLst>
              <a:ext uri="{FF2B5EF4-FFF2-40B4-BE49-F238E27FC236}">
                <a16:creationId xmlns:a16="http://schemas.microsoft.com/office/drawing/2014/main" id="{687AAF26-9D71-2F43-78AA-C73BCF780BCD}"/>
              </a:ext>
            </a:extLst>
          </p:cNvPr>
          <p:cNvSpPr txBox="1">
            <a:spLocks/>
          </p:cNvSpPr>
          <p:nvPr/>
        </p:nvSpPr>
        <p:spPr>
          <a:xfrm>
            <a:off x="2522482" y="2016627"/>
            <a:ext cx="6908901" cy="63094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Preferred rates: </a:t>
            </a:r>
            <a:r>
              <a:rPr lang="en-US" sz="1200" i="1"/>
              <a:t>50-75 bps mortgage rate discounts; +100 bps on savings yield, opportunity to offset mortgage interest directly with deposit interest</a:t>
            </a:r>
          </a:p>
          <a:p>
            <a:r>
              <a:rPr lang="en-US" sz="1200" b="1"/>
              <a:t>Preferential rates on international bank transfers</a:t>
            </a:r>
          </a:p>
        </p:txBody>
      </p:sp>
      <p:cxnSp>
        <p:nvCxnSpPr>
          <p:cNvPr id="10" name="GreyLineContentSeparatorDefault 73">
            <a:extLst>
              <a:ext uri="{FF2B5EF4-FFF2-40B4-BE49-F238E27FC236}">
                <a16:creationId xmlns:a16="http://schemas.microsoft.com/office/drawing/2014/main" id="{D56B1556-B92D-FFEA-0F9A-216B8098175F}"/>
              </a:ext>
            </a:extLst>
          </p:cNvPr>
          <p:cNvCxnSpPr>
            <a:cxnSpLocks/>
          </p:cNvCxnSpPr>
          <p:nvPr>
            <p:custDataLst>
              <p:tags r:id="rId10"/>
            </p:custDataLst>
          </p:nvPr>
        </p:nvCxnSpPr>
        <p:spPr>
          <a:xfrm>
            <a:off x="554736" y="3204889"/>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43" name="Graphic 42">
            <a:extLst>
              <a:ext uri="{FF2B5EF4-FFF2-40B4-BE49-F238E27FC236}">
                <a16:creationId xmlns:a16="http://schemas.microsoft.com/office/drawing/2014/main" id="{23AB4518-F22D-629D-5BFD-E2D8134085B0}"/>
              </a:ext>
            </a:extLst>
          </p:cNvPr>
          <p:cNvPicPr>
            <a:picLocks/>
          </p:cNvPicPr>
          <p:nvPr/>
        </p:nvPicPr>
        <p:blipFill>
          <a:blip>
            <a:extLst>
              <a:ext uri="{96DAC541-7B7A-43D3-8B79-37D633B846F1}">
                <asvg:svgBlip xmlns:asvg="http://schemas.microsoft.com/office/drawing/2016/SVG/main" r:embed="rId24"/>
              </a:ext>
            </a:extLst>
          </a:blip>
          <a:stretch>
            <a:fillRect/>
          </a:stretch>
        </p:blipFill>
        <p:spPr>
          <a:xfrm>
            <a:off x="568390" y="3249046"/>
            <a:ext cx="408933" cy="408933"/>
          </a:xfrm>
          <a:prstGeom prst="rect">
            <a:avLst/>
          </a:prstGeom>
        </p:spPr>
      </p:pic>
      <p:sp>
        <p:nvSpPr>
          <p:cNvPr id="44" name="TextBox 43">
            <a:extLst>
              <a:ext uri="{FF2B5EF4-FFF2-40B4-BE49-F238E27FC236}">
                <a16:creationId xmlns:a16="http://schemas.microsoft.com/office/drawing/2014/main" id="{B7CA7667-9793-A200-6791-E4D7B611A51C}"/>
              </a:ext>
            </a:extLst>
          </p:cNvPr>
          <p:cNvSpPr txBox="1">
            <a:spLocks/>
          </p:cNvSpPr>
          <p:nvPr/>
        </p:nvSpPr>
        <p:spPr>
          <a:xfrm>
            <a:off x="2522483" y="3249045"/>
            <a:ext cx="5568222"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Bank-wide reward points program </a:t>
            </a:r>
            <a:r>
              <a:rPr lang="en-US" sz="1200"/>
              <a:t>with</a:t>
            </a:r>
            <a:r>
              <a:rPr lang="en-US" sz="1200" b="1"/>
              <a:t> </a:t>
            </a:r>
            <a:r>
              <a:rPr lang="en-US" sz="1200"/>
              <a:t>customer choice for spending:</a:t>
            </a:r>
            <a:r>
              <a:rPr lang="en-US" sz="1200" i="1"/>
              <a:t> 2-3x multiplier compared to mass points, 50% bonus on all credit card point earned</a:t>
            </a:r>
          </a:p>
        </p:txBody>
      </p:sp>
      <p:sp>
        <p:nvSpPr>
          <p:cNvPr id="46" name="TextBox 45">
            <a:extLst>
              <a:ext uri="{FF2B5EF4-FFF2-40B4-BE49-F238E27FC236}">
                <a16:creationId xmlns:a16="http://schemas.microsoft.com/office/drawing/2014/main" id="{49C3AF0D-36F5-7BAB-C8D5-4988A7E99FE9}"/>
              </a:ext>
            </a:extLst>
          </p:cNvPr>
          <p:cNvSpPr txBox="1"/>
          <p:nvPr/>
        </p:nvSpPr>
        <p:spPr>
          <a:xfrm>
            <a:off x="1093867" y="3249046"/>
            <a:ext cx="1224000"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cs typeface="+mn-cs"/>
              </a:rPr>
              <a:t>Loyalty programs</a:t>
            </a:r>
          </a:p>
        </p:txBody>
      </p:sp>
      <p:cxnSp>
        <p:nvCxnSpPr>
          <p:cNvPr id="11" name="GreyLineContentSeparatorDefault 73">
            <a:extLst>
              <a:ext uri="{FF2B5EF4-FFF2-40B4-BE49-F238E27FC236}">
                <a16:creationId xmlns:a16="http://schemas.microsoft.com/office/drawing/2014/main" id="{61C54FFF-890D-C73B-AE5B-AE8BB7385962}"/>
              </a:ext>
            </a:extLst>
          </p:cNvPr>
          <p:cNvCxnSpPr>
            <a:cxnSpLocks/>
          </p:cNvCxnSpPr>
          <p:nvPr>
            <p:custDataLst>
              <p:tags r:id="rId11"/>
            </p:custDataLst>
          </p:nvPr>
        </p:nvCxnSpPr>
        <p:spPr>
          <a:xfrm>
            <a:off x="554736" y="3710094"/>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48" name="CustomIcon">
            <a:extLst>
              <a:ext uri="{FF2B5EF4-FFF2-40B4-BE49-F238E27FC236}">
                <a16:creationId xmlns:a16="http://schemas.microsoft.com/office/drawing/2014/main" id="{071FC8C9-89F2-D68A-D247-E000973991A7}"/>
              </a:ext>
            </a:extLst>
          </p:cNvPr>
          <p:cNvPicPr>
            <a:picLocks/>
          </p:cNvPicPr>
          <p:nvPr>
            <p:custDataLst>
              <p:tags r:id="rId12"/>
            </p:custDataLst>
          </p:nvPr>
        </p:nvPicPr>
        <p:blipFill>
          <a:blip>
            <a:extLst>
              <a:ext uri="{96DAC541-7B7A-43D3-8B79-37D633B846F1}">
                <asvg:svgBlip xmlns:asvg="http://schemas.microsoft.com/office/drawing/2016/SVG/main" r:embed="rId25"/>
              </a:ext>
            </a:extLst>
          </a:blip>
          <a:stretch>
            <a:fillRect/>
          </a:stretch>
        </p:blipFill>
        <p:spPr>
          <a:xfrm>
            <a:off x="568390" y="3806505"/>
            <a:ext cx="408933" cy="408933"/>
          </a:xfrm>
          <a:prstGeom prst="rect">
            <a:avLst/>
          </a:prstGeom>
        </p:spPr>
      </p:pic>
      <p:sp>
        <p:nvSpPr>
          <p:cNvPr id="49" name="TextBox 48">
            <a:extLst>
              <a:ext uri="{FF2B5EF4-FFF2-40B4-BE49-F238E27FC236}">
                <a16:creationId xmlns:a16="http://schemas.microsoft.com/office/drawing/2014/main" id="{5A56B709-1E62-3D17-329A-B7C6F0E0A61A}"/>
              </a:ext>
            </a:extLst>
          </p:cNvPr>
          <p:cNvSpPr txBox="1">
            <a:spLocks/>
          </p:cNvSpPr>
          <p:nvPr/>
        </p:nvSpPr>
        <p:spPr>
          <a:xfrm>
            <a:off x="2522484" y="3760205"/>
            <a:ext cx="5961760"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t>Premium but standardized perks and privileges </a:t>
            </a:r>
            <a:r>
              <a:rPr lang="en-US" sz="1200"/>
              <a:t>to cater to the affluent needs, </a:t>
            </a:r>
            <a:r>
              <a:rPr lang="en-US" sz="1200" b="1"/>
              <a:t>directly or through partnerships: </a:t>
            </a:r>
            <a:r>
              <a:rPr lang="en-US" sz="1200" i="1"/>
              <a:t>family travel insurance, access to events, complimentary golf lessons</a:t>
            </a:r>
          </a:p>
        </p:txBody>
      </p:sp>
      <p:sp>
        <p:nvSpPr>
          <p:cNvPr id="51" name="TextBox 50">
            <a:extLst>
              <a:ext uri="{FF2B5EF4-FFF2-40B4-BE49-F238E27FC236}">
                <a16:creationId xmlns:a16="http://schemas.microsoft.com/office/drawing/2014/main" id="{F78308C3-B272-4F96-4A04-C6F702973A0A}"/>
              </a:ext>
            </a:extLst>
          </p:cNvPr>
          <p:cNvSpPr txBox="1"/>
          <p:nvPr/>
        </p:nvSpPr>
        <p:spPr>
          <a:xfrm>
            <a:off x="1093866" y="3806505"/>
            <a:ext cx="1581763"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accent4"/>
                </a:solidFill>
                <a:cs typeface="+mn-cs"/>
              </a:rPr>
              <a:t>Beyond-banking privileges </a:t>
            </a:r>
          </a:p>
        </p:txBody>
      </p:sp>
      <p:cxnSp>
        <p:nvCxnSpPr>
          <p:cNvPr id="73" name="LineBasicStrong 47">
            <a:extLst>
              <a:ext uri="{FF2B5EF4-FFF2-40B4-BE49-F238E27FC236}">
                <a16:creationId xmlns:a16="http://schemas.microsoft.com/office/drawing/2014/main" id="{995EB41D-FB91-CD5C-DA05-0528CBF2D4D9}"/>
              </a:ext>
            </a:extLst>
          </p:cNvPr>
          <p:cNvCxnSpPr>
            <a:cxnSpLocks/>
          </p:cNvCxnSpPr>
          <p:nvPr>
            <p:custDataLst>
              <p:tags r:id="rId13"/>
            </p:custDataLst>
          </p:nvPr>
        </p:nvCxnSpPr>
        <p:spPr>
          <a:xfrm>
            <a:off x="554734" y="6456699"/>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4" name="LineBasicStrong 47">
            <a:extLst>
              <a:ext uri="{FF2B5EF4-FFF2-40B4-BE49-F238E27FC236}">
                <a16:creationId xmlns:a16="http://schemas.microsoft.com/office/drawing/2014/main" id="{49942964-EBC9-EDF2-533F-5727C0C01DA8}"/>
              </a:ext>
            </a:extLst>
          </p:cNvPr>
          <p:cNvCxnSpPr>
            <a:cxnSpLocks/>
          </p:cNvCxnSpPr>
          <p:nvPr>
            <p:custDataLst>
              <p:tags r:id="rId14"/>
            </p:custDataLst>
          </p:nvPr>
        </p:nvCxnSpPr>
        <p:spPr>
          <a:xfrm>
            <a:off x="554734" y="1619285"/>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25778D78-2BE0-AC4F-E6FD-7E06DF6D7901}"/>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779725" y="2002176"/>
            <a:ext cx="858659" cy="31461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BS Bank Logo and symbol, meaning, history, PNG, brand">
            <a:extLst>
              <a:ext uri="{FF2B5EF4-FFF2-40B4-BE49-F238E27FC236}">
                <a16:creationId xmlns:a16="http://schemas.microsoft.com/office/drawing/2014/main" id="{BB0BE5CD-17F1-E461-B755-2C1E52AE4CA6}"/>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838478" y="1976359"/>
            <a:ext cx="709087" cy="392111"/>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103">
            <a:extLst>
              <a:ext uri="{FF2B5EF4-FFF2-40B4-BE49-F238E27FC236}">
                <a16:creationId xmlns:a16="http://schemas.microsoft.com/office/drawing/2014/main" id="{81CE1ADD-BD0E-75C8-4464-68FE06061144}"/>
              </a:ext>
            </a:extLst>
          </p:cNvPr>
          <p:cNvPicPr>
            <a:picLocks/>
          </p:cNvPicPr>
          <p:nvPr/>
        </p:nvPicPr>
        <p:blipFill>
          <a:blip r:embed="rId28"/>
          <a:srcRect t="21307" b="21307"/>
          <a:stretch>
            <a:fillRect/>
          </a:stretch>
        </p:blipFill>
        <p:spPr>
          <a:xfrm>
            <a:off x="10251522" y="2401946"/>
            <a:ext cx="773724" cy="249758"/>
          </a:xfrm>
          <a:prstGeom prst="rect">
            <a:avLst/>
          </a:prstGeom>
        </p:spPr>
      </p:pic>
      <p:sp>
        <p:nvSpPr>
          <p:cNvPr id="105" name="AutoShape 10" descr="Mashreq Bank in UAE: Services, Branches, SWIFT/IBAN Codes">
            <a:extLst>
              <a:ext uri="{FF2B5EF4-FFF2-40B4-BE49-F238E27FC236}">
                <a16:creationId xmlns:a16="http://schemas.microsoft.com/office/drawing/2014/main" id="{BFD22FD8-C41B-C338-056D-9CCD3A225E5E}"/>
              </a:ext>
            </a:extLst>
          </p:cNvPr>
          <p:cNvSpPr>
            <a:spLocks noChangeAspect="1" noChangeArrowheads="1"/>
          </p:cNvSpPr>
          <p:nvPr/>
        </p:nvSpPr>
        <p:spPr bwMode="auto">
          <a:xfrm>
            <a:off x="5943600" y="35204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64" name="Picture 16">
            <a:extLst>
              <a:ext uri="{FF2B5EF4-FFF2-40B4-BE49-F238E27FC236}">
                <a16:creationId xmlns:a16="http://schemas.microsoft.com/office/drawing/2014/main" id="{5B65D69F-A8EE-5D8C-F1AB-B5CB9E2DF9F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812121" y="2777804"/>
            <a:ext cx="368200" cy="239330"/>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Welcome to the new ADCB">
            <a:extLst>
              <a:ext uri="{FF2B5EF4-FFF2-40B4-BE49-F238E27FC236}">
                <a16:creationId xmlns:a16="http://schemas.microsoft.com/office/drawing/2014/main" id="{0C89C936-14E1-D03C-2DDE-EB2CF4A778A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759022" y="2777803"/>
            <a:ext cx="850578" cy="255797"/>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Mashreq - Mashreq added a new photo.">
            <a:extLst>
              <a:ext uri="{FF2B5EF4-FFF2-40B4-BE49-F238E27FC236}">
                <a16:creationId xmlns:a16="http://schemas.microsoft.com/office/drawing/2014/main" id="{5DF749B9-ABA9-63D9-D1A5-2B4E98E53879}"/>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0244676" y="2727291"/>
            <a:ext cx="449991" cy="449991"/>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274AA1C1-C142-449B-F56B-016483E733BB}"/>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0096279" y="3232417"/>
            <a:ext cx="1003822" cy="261151"/>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ICICI Bank - A milestone in profits - PATHFINDERS TRAININGS">
            <a:extLst>
              <a:ext uri="{FF2B5EF4-FFF2-40B4-BE49-F238E27FC236}">
                <a16:creationId xmlns:a16="http://schemas.microsoft.com/office/drawing/2014/main" id="{208AFB89-6D02-3CE2-AC5E-2F192E8F3696}"/>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730737" y="3424103"/>
            <a:ext cx="1003823" cy="260759"/>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Siam Commercial Bank - FF News | Fintech Finance">
            <a:extLst>
              <a:ext uri="{FF2B5EF4-FFF2-40B4-BE49-F238E27FC236}">
                <a16:creationId xmlns:a16="http://schemas.microsoft.com/office/drawing/2014/main" id="{10E08F8B-0A95-84CB-8687-0864022C6812}"/>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1230469" y="3280493"/>
            <a:ext cx="317096" cy="317096"/>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09">
            <a:extLst>
              <a:ext uri="{FF2B5EF4-FFF2-40B4-BE49-F238E27FC236}">
                <a16:creationId xmlns:a16="http://schemas.microsoft.com/office/drawing/2014/main" id="{51A9E7E8-7B97-AE6C-F3E2-99CF9C3B144F}"/>
              </a:ext>
            </a:extLst>
          </p:cNvPr>
          <p:cNvPicPr>
            <a:picLocks/>
          </p:cNvPicPr>
          <p:nvPr/>
        </p:nvPicPr>
        <p:blipFill>
          <a:blip r:embed="rId28"/>
          <a:srcRect t="21307" b="21307"/>
          <a:stretch>
            <a:fillRect/>
          </a:stretch>
        </p:blipFill>
        <p:spPr>
          <a:xfrm>
            <a:off x="9817824" y="3768328"/>
            <a:ext cx="773724" cy="249758"/>
          </a:xfrm>
          <a:prstGeom prst="rect">
            <a:avLst/>
          </a:prstGeom>
        </p:spPr>
      </p:pic>
      <p:pic>
        <p:nvPicPr>
          <p:cNvPr id="111" name="Picture 16">
            <a:extLst>
              <a:ext uri="{FF2B5EF4-FFF2-40B4-BE49-F238E27FC236}">
                <a16:creationId xmlns:a16="http://schemas.microsoft.com/office/drawing/2014/main" id="{0B6BB68C-8DE1-CFAF-5959-2ADB1AE861CC}"/>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0048548" y="4041345"/>
            <a:ext cx="368200" cy="23933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4" descr="DBS Bank Logo and symbol, meaning, history, PNG, brand">
            <a:extLst>
              <a:ext uri="{FF2B5EF4-FFF2-40B4-BE49-F238E27FC236}">
                <a16:creationId xmlns:a16="http://schemas.microsoft.com/office/drawing/2014/main" id="{61AE36E5-BBF9-E9E9-0375-644D6B87476C}"/>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772852" y="3742201"/>
            <a:ext cx="580334" cy="320913"/>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descr="Emirates NBD Logo - PNG Logo Vector Brand Downloads (SVG, EPS)">
            <a:extLst>
              <a:ext uri="{FF2B5EF4-FFF2-40B4-BE49-F238E27FC236}">
                <a16:creationId xmlns:a16="http://schemas.microsoft.com/office/drawing/2014/main" id="{F940D38E-289B-00B9-DF7B-7BD691528EF2}"/>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0531226" y="4037327"/>
            <a:ext cx="1092384" cy="283027"/>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6">
            <a:extLst>
              <a:ext uri="{FF2B5EF4-FFF2-40B4-BE49-F238E27FC236}">
                <a16:creationId xmlns:a16="http://schemas.microsoft.com/office/drawing/2014/main" id="{93C7E59E-83BF-5400-22D0-8FDFB2ECAADB}"/>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0331500" y="4449823"/>
            <a:ext cx="456643" cy="296818"/>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6" descr="Siam Commercial Bank - FF News | Fintech Finance">
            <a:extLst>
              <a:ext uri="{FF2B5EF4-FFF2-40B4-BE49-F238E27FC236}">
                <a16:creationId xmlns:a16="http://schemas.microsoft.com/office/drawing/2014/main" id="{6137E46D-E458-4A0D-CD73-4FE039AE0AE3}"/>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1063019" y="4411461"/>
            <a:ext cx="421014" cy="421014"/>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descr="Standard Chartered | Bloomberg New Economy">
            <a:extLst>
              <a:ext uri="{FF2B5EF4-FFF2-40B4-BE49-F238E27FC236}">
                <a16:creationId xmlns:a16="http://schemas.microsoft.com/office/drawing/2014/main" id="{2E223071-8864-CE98-10ED-DE9ED721F5B7}"/>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9940645" y="4661265"/>
            <a:ext cx="1133646" cy="566823"/>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0" descr="Mashreq - Mashreq added a new photo.">
            <a:extLst>
              <a:ext uri="{FF2B5EF4-FFF2-40B4-BE49-F238E27FC236}">
                <a16:creationId xmlns:a16="http://schemas.microsoft.com/office/drawing/2014/main" id="{B47CFB32-D8C2-540B-0949-1A7ED757D3D0}"/>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780137" y="5329736"/>
            <a:ext cx="449991" cy="449991"/>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18" descr="Welcome to the new ADCB">
            <a:extLst>
              <a:ext uri="{FF2B5EF4-FFF2-40B4-BE49-F238E27FC236}">
                <a16:creationId xmlns:a16="http://schemas.microsoft.com/office/drawing/2014/main" id="{2A1A6C2B-E2B9-8E2A-F607-57B3347BFF86}"/>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759022" y="5417443"/>
            <a:ext cx="850578" cy="255797"/>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4" descr="DBS Bank Logo and symbol, meaning, history, PNG, brand">
            <a:extLst>
              <a:ext uri="{FF2B5EF4-FFF2-40B4-BE49-F238E27FC236}">
                <a16:creationId xmlns:a16="http://schemas.microsoft.com/office/drawing/2014/main" id="{51D77C75-8D6D-31EB-4BD9-0D0AFACFCE59}"/>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806112" y="5845695"/>
            <a:ext cx="580334" cy="320913"/>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16">
            <a:extLst>
              <a:ext uri="{FF2B5EF4-FFF2-40B4-BE49-F238E27FC236}">
                <a16:creationId xmlns:a16="http://schemas.microsoft.com/office/drawing/2014/main" id="{98DBDA18-1706-D007-7D5D-006A28EAEC1C}"/>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0210430" y="6100898"/>
            <a:ext cx="456643" cy="296818"/>
          </a:xfrm>
          <a:prstGeom prst="rect">
            <a:avLst/>
          </a:prstGeom>
          <a:noFill/>
          <a:extLst>
            <a:ext uri="{909E8E84-426E-40DD-AFC4-6F175D3DCCD1}">
              <a14:hiddenFill xmlns:a14="http://schemas.microsoft.com/office/drawing/2010/main">
                <a:solidFill>
                  <a:srgbClr val="FFFFFF"/>
                </a:solidFill>
              </a14:hiddenFill>
            </a:ext>
          </a:extLst>
        </p:spPr>
      </p:pic>
      <p:pic>
        <p:nvPicPr>
          <p:cNvPr id="2084" name="Picture 36">
            <a:extLst>
              <a:ext uri="{FF2B5EF4-FFF2-40B4-BE49-F238E27FC236}">
                <a16:creationId xmlns:a16="http://schemas.microsoft.com/office/drawing/2014/main" id="{E58BA240-03BF-2C1D-58FD-E1BD2A87FE92}"/>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0734560" y="5897541"/>
            <a:ext cx="902702" cy="330756"/>
          </a:xfrm>
          <a:prstGeom prst="rect">
            <a:avLst/>
          </a:prstGeom>
          <a:noFill/>
          <a:extLst>
            <a:ext uri="{909E8E84-426E-40DD-AFC4-6F175D3DCCD1}">
              <a14:hiddenFill xmlns:a14="http://schemas.microsoft.com/office/drawing/2010/main">
                <a:solidFill>
                  <a:srgbClr val="FFFFFF"/>
                </a:solidFill>
              </a14:hiddenFill>
            </a:ext>
          </a:extLst>
        </p:spPr>
      </p:pic>
      <p:sp>
        <p:nvSpPr>
          <p:cNvPr id="120" name="TextBox 119">
            <a:extLst>
              <a:ext uri="{FF2B5EF4-FFF2-40B4-BE49-F238E27FC236}">
                <a16:creationId xmlns:a16="http://schemas.microsoft.com/office/drawing/2014/main" id="{6501B16B-CD93-4144-5422-F76806DCE176}"/>
              </a:ext>
            </a:extLst>
          </p:cNvPr>
          <p:cNvSpPr txBox="1">
            <a:spLocks/>
          </p:cNvSpPr>
          <p:nvPr/>
        </p:nvSpPr>
        <p:spPr>
          <a:xfrm>
            <a:off x="9730737" y="1645145"/>
            <a:ext cx="1904051" cy="239782"/>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Example players</a:t>
            </a:r>
          </a:p>
        </p:txBody>
      </p:sp>
    </p:spTree>
    <p:extLst>
      <p:ext uri="{BB962C8B-B14F-4D97-AF65-F5344CB8AC3E}">
        <p14:creationId xmlns:p14="http://schemas.microsoft.com/office/powerpoint/2010/main" val="3114539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9B5E6-176A-5F39-236C-B672F49A2A9F}"/>
            </a:ext>
          </a:extLst>
        </p:cNvPr>
        <p:cNvGrpSpPr/>
        <p:nvPr/>
      </p:nvGrpSpPr>
      <p:grpSpPr>
        <a:xfrm>
          <a:off x="0" y="0"/>
          <a:ext cx="0" cy="0"/>
          <a:chOff x="0" y="0"/>
          <a:chExt cx="0" cy="0"/>
        </a:xfrm>
      </p:grpSpPr>
      <p:graphicFrame>
        <p:nvGraphicFramePr>
          <p:cNvPr id="7" name="Object 2" hidden="1">
            <a:extLst>
              <a:ext uri="{FF2B5EF4-FFF2-40B4-BE49-F238E27FC236}">
                <a16:creationId xmlns:a16="http://schemas.microsoft.com/office/drawing/2014/main" id="{FED8343F-955D-1D30-81C7-5EFDCBF5CA2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7" name="Object 2" hidden="1">
                        <a:extLst>
                          <a:ext uri="{FF2B5EF4-FFF2-40B4-BE49-F238E27FC236}">
                            <a16:creationId xmlns:a16="http://schemas.microsoft.com/office/drawing/2014/main" id="{FED8343F-955D-1D30-81C7-5EFDCBF5CA29}"/>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4" name="2. Slide Title">
            <a:extLst>
              <a:ext uri="{FF2B5EF4-FFF2-40B4-BE49-F238E27FC236}">
                <a16:creationId xmlns:a16="http://schemas.microsoft.com/office/drawing/2014/main" id="{A2E238F9-664D-5254-C8C2-7BFE5ADDA6FB}"/>
              </a:ext>
            </a:extLst>
          </p:cNvPr>
          <p:cNvSpPr>
            <a:spLocks noGrp="1"/>
          </p:cNvSpPr>
          <p:nvPr>
            <p:ph type="title"/>
            <p:custDataLst>
              <p:tags r:id="rId2"/>
            </p:custDataLst>
          </p:nvPr>
        </p:nvSpPr>
        <p:spPr>
          <a:xfrm>
            <a:off x="550976" y="226624"/>
            <a:ext cx="7918704" cy="677108"/>
          </a:xfrm>
        </p:spPr>
        <p:txBody>
          <a:bodyPr vert="horz"/>
          <a:lstStyle/>
          <a:p>
            <a:r>
              <a:rPr lang="en-US">
                <a:solidFill>
                  <a:schemeClr val="tx1"/>
                </a:solidFill>
              </a:rPr>
              <a:t>Strategic lever summary – </a:t>
            </a:r>
            <a:r>
              <a:rPr lang="en-US" b="0" i="1"/>
              <a:t>Retail Banking</a:t>
            </a:r>
          </a:p>
        </p:txBody>
      </p:sp>
      <p:sp>
        <p:nvSpPr>
          <p:cNvPr id="6" name="Rectangle: Rounded Corners 5">
            <a:extLst>
              <a:ext uri="{FF2B5EF4-FFF2-40B4-BE49-F238E27FC236}">
                <a16:creationId xmlns:a16="http://schemas.microsoft.com/office/drawing/2014/main" id="{610219C2-1FBB-8B88-BB7D-AE5AFF5699FD}"/>
              </a:ext>
            </a:extLst>
          </p:cNvPr>
          <p:cNvSpPr/>
          <p:nvPr/>
        </p:nvSpPr>
        <p:spPr>
          <a:xfrm>
            <a:off x="569828" y="1933834"/>
            <a:ext cx="1752236" cy="4263766"/>
          </a:xfrm>
          <a:prstGeom prst="roundRect">
            <a:avLst>
              <a:gd name="adj" fmla="val 500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Tahoma"/>
              <a:ea typeface="+mn-ea"/>
              <a:cs typeface="+mn-cs"/>
            </a:endParaRPr>
          </a:p>
        </p:txBody>
      </p:sp>
      <p:sp>
        <p:nvSpPr>
          <p:cNvPr id="5" name="TextBox 4">
            <a:extLst>
              <a:ext uri="{FF2B5EF4-FFF2-40B4-BE49-F238E27FC236}">
                <a16:creationId xmlns:a16="http://schemas.microsoft.com/office/drawing/2014/main" id="{7B393156-A241-64FC-5021-15FED0FEAABF}"/>
              </a:ext>
            </a:extLst>
          </p:cNvPr>
          <p:cNvSpPr txBox="1"/>
          <p:nvPr/>
        </p:nvSpPr>
        <p:spPr>
          <a:xfrm>
            <a:off x="667686" y="2009930"/>
            <a:ext cx="1561658" cy="258532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200" i="1">
                <a:solidFill>
                  <a:srgbClr val="111918"/>
                </a:solidFill>
              </a:rPr>
              <a:t>Aggressively </a:t>
            </a:r>
            <a:r>
              <a:rPr lang="en-US" sz="1200" b="1" i="1">
                <a:solidFill>
                  <a:srgbClr val="111918"/>
                </a:solidFill>
              </a:rPr>
              <a:t>defending market share against payroll liberalization, </a:t>
            </a:r>
            <a:r>
              <a:rPr lang="en-US" sz="1200" i="1">
                <a:solidFill>
                  <a:srgbClr val="111918"/>
                </a:solidFill>
              </a:rPr>
              <a:t>targeting salary customers with </a:t>
            </a:r>
            <a:r>
              <a:rPr lang="en-US" sz="1200" b="1" i="1">
                <a:solidFill>
                  <a:srgbClr val="111918"/>
                </a:solidFill>
              </a:rPr>
              <a:t>tailored value prop </a:t>
            </a:r>
            <a:r>
              <a:rPr lang="en-US" sz="1200" i="1">
                <a:solidFill>
                  <a:srgbClr val="111918"/>
                </a:solidFill>
              </a:rPr>
              <a:t>as a first-choice salary bank and </a:t>
            </a:r>
            <a:r>
              <a:rPr lang="en-US" sz="1200" b="1" i="1">
                <a:solidFill>
                  <a:srgbClr val="111918"/>
                </a:solidFill>
              </a:rPr>
              <a:t>improving acquiring economics </a:t>
            </a:r>
            <a:r>
              <a:rPr lang="en-US" sz="1200" i="1">
                <a:solidFill>
                  <a:srgbClr val="111918"/>
                </a:solidFill>
              </a:rPr>
              <a:t>while growing the non-lending retail base</a:t>
            </a:r>
            <a:endParaRPr lang="en-US" sz="1200" b="1" i="1">
              <a:solidFill>
                <a:srgbClr val="111918"/>
              </a:solidFill>
            </a:endParaRPr>
          </a:p>
        </p:txBody>
      </p:sp>
      <p:sp>
        <p:nvSpPr>
          <p:cNvPr id="8" name="Rectangle: Rounded Corners 7">
            <a:extLst>
              <a:ext uri="{FF2B5EF4-FFF2-40B4-BE49-F238E27FC236}">
                <a16:creationId xmlns:a16="http://schemas.microsoft.com/office/drawing/2014/main" id="{42ADB6B8-074E-08AB-F6D3-B1FA2253B3A0}"/>
              </a:ext>
            </a:extLst>
          </p:cNvPr>
          <p:cNvSpPr>
            <a:spLocks/>
          </p:cNvSpPr>
          <p:nvPr/>
        </p:nvSpPr>
        <p:spPr>
          <a:xfrm>
            <a:off x="550976" y="1383892"/>
            <a:ext cx="1767982" cy="474648"/>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Tahoma"/>
                <a:ea typeface="+mn-ea"/>
                <a:cs typeface="+mn-cs"/>
              </a:rPr>
              <a:t>PASHA Bank vision</a:t>
            </a:r>
          </a:p>
        </p:txBody>
      </p:sp>
      <p:sp>
        <p:nvSpPr>
          <p:cNvPr id="26" name="Rectangle: Rounded Corners 25">
            <a:extLst>
              <a:ext uri="{FF2B5EF4-FFF2-40B4-BE49-F238E27FC236}">
                <a16:creationId xmlns:a16="http://schemas.microsoft.com/office/drawing/2014/main" id="{F9A6D67C-BC4E-8ACB-A798-A00612B6D901}"/>
              </a:ext>
            </a:extLst>
          </p:cNvPr>
          <p:cNvSpPr>
            <a:spLocks/>
          </p:cNvSpPr>
          <p:nvPr/>
        </p:nvSpPr>
        <p:spPr>
          <a:xfrm>
            <a:off x="8989188" y="1383892"/>
            <a:ext cx="2777361" cy="474648"/>
          </a:xfrm>
          <a:prstGeom prst="round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tr-TR" sz="1200" b="1" i="0" u="none" strike="noStrike" kern="1200" cap="none" spc="0" normalizeH="0" baseline="0" noProof="0">
                <a:ln>
                  <a:noFill/>
                </a:ln>
                <a:solidFill>
                  <a:srgbClr val="FFFFFF"/>
                </a:solidFill>
                <a:effectLst/>
                <a:uLnTx/>
                <a:uFillTx/>
                <a:latin typeface="Tahoma"/>
                <a:ea typeface="+mn-ea"/>
                <a:cs typeface="+mn-cs"/>
              </a:rPr>
              <a:t>Expected Impact</a:t>
            </a:r>
            <a:r>
              <a:rPr kumimoji="0" lang="en-US" sz="1200" b="1" i="0" u="none" strike="noStrike" kern="1200" cap="none" spc="0" normalizeH="0" baseline="0" noProof="0">
                <a:ln>
                  <a:noFill/>
                </a:ln>
                <a:solidFill>
                  <a:srgbClr val="FFFFFF"/>
                </a:solidFill>
                <a:effectLst/>
                <a:uLnTx/>
                <a:uFillTx/>
                <a:latin typeface="Tahoma"/>
                <a:ea typeface="+mn-ea"/>
                <a:cs typeface="+mn-cs"/>
              </a:rPr>
              <a:t> by 2029</a:t>
            </a:r>
          </a:p>
        </p:txBody>
      </p:sp>
      <p:sp>
        <p:nvSpPr>
          <p:cNvPr id="9" name="Rectangle: Rounded Corners 8">
            <a:extLst>
              <a:ext uri="{FF2B5EF4-FFF2-40B4-BE49-F238E27FC236}">
                <a16:creationId xmlns:a16="http://schemas.microsoft.com/office/drawing/2014/main" id="{603520E6-8112-0D38-CD24-6CDF7B75C4F2}"/>
              </a:ext>
            </a:extLst>
          </p:cNvPr>
          <p:cNvSpPr>
            <a:spLocks/>
          </p:cNvSpPr>
          <p:nvPr/>
        </p:nvSpPr>
        <p:spPr>
          <a:xfrm>
            <a:off x="2442283" y="1383892"/>
            <a:ext cx="1767982" cy="474648"/>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tr-TR" sz="1200" b="1" i="0" u="none" strike="noStrike" kern="1200" cap="none" spc="0" normalizeH="0" baseline="0" noProof="0">
                <a:ln>
                  <a:noFill/>
                </a:ln>
                <a:solidFill>
                  <a:srgbClr val="FFFFFF"/>
                </a:solidFill>
                <a:effectLst/>
                <a:uLnTx/>
                <a:uFillTx/>
                <a:latin typeface="Tahoma"/>
                <a:ea typeface="+mn-ea"/>
                <a:cs typeface="+mn-cs"/>
              </a:rPr>
              <a:t>Roadblocks</a:t>
            </a:r>
            <a:endParaRPr kumimoji="0" lang="en-US" sz="1200" b="1" i="0" u="none" strike="noStrike" kern="1200" cap="none" spc="0" normalizeH="0" baseline="0" noProof="0">
              <a:ln>
                <a:noFill/>
              </a:ln>
              <a:solidFill>
                <a:srgbClr val="FFFFFF"/>
              </a:solidFill>
              <a:effectLst/>
              <a:uLnTx/>
              <a:uFillTx/>
              <a:latin typeface="Tahoma"/>
              <a:ea typeface="+mn-ea"/>
              <a:cs typeface="+mn-cs"/>
            </a:endParaRPr>
          </a:p>
        </p:txBody>
      </p:sp>
      <p:sp>
        <p:nvSpPr>
          <p:cNvPr id="28" name="Rectangle: Rounded Corners 27">
            <a:extLst>
              <a:ext uri="{FF2B5EF4-FFF2-40B4-BE49-F238E27FC236}">
                <a16:creationId xmlns:a16="http://schemas.microsoft.com/office/drawing/2014/main" id="{617AD5B4-EB4F-3E3D-B827-D5AC8E7DC420}"/>
              </a:ext>
            </a:extLst>
          </p:cNvPr>
          <p:cNvSpPr>
            <a:spLocks/>
          </p:cNvSpPr>
          <p:nvPr/>
        </p:nvSpPr>
        <p:spPr>
          <a:xfrm>
            <a:off x="4333591" y="1383892"/>
            <a:ext cx="4298892" cy="474648"/>
          </a:xfrm>
          <a:prstGeom prst="round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Tahoma"/>
                <a:ea typeface="+mn-ea"/>
                <a:cs typeface="+mn-cs"/>
              </a:rPr>
              <a:t>Initiatives</a:t>
            </a:r>
          </a:p>
        </p:txBody>
      </p:sp>
      <p:cxnSp>
        <p:nvCxnSpPr>
          <p:cNvPr id="11" name="Straight Connector 10">
            <a:extLst>
              <a:ext uri="{FF2B5EF4-FFF2-40B4-BE49-F238E27FC236}">
                <a16:creationId xmlns:a16="http://schemas.microsoft.com/office/drawing/2014/main" id="{8AF1E6CE-094A-EAD9-637C-C5FA8BEEE616}"/>
              </a:ext>
            </a:extLst>
          </p:cNvPr>
          <p:cNvCxnSpPr>
            <a:cxnSpLocks/>
          </p:cNvCxnSpPr>
          <p:nvPr/>
        </p:nvCxnSpPr>
        <p:spPr>
          <a:xfrm>
            <a:off x="566708" y="6264061"/>
            <a:ext cx="8046076"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ABE285-BC1E-6672-48CB-C23E088C5F25}"/>
              </a:ext>
            </a:extLst>
          </p:cNvPr>
          <p:cNvCxnSpPr>
            <a:cxnSpLocks/>
          </p:cNvCxnSpPr>
          <p:nvPr/>
        </p:nvCxnSpPr>
        <p:spPr>
          <a:xfrm>
            <a:off x="566708" y="1342796"/>
            <a:ext cx="8046076"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B22849-8F2A-82AE-F2BF-3ACB380AEF04}"/>
              </a:ext>
            </a:extLst>
          </p:cNvPr>
          <p:cNvCxnSpPr>
            <a:cxnSpLocks/>
          </p:cNvCxnSpPr>
          <p:nvPr/>
        </p:nvCxnSpPr>
        <p:spPr>
          <a:xfrm>
            <a:off x="2442282" y="2558858"/>
            <a:ext cx="1767982"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A56E051-3519-5445-6F72-26D390C5098E}"/>
              </a:ext>
            </a:extLst>
          </p:cNvPr>
          <p:cNvCxnSpPr>
            <a:cxnSpLocks/>
          </p:cNvCxnSpPr>
          <p:nvPr/>
        </p:nvCxnSpPr>
        <p:spPr>
          <a:xfrm>
            <a:off x="2442282" y="4144160"/>
            <a:ext cx="1767982"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46C401D-BB5F-DA7F-326D-D0553051972F}"/>
              </a:ext>
            </a:extLst>
          </p:cNvPr>
          <p:cNvCxnSpPr>
            <a:cxnSpLocks/>
          </p:cNvCxnSpPr>
          <p:nvPr/>
        </p:nvCxnSpPr>
        <p:spPr>
          <a:xfrm>
            <a:off x="4366387" y="3822111"/>
            <a:ext cx="417620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E7D60CE-A6EA-F099-6212-D33C07ED02F4}"/>
              </a:ext>
            </a:extLst>
          </p:cNvPr>
          <p:cNvSpPr txBox="1">
            <a:spLocks/>
          </p:cNvSpPr>
          <p:nvPr/>
        </p:nvSpPr>
        <p:spPr>
          <a:xfrm>
            <a:off x="4375561" y="1989276"/>
            <a:ext cx="4139173" cy="1777410"/>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b="1"/>
              <a:t>Defend salary customer base</a:t>
            </a:r>
            <a:endParaRPr kumimoji="0" lang="en-US" sz="12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a:p>
            <a:pPr lvl="2">
              <a:buClr>
                <a:srgbClr val="111918"/>
              </a:buClr>
              <a:defRPr/>
            </a:pPr>
            <a:r>
              <a:rPr lang="en-US" sz="1200"/>
              <a:t>Deepen relationships with corporate clients so they proactively encourage their employees to stay with PASHA Bank</a:t>
            </a:r>
          </a:p>
          <a:p>
            <a:pPr lvl="2">
              <a:buClr>
                <a:srgbClr val="111918"/>
              </a:buClr>
              <a:defRPr/>
            </a:pPr>
            <a:r>
              <a:rPr lang="en-US" sz="1200"/>
              <a:t>Revamp the core product offering by introducing exclusive, salary-linked incentives</a:t>
            </a:r>
          </a:p>
          <a:p>
            <a:pPr lvl="2">
              <a:buClr>
                <a:srgbClr val="111918"/>
              </a:buClr>
              <a:defRPr/>
            </a:pPr>
            <a:r>
              <a:rPr lang="en-US" sz="1200"/>
              <a:t>Revisit lending caps for non-PASHA Holding salary employees to unlock broader cross-selling opportunities</a:t>
            </a:r>
          </a:p>
        </p:txBody>
      </p:sp>
      <p:cxnSp>
        <p:nvCxnSpPr>
          <p:cNvPr id="22" name="Straight Connector 21">
            <a:extLst>
              <a:ext uri="{FF2B5EF4-FFF2-40B4-BE49-F238E27FC236}">
                <a16:creationId xmlns:a16="http://schemas.microsoft.com/office/drawing/2014/main" id="{65111CEB-75A4-22E3-C445-6262BB57EE76}"/>
              </a:ext>
            </a:extLst>
          </p:cNvPr>
          <p:cNvCxnSpPr>
            <a:cxnSpLocks/>
          </p:cNvCxnSpPr>
          <p:nvPr/>
        </p:nvCxnSpPr>
        <p:spPr>
          <a:xfrm>
            <a:off x="4267682" y="1915359"/>
            <a:ext cx="0" cy="4221281"/>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F02854-976A-04D2-4DFA-7F38FCD9D876}"/>
              </a:ext>
            </a:extLst>
          </p:cNvPr>
          <p:cNvSpPr txBox="1">
            <a:spLocks/>
          </p:cNvSpPr>
          <p:nvPr/>
        </p:nvSpPr>
        <p:spPr>
          <a:xfrm>
            <a:off x="4375562" y="5275469"/>
            <a:ext cx="4176207" cy="777136"/>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200" b="1"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Integrate advanced analytics or AI-driven customer engagement models</a:t>
            </a:r>
          </a:p>
          <a:p>
            <a:pPr lvl="2">
              <a:buClr>
                <a:srgbClr val="111918"/>
              </a:buClr>
              <a:defRPr/>
            </a:pPr>
            <a:r>
              <a:rPr lang="en-US" sz="1200"/>
              <a:t>Implement AI-driven "payday" nudges and Next-Best-Action prompts to guide customer financial decisions</a:t>
            </a:r>
          </a:p>
        </p:txBody>
      </p:sp>
      <p:cxnSp>
        <p:nvCxnSpPr>
          <p:cNvPr id="19" name="Straight Connector 18">
            <a:extLst>
              <a:ext uri="{FF2B5EF4-FFF2-40B4-BE49-F238E27FC236}">
                <a16:creationId xmlns:a16="http://schemas.microsoft.com/office/drawing/2014/main" id="{A617A92A-31C7-49A1-8D7E-8DCD086C9ECA}"/>
              </a:ext>
            </a:extLst>
          </p:cNvPr>
          <p:cNvCxnSpPr>
            <a:cxnSpLocks/>
          </p:cNvCxnSpPr>
          <p:nvPr/>
        </p:nvCxnSpPr>
        <p:spPr>
          <a:xfrm>
            <a:off x="4366387" y="5143220"/>
            <a:ext cx="4176207"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KeyTakeawayOF 14">
            <a:extLst>
              <a:ext uri="{FF2B5EF4-FFF2-40B4-BE49-F238E27FC236}">
                <a16:creationId xmlns:a16="http://schemas.microsoft.com/office/drawing/2014/main" id="{5B85AC7E-0E81-6AF8-63F2-2B2AA835D80A}"/>
              </a:ext>
            </a:extLst>
          </p:cNvPr>
          <p:cNvSpPr txBox="1"/>
          <p:nvPr>
            <p:custDataLst>
              <p:tags r:id="rId3"/>
            </p:custDataLst>
          </p:nvPr>
        </p:nvSpPr>
        <p:spPr>
          <a:xfrm>
            <a:off x="9749717" y="2074847"/>
            <a:ext cx="2016831" cy="369332"/>
          </a:xfrm>
          <a:prstGeom prst="rect">
            <a:avLst/>
          </a:prstGeom>
          <a:noFill/>
        </p:spPr>
        <p:txBody>
          <a:bodyPr vert="horz" wrap="square" lIns="0" tIns="0" rIns="0" bIns="0" rtlCol="0" anchor="t">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
                <a:srgbClr val="111918"/>
              </a:buClr>
              <a:buSzPct val="110000"/>
              <a:buFont typeface="Wingdings" panose="05000000000000000000" pitchFamily="2" charset="2"/>
              <a:buNone/>
              <a:tabLst/>
              <a:defRPr/>
            </a:pPr>
            <a:r>
              <a:rPr kumimoji="0" lang="en-US" sz="1200" b="0" i="0" u="none" strike="noStrike" kern="1200" cap="none" spc="0" normalizeH="0" baseline="0" noProof="0">
                <a:ln>
                  <a:noFill/>
                </a:ln>
                <a:solidFill>
                  <a:srgbClr val="191C1E"/>
                </a:solidFill>
                <a:effectLst/>
                <a:uLnTx/>
                <a:uFillTx/>
                <a:latin typeface="Tahoma"/>
                <a:ea typeface="Tahoma"/>
                <a:cs typeface="Tahoma"/>
              </a:rPr>
              <a:t>Net banking income impact, </a:t>
            </a:r>
            <a:r>
              <a:rPr kumimoji="0" lang="en-US" sz="1200" b="0" i="1" u="none" strike="noStrike" kern="1200" cap="none" spc="0" normalizeH="0" baseline="0" noProof="0">
                <a:ln>
                  <a:noFill/>
                </a:ln>
                <a:solidFill>
                  <a:srgbClr val="191C1E"/>
                </a:solidFill>
                <a:effectLst/>
                <a:uLnTx/>
                <a:uFillTx/>
                <a:latin typeface="Tahoma"/>
                <a:ea typeface="Tahoma"/>
                <a:cs typeface="Tahoma"/>
              </a:rPr>
              <a:t>AZN </a:t>
            </a:r>
            <a:r>
              <a:rPr lang="en-US" sz="1200" i="1">
                <a:latin typeface="Tahoma"/>
                <a:ea typeface="Tahoma"/>
                <a:cs typeface="Tahoma"/>
              </a:rPr>
              <a:t>MN</a:t>
            </a:r>
            <a:endParaRPr lang="en-US"/>
          </a:p>
        </p:txBody>
      </p:sp>
      <p:cxnSp>
        <p:nvCxnSpPr>
          <p:cNvPr id="55" name="Straight Connector 54">
            <a:extLst>
              <a:ext uri="{FF2B5EF4-FFF2-40B4-BE49-F238E27FC236}">
                <a16:creationId xmlns:a16="http://schemas.microsoft.com/office/drawing/2014/main" id="{0F5DF546-E6B6-96AB-FE62-23BF78391DE1}"/>
              </a:ext>
            </a:extLst>
          </p:cNvPr>
          <p:cNvCxnSpPr>
            <a:cxnSpLocks/>
          </p:cNvCxnSpPr>
          <p:nvPr/>
        </p:nvCxnSpPr>
        <p:spPr>
          <a:xfrm>
            <a:off x="8989187" y="6264061"/>
            <a:ext cx="2777361"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4F0D6CD-17DC-09AD-1326-29FBCF32101A}"/>
              </a:ext>
            </a:extLst>
          </p:cNvPr>
          <p:cNvSpPr txBox="1">
            <a:spLocks/>
          </p:cNvSpPr>
          <p:nvPr/>
        </p:nvSpPr>
        <p:spPr>
          <a:xfrm>
            <a:off x="4375562" y="3954359"/>
            <a:ext cx="4176207" cy="777136"/>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200" b="1"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Capture Affluent Segment Growth</a:t>
            </a:r>
            <a:endParaRPr kumimoji="0" lang="en-US" sz="12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a:p>
            <a:pPr marL="442793" marR="0" lvl="2" indent="-215997" algn="l" defTabSz="914400" rtl="0" eaLnBrk="1" fontAlgn="auto" latinLnBrk="0" hangingPunct="1">
              <a:lnSpc>
                <a:spcPct val="100000"/>
              </a:lnSpc>
              <a:spcBef>
                <a:spcPts val="0"/>
              </a:spcBef>
              <a:spcAft>
                <a:spcPts val="300"/>
              </a:spcAft>
              <a:buClr>
                <a:srgbClr val="111918"/>
              </a:buClr>
              <a:buSzPct val="110000"/>
              <a:buFont typeface="Arial" panose="020B0604020202020204" pitchFamily="34" charset="0"/>
              <a:buChar char="‒"/>
              <a:tabLst/>
              <a:defRPr/>
            </a:pPr>
            <a:r>
              <a:rPr kumimoji="0" lang="en-US" sz="1200" b="0" i="0"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rPr>
              <a:t>Tailor existing mass-segment product offerings to create a differentiated, premium experience for affluent customers</a:t>
            </a:r>
          </a:p>
        </p:txBody>
      </p:sp>
      <p:sp>
        <p:nvSpPr>
          <p:cNvPr id="31" name="TextBox 30">
            <a:extLst>
              <a:ext uri="{FF2B5EF4-FFF2-40B4-BE49-F238E27FC236}">
                <a16:creationId xmlns:a16="http://schemas.microsoft.com/office/drawing/2014/main" id="{12C3F444-B7A5-3D3A-0D4A-F00BD506D889}"/>
              </a:ext>
            </a:extLst>
          </p:cNvPr>
          <p:cNvSpPr txBox="1">
            <a:spLocks/>
          </p:cNvSpPr>
          <p:nvPr/>
        </p:nvSpPr>
        <p:spPr>
          <a:xfrm>
            <a:off x="2455322" y="1931700"/>
            <a:ext cx="1738306" cy="553998"/>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i="1"/>
              <a:t>Regulations are shifting to enable </a:t>
            </a:r>
            <a:r>
              <a:rPr lang="en-US" sz="1200" b="1" i="1"/>
              <a:t>payroll banking mobility</a:t>
            </a:r>
            <a:endParaRPr kumimoji="0" lang="en-US" sz="1200" b="1"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7" name="TextBox 36">
            <a:extLst>
              <a:ext uri="{FF2B5EF4-FFF2-40B4-BE49-F238E27FC236}">
                <a16:creationId xmlns:a16="http://schemas.microsoft.com/office/drawing/2014/main" id="{497DA778-2795-68D8-6CEE-BCBF1D3244F4}"/>
              </a:ext>
            </a:extLst>
          </p:cNvPr>
          <p:cNvSpPr txBox="1">
            <a:spLocks/>
          </p:cNvSpPr>
          <p:nvPr/>
        </p:nvSpPr>
        <p:spPr>
          <a:xfrm>
            <a:off x="2455323" y="3332336"/>
            <a:ext cx="1700117" cy="738664"/>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i="1"/>
              <a:t>Salary proposition lacks attractiveness versus </a:t>
            </a:r>
            <a:r>
              <a:rPr lang="en-US" sz="1200" b="1" i="1"/>
              <a:t>leading retail banking offerings</a:t>
            </a:r>
            <a:endParaRPr kumimoji="0" lang="en-US" sz="1200" b="1"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8" name="TextBox 37">
            <a:extLst>
              <a:ext uri="{FF2B5EF4-FFF2-40B4-BE49-F238E27FC236}">
                <a16:creationId xmlns:a16="http://schemas.microsoft.com/office/drawing/2014/main" id="{80DB11AA-C284-D4B4-0000-B1EE57BADF48}"/>
              </a:ext>
            </a:extLst>
          </p:cNvPr>
          <p:cNvSpPr txBox="1">
            <a:spLocks/>
          </p:cNvSpPr>
          <p:nvPr/>
        </p:nvSpPr>
        <p:spPr>
          <a:xfrm>
            <a:off x="2455322" y="4217320"/>
            <a:ext cx="1679797" cy="1107996"/>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i="1"/>
              <a:t>PASHA Bank’s retail base is to remain </a:t>
            </a:r>
            <a:r>
              <a:rPr lang="en-US" sz="1200" b="1" i="1"/>
              <a:t>concentrated in the salary segment</a:t>
            </a:r>
            <a:r>
              <a:rPr lang="en-US" sz="1200" i="1"/>
              <a:t>, with limited diversification opportunities</a:t>
            </a:r>
            <a:endParaRPr kumimoji="0" lang="en-US" sz="1200" b="0"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9" name="TextBox 38">
            <a:extLst>
              <a:ext uri="{FF2B5EF4-FFF2-40B4-BE49-F238E27FC236}">
                <a16:creationId xmlns:a16="http://schemas.microsoft.com/office/drawing/2014/main" id="{34731013-3889-9538-4841-5C1CEC071E0A}"/>
              </a:ext>
            </a:extLst>
          </p:cNvPr>
          <p:cNvSpPr txBox="1">
            <a:spLocks/>
          </p:cNvSpPr>
          <p:nvPr/>
        </p:nvSpPr>
        <p:spPr>
          <a:xfrm>
            <a:off x="2455322" y="5471636"/>
            <a:ext cx="1679797" cy="738664"/>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i="1"/>
              <a:t>No differentiated offerings for </a:t>
            </a:r>
            <a:r>
              <a:rPr lang="en-US" sz="1200" b="1" i="1"/>
              <a:t>mass-affluent and affluent customers</a:t>
            </a:r>
            <a:endParaRPr kumimoji="0" lang="en-US" sz="1200" b="1"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41" name="Straight Connector 40">
            <a:extLst>
              <a:ext uri="{FF2B5EF4-FFF2-40B4-BE49-F238E27FC236}">
                <a16:creationId xmlns:a16="http://schemas.microsoft.com/office/drawing/2014/main" id="{13977D69-9732-DDC9-1C11-D87DF9A3851D}"/>
              </a:ext>
            </a:extLst>
          </p:cNvPr>
          <p:cNvCxnSpPr>
            <a:cxnSpLocks/>
          </p:cNvCxnSpPr>
          <p:nvPr/>
        </p:nvCxnSpPr>
        <p:spPr>
          <a:xfrm>
            <a:off x="2442282" y="5398476"/>
            <a:ext cx="1767982"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D8A093-3CAB-0A14-AEAF-372DA8C8FEBA}"/>
              </a:ext>
            </a:extLst>
          </p:cNvPr>
          <p:cNvSpPr txBox="1">
            <a:spLocks/>
          </p:cNvSpPr>
          <p:nvPr/>
        </p:nvSpPr>
        <p:spPr>
          <a:xfrm>
            <a:off x="2455322" y="2632018"/>
            <a:ext cx="1874940" cy="553998"/>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i="1"/>
              <a:t>Imposed </a:t>
            </a:r>
            <a:r>
              <a:rPr lang="en-US" sz="1200" b="1" i="1"/>
              <a:t>limits on lending to retail </a:t>
            </a:r>
            <a:r>
              <a:rPr lang="en-US" sz="1200" i="1"/>
              <a:t>restricting growth </a:t>
            </a:r>
            <a:endParaRPr kumimoji="0" lang="en-US" sz="1200" b="1" i="1" u="none" strike="noStrike" kern="1200" cap="none" spc="0" normalizeH="0" baseline="0" noProof="0">
              <a:ln>
                <a:noFill/>
              </a:ln>
              <a:solidFill>
                <a:srgbClr val="191C1E"/>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15" name="Straight Connector 14">
            <a:extLst>
              <a:ext uri="{FF2B5EF4-FFF2-40B4-BE49-F238E27FC236}">
                <a16:creationId xmlns:a16="http://schemas.microsoft.com/office/drawing/2014/main" id="{1D999CE2-2D92-AAED-1C6F-092CDCB4A8DE}"/>
              </a:ext>
            </a:extLst>
          </p:cNvPr>
          <p:cNvCxnSpPr>
            <a:cxnSpLocks/>
          </p:cNvCxnSpPr>
          <p:nvPr/>
        </p:nvCxnSpPr>
        <p:spPr>
          <a:xfrm>
            <a:off x="2442282" y="3259176"/>
            <a:ext cx="1767982" cy="0"/>
          </a:xfrm>
          <a:prstGeom prst="line">
            <a:avLst/>
          </a:prstGeom>
          <a:ln w="6350" cap="sq">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EE03F2B-6C9C-886A-58DE-9D58328D46D0}"/>
              </a:ext>
            </a:extLst>
          </p:cNvPr>
          <p:cNvCxnSpPr>
            <a:cxnSpLocks/>
          </p:cNvCxnSpPr>
          <p:nvPr/>
        </p:nvCxnSpPr>
        <p:spPr>
          <a:xfrm>
            <a:off x="8989187" y="1342796"/>
            <a:ext cx="2777361"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C3A73E80-48A0-3611-D1DA-6890732F0074}"/>
              </a:ext>
            </a:extLst>
          </p:cNvPr>
          <p:cNvSpPr/>
          <p:nvPr/>
        </p:nvSpPr>
        <p:spPr>
          <a:xfrm>
            <a:off x="9020414" y="1947239"/>
            <a:ext cx="624548" cy="624548"/>
          </a:xfrm>
          <a:prstGeom prst="ellipse">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Tahoma"/>
                <a:ea typeface="+mn-ea"/>
                <a:cs typeface="+mn-cs"/>
              </a:rPr>
              <a:t>8</a:t>
            </a:r>
          </a:p>
        </p:txBody>
      </p:sp>
      <p:sp>
        <p:nvSpPr>
          <p:cNvPr id="23" name="Sticker">
            <a:extLst>
              <a:ext uri="{FF2B5EF4-FFF2-40B4-BE49-F238E27FC236}">
                <a16:creationId xmlns:a16="http://schemas.microsoft.com/office/drawing/2014/main" id="{2603B00D-133B-6F88-037A-621BCBB5B3E3}"/>
              </a:ext>
            </a:extLst>
          </p:cNvPr>
          <p:cNvSpPr txBox="1"/>
          <p:nvPr/>
        </p:nvSpPr>
        <p:spPr>
          <a:xfrm>
            <a:off x="7793929" y="0"/>
            <a:ext cx="4398071" cy="216513"/>
          </a:xfrm>
          <a:prstGeom prst="rect">
            <a:avLst/>
          </a:prstGeom>
          <a:gradFill>
            <a:gsLst>
              <a:gs pos="22000">
                <a:schemeClr val="accent5"/>
              </a:gs>
              <a:gs pos="6000">
                <a:schemeClr val="bg2">
                  <a:alpha val="0"/>
                </a:schemeClr>
              </a:gs>
            </a:gsLst>
            <a:lin ang="19200000" scaled="0"/>
          </a:gradFill>
          <a:ln w="6350">
            <a:noFill/>
            <a:miter lim="800000"/>
          </a:ln>
        </p:spPr>
        <p:txBody>
          <a:bodyPr vert="horz" wrap="square" lIns="0" tIns="0" rIns="91440" bIns="0" rtlCol="0" anchor="ctr" anchorCtr="0">
            <a:noAutofit/>
          </a:bodyPr>
          <a:lstStyle>
            <a:defPPr>
              <a:defRPr lang="en-US"/>
            </a:defPPr>
            <a:lvl1pPr>
              <a:spcBef>
                <a:spcPts val="300"/>
              </a:spcBef>
              <a:spcAft>
                <a:spcPts val="300"/>
              </a:spcAft>
              <a:buNone/>
              <a:defRPr sz="800" b="1" cap="all"/>
            </a:lvl1pPr>
          </a:lstStyle>
          <a:p>
            <a:pPr algn="r" rtl="0"/>
            <a:r>
              <a:rPr lang="en-US">
                <a:latin typeface="+mn-lt"/>
              </a:rPr>
              <a:t>IMPACT ESTIMATION TO BE VERIFIED WITH BOTTOM-UP MODEL</a:t>
            </a:r>
          </a:p>
        </p:txBody>
      </p:sp>
    </p:spTree>
    <p:extLst>
      <p:ext uri="{BB962C8B-B14F-4D97-AF65-F5344CB8AC3E}">
        <p14:creationId xmlns:p14="http://schemas.microsoft.com/office/powerpoint/2010/main" val="3227972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4827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164A2-4305-89F1-2D3F-41021176BA14}"/>
              </a:ext>
            </a:extLst>
          </p:cNvPr>
          <p:cNvSpPr>
            <a:spLocks noGrp="1"/>
          </p:cNvSpPr>
          <p:nvPr>
            <p:ph type="title"/>
          </p:nvPr>
        </p:nvSpPr>
        <p:spPr>
          <a:xfrm>
            <a:off x="554734" y="534400"/>
            <a:ext cx="11082528" cy="369332"/>
          </a:xfrm>
        </p:spPr>
        <p:txBody>
          <a:bodyPr/>
          <a:lstStyle/>
          <a:p>
            <a:r>
              <a:rPr lang="en-US"/>
              <a:t>Backup</a:t>
            </a:r>
          </a:p>
        </p:txBody>
      </p:sp>
      <p:sp>
        <p:nvSpPr>
          <p:cNvPr id="3" name="1. On-page tracker">
            <a:extLst>
              <a:ext uri="{FF2B5EF4-FFF2-40B4-BE49-F238E27FC236}">
                <a16:creationId xmlns:a16="http://schemas.microsoft.com/office/drawing/2014/main" id="{F662C28F-39FA-93D0-4AE0-288A63003D0A}"/>
              </a:ext>
            </a:extLst>
          </p:cNvPr>
          <p:cNvSpPr>
            <a:spLocks noGrp="1"/>
          </p:cNvSpPr>
          <p:nvPr>
            <p:ph type="body" sz="quarter" idx="10"/>
            <p:custDataLst>
              <p:tags r:id="rId1"/>
            </p:custDataLst>
          </p:nvPr>
        </p:nvSpPr>
        <p:spPr/>
        <p:txBody>
          <a:bodyPr/>
          <a:lstStyle/>
          <a:p>
            <a:endParaRPr lang="en-US"/>
          </a:p>
        </p:txBody>
      </p:sp>
    </p:spTree>
    <p:extLst>
      <p:ext uri="{BB962C8B-B14F-4D97-AF65-F5344CB8AC3E}">
        <p14:creationId xmlns:p14="http://schemas.microsoft.com/office/powerpoint/2010/main" val="131396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95B8139-52A9-0318-E782-0F2784C918D8}"/>
              </a:ext>
            </a:extLst>
          </p:cNvPr>
          <p:cNvGraphicFramePr>
            <a:graphicFrameLocks noChangeAspect="1"/>
          </p:cNvGraphicFramePr>
          <p:nvPr>
            <p:custDataLst>
              <p:tags r:id="rId1"/>
            </p:custDataLst>
            <p:extLst>
              <p:ext uri="{D42A27DB-BD31-4B8C-83A1-F6EECF244321}">
                <p14:modId xmlns:p14="http://schemas.microsoft.com/office/powerpoint/2010/main" val="3935664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think-cell data - do not delete" hidden="1">
                        <a:extLst>
                          <a:ext uri="{FF2B5EF4-FFF2-40B4-BE49-F238E27FC236}">
                            <a16:creationId xmlns:a16="http://schemas.microsoft.com/office/drawing/2014/main" id="{A95B8139-52A9-0318-E782-0F2784C918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CFFE1BB7-F35E-A56F-F437-5A54F8ECAACC}"/>
              </a:ext>
            </a:extLst>
          </p:cNvPr>
          <p:cNvSpPr>
            <a:spLocks noGrp="1"/>
          </p:cNvSpPr>
          <p:nvPr>
            <p:ph type="title"/>
          </p:nvPr>
        </p:nvSpPr>
        <p:spPr>
          <a:xfrm>
            <a:off x="554734" y="3508827"/>
            <a:ext cx="11082528" cy="369332"/>
          </a:xfrm>
        </p:spPr>
        <p:txBody>
          <a:bodyPr vert="horz"/>
          <a:lstStyle/>
          <a:p>
            <a:r>
              <a:rPr lang="en-US" dirty="0"/>
              <a:t>Private banking</a:t>
            </a:r>
          </a:p>
        </p:txBody>
      </p:sp>
      <p:sp>
        <p:nvSpPr>
          <p:cNvPr id="7" name="Text Placeholder 6">
            <a:extLst>
              <a:ext uri="{FF2B5EF4-FFF2-40B4-BE49-F238E27FC236}">
                <a16:creationId xmlns:a16="http://schemas.microsoft.com/office/drawing/2014/main" id="{1DCD18F6-6BFC-DAD0-E25E-805EAC13A29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19787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CC1E46F-76B2-7A42-3F67-33C74A7F1FA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84" imgH="486" progId="TCLayout.ActiveDocument.1">
                  <p:embed/>
                </p:oleObj>
              </mc:Choice>
              <mc:Fallback>
                <p:oleObj name="think-cell Slide" r:id="rId26" imgW="484" imgH="486" progId="TCLayout.ActiveDocument.1">
                  <p:embed/>
                  <p:pic>
                    <p:nvPicPr>
                      <p:cNvPr id="5" name="think-cell data - do not delete" hidden="1">
                        <a:extLst>
                          <a:ext uri="{FF2B5EF4-FFF2-40B4-BE49-F238E27FC236}">
                            <a16:creationId xmlns:a16="http://schemas.microsoft.com/office/drawing/2014/main" id="{7CC1E46F-76B2-7A42-3F67-33C74A7F1FAB}"/>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98E7CB6-3E05-81E5-441A-61EAE28A7C26}"/>
              </a:ext>
            </a:extLst>
          </p:cNvPr>
          <p:cNvSpPr>
            <a:spLocks noGrp="1"/>
          </p:cNvSpPr>
          <p:nvPr>
            <p:ph type="title"/>
          </p:nvPr>
        </p:nvSpPr>
        <p:spPr>
          <a:xfrm>
            <a:off x="998220" y="165068"/>
            <a:ext cx="10639042" cy="738664"/>
          </a:xfrm>
        </p:spPr>
        <p:txBody>
          <a:bodyPr vert="horz"/>
          <a:lstStyle/>
          <a:p>
            <a:r>
              <a:rPr lang="en-US"/>
              <a:t>Most banks define private banking services for customers with assets of USD &gt; 1Mn </a:t>
            </a:r>
          </a:p>
        </p:txBody>
      </p:sp>
      <p:sp>
        <p:nvSpPr>
          <p:cNvPr id="29" name="TrackerNumBlue 35">
            <a:extLst>
              <a:ext uri="{FF2B5EF4-FFF2-40B4-BE49-F238E27FC236}">
                <a16:creationId xmlns:a16="http://schemas.microsoft.com/office/drawing/2014/main" id="{6C1301EB-5CDC-CD40-6B5C-C90904BEF63C}"/>
              </a:ext>
            </a:extLst>
          </p:cNvPr>
          <p:cNvSpPr/>
          <p:nvPr>
            <p:custDataLst>
              <p:tags r:id="rId2"/>
            </p:custDataLst>
          </p:nvPr>
        </p:nvSpPr>
        <p:spPr>
          <a:xfrm>
            <a:off x="547688" y="215308"/>
            <a:ext cx="350786" cy="350786"/>
          </a:xfrm>
          <a:prstGeom prst="ellipse">
            <a:avLst/>
          </a:prstGeom>
          <a:solidFill>
            <a:schemeClr val="accent4"/>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2000">
                <a:solidFill>
                  <a:schemeClr val="bg1"/>
                </a:solidFill>
              </a:rPr>
              <a:t>1</a:t>
            </a:r>
          </a:p>
        </p:txBody>
      </p:sp>
      <p:sp>
        <p:nvSpPr>
          <p:cNvPr id="33" name="5. Source">
            <a:extLst>
              <a:ext uri="{FF2B5EF4-FFF2-40B4-BE49-F238E27FC236}">
                <a16:creationId xmlns:a16="http://schemas.microsoft.com/office/drawing/2014/main" id="{4D3DA4C1-8DF3-462A-3D5E-C9FB4A23430B}"/>
              </a:ext>
            </a:extLst>
          </p:cNvPr>
          <p:cNvSpPr txBox="1">
            <a:spLocks/>
          </p:cNvSpPr>
          <p:nvPr>
            <p:custDataLst>
              <p:tags r:id="rId3"/>
            </p:custDataLst>
          </p:nvPr>
        </p:nvSpPr>
        <p:spPr>
          <a:xfrm>
            <a:off x="554734" y="6514142"/>
            <a:ext cx="1063714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rtl="0"/>
            <a:r>
              <a:rPr lang="en-US" sz="800">
                <a:solidFill>
                  <a:schemeClr val="tx1"/>
                </a:solidFill>
              </a:rPr>
              <a:t>Source: Companies websites, expert’s inputs, press search</a:t>
            </a:r>
          </a:p>
        </p:txBody>
      </p:sp>
      <p:sp>
        <p:nvSpPr>
          <p:cNvPr id="35" name="4. Footnote">
            <a:extLst>
              <a:ext uri="{FF2B5EF4-FFF2-40B4-BE49-F238E27FC236}">
                <a16:creationId xmlns:a16="http://schemas.microsoft.com/office/drawing/2014/main" id="{C718B8FB-8645-7EF3-B7E5-9633314688B9}"/>
              </a:ext>
            </a:extLst>
          </p:cNvPr>
          <p:cNvSpPr txBox="1">
            <a:spLocks/>
          </p:cNvSpPr>
          <p:nvPr>
            <p:custDataLst>
              <p:tags r:id="rId4"/>
            </p:custDataLst>
          </p:nvPr>
        </p:nvSpPr>
        <p:spPr>
          <a:xfrm>
            <a:off x="554736" y="6330794"/>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1.	Starting from USD10Mn;   2.  Starting from USD20Mn;   3.  Starting from USD 2Mn;   4.  Starting from USD 3.7Mn;   5.  Starting from USD 30Mn</a:t>
            </a:r>
          </a:p>
        </p:txBody>
      </p:sp>
      <p:sp>
        <p:nvSpPr>
          <p:cNvPr id="36" name="TextBox 35">
            <a:extLst>
              <a:ext uri="{FF2B5EF4-FFF2-40B4-BE49-F238E27FC236}">
                <a16:creationId xmlns:a16="http://schemas.microsoft.com/office/drawing/2014/main" id="{7A3E0B29-5C98-A709-F4B5-9A11871DCCAD}"/>
              </a:ext>
            </a:extLst>
          </p:cNvPr>
          <p:cNvSpPr txBox="1">
            <a:spLocks/>
          </p:cNvSpPr>
          <p:nvPr/>
        </p:nvSpPr>
        <p:spPr>
          <a:xfrm>
            <a:off x="2665310" y="1166653"/>
            <a:ext cx="1676298" cy="64633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Emerging affluent &amp; Mass market </a:t>
            </a:r>
            <a:br>
              <a:rPr lang="en-US" b="1"/>
            </a:br>
            <a:r>
              <a:rPr lang="en-US"/>
              <a:t>&lt;USD100K </a:t>
            </a:r>
          </a:p>
        </p:txBody>
      </p:sp>
      <p:sp>
        <p:nvSpPr>
          <p:cNvPr id="37" name="TextBox 36">
            <a:extLst>
              <a:ext uri="{FF2B5EF4-FFF2-40B4-BE49-F238E27FC236}">
                <a16:creationId xmlns:a16="http://schemas.microsoft.com/office/drawing/2014/main" id="{5F67BF04-DFA6-E5B5-077B-0E2F2F5FCB67}"/>
              </a:ext>
            </a:extLst>
          </p:cNvPr>
          <p:cNvSpPr txBox="1">
            <a:spLocks/>
          </p:cNvSpPr>
          <p:nvPr/>
        </p:nvSpPr>
        <p:spPr>
          <a:xfrm>
            <a:off x="4482257" y="1382097"/>
            <a:ext cx="1676298"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Affluent </a:t>
            </a:r>
            <a:br>
              <a:rPr lang="en-US" b="1"/>
            </a:br>
            <a:r>
              <a:rPr lang="en-US"/>
              <a:t>USD100K-1mn</a:t>
            </a:r>
            <a:r>
              <a:rPr lang="en-US" b="1"/>
              <a:t> </a:t>
            </a:r>
            <a:endParaRPr lang="en-US"/>
          </a:p>
        </p:txBody>
      </p:sp>
      <p:sp>
        <p:nvSpPr>
          <p:cNvPr id="38" name="TextBox 37">
            <a:extLst>
              <a:ext uri="{FF2B5EF4-FFF2-40B4-BE49-F238E27FC236}">
                <a16:creationId xmlns:a16="http://schemas.microsoft.com/office/drawing/2014/main" id="{083956A0-5EC8-0BAA-9C59-437EF1D44F21}"/>
              </a:ext>
            </a:extLst>
          </p:cNvPr>
          <p:cNvSpPr txBox="1">
            <a:spLocks/>
          </p:cNvSpPr>
          <p:nvPr/>
        </p:nvSpPr>
        <p:spPr>
          <a:xfrm>
            <a:off x="6439853" y="1382096"/>
            <a:ext cx="1676298"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HNW </a:t>
            </a:r>
            <a:br>
              <a:rPr lang="en-US" b="1"/>
            </a:br>
            <a:r>
              <a:rPr lang="en-US"/>
              <a:t>USD 1Mn-25Mn</a:t>
            </a:r>
          </a:p>
        </p:txBody>
      </p:sp>
      <p:sp>
        <p:nvSpPr>
          <p:cNvPr id="39" name="TextBox 38">
            <a:extLst>
              <a:ext uri="{FF2B5EF4-FFF2-40B4-BE49-F238E27FC236}">
                <a16:creationId xmlns:a16="http://schemas.microsoft.com/office/drawing/2014/main" id="{1133DDEB-5910-E1E0-2300-C5CBB6808AD3}"/>
              </a:ext>
            </a:extLst>
          </p:cNvPr>
          <p:cNvSpPr txBox="1">
            <a:spLocks/>
          </p:cNvSpPr>
          <p:nvPr/>
        </p:nvSpPr>
        <p:spPr>
          <a:xfrm>
            <a:off x="8256800" y="1382096"/>
            <a:ext cx="1676298"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UHNW+ </a:t>
            </a:r>
            <a:br>
              <a:rPr lang="en-US" b="1"/>
            </a:br>
            <a:r>
              <a:rPr lang="en-US"/>
              <a:t>&gt;USD 25Mn</a:t>
            </a:r>
          </a:p>
        </p:txBody>
      </p:sp>
      <p:sp>
        <p:nvSpPr>
          <p:cNvPr id="40" name="TextBox 39">
            <a:extLst>
              <a:ext uri="{FF2B5EF4-FFF2-40B4-BE49-F238E27FC236}">
                <a16:creationId xmlns:a16="http://schemas.microsoft.com/office/drawing/2014/main" id="{9A256A29-3E71-D886-A33B-318E8EDDBDF3}"/>
              </a:ext>
            </a:extLst>
          </p:cNvPr>
          <p:cNvSpPr txBox="1"/>
          <p:nvPr/>
        </p:nvSpPr>
        <p:spPr>
          <a:xfrm>
            <a:off x="10073748" y="1597540"/>
            <a:ext cx="1563514"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Family office</a:t>
            </a:r>
            <a:endParaRPr lang="en-US"/>
          </a:p>
        </p:txBody>
      </p:sp>
      <p:sp>
        <p:nvSpPr>
          <p:cNvPr id="43" name="TextBox 42">
            <a:extLst>
              <a:ext uri="{FF2B5EF4-FFF2-40B4-BE49-F238E27FC236}">
                <a16:creationId xmlns:a16="http://schemas.microsoft.com/office/drawing/2014/main" id="{DC8240D7-0520-9478-75A5-2130B0FBF7AD}"/>
              </a:ext>
            </a:extLst>
          </p:cNvPr>
          <p:cNvSpPr txBox="1">
            <a:spLocks/>
          </p:cNvSpPr>
          <p:nvPr/>
        </p:nvSpPr>
        <p:spPr>
          <a:xfrm>
            <a:off x="554734" y="3465481"/>
            <a:ext cx="802118"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Global Banks</a:t>
            </a:r>
            <a:endParaRPr lang="en-US"/>
          </a:p>
        </p:txBody>
      </p:sp>
      <p:sp>
        <p:nvSpPr>
          <p:cNvPr id="46" name="TextBox 45">
            <a:extLst>
              <a:ext uri="{FF2B5EF4-FFF2-40B4-BE49-F238E27FC236}">
                <a16:creationId xmlns:a16="http://schemas.microsoft.com/office/drawing/2014/main" id="{F5CDC8C8-DE1F-ADFB-8A5A-C2CB1C12B288}"/>
              </a:ext>
            </a:extLst>
          </p:cNvPr>
          <p:cNvSpPr txBox="1">
            <a:spLocks/>
          </p:cNvSpPr>
          <p:nvPr/>
        </p:nvSpPr>
        <p:spPr>
          <a:xfrm>
            <a:off x="554734" y="4666468"/>
            <a:ext cx="802118"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Regional </a:t>
            </a:r>
            <a:br>
              <a:rPr lang="en-US" b="1"/>
            </a:br>
            <a:r>
              <a:rPr lang="en-US" b="1"/>
              <a:t>Banks</a:t>
            </a:r>
            <a:endParaRPr lang="en-US"/>
          </a:p>
        </p:txBody>
      </p:sp>
      <p:sp>
        <p:nvSpPr>
          <p:cNvPr id="48" name="TextBox 47">
            <a:extLst>
              <a:ext uri="{FF2B5EF4-FFF2-40B4-BE49-F238E27FC236}">
                <a16:creationId xmlns:a16="http://schemas.microsoft.com/office/drawing/2014/main" id="{969EFE85-0749-C229-9F6F-49030AA4690D}"/>
              </a:ext>
            </a:extLst>
          </p:cNvPr>
          <p:cNvSpPr txBox="1">
            <a:spLocks/>
          </p:cNvSpPr>
          <p:nvPr/>
        </p:nvSpPr>
        <p:spPr>
          <a:xfrm>
            <a:off x="554734" y="1930637"/>
            <a:ext cx="802118" cy="86177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Global private banking firms</a:t>
            </a:r>
            <a:endParaRPr lang="en-US"/>
          </a:p>
        </p:txBody>
      </p:sp>
      <p:cxnSp>
        <p:nvCxnSpPr>
          <p:cNvPr id="50" name="Straight Connector 49">
            <a:extLst>
              <a:ext uri="{FF2B5EF4-FFF2-40B4-BE49-F238E27FC236}">
                <a16:creationId xmlns:a16="http://schemas.microsoft.com/office/drawing/2014/main" id="{29495602-62AA-C0AC-7AC9-CFD0ADECF543}"/>
              </a:ext>
            </a:extLst>
          </p:cNvPr>
          <p:cNvCxnSpPr>
            <a:cxnSpLocks/>
          </p:cNvCxnSpPr>
          <p:nvPr/>
        </p:nvCxnSpPr>
        <p:spPr>
          <a:xfrm>
            <a:off x="554734" y="1845766"/>
            <a:ext cx="110825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4" name="GreyLineSeparatorDefaultVertical 51">
            <a:extLst>
              <a:ext uri="{FF2B5EF4-FFF2-40B4-BE49-F238E27FC236}">
                <a16:creationId xmlns:a16="http://schemas.microsoft.com/office/drawing/2014/main" id="{86C89EDB-ED27-004D-5F5E-69D45A956900}"/>
              </a:ext>
            </a:extLst>
          </p:cNvPr>
          <p:cNvCxnSpPr>
            <a:cxnSpLocks/>
          </p:cNvCxnSpPr>
          <p:nvPr>
            <p:custDataLst>
              <p:tags r:id="rId5"/>
            </p:custDataLst>
          </p:nvPr>
        </p:nvCxnSpPr>
        <p:spPr>
          <a:xfrm>
            <a:off x="8186476" y="1930637"/>
            <a:ext cx="0" cy="4279661"/>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4" name="GreyLineSeparatorDefaultVertical 51">
            <a:extLst>
              <a:ext uri="{FF2B5EF4-FFF2-40B4-BE49-F238E27FC236}">
                <a16:creationId xmlns:a16="http://schemas.microsoft.com/office/drawing/2014/main" id="{8CB5FB6B-063D-8305-585D-0D6CC2075F92}"/>
              </a:ext>
            </a:extLst>
          </p:cNvPr>
          <p:cNvCxnSpPr>
            <a:cxnSpLocks/>
          </p:cNvCxnSpPr>
          <p:nvPr>
            <p:custDataLst>
              <p:tags r:id="rId6"/>
            </p:custDataLst>
          </p:nvPr>
        </p:nvCxnSpPr>
        <p:spPr>
          <a:xfrm>
            <a:off x="6299204" y="1930637"/>
            <a:ext cx="0" cy="4279661"/>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988C0B3E-0D0F-54D1-B32D-077C4870B38B}"/>
              </a:ext>
            </a:extLst>
          </p:cNvPr>
          <p:cNvSpPr>
            <a:spLocks/>
          </p:cNvSpPr>
          <p:nvPr/>
        </p:nvSpPr>
        <p:spPr>
          <a:xfrm>
            <a:off x="7462684" y="2241936"/>
            <a:ext cx="2470413" cy="24291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Morgan Stanley PB</a:t>
            </a:r>
            <a:r>
              <a:rPr lang="en-US" sz="1200" baseline="30000">
                <a:solidFill>
                  <a:schemeClr val="tx1"/>
                </a:solidFill>
              </a:rPr>
              <a:t>2</a:t>
            </a:r>
          </a:p>
        </p:txBody>
      </p:sp>
      <p:sp>
        <p:nvSpPr>
          <p:cNvPr id="61" name="Rectangle 60">
            <a:extLst>
              <a:ext uri="{FF2B5EF4-FFF2-40B4-BE49-F238E27FC236}">
                <a16:creationId xmlns:a16="http://schemas.microsoft.com/office/drawing/2014/main" id="{0B3A65C8-DBCE-541E-2691-34D3CCCA2E41}"/>
              </a:ext>
            </a:extLst>
          </p:cNvPr>
          <p:cNvSpPr>
            <a:spLocks/>
          </p:cNvSpPr>
          <p:nvPr/>
        </p:nvSpPr>
        <p:spPr>
          <a:xfrm>
            <a:off x="6651523" y="2553235"/>
            <a:ext cx="3281575" cy="532561"/>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r>
              <a:rPr lang="en-US" sz="1200">
                <a:solidFill>
                  <a:schemeClr val="tx1"/>
                </a:solidFill>
              </a:rPr>
              <a:t>UBS Private Banking</a:t>
            </a:r>
            <a:r>
              <a:rPr lang="en-US" sz="1200" baseline="30000">
                <a:solidFill>
                  <a:schemeClr val="tx1"/>
                </a:solidFill>
              </a:rPr>
              <a:t>3</a:t>
            </a:r>
          </a:p>
        </p:txBody>
      </p:sp>
      <p:sp>
        <p:nvSpPr>
          <p:cNvPr id="63" name="Rectangle 62">
            <a:extLst>
              <a:ext uri="{FF2B5EF4-FFF2-40B4-BE49-F238E27FC236}">
                <a16:creationId xmlns:a16="http://schemas.microsoft.com/office/drawing/2014/main" id="{8ECC311E-DB42-A321-4D8F-A628D39358EC}"/>
              </a:ext>
            </a:extLst>
          </p:cNvPr>
          <p:cNvSpPr>
            <a:spLocks/>
          </p:cNvSpPr>
          <p:nvPr/>
        </p:nvSpPr>
        <p:spPr>
          <a:xfrm>
            <a:off x="6738366" y="2818116"/>
            <a:ext cx="1513279" cy="204652"/>
          </a:xfrm>
          <a:prstGeom prst="rect">
            <a:avLst/>
          </a:prstGeom>
          <a:solidFill>
            <a:schemeClr val="accent3"/>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HNW USD2-25Mn</a:t>
            </a:r>
            <a:endParaRPr lang="en-US" sz="1200" baseline="30000">
              <a:solidFill>
                <a:schemeClr val="tx1"/>
              </a:solidFill>
            </a:endParaRPr>
          </a:p>
        </p:txBody>
      </p:sp>
      <p:sp>
        <p:nvSpPr>
          <p:cNvPr id="64" name="Rectangle 63">
            <a:extLst>
              <a:ext uri="{FF2B5EF4-FFF2-40B4-BE49-F238E27FC236}">
                <a16:creationId xmlns:a16="http://schemas.microsoft.com/office/drawing/2014/main" id="{E974A10A-9872-6595-FF17-60288DC14A26}"/>
              </a:ext>
            </a:extLst>
          </p:cNvPr>
          <p:cNvSpPr>
            <a:spLocks/>
          </p:cNvSpPr>
          <p:nvPr/>
        </p:nvSpPr>
        <p:spPr>
          <a:xfrm>
            <a:off x="8332975" y="2818116"/>
            <a:ext cx="1513279" cy="204652"/>
          </a:xfrm>
          <a:prstGeom prst="rect">
            <a:avLst/>
          </a:prstGeom>
          <a:solidFill>
            <a:schemeClr val="accent3"/>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UHWN USD25-500Mn</a:t>
            </a:r>
          </a:p>
        </p:txBody>
      </p:sp>
      <p:sp>
        <p:nvSpPr>
          <p:cNvPr id="66" name="Rectangle 65">
            <a:extLst>
              <a:ext uri="{FF2B5EF4-FFF2-40B4-BE49-F238E27FC236}">
                <a16:creationId xmlns:a16="http://schemas.microsoft.com/office/drawing/2014/main" id="{D982BED6-78F9-83D4-BDCE-A77D42EA4FA1}"/>
              </a:ext>
            </a:extLst>
          </p:cNvPr>
          <p:cNvSpPr>
            <a:spLocks/>
          </p:cNvSpPr>
          <p:nvPr/>
        </p:nvSpPr>
        <p:spPr>
          <a:xfrm>
            <a:off x="6439853" y="3154182"/>
            <a:ext cx="3493245" cy="24291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LGT Private Banking</a:t>
            </a:r>
            <a:endParaRPr lang="en-US" sz="1200" baseline="30000">
              <a:solidFill>
                <a:schemeClr val="tx1"/>
              </a:solidFill>
            </a:endParaRPr>
          </a:p>
        </p:txBody>
      </p:sp>
      <p:sp>
        <p:nvSpPr>
          <p:cNvPr id="72" name="Rectangle 71">
            <a:extLst>
              <a:ext uri="{FF2B5EF4-FFF2-40B4-BE49-F238E27FC236}">
                <a16:creationId xmlns:a16="http://schemas.microsoft.com/office/drawing/2014/main" id="{6F23DF06-F4C7-0598-6882-4212C40D654E}"/>
              </a:ext>
            </a:extLst>
          </p:cNvPr>
          <p:cNvSpPr>
            <a:spLocks/>
          </p:cNvSpPr>
          <p:nvPr/>
        </p:nvSpPr>
        <p:spPr>
          <a:xfrm>
            <a:off x="7326969" y="3465481"/>
            <a:ext cx="2606127" cy="656685"/>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300"/>
              </a:spcBef>
              <a:spcAft>
                <a:spcPts val="300"/>
              </a:spcAft>
            </a:pPr>
            <a:r>
              <a:rPr lang="en-US" sz="1200">
                <a:solidFill>
                  <a:schemeClr val="tx1"/>
                </a:solidFill>
              </a:rPr>
              <a:t>HSBC Private Banking</a:t>
            </a:r>
            <a:r>
              <a:rPr lang="en-US" sz="1200" baseline="30000">
                <a:solidFill>
                  <a:schemeClr val="tx1"/>
                </a:solidFill>
              </a:rPr>
              <a:t>3</a:t>
            </a:r>
          </a:p>
        </p:txBody>
      </p:sp>
      <p:sp>
        <p:nvSpPr>
          <p:cNvPr id="73" name="Rectangle 72">
            <a:extLst>
              <a:ext uri="{FF2B5EF4-FFF2-40B4-BE49-F238E27FC236}">
                <a16:creationId xmlns:a16="http://schemas.microsoft.com/office/drawing/2014/main" id="{B8ADD1F5-2C6F-17FC-16C6-E3D78F5C2050}"/>
              </a:ext>
            </a:extLst>
          </p:cNvPr>
          <p:cNvSpPr>
            <a:spLocks/>
          </p:cNvSpPr>
          <p:nvPr/>
        </p:nvSpPr>
        <p:spPr>
          <a:xfrm>
            <a:off x="7416404" y="3716424"/>
            <a:ext cx="791183" cy="366347"/>
          </a:xfrm>
          <a:prstGeom prst="rect">
            <a:avLst/>
          </a:prstGeom>
          <a:solidFill>
            <a:schemeClr val="accent3"/>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HNW </a:t>
            </a:r>
            <a:br>
              <a:rPr lang="en-US" sz="1200">
                <a:solidFill>
                  <a:schemeClr val="tx1"/>
                </a:solidFill>
              </a:rPr>
            </a:br>
            <a:r>
              <a:rPr lang="en-US" sz="1200">
                <a:solidFill>
                  <a:schemeClr val="tx1"/>
                </a:solidFill>
              </a:rPr>
              <a:t>2-10Mn</a:t>
            </a:r>
            <a:endParaRPr lang="en-US" sz="1200" baseline="30000">
              <a:solidFill>
                <a:schemeClr val="tx1"/>
              </a:solidFill>
            </a:endParaRPr>
          </a:p>
        </p:txBody>
      </p:sp>
      <p:sp>
        <p:nvSpPr>
          <p:cNvPr id="74" name="Rectangle 73">
            <a:extLst>
              <a:ext uri="{FF2B5EF4-FFF2-40B4-BE49-F238E27FC236}">
                <a16:creationId xmlns:a16="http://schemas.microsoft.com/office/drawing/2014/main" id="{E128AE3B-4773-D9C3-9AAD-32029FD1146B}"/>
              </a:ext>
            </a:extLst>
          </p:cNvPr>
          <p:cNvSpPr>
            <a:spLocks/>
          </p:cNvSpPr>
          <p:nvPr/>
        </p:nvSpPr>
        <p:spPr>
          <a:xfrm>
            <a:off x="8324667" y="3716424"/>
            <a:ext cx="1514779" cy="366347"/>
          </a:xfrm>
          <a:prstGeom prst="rect">
            <a:avLst/>
          </a:prstGeom>
          <a:solidFill>
            <a:schemeClr val="accent3"/>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UHWN USD10Mn onwards</a:t>
            </a:r>
          </a:p>
        </p:txBody>
      </p:sp>
      <p:sp>
        <p:nvSpPr>
          <p:cNvPr id="80" name="Rectangle 79">
            <a:extLst>
              <a:ext uri="{FF2B5EF4-FFF2-40B4-BE49-F238E27FC236}">
                <a16:creationId xmlns:a16="http://schemas.microsoft.com/office/drawing/2014/main" id="{FA928B01-4075-2F91-7D1F-B9015B17FE8D}"/>
              </a:ext>
            </a:extLst>
          </p:cNvPr>
          <p:cNvSpPr>
            <a:spLocks/>
          </p:cNvSpPr>
          <p:nvPr/>
        </p:nvSpPr>
        <p:spPr>
          <a:xfrm>
            <a:off x="6439853" y="3465481"/>
            <a:ext cx="833452" cy="656685"/>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HSBC </a:t>
            </a:r>
            <a:br>
              <a:rPr lang="en-US" sz="1200">
                <a:solidFill>
                  <a:schemeClr val="tx1"/>
                </a:solidFill>
              </a:rPr>
            </a:br>
            <a:r>
              <a:rPr lang="en-US" sz="1200">
                <a:solidFill>
                  <a:schemeClr val="tx1"/>
                </a:solidFill>
              </a:rPr>
              <a:t>Jade </a:t>
            </a:r>
            <a:endParaRPr lang="en-US" sz="1200" baseline="30000">
              <a:solidFill>
                <a:schemeClr val="tx1"/>
              </a:solidFill>
            </a:endParaRPr>
          </a:p>
        </p:txBody>
      </p:sp>
      <p:sp>
        <p:nvSpPr>
          <p:cNvPr id="81" name="Rectangle 80">
            <a:extLst>
              <a:ext uri="{FF2B5EF4-FFF2-40B4-BE49-F238E27FC236}">
                <a16:creationId xmlns:a16="http://schemas.microsoft.com/office/drawing/2014/main" id="{B36FF9BC-88B6-A947-FEC1-B90CE6B2AA72}"/>
              </a:ext>
            </a:extLst>
          </p:cNvPr>
          <p:cNvSpPr>
            <a:spLocks/>
          </p:cNvSpPr>
          <p:nvPr/>
        </p:nvSpPr>
        <p:spPr>
          <a:xfrm>
            <a:off x="7749864" y="4190552"/>
            <a:ext cx="2183233" cy="407530"/>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Citi Private Bank</a:t>
            </a:r>
            <a:r>
              <a:rPr lang="en-US" sz="1200" baseline="30000">
                <a:solidFill>
                  <a:schemeClr val="tx1"/>
                </a:solidFill>
              </a:rPr>
              <a:t>1</a:t>
            </a:r>
          </a:p>
        </p:txBody>
      </p:sp>
      <p:sp>
        <p:nvSpPr>
          <p:cNvPr id="82" name="Rectangle 81">
            <a:extLst>
              <a:ext uri="{FF2B5EF4-FFF2-40B4-BE49-F238E27FC236}">
                <a16:creationId xmlns:a16="http://schemas.microsoft.com/office/drawing/2014/main" id="{7F610AB2-E77C-ADD5-258E-68840AB9D43F}"/>
              </a:ext>
            </a:extLst>
          </p:cNvPr>
          <p:cNvSpPr>
            <a:spLocks/>
          </p:cNvSpPr>
          <p:nvPr/>
        </p:nvSpPr>
        <p:spPr>
          <a:xfrm>
            <a:off x="6439853" y="4190552"/>
            <a:ext cx="1256347" cy="407530"/>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Citi Gold Private Client </a:t>
            </a:r>
            <a:endParaRPr lang="en-US" sz="1200" baseline="30000">
              <a:solidFill>
                <a:schemeClr val="tx1"/>
              </a:solidFill>
            </a:endParaRPr>
          </a:p>
        </p:txBody>
      </p:sp>
      <p:sp>
        <p:nvSpPr>
          <p:cNvPr id="83" name="Rectangle 82">
            <a:extLst>
              <a:ext uri="{FF2B5EF4-FFF2-40B4-BE49-F238E27FC236}">
                <a16:creationId xmlns:a16="http://schemas.microsoft.com/office/drawing/2014/main" id="{973E1D24-601C-4DF9-C283-E08A8CC2616E}"/>
              </a:ext>
            </a:extLst>
          </p:cNvPr>
          <p:cNvSpPr>
            <a:spLocks/>
          </p:cNvSpPr>
          <p:nvPr/>
        </p:nvSpPr>
        <p:spPr>
          <a:xfrm>
            <a:off x="6439853" y="4666468"/>
            <a:ext cx="3493245" cy="24291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CIMB Private Banking</a:t>
            </a:r>
            <a:endParaRPr lang="en-US" sz="1200" baseline="30000">
              <a:solidFill>
                <a:schemeClr val="tx1"/>
              </a:solidFill>
            </a:endParaRPr>
          </a:p>
        </p:txBody>
      </p:sp>
      <p:sp>
        <p:nvSpPr>
          <p:cNvPr id="86" name="Rectangle 85">
            <a:extLst>
              <a:ext uri="{FF2B5EF4-FFF2-40B4-BE49-F238E27FC236}">
                <a16:creationId xmlns:a16="http://schemas.microsoft.com/office/drawing/2014/main" id="{CB8D9B0C-9FC1-FC34-7DC3-9BD3C781186A}"/>
              </a:ext>
            </a:extLst>
          </p:cNvPr>
          <p:cNvSpPr>
            <a:spLocks/>
          </p:cNvSpPr>
          <p:nvPr/>
        </p:nvSpPr>
        <p:spPr>
          <a:xfrm>
            <a:off x="7326970" y="4977767"/>
            <a:ext cx="2606128" cy="609927"/>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DBS Private Bank</a:t>
            </a:r>
            <a:r>
              <a:rPr lang="en-US" sz="1200" baseline="30000">
                <a:solidFill>
                  <a:schemeClr val="tx1"/>
                </a:solidFill>
              </a:rPr>
              <a:t>4</a:t>
            </a:r>
          </a:p>
        </p:txBody>
      </p:sp>
      <p:sp>
        <p:nvSpPr>
          <p:cNvPr id="87" name="Rectangle 86">
            <a:extLst>
              <a:ext uri="{FF2B5EF4-FFF2-40B4-BE49-F238E27FC236}">
                <a16:creationId xmlns:a16="http://schemas.microsoft.com/office/drawing/2014/main" id="{994CDEEB-367C-1B08-E30F-9104B370083D}"/>
              </a:ext>
            </a:extLst>
          </p:cNvPr>
          <p:cNvSpPr>
            <a:spLocks/>
          </p:cNvSpPr>
          <p:nvPr/>
        </p:nvSpPr>
        <p:spPr>
          <a:xfrm>
            <a:off x="6439853" y="4977767"/>
            <a:ext cx="833452" cy="609927"/>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Treasures Private Client</a:t>
            </a:r>
            <a:endParaRPr lang="en-US" sz="1200" baseline="30000">
              <a:solidFill>
                <a:schemeClr val="tx1"/>
              </a:solidFill>
            </a:endParaRPr>
          </a:p>
        </p:txBody>
      </p:sp>
      <p:sp>
        <p:nvSpPr>
          <p:cNvPr id="88" name="Rectangle 87">
            <a:extLst>
              <a:ext uri="{FF2B5EF4-FFF2-40B4-BE49-F238E27FC236}">
                <a16:creationId xmlns:a16="http://schemas.microsoft.com/office/drawing/2014/main" id="{159E8647-BA93-0CC0-1BD5-1FDA054B0C15}"/>
              </a:ext>
            </a:extLst>
          </p:cNvPr>
          <p:cNvSpPr>
            <a:spLocks/>
          </p:cNvSpPr>
          <p:nvPr/>
        </p:nvSpPr>
        <p:spPr>
          <a:xfrm>
            <a:off x="6738366" y="5656080"/>
            <a:ext cx="3194732" cy="24291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nb-NO" sz="1200">
                <a:solidFill>
                  <a:schemeClr val="tx1"/>
                </a:solidFill>
              </a:rPr>
              <a:t>SCB Private Banking (Julius Baer)</a:t>
            </a:r>
            <a:endParaRPr lang="en-US" sz="1200" baseline="30000">
              <a:solidFill>
                <a:schemeClr val="tx1"/>
              </a:solidFill>
            </a:endParaRPr>
          </a:p>
        </p:txBody>
      </p:sp>
      <p:sp>
        <p:nvSpPr>
          <p:cNvPr id="55" name="Rectangle 54">
            <a:extLst>
              <a:ext uri="{FF2B5EF4-FFF2-40B4-BE49-F238E27FC236}">
                <a16:creationId xmlns:a16="http://schemas.microsoft.com/office/drawing/2014/main" id="{750A4874-200A-0C7E-D0A4-075DB805F0D4}"/>
              </a:ext>
            </a:extLst>
          </p:cNvPr>
          <p:cNvSpPr>
            <a:spLocks/>
          </p:cNvSpPr>
          <p:nvPr/>
        </p:nvSpPr>
        <p:spPr>
          <a:xfrm>
            <a:off x="6843258" y="1930637"/>
            <a:ext cx="3089840" cy="24291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Goldman Sachs Private Banking</a:t>
            </a:r>
            <a:r>
              <a:rPr lang="en-US" sz="1200" baseline="30000">
                <a:solidFill>
                  <a:schemeClr val="tx1"/>
                </a:solidFill>
              </a:rPr>
              <a:t>1</a:t>
            </a:r>
            <a:r>
              <a:rPr lang="en-US" sz="1200">
                <a:solidFill>
                  <a:schemeClr val="tx1"/>
                </a:solidFill>
              </a:rPr>
              <a:t> </a:t>
            </a:r>
          </a:p>
        </p:txBody>
      </p:sp>
      <p:sp>
        <p:nvSpPr>
          <p:cNvPr id="89" name="Rectangle 88">
            <a:extLst>
              <a:ext uri="{FF2B5EF4-FFF2-40B4-BE49-F238E27FC236}">
                <a16:creationId xmlns:a16="http://schemas.microsoft.com/office/drawing/2014/main" id="{5C5EBAAA-AF3B-AB47-F9BE-1B2387893135}"/>
              </a:ext>
            </a:extLst>
          </p:cNvPr>
          <p:cNvSpPr>
            <a:spLocks/>
          </p:cNvSpPr>
          <p:nvPr/>
        </p:nvSpPr>
        <p:spPr>
          <a:xfrm>
            <a:off x="6738366" y="5967385"/>
            <a:ext cx="3194732" cy="24291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err="1">
                <a:solidFill>
                  <a:schemeClr val="tx1"/>
                </a:solidFill>
              </a:rPr>
              <a:t>KBank</a:t>
            </a:r>
            <a:r>
              <a:rPr lang="en-US" sz="1200">
                <a:solidFill>
                  <a:schemeClr val="tx1"/>
                </a:solidFill>
              </a:rPr>
              <a:t> Private Banking</a:t>
            </a:r>
            <a:endParaRPr lang="en-US" sz="1200" baseline="30000">
              <a:solidFill>
                <a:schemeClr val="tx1"/>
              </a:solidFill>
            </a:endParaRPr>
          </a:p>
        </p:txBody>
      </p:sp>
      <p:cxnSp>
        <p:nvCxnSpPr>
          <p:cNvPr id="102" name="GreyLineSeparatorDefaultVertical 51">
            <a:extLst>
              <a:ext uri="{FF2B5EF4-FFF2-40B4-BE49-F238E27FC236}">
                <a16:creationId xmlns:a16="http://schemas.microsoft.com/office/drawing/2014/main" id="{E123C7EC-86E4-0E7B-1253-D1D691FDF847}"/>
              </a:ext>
            </a:extLst>
          </p:cNvPr>
          <p:cNvCxnSpPr>
            <a:cxnSpLocks/>
          </p:cNvCxnSpPr>
          <p:nvPr>
            <p:custDataLst>
              <p:tags r:id="rId7"/>
            </p:custDataLst>
          </p:nvPr>
        </p:nvCxnSpPr>
        <p:spPr>
          <a:xfrm>
            <a:off x="4411933" y="1930637"/>
            <a:ext cx="0" cy="4279661"/>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CC433340-9141-CD68-0F82-0359D272823A}"/>
              </a:ext>
            </a:extLst>
          </p:cNvPr>
          <p:cNvCxnSpPr>
            <a:cxnSpLocks/>
          </p:cNvCxnSpPr>
          <p:nvPr/>
        </p:nvCxnSpPr>
        <p:spPr>
          <a:xfrm>
            <a:off x="1497500" y="2207743"/>
            <a:ext cx="10139761"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993A668D-E107-656F-2AEF-DCC2E83ADE0B}"/>
              </a:ext>
            </a:extLst>
          </p:cNvPr>
          <p:cNvCxnSpPr>
            <a:cxnSpLocks/>
          </p:cNvCxnSpPr>
          <p:nvPr/>
        </p:nvCxnSpPr>
        <p:spPr>
          <a:xfrm>
            <a:off x="1497500" y="2519042"/>
            <a:ext cx="10139761"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A133EEE4-B855-E0AF-2B2F-65EDD71A0DF8}"/>
              </a:ext>
            </a:extLst>
          </p:cNvPr>
          <p:cNvCxnSpPr>
            <a:cxnSpLocks/>
          </p:cNvCxnSpPr>
          <p:nvPr/>
        </p:nvCxnSpPr>
        <p:spPr>
          <a:xfrm>
            <a:off x="1497500" y="3119989"/>
            <a:ext cx="10139761"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ABBCE6DA-21A5-D9AE-3EDA-FCA6AA5CC7EF}"/>
              </a:ext>
            </a:extLst>
          </p:cNvPr>
          <p:cNvCxnSpPr>
            <a:cxnSpLocks/>
          </p:cNvCxnSpPr>
          <p:nvPr/>
        </p:nvCxnSpPr>
        <p:spPr>
          <a:xfrm>
            <a:off x="554734" y="3431288"/>
            <a:ext cx="11082528"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C6CBEDE-9DEA-6955-83D0-44C3B3616216}"/>
              </a:ext>
            </a:extLst>
          </p:cNvPr>
          <p:cNvCxnSpPr>
            <a:cxnSpLocks/>
          </p:cNvCxnSpPr>
          <p:nvPr/>
        </p:nvCxnSpPr>
        <p:spPr>
          <a:xfrm>
            <a:off x="1497501" y="4156359"/>
            <a:ext cx="10139761"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1B9629AD-C2F4-DEC8-B923-6749AFE8560C}"/>
              </a:ext>
            </a:extLst>
          </p:cNvPr>
          <p:cNvCxnSpPr>
            <a:cxnSpLocks/>
          </p:cNvCxnSpPr>
          <p:nvPr/>
        </p:nvCxnSpPr>
        <p:spPr>
          <a:xfrm>
            <a:off x="554734" y="4632275"/>
            <a:ext cx="11082528"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0B5EA88-4935-D7EA-B6F6-9D361D495A91}"/>
              </a:ext>
            </a:extLst>
          </p:cNvPr>
          <p:cNvCxnSpPr>
            <a:cxnSpLocks/>
          </p:cNvCxnSpPr>
          <p:nvPr/>
        </p:nvCxnSpPr>
        <p:spPr>
          <a:xfrm>
            <a:off x="1497501" y="4943574"/>
            <a:ext cx="10139761"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546932E-236A-5657-B216-BAFB5DC8D10B}"/>
              </a:ext>
            </a:extLst>
          </p:cNvPr>
          <p:cNvCxnSpPr>
            <a:cxnSpLocks/>
          </p:cNvCxnSpPr>
          <p:nvPr/>
        </p:nvCxnSpPr>
        <p:spPr>
          <a:xfrm>
            <a:off x="1497501" y="5621887"/>
            <a:ext cx="10139761"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10EFBD7-0467-9D9F-D838-4E9B12730560}"/>
              </a:ext>
            </a:extLst>
          </p:cNvPr>
          <p:cNvCxnSpPr>
            <a:cxnSpLocks/>
          </p:cNvCxnSpPr>
          <p:nvPr/>
        </p:nvCxnSpPr>
        <p:spPr>
          <a:xfrm>
            <a:off x="1497501" y="5933186"/>
            <a:ext cx="10139761" cy="0"/>
          </a:xfrm>
          <a:prstGeom prst="line">
            <a:avLst/>
          </a:prstGeom>
          <a:ln w="6350" cap="flat">
            <a:solidFill>
              <a:schemeClr val="bg1">
                <a:lumMod val="6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BDA0B441-C97B-6781-C492-73D99E56E97B}"/>
              </a:ext>
            </a:extLst>
          </p:cNvPr>
          <p:cNvSpPr>
            <a:spLocks/>
          </p:cNvSpPr>
          <p:nvPr/>
        </p:nvSpPr>
        <p:spPr>
          <a:xfrm>
            <a:off x="3120676" y="3465481"/>
            <a:ext cx="3032027" cy="656685"/>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HSBC </a:t>
            </a:r>
            <a:br>
              <a:rPr lang="en-US" sz="1200">
                <a:solidFill>
                  <a:schemeClr val="tx1"/>
                </a:solidFill>
              </a:rPr>
            </a:br>
            <a:r>
              <a:rPr lang="en-US" sz="1200">
                <a:solidFill>
                  <a:schemeClr val="tx1"/>
                </a:solidFill>
              </a:rPr>
              <a:t>Premier</a:t>
            </a:r>
            <a:endParaRPr lang="en-US" sz="1200" baseline="30000">
              <a:solidFill>
                <a:schemeClr val="tx1"/>
              </a:solidFill>
            </a:endParaRPr>
          </a:p>
        </p:txBody>
      </p:sp>
      <p:sp>
        <p:nvSpPr>
          <p:cNvPr id="119" name="Rectangle 118">
            <a:extLst>
              <a:ext uri="{FF2B5EF4-FFF2-40B4-BE49-F238E27FC236}">
                <a16:creationId xmlns:a16="http://schemas.microsoft.com/office/drawing/2014/main" id="{FAC42CA8-1099-0816-72EF-A32E0FBAC02E}"/>
              </a:ext>
            </a:extLst>
          </p:cNvPr>
          <p:cNvSpPr>
            <a:spLocks/>
          </p:cNvSpPr>
          <p:nvPr/>
        </p:nvSpPr>
        <p:spPr>
          <a:xfrm>
            <a:off x="2665310" y="3465481"/>
            <a:ext cx="578811" cy="656685"/>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baseline="30000">
              <a:solidFill>
                <a:schemeClr val="tx1"/>
              </a:solidFill>
            </a:endParaRPr>
          </a:p>
        </p:txBody>
      </p:sp>
      <p:sp>
        <p:nvSpPr>
          <p:cNvPr id="120" name="Rectangle 119">
            <a:extLst>
              <a:ext uri="{FF2B5EF4-FFF2-40B4-BE49-F238E27FC236}">
                <a16:creationId xmlns:a16="http://schemas.microsoft.com/office/drawing/2014/main" id="{5ECDBFBE-DFC0-EB21-29DD-477039CA7EB5}"/>
              </a:ext>
            </a:extLst>
          </p:cNvPr>
          <p:cNvSpPr>
            <a:spLocks/>
          </p:cNvSpPr>
          <p:nvPr/>
        </p:nvSpPr>
        <p:spPr>
          <a:xfrm>
            <a:off x="2665311" y="4190552"/>
            <a:ext cx="2289266" cy="407530"/>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Citi Priority</a:t>
            </a:r>
            <a:endParaRPr lang="en-US" sz="1200" baseline="30000">
              <a:solidFill>
                <a:schemeClr val="tx1"/>
              </a:solidFill>
            </a:endParaRPr>
          </a:p>
        </p:txBody>
      </p:sp>
      <p:sp>
        <p:nvSpPr>
          <p:cNvPr id="123" name="Rectangle 122">
            <a:extLst>
              <a:ext uri="{FF2B5EF4-FFF2-40B4-BE49-F238E27FC236}">
                <a16:creationId xmlns:a16="http://schemas.microsoft.com/office/drawing/2014/main" id="{A9061306-C1C5-DB25-A2AF-DCFD47CD5AEB}"/>
              </a:ext>
            </a:extLst>
          </p:cNvPr>
          <p:cNvSpPr>
            <a:spLocks/>
          </p:cNvSpPr>
          <p:nvPr/>
        </p:nvSpPr>
        <p:spPr>
          <a:xfrm>
            <a:off x="5008241" y="4190552"/>
            <a:ext cx="1144465" cy="407530"/>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Citi Gold</a:t>
            </a:r>
            <a:endParaRPr lang="en-US" sz="1200" baseline="30000">
              <a:solidFill>
                <a:schemeClr val="tx1"/>
              </a:solidFill>
            </a:endParaRPr>
          </a:p>
        </p:txBody>
      </p:sp>
      <p:sp>
        <p:nvSpPr>
          <p:cNvPr id="124" name="Rectangle 123">
            <a:extLst>
              <a:ext uri="{FF2B5EF4-FFF2-40B4-BE49-F238E27FC236}">
                <a16:creationId xmlns:a16="http://schemas.microsoft.com/office/drawing/2014/main" id="{B95AC06D-7F55-D965-D88E-B5DDBD51593E}"/>
              </a:ext>
            </a:extLst>
          </p:cNvPr>
          <p:cNvSpPr>
            <a:spLocks/>
          </p:cNvSpPr>
          <p:nvPr/>
        </p:nvSpPr>
        <p:spPr>
          <a:xfrm>
            <a:off x="2665311" y="4666468"/>
            <a:ext cx="3487395" cy="242913"/>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CIMB Preferred</a:t>
            </a:r>
            <a:r>
              <a:rPr lang="en-US" sz="1200" baseline="30000">
                <a:solidFill>
                  <a:schemeClr val="tx1"/>
                </a:solidFill>
              </a:rPr>
              <a:t>1</a:t>
            </a:r>
          </a:p>
        </p:txBody>
      </p:sp>
      <p:sp>
        <p:nvSpPr>
          <p:cNvPr id="126" name="Rectangle 125">
            <a:extLst>
              <a:ext uri="{FF2B5EF4-FFF2-40B4-BE49-F238E27FC236}">
                <a16:creationId xmlns:a16="http://schemas.microsoft.com/office/drawing/2014/main" id="{93DF7984-B8BB-6CC7-67EA-0C06DD35DF54}"/>
              </a:ext>
            </a:extLst>
          </p:cNvPr>
          <p:cNvSpPr>
            <a:spLocks/>
          </p:cNvSpPr>
          <p:nvPr/>
        </p:nvSpPr>
        <p:spPr>
          <a:xfrm>
            <a:off x="4482257" y="4977767"/>
            <a:ext cx="1676298" cy="609927"/>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a:solidFill>
                  <a:schemeClr val="tx1"/>
                </a:solidFill>
              </a:rPr>
              <a:t>DBS Treasures</a:t>
            </a:r>
            <a:endParaRPr lang="en-US" sz="1200" baseline="30000">
              <a:solidFill>
                <a:schemeClr val="tx1"/>
              </a:solidFill>
            </a:endParaRPr>
          </a:p>
        </p:txBody>
      </p:sp>
      <p:sp>
        <p:nvSpPr>
          <p:cNvPr id="127" name="Rectangle 126">
            <a:extLst>
              <a:ext uri="{FF2B5EF4-FFF2-40B4-BE49-F238E27FC236}">
                <a16:creationId xmlns:a16="http://schemas.microsoft.com/office/drawing/2014/main" id="{96AA2852-71C5-9BCE-5628-AE776637F692}"/>
              </a:ext>
            </a:extLst>
          </p:cNvPr>
          <p:cNvSpPr>
            <a:spLocks/>
          </p:cNvSpPr>
          <p:nvPr/>
        </p:nvSpPr>
        <p:spPr>
          <a:xfrm>
            <a:off x="2665311" y="5656080"/>
            <a:ext cx="2289264" cy="242913"/>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nb-NO" sz="1200">
                <a:solidFill>
                  <a:schemeClr val="tx1"/>
                </a:solidFill>
              </a:rPr>
              <a:t>SCB Prime</a:t>
            </a:r>
            <a:endParaRPr lang="en-US" sz="1200" baseline="30000">
              <a:solidFill>
                <a:schemeClr val="tx1"/>
              </a:solidFill>
            </a:endParaRPr>
          </a:p>
        </p:txBody>
      </p:sp>
      <p:sp>
        <p:nvSpPr>
          <p:cNvPr id="129" name="Rectangle 128">
            <a:extLst>
              <a:ext uri="{FF2B5EF4-FFF2-40B4-BE49-F238E27FC236}">
                <a16:creationId xmlns:a16="http://schemas.microsoft.com/office/drawing/2014/main" id="{165FAEC4-1904-CAE9-F4A0-9197A1492412}"/>
              </a:ext>
            </a:extLst>
          </p:cNvPr>
          <p:cNvSpPr>
            <a:spLocks/>
          </p:cNvSpPr>
          <p:nvPr/>
        </p:nvSpPr>
        <p:spPr>
          <a:xfrm>
            <a:off x="2665311" y="5967385"/>
            <a:ext cx="2289264" cy="242913"/>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err="1">
                <a:solidFill>
                  <a:schemeClr val="tx1"/>
                </a:solidFill>
              </a:rPr>
              <a:t>KBank</a:t>
            </a:r>
            <a:r>
              <a:rPr lang="en-US" sz="1200">
                <a:solidFill>
                  <a:schemeClr val="tx1"/>
                </a:solidFill>
              </a:rPr>
              <a:t> Premier</a:t>
            </a:r>
            <a:endParaRPr lang="en-US" sz="1200" baseline="30000">
              <a:solidFill>
                <a:schemeClr val="tx1"/>
              </a:solidFill>
            </a:endParaRPr>
          </a:p>
        </p:txBody>
      </p:sp>
      <p:sp>
        <p:nvSpPr>
          <p:cNvPr id="131" name="Rectangle 130">
            <a:extLst>
              <a:ext uri="{FF2B5EF4-FFF2-40B4-BE49-F238E27FC236}">
                <a16:creationId xmlns:a16="http://schemas.microsoft.com/office/drawing/2014/main" id="{98DFC13C-B4F5-5252-9096-1E1BDE2DFA24}"/>
              </a:ext>
            </a:extLst>
          </p:cNvPr>
          <p:cNvSpPr>
            <a:spLocks/>
          </p:cNvSpPr>
          <p:nvPr/>
        </p:nvSpPr>
        <p:spPr>
          <a:xfrm>
            <a:off x="5013991" y="5656080"/>
            <a:ext cx="1664959" cy="242913"/>
          </a:xfrm>
          <a:prstGeom prst="rect">
            <a:avLst/>
          </a:prstGeom>
          <a:solidFill>
            <a:schemeClr val="accent5"/>
          </a:solidFill>
          <a:ln w="6350" cap="sq">
            <a:solidFill>
              <a:schemeClr val="accent5"/>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nb-NO" sz="1200">
                <a:solidFill>
                  <a:schemeClr val="tx1"/>
                </a:solidFill>
              </a:rPr>
              <a:t>SCB First</a:t>
            </a:r>
            <a:endParaRPr lang="en-US" sz="1200" baseline="30000">
              <a:solidFill>
                <a:schemeClr val="tx1"/>
              </a:solidFill>
            </a:endParaRPr>
          </a:p>
        </p:txBody>
      </p:sp>
      <p:sp>
        <p:nvSpPr>
          <p:cNvPr id="132" name="Rectangle 131">
            <a:extLst>
              <a:ext uri="{FF2B5EF4-FFF2-40B4-BE49-F238E27FC236}">
                <a16:creationId xmlns:a16="http://schemas.microsoft.com/office/drawing/2014/main" id="{DD3A2C0B-830B-DC8B-5458-0597067A6BAA}"/>
              </a:ext>
            </a:extLst>
          </p:cNvPr>
          <p:cNvSpPr>
            <a:spLocks/>
          </p:cNvSpPr>
          <p:nvPr/>
        </p:nvSpPr>
        <p:spPr>
          <a:xfrm>
            <a:off x="5013991" y="5967385"/>
            <a:ext cx="1664959" cy="242913"/>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err="1">
                <a:solidFill>
                  <a:schemeClr val="tx1"/>
                </a:solidFill>
              </a:rPr>
              <a:t>KBank</a:t>
            </a:r>
            <a:r>
              <a:rPr lang="en-US" sz="1200">
                <a:solidFill>
                  <a:schemeClr val="tx1"/>
                </a:solidFill>
              </a:rPr>
              <a:t> The Wisdom</a:t>
            </a:r>
            <a:endParaRPr lang="en-US" sz="1200" baseline="30000">
              <a:solidFill>
                <a:schemeClr val="tx1"/>
              </a:solidFill>
            </a:endParaRPr>
          </a:p>
        </p:txBody>
      </p:sp>
      <p:grpSp>
        <p:nvGrpSpPr>
          <p:cNvPr id="141" name="CheckmarkWhite 141">
            <a:extLst>
              <a:ext uri="{FF2B5EF4-FFF2-40B4-BE49-F238E27FC236}">
                <a16:creationId xmlns:a16="http://schemas.microsoft.com/office/drawing/2014/main" id="{C9A3A051-456A-43B3-92BA-92786D6DE9A5}"/>
              </a:ext>
            </a:extLst>
          </p:cNvPr>
          <p:cNvGrpSpPr>
            <a:grpSpLocks noChangeAspect="1"/>
          </p:cNvGrpSpPr>
          <p:nvPr>
            <p:custDataLst>
              <p:tags r:id="rId8"/>
            </p:custDataLst>
          </p:nvPr>
        </p:nvGrpSpPr>
        <p:grpSpPr>
          <a:xfrm>
            <a:off x="10073748" y="1945149"/>
            <a:ext cx="213888" cy="213888"/>
            <a:chOff x="1016000" y="1016000"/>
            <a:chExt cx="396228" cy="396228"/>
          </a:xfrm>
        </p:grpSpPr>
        <p:sp>
          <p:nvSpPr>
            <p:cNvPr id="138" name="Oval 137">
              <a:extLst>
                <a:ext uri="{FF2B5EF4-FFF2-40B4-BE49-F238E27FC236}">
                  <a16:creationId xmlns:a16="http://schemas.microsoft.com/office/drawing/2014/main" id="{3430B61B-DF87-2302-79C4-AF389F99AF08}"/>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40" name="Graphic 139">
              <a:extLst>
                <a:ext uri="{FF2B5EF4-FFF2-40B4-BE49-F238E27FC236}">
                  <a16:creationId xmlns:a16="http://schemas.microsoft.com/office/drawing/2014/main" id="{AE45C512-CD52-05AB-8C11-B777C2B75CFA}"/>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43" name="CheckmarkWhite 141">
            <a:extLst>
              <a:ext uri="{FF2B5EF4-FFF2-40B4-BE49-F238E27FC236}">
                <a16:creationId xmlns:a16="http://schemas.microsoft.com/office/drawing/2014/main" id="{5D16DA64-279F-872B-A550-A1CD07C00197}"/>
              </a:ext>
            </a:extLst>
          </p:cNvPr>
          <p:cNvGrpSpPr>
            <a:grpSpLocks noChangeAspect="1"/>
          </p:cNvGrpSpPr>
          <p:nvPr>
            <p:custDataLst>
              <p:tags r:id="rId9"/>
            </p:custDataLst>
          </p:nvPr>
        </p:nvGrpSpPr>
        <p:grpSpPr>
          <a:xfrm>
            <a:off x="10073748" y="2256448"/>
            <a:ext cx="213888" cy="213888"/>
            <a:chOff x="1016000" y="1016000"/>
            <a:chExt cx="396228" cy="396228"/>
          </a:xfrm>
        </p:grpSpPr>
        <p:sp>
          <p:nvSpPr>
            <p:cNvPr id="144" name="Oval 143">
              <a:extLst>
                <a:ext uri="{FF2B5EF4-FFF2-40B4-BE49-F238E27FC236}">
                  <a16:creationId xmlns:a16="http://schemas.microsoft.com/office/drawing/2014/main" id="{016679A8-F41B-E008-92C0-8767882A935A}"/>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45" name="Graphic 144">
              <a:extLst>
                <a:ext uri="{FF2B5EF4-FFF2-40B4-BE49-F238E27FC236}">
                  <a16:creationId xmlns:a16="http://schemas.microsoft.com/office/drawing/2014/main" id="{E8257A87-7F01-D181-0D5F-C7715FF3DAB7}"/>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46" name="CheckmarkWhite 141">
            <a:extLst>
              <a:ext uri="{FF2B5EF4-FFF2-40B4-BE49-F238E27FC236}">
                <a16:creationId xmlns:a16="http://schemas.microsoft.com/office/drawing/2014/main" id="{2A0A88CA-A558-ADFF-2D9D-A03505AA5CFE}"/>
              </a:ext>
            </a:extLst>
          </p:cNvPr>
          <p:cNvGrpSpPr>
            <a:grpSpLocks noChangeAspect="1"/>
          </p:cNvGrpSpPr>
          <p:nvPr>
            <p:custDataLst>
              <p:tags r:id="rId10"/>
            </p:custDataLst>
          </p:nvPr>
        </p:nvGrpSpPr>
        <p:grpSpPr>
          <a:xfrm>
            <a:off x="10073748" y="2712571"/>
            <a:ext cx="213888" cy="213888"/>
            <a:chOff x="1016000" y="1016000"/>
            <a:chExt cx="396228" cy="396228"/>
          </a:xfrm>
        </p:grpSpPr>
        <p:sp>
          <p:nvSpPr>
            <p:cNvPr id="147" name="Oval 146">
              <a:extLst>
                <a:ext uri="{FF2B5EF4-FFF2-40B4-BE49-F238E27FC236}">
                  <a16:creationId xmlns:a16="http://schemas.microsoft.com/office/drawing/2014/main" id="{E622A38B-AA72-0143-2F5C-DEC78E1865B0}"/>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48" name="Graphic 147">
              <a:extLst>
                <a:ext uri="{FF2B5EF4-FFF2-40B4-BE49-F238E27FC236}">
                  <a16:creationId xmlns:a16="http://schemas.microsoft.com/office/drawing/2014/main" id="{FBBAB8DA-080D-C9ED-56BE-0735F5814F1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49" name="CheckmarkWhite 141">
            <a:extLst>
              <a:ext uri="{FF2B5EF4-FFF2-40B4-BE49-F238E27FC236}">
                <a16:creationId xmlns:a16="http://schemas.microsoft.com/office/drawing/2014/main" id="{0E679395-351C-4822-66D7-57A0AF71341E}"/>
              </a:ext>
            </a:extLst>
          </p:cNvPr>
          <p:cNvGrpSpPr>
            <a:grpSpLocks noChangeAspect="1"/>
          </p:cNvGrpSpPr>
          <p:nvPr>
            <p:custDataLst>
              <p:tags r:id="rId11"/>
            </p:custDataLst>
          </p:nvPr>
        </p:nvGrpSpPr>
        <p:grpSpPr>
          <a:xfrm>
            <a:off x="10073748" y="3168694"/>
            <a:ext cx="213888" cy="213888"/>
            <a:chOff x="1016000" y="1016000"/>
            <a:chExt cx="396228" cy="396228"/>
          </a:xfrm>
        </p:grpSpPr>
        <p:sp>
          <p:nvSpPr>
            <p:cNvPr id="150" name="Oval 149">
              <a:extLst>
                <a:ext uri="{FF2B5EF4-FFF2-40B4-BE49-F238E27FC236}">
                  <a16:creationId xmlns:a16="http://schemas.microsoft.com/office/drawing/2014/main" id="{23F3408A-9D8D-F40E-249E-6C6329030F1F}"/>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51" name="Graphic 150">
              <a:extLst>
                <a:ext uri="{FF2B5EF4-FFF2-40B4-BE49-F238E27FC236}">
                  <a16:creationId xmlns:a16="http://schemas.microsoft.com/office/drawing/2014/main" id="{235ACAEF-E986-92B7-E454-A74727BA97A7}"/>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52" name="CheckmarkWhite 141">
            <a:extLst>
              <a:ext uri="{FF2B5EF4-FFF2-40B4-BE49-F238E27FC236}">
                <a16:creationId xmlns:a16="http://schemas.microsoft.com/office/drawing/2014/main" id="{BFD64328-44AF-1EBF-0454-AF1B21E8AECB}"/>
              </a:ext>
            </a:extLst>
          </p:cNvPr>
          <p:cNvGrpSpPr>
            <a:grpSpLocks noChangeAspect="1"/>
          </p:cNvGrpSpPr>
          <p:nvPr>
            <p:custDataLst>
              <p:tags r:id="rId12"/>
            </p:custDataLst>
          </p:nvPr>
        </p:nvGrpSpPr>
        <p:grpSpPr>
          <a:xfrm>
            <a:off x="10073748" y="3686879"/>
            <a:ext cx="213888" cy="213888"/>
            <a:chOff x="1016000" y="1016000"/>
            <a:chExt cx="396228" cy="396228"/>
          </a:xfrm>
        </p:grpSpPr>
        <p:sp>
          <p:nvSpPr>
            <p:cNvPr id="153" name="Oval 152">
              <a:extLst>
                <a:ext uri="{FF2B5EF4-FFF2-40B4-BE49-F238E27FC236}">
                  <a16:creationId xmlns:a16="http://schemas.microsoft.com/office/drawing/2014/main" id="{A6786F24-41D2-BA00-0C9E-DA9B55E4CFCF}"/>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54" name="Graphic 153">
              <a:extLst>
                <a:ext uri="{FF2B5EF4-FFF2-40B4-BE49-F238E27FC236}">
                  <a16:creationId xmlns:a16="http://schemas.microsoft.com/office/drawing/2014/main" id="{E59B52DF-F4D6-55E7-745D-B9B1412AF474}"/>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55" name="CheckmarkWhite 141">
            <a:extLst>
              <a:ext uri="{FF2B5EF4-FFF2-40B4-BE49-F238E27FC236}">
                <a16:creationId xmlns:a16="http://schemas.microsoft.com/office/drawing/2014/main" id="{726286E5-846F-0054-32BF-7A2CB205BB2A}"/>
              </a:ext>
            </a:extLst>
          </p:cNvPr>
          <p:cNvGrpSpPr>
            <a:grpSpLocks noChangeAspect="1"/>
          </p:cNvGrpSpPr>
          <p:nvPr>
            <p:custDataLst>
              <p:tags r:id="rId13"/>
            </p:custDataLst>
          </p:nvPr>
        </p:nvGrpSpPr>
        <p:grpSpPr>
          <a:xfrm>
            <a:off x="10073748" y="4287373"/>
            <a:ext cx="213888" cy="213888"/>
            <a:chOff x="1016000" y="1016000"/>
            <a:chExt cx="396228" cy="396228"/>
          </a:xfrm>
        </p:grpSpPr>
        <p:sp>
          <p:nvSpPr>
            <p:cNvPr id="156" name="Oval 155">
              <a:extLst>
                <a:ext uri="{FF2B5EF4-FFF2-40B4-BE49-F238E27FC236}">
                  <a16:creationId xmlns:a16="http://schemas.microsoft.com/office/drawing/2014/main" id="{A9A73120-59DD-2E6F-6499-EDDA76F7065D}"/>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57" name="Graphic 156">
              <a:extLst>
                <a:ext uri="{FF2B5EF4-FFF2-40B4-BE49-F238E27FC236}">
                  <a16:creationId xmlns:a16="http://schemas.microsoft.com/office/drawing/2014/main" id="{483FA162-5298-74D8-16AE-0511A240D65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61" name="CheckmarkWhite 141">
            <a:extLst>
              <a:ext uri="{FF2B5EF4-FFF2-40B4-BE49-F238E27FC236}">
                <a16:creationId xmlns:a16="http://schemas.microsoft.com/office/drawing/2014/main" id="{97610015-85E5-BF27-A0F7-7F50865CC8D2}"/>
              </a:ext>
            </a:extLst>
          </p:cNvPr>
          <p:cNvGrpSpPr>
            <a:grpSpLocks noChangeAspect="1"/>
          </p:cNvGrpSpPr>
          <p:nvPr>
            <p:custDataLst>
              <p:tags r:id="rId14"/>
            </p:custDataLst>
          </p:nvPr>
        </p:nvGrpSpPr>
        <p:grpSpPr>
          <a:xfrm>
            <a:off x="10073748" y="5175786"/>
            <a:ext cx="213888" cy="213888"/>
            <a:chOff x="1016000" y="1016000"/>
            <a:chExt cx="396228" cy="396228"/>
          </a:xfrm>
        </p:grpSpPr>
        <p:sp>
          <p:nvSpPr>
            <p:cNvPr id="162" name="Oval 161">
              <a:extLst>
                <a:ext uri="{FF2B5EF4-FFF2-40B4-BE49-F238E27FC236}">
                  <a16:creationId xmlns:a16="http://schemas.microsoft.com/office/drawing/2014/main" id="{77D13355-CC1A-5695-1B21-BFD3E9F35B31}"/>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63" name="Graphic 162">
              <a:extLst>
                <a:ext uri="{FF2B5EF4-FFF2-40B4-BE49-F238E27FC236}">
                  <a16:creationId xmlns:a16="http://schemas.microsoft.com/office/drawing/2014/main" id="{73287621-D221-082D-36ED-228FA630683B}"/>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64" name="CheckmarkWhite 141">
            <a:extLst>
              <a:ext uri="{FF2B5EF4-FFF2-40B4-BE49-F238E27FC236}">
                <a16:creationId xmlns:a16="http://schemas.microsoft.com/office/drawing/2014/main" id="{BA485CB0-2183-F36D-F4F3-3C772E73EB64}"/>
              </a:ext>
            </a:extLst>
          </p:cNvPr>
          <p:cNvGrpSpPr>
            <a:grpSpLocks noChangeAspect="1"/>
          </p:cNvGrpSpPr>
          <p:nvPr>
            <p:custDataLst>
              <p:tags r:id="rId15"/>
            </p:custDataLst>
          </p:nvPr>
        </p:nvGrpSpPr>
        <p:grpSpPr>
          <a:xfrm>
            <a:off x="10073748" y="5670592"/>
            <a:ext cx="213888" cy="213888"/>
            <a:chOff x="1016000" y="1016000"/>
            <a:chExt cx="396228" cy="396228"/>
          </a:xfrm>
        </p:grpSpPr>
        <p:sp>
          <p:nvSpPr>
            <p:cNvPr id="165" name="Oval 164">
              <a:extLst>
                <a:ext uri="{FF2B5EF4-FFF2-40B4-BE49-F238E27FC236}">
                  <a16:creationId xmlns:a16="http://schemas.microsoft.com/office/drawing/2014/main" id="{677D8749-916B-410E-F5DE-61CEBD752AB2}"/>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66" name="Graphic 165">
              <a:extLst>
                <a:ext uri="{FF2B5EF4-FFF2-40B4-BE49-F238E27FC236}">
                  <a16:creationId xmlns:a16="http://schemas.microsoft.com/office/drawing/2014/main" id="{C8D2331B-B535-50D6-3387-4A9C2E5E56C0}"/>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grpSp>
        <p:nvGrpSpPr>
          <p:cNvPr id="167" name="CheckmarkWhite 141">
            <a:extLst>
              <a:ext uri="{FF2B5EF4-FFF2-40B4-BE49-F238E27FC236}">
                <a16:creationId xmlns:a16="http://schemas.microsoft.com/office/drawing/2014/main" id="{196963A9-C3D9-282C-B1D9-85A4D74F6E5A}"/>
              </a:ext>
            </a:extLst>
          </p:cNvPr>
          <p:cNvGrpSpPr>
            <a:grpSpLocks noChangeAspect="1"/>
          </p:cNvGrpSpPr>
          <p:nvPr>
            <p:custDataLst>
              <p:tags r:id="rId16"/>
            </p:custDataLst>
          </p:nvPr>
        </p:nvGrpSpPr>
        <p:grpSpPr>
          <a:xfrm>
            <a:off x="10073748" y="5981897"/>
            <a:ext cx="213888" cy="213888"/>
            <a:chOff x="1016000" y="1016000"/>
            <a:chExt cx="396228" cy="396228"/>
          </a:xfrm>
        </p:grpSpPr>
        <p:sp>
          <p:nvSpPr>
            <p:cNvPr id="168" name="Oval 167">
              <a:extLst>
                <a:ext uri="{FF2B5EF4-FFF2-40B4-BE49-F238E27FC236}">
                  <a16:creationId xmlns:a16="http://schemas.microsoft.com/office/drawing/2014/main" id="{B54247FB-B41D-C17F-EFEB-8658186BF2DD}"/>
                </a:ext>
              </a:extLst>
            </p:cNvPr>
            <p:cNvSpPr/>
            <p:nvPr/>
          </p:nvSpPr>
          <p:spPr>
            <a:xfrm>
              <a:off x="1016000" y="1016000"/>
              <a:ext cx="396228" cy="396228"/>
            </a:xfrm>
            <a:prstGeom prst="ellipse">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169" name="Graphic 168">
              <a:extLst>
                <a:ext uri="{FF2B5EF4-FFF2-40B4-BE49-F238E27FC236}">
                  <a16:creationId xmlns:a16="http://schemas.microsoft.com/office/drawing/2014/main" id="{BD62794E-0B63-FEDA-9DF7-B6E67E080E4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023614" y="1023614"/>
              <a:ext cx="381000" cy="381000"/>
            </a:xfrm>
            <a:prstGeom prst="rect">
              <a:avLst/>
            </a:prstGeom>
          </p:spPr>
        </p:pic>
      </p:grpSp>
      <p:sp>
        <p:nvSpPr>
          <p:cNvPr id="170" name="TextBox 169">
            <a:extLst>
              <a:ext uri="{FF2B5EF4-FFF2-40B4-BE49-F238E27FC236}">
                <a16:creationId xmlns:a16="http://schemas.microsoft.com/office/drawing/2014/main" id="{844B2561-AF31-F628-5A2B-B9D956EA2434}"/>
              </a:ext>
            </a:extLst>
          </p:cNvPr>
          <p:cNvSpPr txBox="1">
            <a:spLocks/>
          </p:cNvSpPr>
          <p:nvPr/>
        </p:nvSpPr>
        <p:spPr>
          <a:xfrm>
            <a:off x="10377917" y="2542516"/>
            <a:ext cx="1259344"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Global family office: Min AUM of USD 500Mn</a:t>
            </a:r>
          </a:p>
        </p:txBody>
      </p:sp>
      <p:sp>
        <p:nvSpPr>
          <p:cNvPr id="171" name="TextBox 170">
            <a:extLst>
              <a:ext uri="{FF2B5EF4-FFF2-40B4-BE49-F238E27FC236}">
                <a16:creationId xmlns:a16="http://schemas.microsoft.com/office/drawing/2014/main" id="{610223E3-B3E3-603D-9D36-D146195EA5D3}"/>
              </a:ext>
            </a:extLst>
          </p:cNvPr>
          <p:cNvSpPr txBox="1">
            <a:spLocks/>
          </p:cNvSpPr>
          <p:nvPr/>
        </p:nvSpPr>
        <p:spPr>
          <a:xfrm>
            <a:off x="10377917" y="3609157"/>
            <a:ext cx="1259344"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Min AUM of USD 30Mn</a:t>
            </a:r>
          </a:p>
        </p:txBody>
      </p:sp>
      <p:sp>
        <p:nvSpPr>
          <p:cNvPr id="172" name="TextBox 171">
            <a:extLst>
              <a:ext uri="{FF2B5EF4-FFF2-40B4-BE49-F238E27FC236}">
                <a16:creationId xmlns:a16="http://schemas.microsoft.com/office/drawing/2014/main" id="{2BAC850B-3430-2817-5A8E-D6FE511CC6FA}"/>
              </a:ext>
            </a:extLst>
          </p:cNvPr>
          <p:cNvSpPr txBox="1">
            <a:spLocks/>
          </p:cNvSpPr>
          <p:nvPr/>
        </p:nvSpPr>
        <p:spPr>
          <a:xfrm>
            <a:off x="10377917" y="5098064"/>
            <a:ext cx="1259344"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a:t>Min AUM of USD 11-15Mn</a:t>
            </a:r>
          </a:p>
        </p:txBody>
      </p:sp>
      <p:pic>
        <p:nvPicPr>
          <p:cNvPr id="173" name="Picture 172">
            <a:extLst>
              <a:ext uri="{FF2B5EF4-FFF2-40B4-BE49-F238E27FC236}">
                <a16:creationId xmlns:a16="http://schemas.microsoft.com/office/drawing/2014/main" id="{9F043766-4D92-0225-FBF3-24E69C374CE4}"/>
              </a:ext>
            </a:extLst>
          </p:cNvPr>
          <p:cNvPicPr>
            <a:picLocks noChangeAspect="1"/>
          </p:cNvPicPr>
          <p:nvPr>
            <p:custDataLst>
              <p:tags r:id="rId17"/>
            </p:custDataLst>
          </p:nvPr>
        </p:nvPicPr>
        <p:blipFill>
          <a:blip r:embed="rId29"/>
          <a:stretch>
            <a:fillRect/>
          </a:stretch>
        </p:blipFill>
        <p:spPr>
          <a:xfrm>
            <a:off x="1497500" y="1893963"/>
            <a:ext cx="517174" cy="289616"/>
          </a:xfrm>
          <a:prstGeom prst="rect">
            <a:avLst/>
          </a:prstGeom>
        </p:spPr>
      </p:pic>
      <p:pic>
        <p:nvPicPr>
          <p:cNvPr id="174" name="Picture 173">
            <a:extLst>
              <a:ext uri="{FF2B5EF4-FFF2-40B4-BE49-F238E27FC236}">
                <a16:creationId xmlns:a16="http://schemas.microsoft.com/office/drawing/2014/main" id="{54A777D3-1D6C-FC9E-27A2-7BEDE49F534A}"/>
              </a:ext>
            </a:extLst>
          </p:cNvPr>
          <p:cNvPicPr>
            <a:picLocks noChangeAspect="1"/>
          </p:cNvPicPr>
          <p:nvPr>
            <p:custDataLst>
              <p:tags r:id="rId18"/>
            </p:custDataLst>
          </p:nvPr>
        </p:nvPicPr>
        <p:blipFill>
          <a:blip r:embed="rId30"/>
          <a:srcRect l="4441" t="13898" r="3854" b="13819"/>
          <a:stretch>
            <a:fillRect/>
          </a:stretch>
        </p:blipFill>
        <p:spPr>
          <a:xfrm>
            <a:off x="1497500" y="2248157"/>
            <a:ext cx="1174802" cy="230472"/>
          </a:xfrm>
          <a:prstGeom prst="rect">
            <a:avLst/>
          </a:prstGeom>
        </p:spPr>
      </p:pic>
      <p:pic>
        <p:nvPicPr>
          <p:cNvPr id="175" name="Picture 174">
            <a:extLst>
              <a:ext uri="{FF2B5EF4-FFF2-40B4-BE49-F238E27FC236}">
                <a16:creationId xmlns:a16="http://schemas.microsoft.com/office/drawing/2014/main" id="{630DCB97-D5BA-3955-D082-B222E35354AF}"/>
              </a:ext>
            </a:extLst>
          </p:cNvPr>
          <p:cNvPicPr>
            <a:picLocks noChangeAspect="1"/>
          </p:cNvPicPr>
          <p:nvPr>
            <p:custDataLst>
              <p:tags r:id="rId19"/>
            </p:custDataLst>
          </p:nvPr>
        </p:nvPicPr>
        <p:blipFill>
          <a:blip r:embed="rId31"/>
          <a:stretch>
            <a:fillRect/>
          </a:stretch>
        </p:blipFill>
        <p:spPr>
          <a:xfrm>
            <a:off x="1497500" y="2656326"/>
            <a:ext cx="890760" cy="326380"/>
          </a:xfrm>
          <a:prstGeom prst="rect">
            <a:avLst/>
          </a:prstGeom>
        </p:spPr>
      </p:pic>
      <p:pic>
        <p:nvPicPr>
          <p:cNvPr id="177" name="Picture 176">
            <a:extLst>
              <a:ext uri="{FF2B5EF4-FFF2-40B4-BE49-F238E27FC236}">
                <a16:creationId xmlns:a16="http://schemas.microsoft.com/office/drawing/2014/main" id="{E374C98C-58D9-8414-89AB-A853F59DD2DA}"/>
              </a:ext>
            </a:extLst>
          </p:cNvPr>
          <p:cNvPicPr>
            <a:picLocks noChangeAspect="1"/>
          </p:cNvPicPr>
          <p:nvPr>
            <p:custDataLst>
              <p:tags r:id="rId20"/>
            </p:custDataLst>
          </p:nvPr>
        </p:nvPicPr>
        <p:blipFill>
          <a:blip r:embed="rId32"/>
          <a:stretch>
            <a:fillRect/>
          </a:stretch>
        </p:blipFill>
        <p:spPr>
          <a:xfrm>
            <a:off x="1497500" y="3685699"/>
            <a:ext cx="807200" cy="216248"/>
          </a:xfrm>
          <a:prstGeom prst="rect">
            <a:avLst/>
          </a:prstGeom>
        </p:spPr>
      </p:pic>
      <p:pic>
        <p:nvPicPr>
          <p:cNvPr id="178" name="Picture 177">
            <a:extLst>
              <a:ext uri="{FF2B5EF4-FFF2-40B4-BE49-F238E27FC236}">
                <a16:creationId xmlns:a16="http://schemas.microsoft.com/office/drawing/2014/main" id="{D743AA18-3B6B-6CE7-D010-195A1ED993D3}"/>
              </a:ext>
            </a:extLst>
          </p:cNvPr>
          <p:cNvPicPr>
            <a:picLocks noChangeAspect="1"/>
          </p:cNvPicPr>
          <p:nvPr>
            <p:custDataLst>
              <p:tags r:id="rId21"/>
            </p:custDataLst>
          </p:nvPr>
        </p:nvPicPr>
        <p:blipFill>
          <a:blip r:embed="rId33"/>
          <a:stretch>
            <a:fillRect/>
          </a:stretch>
        </p:blipFill>
        <p:spPr>
          <a:xfrm>
            <a:off x="1497500" y="4265181"/>
            <a:ext cx="396124" cy="258272"/>
          </a:xfrm>
          <a:prstGeom prst="rect">
            <a:avLst/>
          </a:prstGeom>
        </p:spPr>
      </p:pic>
      <p:pic>
        <p:nvPicPr>
          <p:cNvPr id="179" name="Picture 178">
            <a:extLst>
              <a:ext uri="{FF2B5EF4-FFF2-40B4-BE49-F238E27FC236}">
                <a16:creationId xmlns:a16="http://schemas.microsoft.com/office/drawing/2014/main" id="{41D1C2B8-0949-40A3-2517-85981B080BE3}"/>
              </a:ext>
            </a:extLst>
          </p:cNvPr>
          <p:cNvPicPr>
            <a:picLocks noChangeAspect="1"/>
          </p:cNvPicPr>
          <p:nvPr>
            <p:custDataLst>
              <p:tags r:id="rId22"/>
            </p:custDataLst>
          </p:nvPr>
        </p:nvPicPr>
        <p:blipFill>
          <a:blip r:embed="rId34"/>
          <a:srcRect t="23660" b="25495"/>
          <a:stretch>
            <a:fillRect/>
          </a:stretch>
        </p:blipFill>
        <p:spPr>
          <a:xfrm>
            <a:off x="1497500" y="4667595"/>
            <a:ext cx="759438" cy="240658"/>
          </a:xfrm>
          <a:prstGeom prst="rect">
            <a:avLst/>
          </a:prstGeom>
        </p:spPr>
      </p:pic>
      <p:pic>
        <p:nvPicPr>
          <p:cNvPr id="180" name="Picture 179">
            <a:extLst>
              <a:ext uri="{FF2B5EF4-FFF2-40B4-BE49-F238E27FC236}">
                <a16:creationId xmlns:a16="http://schemas.microsoft.com/office/drawing/2014/main" id="{4BD8C23F-F081-8220-05F1-EA540132D2FD}"/>
              </a:ext>
            </a:extLst>
          </p:cNvPr>
          <p:cNvPicPr>
            <a:picLocks noChangeAspect="1"/>
          </p:cNvPicPr>
          <p:nvPr>
            <p:custDataLst>
              <p:tags r:id="rId23"/>
            </p:custDataLst>
          </p:nvPr>
        </p:nvPicPr>
        <p:blipFill>
          <a:blip r:embed="rId35"/>
          <a:srcRect t="24197" b="17604"/>
          <a:stretch>
            <a:fillRect/>
          </a:stretch>
        </p:blipFill>
        <p:spPr>
          <a:xfrm>
            <a:off x="1497500" y="5137098"/>
            <a:ext cx="805822" cy="291264"/>
          </a:xfrm>
          <a:prstGeom prst="rect">
            <a:avLst/>
          </a:prstGeom>
        </p:spPr>
      </p:pic>
      <p:pic>
        <p:nvPicPr>
          <p:cNvPr id="181" name="Picture 180">
            <a:extLst>
              <a:ext uri="{FF2B5EF4-FFF2-40B4-BE49-F238E27FC236}">
                <a16:creationId xmlns:a16="http://schemas.microsoft.com/office/drawing/2014/main" id="{8011C84A-928A-2D51-CD66-F6FA2E2BB3FD}"/>
              </a:ext>
            </a:extLst>
          </p:cNvPr>
          <p:cNvPicPr>
            <a:picLocks noChangeAspect="1"/>
          </p:cNvPicPr>
          <p:nvPr>
            <p:custDataLst>
              <p:tags r:id="rId24"/>
            </p:custDataLst>
          </p:nvPr>
        </p:nvPicPr>
        <p:blipFill>
          <a:blip r:embed="rId36"/>
          <a:stretch>
            <a:fillRect/>
          </a:stretch>
        </p:blipFill>
        <p:spPr>
          <a:xfrm>
            <a:off x="1497500" y="5660585"/>
            <a:ext cx="752226" cy="233902"/>
          </a:xfrm>
          <a:prstGeom prst="rect">
            <a:avLst/>
          </a:prstGeom>
        </p:spPr>
      </p:pic>
      <p:pic>
        <p:nvPicPr>
          <p:cNvPr id="183" name="Picture 182">
            <a:extLst>
              <a:ext uri="{FF2B5EF4-FFF2-40B4-BE49-F238E27FC236}">
                <a16:creationId xmlns:a16="http://schemas.microsoft.com/office/drawing/2014/main" id="{C352654D-4B17-476A-9553-0F95F1603788}"/>
              </a:ext>
            </a:extLst>
          </p:cNvPr>
          <p:cNvPicPr>
            <a:picLocks noChangeAspect="1"/>
          </p:cNvPicPr>
          <p:nvPr/>
        </p:nvPicPr>
        <p:blipFill>
          <a:blip r:embed="rId37"/>
          <a:stretch>
            <a:fillRect/>
          </a:stretch>
        </p:blipFill>
        <p:spPr>
          <a:xfrm>
            <a:off x="1497500" y="5988320"/>
            <a:ext cx="618832" cy="201042"/>
          </a:xfrm>
          <a:prstGeom prst="rect">
            <a:avLst/>
          </a:prstGeom>
        </p:spPr>
      </p:pic>
      <p:pic>
        <p:nvPicPr>
          <p:cNvPr id="186" name="Picture 185">
            <a:extLst>
              <a:ext uri="{FF2B5EF4-FFF2-40B4-BE49-F238E27FC236}">
                <a16:creationId xmlns:a16="http://schemas.microsoft.com/office/drawing/2014/main" id="{EAFB2A91-B630-14C1-5BC1-46B6AD8BB640}"/>
              </a:ext>
            </a:extLst>
          </p:cNvPr>
          <p:cNvPicPr>
            <a:picLocks noChangeAspect="1"/>
          </p:cNvPicPr>
          <p:nvPr/>
        </p:nvPicPr>
        <p:blipFill>
          <a:blip r:embed="rId38"/>
          <a:stretch>
            <a:fillRect/>
          </a:stretch>
        </p:blipFill>
        <p:spPr>
          <a:xfrm>
            <a:off x="1497500" y="3144814"/>
            <a:ext cx="536628" cy="261648"/>
          </a:xfrm>
          <a:prstGeom prst="rect">
            <a:avLst/>
          </a:prstGeom>
        </p:spPr>
      </p:pic>
      <p:grpSp>
        <p:nvGrpSpPr>
          <p:cNvPr id="200" name="Group 199">
            <a:extLst>
              <a:ext uri="{FF2B5EF4-FFF2-40B4-BE49-F238E27FC236}">
                <a16:creationId xmlns:a16="http://schemas.microsoft.com/office/drawing/2014/main" id="{8FF53A1B-4BC5-0912-8EC3-DC581E5D86D4}"/>
              </a:ext>
            </a:extLst>
          </p:cNvPr>
          <p:cNvGrpSpPr/>
          <p:nvPr/>
        </p:nvGrpSpPr>
        <p:grpSpPr>
          <a:xfrm>
            <a:off x="10111574" y="1087836"/>
            <a:ext cx="1525688" cy="172729"/>
            <a:chOff x="9278050" y="1087836"/>
            <a:chExt cx="1525688" cy="172729"/>
          </a:xfrm>
        </p:grpSpPr>
        <p:sp>
          <p:nvSpPr>
            <p:cNvPr id="189" name="RectangleLegend1">
              <a:extLst>
                <a:ext uri="{FF2B5EF4-FFF2-40B4-BE49-F238E27FC236}">
                  <a16:creationId xmlns:a16="http://schemas.microsoft.com/office/drawing/2014/main" id="{F5BA8E46-3EC2-66EA-555F-FFAC82648F3E}"/>
                </a:ext>
              </a:extLst>
            </p:cNvPr>
            <p:cNvSpPr/>
            <p:nvPr/>
          </p:nvSpPr>
          <p:spPr>
            <a:xfrm>
              <a:off x="9278050" y="1087836"/>
              <a:ext cx="172729" cy="17272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100" err="1">
                <a:solidFill>
                  <a:schemeClr val="tx1"/>
                </a:solidFill>
              </a:endParaRPr>
            </a:p>
          </p:txBody>
        </p:sp>
        <p:sp>
          <p:nvSpPr>
            <p:cNvPr id="194" name="Legend1">
              <a:extLst>
                <a:ext uri="{FF2B5EF4-FFF2-40B4-BE49-F238E27FC236}">
                  <a16:creationId xmlns:a16="http://schemas.microsoft.com/office/drawing/2014/main" id="{E4A6F657-D95F-FA6A-18FA-76618DE1D7FF}"/>
                </a:ext>
              </a:extLst>
            </p:cNvPr>
            <p:cNvSpPr txBox="1"/>
            <p:nvPr/>
          </p:nvSpPr>
          <p:spPr>
            <a:xfrm>
              <a:off x="9553396" y="1089561"/>
              <a:ext cx="1250342" cy="169277"/>
            </a:xfrm>
            <a:prstGeom prst="rect">
              <a:avLst/>
            </a:prstGeom>
            <a:noFill/>
            <a:ln>
              <a:noFill/>
              <a:miter lim="800000"/>
            </a:ln>
          </p:spPr>
          <p:txBody>
            <a:bodyPr wrap="none" lIns="0" tIns="0" rIns="0" bIns="0" rtlCol="0" anchor="ctr" anchorCtr="0">
              <a:spAutoFit/>
            </a:bodyPr>
            <a:lstStyle/>
            <a:p>
              <a:pPr>
                <a:spcAft>
                  <a:spcPts val="600"/>
                </a:spcAft>
              </a:pPr>
              <a:r>
                <a:rPr lang="en-US" sz="1100"/>
                <a:t>Private Banking Tier</a:t>
              </a:r>
            </a:p>
          </p:txBody>
        </p:sp>
      </p:grpSp>
    </p:spTree>
    <p:extLst>
      <p:ext uri="{BB962C8B-B14F-4D97-AF65-F5344CB8AC3E}">
        <p14:creationId xmlns:p14="http://schemas.microsoft.com/office/powerpoint/2010/main" val="892846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A88F8-8C81-4CA7-3221-E7D0BC410BEE}"/>
            </a:ext>
          </a:extLst>
        </p:cNvPr>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B8FD73CE-2560-CCBA-4CCA-65CE0FDF9186}"/>
              </a:ext>
            </a:extLst>
          </p:cNvPr>
          <p:cNvGraphicFramePr>
            <a:graphicFrameLocks noChangeAspect="1"/>
          </p:cNvGraphicFramePr>
          <p:nvPr>
            <p:custDataLst>
              <p:tags r:id="rId1"/>
            </p:custDataLst>
            <p:extLst>
              <p:ext uri="{D42A27DB-BD31-4B8C-83A1-F6EECF244321}">
                <p14:modId xmlns:p14="http://schemas.microsoft.com/office/powerpoint/2010/main" val="3145530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6" hidden="1">
                        <a:extLst>
                          <a:ext uri="{FF2B5EF4-FFF2-40B4-BE49-F238E27FC236}">
                            <a16:creationId xmlns:a16="http://schemas.microsoft.com/office/drawing/2014/main" id="{B8FD73CE-2560-CCBA-4CCA-65CE0FDF918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D6D40B3B-FB35-4F78-FE55-0B68CD9DE2B4}"/>
              </a:ext>
            </a:extLst>
          </p:cNvPr>
          <p:cNvSpPr>
            <a:spLocks noGrp="1"/>
          </p:cNvSpPr>
          <p:nvPr>
            <p:ph type="title"/>
          </p:nvPr>
        </p:nvSpPr>
        <p:spPr>
          <a:xfrm>
            <a:off x="554734" y="3508827"/>
            <a:ext cx="11082528" cy="369332"/>
          </a:xfrm>
        </p:spPr>
        <p:txBody>
          <a:bodyPr vert="horz"/>
          <a:lstStyle/>
          <a:p>
            <a:r>
              <a:rPr lang="en-US" dirty="0"/>
              <a:t>Retail banking</a:t>
            </a:r>
          </a:p>
        </p:txBody>
      </p:sp>
      <p:sp>
        <p:nvSpPr>
          <p:cNvPr id="7" name="1. On-page tracker">
            <a:extLst>
              <a:ext uri="{FF2B5EF4-FFF2-40B4-BE49-F238E27FC236}">
                <a16:creationId xmlns:a16="http://schemas.microsoft.com/office/drawing/2014/main" id="{2D760E08-3D38-481E-B43D-891B45051C59}"/>
              </a:ext>
            </a:extLst>
          </p:cNvPr>
          <p:cNvSpPr>
            <a:spLocks noGrp="1"/>
          </p:cNvSpPr>
          <p:nvPr>
            <p:ph type="body" sz="quarter" idx="10"/>
            <p:custDataLst>
              <p:tags r:id="rId2"/>
            </p:custDataLst>
          </p:nvPr>
        </p:nvSpPr>
        <p:spPr/>
        <p:txBody>
          <a:bodyPr/>
          <a:lstStyle/>
          <a:p>
            <a:endParaRPr lang="en-US"/>
          </a:p>
        </p:txBody>
      </p:sp>
    </p:spTree>
    <p:extLst>
      <p:ext uri="{BB962C8B-B14F-4D97-AF65-F5344CB8AC3E}">
        <p14:creationId xmlns:p14="http://schemas.microsoft.com/office/powerpoint/2010/main" val="991289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917BF34D-4403-B113-4080-CEF15CF58F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606" imgH="608" progId="TCLayout.ActiveDocument.1">
                  <p:embed/>
                </p:oleObj>
              </mc:Choice>
              <mc:Fallback>
                <p:oleObj name="think-cell Slide" r:id="rId20" imgW="606" imgH="608" progId="TCLayout.ActiveDocument.1">
                  <p:embed/>
                  <p:pic>
                    <p:nvPicPr>
                      <p:cNvPr id="5" name="Object 2" hidden="1">
                        <a:extLst>
                          <a:ext uri="{FF2B5EF4-FFF2-40B4-BE49-F238E27FC236}">
                            <a16:creationId xmlns:a16="http://schemas.microsoft.com/office/drawing/2014/main" id="{917BF34D-4403-B113-4080-CEF15CF58F53}"/>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42065BB7-ED61-5542-AB68-4D5F8A4869BB}"/>
              </a:ext>
            </a:extLst>
          </p:cNvPr>
          <p:cNvSpPr>
            <a:spLocks noGrp="1"/>
          </p:cNvSpPr>
          <p:nvPr>
            <p:ph type="title"/>
            <p:custDataLst>
              <p:tags r:id="rId2"/>
            </p:custDataLst>
          </p:nvPr>
        </p:nvSpPr>
        <p:spPr>
          <a:xfrm>
            <a:off x="932872" y="226624"/>
            <a:ext cx="7540567" cy="677108"/>
          </a:xfrm>
        </p:spPr>
        <p:txBody>
          <a:bodyPr vert="horz"/>
          <a:lstStyle/>
          <a:p>
            <a:r>
              <a:rPr lang="en-US"/>
              <a:t>Existing PASHA Holding limits may block future growth in retail segment</a:t>
            </a:r>
          </a:p>
        </p:txBody>
      </p:sp>
      <p:sp>
        <p:nvSpPr>
          <p:cNvPr id="41" name="3. Subtitle">
            <a:extLst>
              <a:ext uri="{FF2B5EF4-FFF2-40B4-BE49-F238E27FC236}">
                <a16:creationId xmlns:a16="http://schemas.microsoft.com/office/drawing/2014/main" id="{EAB9BD4B-3A20-F68D-6662-FADEB9727A27}"/>
              </a:ext>
            </a:extLst>
          </p:cNvPr>
          <p:cNvSpPr>
            <a:spLocks noGrp="1"/>
          </p:cNvSpPr>
          <p:nvPr>
            <p:ph type="subTitle" idx="1"/>
            <p:custDataLst>
              <p:tags r:id="rId3"/>
            </p:custDataLst>
          </p:nvPr>
        </p:nvSpPr>
        <p:spPr/>
        <p:txBody>
          <a:bodyPr/>
          <a:lstStyle/>
          <a:p>
            <a:endParaRPr lang="en-US"/>
          </a:p>
        </p:txBody>
      </p:sp>
      <p:sp>
        <p:nvSpPr>
          <p:cNvPr id="42" name="1. On-page tracker">
            <a:extLst>
              <a:ext uri="{FF2B5EF4-FFF2-40B4-BE49-F238E27FC236}">
                <a16:creationId xmlns:a16="http://schemas.microsoft.com/office/drawing/2014/main" id="{E9FA4CB7-9C0B-2CCE-5FF9-5A4B9318DD69}"/>
              </a:ext>
            </a:extLst>
          </p:cNvPr>
          <p:cNvSpPr>
            <a:spLocks noGrp="1"/>
          </p:cNvSpPr>
          <p:nvPr>
            <p:ph type="body" sz="quarter" idx="10"/>
            <p:custDataLst>
              <p:tags r:id="rId4"/>
            </p:custDataLst>
          </p:nvPr>
        </p:nvSpPr>
        <p:spPr/>
        <p:txBody>
          <a:bodyPr/>
          <a:lstStyle/>
          <a:p>
            <a:endParaRPr lang="en-US"/>
          </a:p>
        </p:txBody>
      </p:sp>
      <p:sp>
        <p:nvSpPr>
          <p:cNvPr id="16" name="TrackerNumBlue 35">
            <a:extLst>
              <a:ext uri="{FF2B5EF4-FFF2-40B4-BE49-F238E27FC236}">
                <a16:creationId xmlns:a16="http://schemas.microsoft.com/office/drawing/2014/main" id="{4150880C-8344-156C-EB0A-B980FCC42F9B}"/>
              </a:ext>
            </a:extLst>
          </p:cNvPr>
          <p:cNvSpPr/>
          <p:nvPr>
            <p:custDataLst>
              <p:tags r:id="rId5"/>
            </p:custDataLst>
          </p:nvPr>
        </p:nvSpPr>
        <p:spPr>
          <a:xfrm>
            <a:off x="446832" y="361748"/>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ahoma"/>
                <a:ea typeface="+mn-ea"/>
                <a:cs typeface="+mn-cs"/>
              </a:rPr>
              <a:t>1</a:t>
            </a:r>
          </a:p>
        </p:txBody>
      </p:sp>
      <p:sp>
        <p:nvSpPr>
          <p:cNvPr id="32" name="TextBox 31">
            <a:extLst>
              <a:ext uri="{FF2B5EF4-FFF2-40B4-BE49-F238E27FC236}">
                <a16:creationId xmlns:a16="http://schemas.microsoft.com/office/drawing/2014/main" id="{5FFE8C80-ED7C-C794-D502-AB171C3B7550}"/>
              </a:ext>
            </a:extLst>
          </p:cNvPr>
          <p:cNvSpPr txBox="1">
            <a:spLocks/>
          </p:cNvSpPr>
          <p:nvPr/>
        </p:nvSpPr>
        <p:spPr>
          <a:xfrm>
            <a:off x="554734" y="1744978"/>
            <a:ext cx="2853484" cy="488568"/>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latin typeface="+mn-lt"/>
              </a:rPr>
              <a:t>Current lending limits</a:t>
            </a:r>
          </a:p>
        </p:txBody>
      </p:sp>
      <p:cxnSp>
        <p:nvCxnSpPr>
          <p:cNvPr id="34" name="Straight Connector 33">
            <a:extLst>
              <a:ext uri="{FF2B5EF4-FFF2-40B4-BE49-F238E27FC236}">
                <a16:creationId xmlns:a16="http://schemas.microsoft.com/office/drawing/2014/main" id="{A7F90F4E-0F5A-06A3-CFA6-7610C52CCFBD}"/>
              </a:ext>
            </a:extLst>
          </p:cNvPr>
          <p:cNvCxnSpPr>
            <a:cxnSpLocks/>
          </p:cNvCxnSpPr>
          <p:nvPr/>
        </p:nvCxnSpPr>
        <p:spPr>
          <a:xfrm flipV="1">
            <a:off x="518025" y="1688345"/>
            <a:ext cx="8158649" cy="5005"/>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7BD3361-362B-95FA-6EFE-242D427DFF11}"/>
              </a:ext>
            </a:extLst>
          </p:cNvPr>
          <p:cNvCxnSpPr>
            <a:cxnSpLocks/>
          </p:cNvCxnSpPr>
          <p:nvPr/>
        </p:nvCxnSpPr>
        <p:spPr>
          <a:xfrm flipV="1">
            <a:off x="610289" y="6445430"/>
            <a:ext cx="7918704" cy="4955"/>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D1D0E7B-89BE-9F93-28E8-12439222F831}"/>
              </a:ext>
            </a:extLst>
          </p:cNvPr>
          <p:cNvCxnSpPr>
            <a:cxnSpLocks/>
          </p:cNvCxnSpPr>
          <p:nvPr/>
        </p:nvCxnSpPr>
        <p:spPr>
          <a:xfrm flipV="1">
            <a:off x="8916116" y="1688345"/>
            <a:ext cx="2727237" cy="5005"/>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EA3350E-2369-75FF-9A81-418E4439A043}"/>
              </a:ext>
            </a:extLst>
          </p:cNvPr>
          <p:cNvCxnSpPr>
            <a:cxnSpLocks/>
          </p:cNvCxnSpPr>
          <p:nvPr/>
        </p:nvCxnSpPr>
        <p:spPr>
          <a:xfrm flipV="1">
            <a:off x="8916116" y="6445430"/>
            <a:ext cx="2727237" cy="4955"/>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F2926B3E-3C18-83DD-548A-F08A5913FC28}"/>
              </a:ext>
            </a:extLst>
          </p:cNvPr>
          <p:cNvSpPr/>
          <p:nvPr/>
        </p:nvSpPr>
        <p:spPr>
          <a:xfrm>
            <a:off x="610289" y="2327564"/>
            <a:ext cx="994067" cy="385773"/>
          </a:xfrm>
          <a:prstGeom prst="ellipse">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a:solidFill>
                  <a:schemeClr val="tx1"/>
                </a:solidFill>
              </a:rPr>
              <a:t>40 </a:t>
            </a:r>
          </a:p>
        </p:txBody>
      </p:sp>
      <p:sp>
        <p:nvSpPr>
          <p:cNvPr id="46" name="Rectangle 45">
            <a:extLst>
              <a:ext uri="{FF2B5EF4-FFF2-40B4-BE49-F238E27FC236}">
                <a16:creationId xmlns:a16="http://schemas.microsoft.com/office/drawing/2014/main" id="{EDE60DA5-0B87-ACA6-D6A6-1EE205641683}"/>
              </a:ext>
            </a:extLst>
          </p:cNvPr>
          <p:cNvSpPr/>
          <p:nvPr/>
        </p:nvSpPr>
        <p:spPr>
          <a:xfrm>
            <a:off x="610289" y="2677049"/>
            <a:ext cx="994067" cy="385773"/>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tx1"/>
                </a:solidFill>
              </a:rPr>
              <a:t>AZN Mn</a:t>
            </a:r>
          </a:p>
        </p:txBody>
      </p:sp>
      <p:sp>
        <p:nvSpPr>
          <p:cNvPr id="47" name="Rectangle 46">
            <a:extLst>
              <a:ext uri="{FF2B5EF4-FFF2-40B4-BE49-F238E27FC236}">
                <a16:creationId xmlns:a16="http://schemas.microsoft.com/office/drawing/2014/main" id="{BF3411E1-5DA6-D8FD-D0F8-EF874A3E9753}"/>
              </a:ext>
            </a:extLst>
          </p:cNvPr>
          <p:cNvSpPr>
            <a:spLocks/>
          </p:cNvSpPr>
          <p:nvPr/>
        </p:nvSpPr>
        <p:spPr>
          <a:xfrm>
            <a:off x="1819563" y="2327564"/>
            <a:ext cx="1512913" cy="954107"/>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spAutoFit/>
          </a:bodyPr>
          <a:lstStyle/>
          <a:p>
            <a:pPr>
              <a:spcBef>
                <a:spcPts val="300"/>
              </a:spcBef>
              <a:spcAft>
                <a:spcPts val="300"/>
              </a:spcAft>
            </a:pPr>
            <a:r>
              <a:rPr lang="en-US" sz="1400">
                <a:solidFill>
                  <a:schemeClr val="tx1"/>
                </a:solidFill>
              </a:rPr>
              <a:t>Annual </a:t>
            </a:r>
            <a:r>
              <a:rPr lang="en-US" sz="1400" b="1">
                <a:solidFill>
                  <a:schemeClr val="tx1"/>
                </a:solidFill>
              </a:rPr>
              <a:t>lending portfolio</a:t>
            </a:r>
            <a:r>
              <a:rPr lang="en-US" sz="1400">
                <a:solidFill>
                  <a:schemeClr val="tx1"/>
                </a:solidFill>
              </a:rPr>
              <a:t> allocated to retail segment</a:t>
            </a:r>
          </a:p>
        </p:txBody>
      </p:sp>
      <p:cxnSp>
        <p:nvCxnSpPr>
          <p:cNvPr id="48" name="Straight Connector 47">
            <a:extLst>
              <a:ext uri="{FF2B5EF4-FFF2-40B4-BE49-F238E27FC236}">
                <a16:creationId xmlns:a16="http://schemas.microsoft.com/office/drawing/2014/main" id="{1BC3BF2E-7637-DAD8-93EC-FB0650F02E2E}"/>
              </a:ext>
            </a:extLst>
          </p:cNvPr>
          <p:cNvCxnSpPr>
            <a:cxnSpLocks/>
          </p:cNvCxnSpPr>
          <p:nvPr/>
        </p:nvCxnSpPr>
        <p:spPr>
          <a:xfrm flipV="1">
            <a:off x="605240" y="3433524"/>
            <a:ext cx="2727237" cy="5005"/>
          </a:xfrm>
          <a:prstGeom prst="line">
            <a:avLst/>
          </a:prstGeom>
          <a:ln w="6350" cap="sq">
            <a:solidFill>
              <a:schemeClr val="bg2">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DC7E01F-0307-CBF7-D2A4-D3116F47E58C}"/>
              </a:ext>
            </a:extLst>
          </p:cNvPr>
          <p:cNvSpPr/>
          <p:nvPr/>
        </p:nvSpPr>
        <p:spPr>
          <a:xfrm>
            <a:off x="610289" y="3647369"/>
            <a:ext cx="994067" cy="385773"/>
          </a:xfrm>
          <a:prstGeom prst="ellipse">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a:solidFill>
                  <a:schemeClr val="tx1"/>
                </a:solidFill>
              </a:rPr>
              <a:t>15 </a:t>
            </a:r>
          </a:p>
        </p:txBody>
      </p:sp>
      <p:sp>
        <p:nvSpPr>
          <p:cNvPr id="50" name="Rectangle 49">
            <a:extLst>
              <a:ext uri="{FF2B5EF4-FFF2-40B4-BE49-F238E27FC236}">
                <a16:creationId xmlns:a16="http://schemas.microsoft.com/office/drawing/2014/main" id="{3DCFB964-86C6-03FC-F0E7-1E1CE31AB0C4}"/>
              </a:ext>
            </a:extLst>
          </p:cNvPr>
          <p:cNvSpPr/>
          <p:nvPr/>
        </p:nvSpPr>
        <p:spPr>
          <a:xfrm>
            <a:off x="610289" y="3990626"/>
            <a:ext cx="994067" cy="385773"/>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400">
                <a:solidFill>
                  <a:schemeClr val="tx1"/>
                </a:solidFill>
              </a:rPr>
              <a:t>AZN Mn</a:t>
            </a:r>
          </a:p>
        </p:txBody>
      </p:sp>
      <p:sp>
        <p:nvSpPr>
          <p:cNvPr id="51" name="Rectangle 50">
            <a:extLst>
              <a:ext uri="{FF2B5EF4-FFF2-40B4-BE49-F238E27FC236}">
                <a16:creationId xmlns:a16="http://schemas.microsoft.com/office/drawing/2014/main" id="{148103D2-2C36-D094-9D93-D38EC8642010}"/>
              </a:ext>
            </a:extLst>
          </p:cNvPr>
          <p:cNvSpPr>
            <a:spLocks/>
          </p:cNvSpPr>
          <p:nvPr/>
        </p:nvSpPr>
        <p:spPr>
          <a:xfrm>
            <a:off x="1819563" y="3647369"/>
            <a:ext cx="1512913" cy="1169551"/>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spAutoFit/>
          </a:bodyPr>
          <a:lstStyle/>
          <a:p>
            <a:pPr>
              <a:spcBef>
                <a:spcPts val="300"/>
              </a:spcBef>
              <a:spcAft>
                <a:spcPts val="300"/>
              </a:spcAft>
            </a:pPr>
            <a:r>
              <a:rPr lang="en-US" sz="1400">
                <a:solidFill>
                  <a:schemeClr val="tx1"/>
                </a:solidFill>
              </a:rPr>
              <a:t>Annual lending sales limit to non-PASHA Bank and PASHA Holding employees </a:t>
            </a:r>
          </a:p>
        </p:txBody>
      </p:sp>
      <p:cxnSp>
        <p:nvCxnSpPr>
          <p:cNvPr id="52" name="Straight Connector 51">
            <a:extLst>
              <a:ext uri="{FF2B5EF4-FFF2-40B4-BE49-F238E27FC236}">
                <a16:creationId xmlns:a16="http://schemas.microsoft.com/office/drawing/2014/main" id="{5AB1CAD1-15E2-2B0B-84B8-E78E746F2FA1}"/>
              </a:ext>
            </a:extLst>
          </p:cNvPr>
          <p:cNvCxnSpPr>
            <a:cxnSpLocks/>
          </p:cNvCxnSpPr>
          <p:nvPr/>
        </p:nvCxnSpPr>
        <p:spPr>
          <a:xfrm flipV="1">
            <a:off x="605240" y="4959541"/>
            <a:ext cx="2727237" cy="5005"/>
          </a:xfrm>
          <a:prstGeom prst="line">
            <a:avLst/>
          </a:prstGeom>
          <a:ln w="6350" cap="sq">
            <a:solidFill>
              <a:schemeClr val="bg2">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18F0FF82-F098-9878-309D-A53C01FCBE40}"/>
              </a:ext>
            </a:extLst>
          </p:cNvPr>
          <p:cNvSpPr/>
          <p:nvPr/>
        </p:nvSpPr>
        <p:spPr>
          <a:xfrm>
            <a:off x="610289" y="5083962"/>
            <a:ext cx="994067" cy="385773"/>
          </a:xfrm>
          <a:prstGeom prst="ellipse">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600" b="1">
                <a:solidFill>
                  <a:schemeClr val="tx1"/>
                </a:solidFill>
              </a:rPr>
              <a:t>-</a:t>
            </a:r>
          </a:p>
        </p:txBody>
      </p:sp>
      <p:sp>
        <p:nvSpPr>
          <p:cNvPr id="55" name="Rectangle 54">
            <a:extLst>
              <a:ext uri="{FF2B5EF4-FFF2-40B4-BE49-F238E27FC236}">
                <a16:creationId xmlns:a16="http://schemas.microsoft.com/office/drawing/2014/main" id="{051665B4-C738-922F-2431-D0A280652716}"/>
              </a:ext>
            </a:extLst>
          </p:cNvPr>
          <p:cNvSpPr>
            <a:spLocks/>
          </p:cNvSpPr>
          <p:nvPr/>
        </p:nvSpPr>
        <p:spPr>
          <a:xfrm>
            <a:off x="1819563" y="5083962"/>
            <a:ext cx="1512913" cy="1169551"/>
          </a:xfrm>
          <a:prstGeom prst="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spAutoFit/>
          </a:bodyPr>
          <a:lstStyle/>
          <a:p>
            <a:pPr>
              <a:spcBef>
                <a:spcPts val="300"/>
              </a:spcBef>
              <a:spcAft>
                <a:spcPts val="300"/>
              </a:spcAft>
            </a:pPr>
            <a:r>
              <a:rPr lang="en-US" sz="1400">
                <a:solidFill>
                  <a:schemeClr val="tx1"/>
                </a:solidFill>
              </a:rPr>
              <a:t>Annual lending sales limit to PASHA Bank and PASHA Holding employees </a:t>
            </a:r>
          </a:p>
        </p:txBody>
      </p:sp>
      <p:cxnSp>
        <p:nvCxnSpPr>
          <p:cNvPr id="56" name="LineBasicVerticalDefault 32">
            <a:extLst>
              <a:ext uri="{FF2B5EF4-FFF2-40B4-BE49-F238E27FC236}">
                <a16:creationId xmlns:a16="http://schemas.microsoft.com/office/drawing/2014/main" id="{3DC1B3B2-1E6A-13B0-1272-0D4BE355526D}"/>
              </a:ext>
            </a:extLst>
          </p:cNvPr>
          <p:cNvCxnSpPr>
            <a:cxnSpLocks/>
          </p:cNvCxnSpPr>
          <p:nvPr>
            <p:custDataLst>
              <p:tags r:id="rId6"/>
            </p:custDataLst>
          </p:nvPr>
        </p:nvCxnSpPr>
        <p:spPr>
          <a:xfrm>
            <a:off x="3445162" y="1760215"/>
            <a:ext cx="0" cy="4565801"/>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B4690E5-6059-281D-C959-9BDEFC54BF85}"/>
              </a:ext>
            </a:extLst>
          </p:cNvPr>
          <p:cNvSpPr txBox="1">
            <a:spLocks/>
          </p:cNvSpPr>
          <p:nvPr/>
        </p:nvSpPr>
        <p:spPr>
          <a:xfrm>
            <a:off x="3482106" y="1744978"/>
            <a:ext cx="5172365" cy="488568"/>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bg1"/>
                </a:solidFill>
                <a:latin typeface="+mn-lt"/>
              </a:rPr>
              <a:t>Projected lending sales to non-PASHA customers</a:t>
            </a:r>
            <a:r>
              <a:rPr lang="en-US">
                <a:solidFill>
                  <a:schemeClr val="bg1"/>
                </a:solidFill>
                <a:latin typeface="+mn-lt"/>
              </a:rPr>
              <a:t>, AZN Mn</a:t>
            </a:r>
          </a:p>
        </p:txBody>
      </p:sp>
      <p:graphicFrame>
        <p:nvGraphicFramePr>
          <p:cNvPr id="98" name="Chart 97">
            <a:extLst>
              <a:ext uri="{FF2B5EF4-FFF2-40B4-BE49-F238E27FC236}">
                <a16:creationId xmlns:a16="http://schemas.microsoft.com/office/drawing/2014/main" id="{746C1AB7-4809-4B9C-29F3-7F2CFC87FE12}"/>
              </a:ext>
            </a:extLst>
          </p:cNvPr>
          <p:cNvGraphicFramePr/>
          <p:nvPr>
            <p:custDataLst>
              <p:tags r:id="rId7"/>
            </p:custDataLst>
          </p:nvPr>
        </p:nvGraphicFramePr>
        <p:xfrm>
          <a:off x="4332288" y="2630488"/>
          <a:ext cx="3216275" cy="3381375"/>
        </p:xfrm>
        <a:graphic>
          <a:graphicData uri="http://schemas.openxmlformats.org/drawingml/2006/chart">
            <c:chart xmlns:c="http://schemas.openxmlformats.org/drawingml/2006/chart" xmlns:r="http://schemas.openxmlformats.org/officeDocument/2006/relationships" r:id="rId22"/>
          </a:graphicData>
        </a:graphic>
      </p:graphicFrame>
      <p:cxnSp>
        <p:nvCxnSpPr>
          <p:cNvPr id="70" name="Straight Connector 69">
            <a:extLst>
              <a:ext uri="{FF2B5EF4-FFF2-40B4-BE49-F238E27FC236}">
                <a16:creationId xmlns:a16="http://schemas.microsoft.com/office/drawing/2014/main" id="{4DF238C0-1CD3-76F0-35F7-A5B13ABFCDDE}"/>
              </a:ext>
            </a:extLst>
          </p:cNvPr>
          <p:cNvCxnSpPr/>
          <p:nvPr>
            <p:custDataLst>
              <p:tags r:id="rId8"/>
            </p:custDataLst>
          </p:nvPr>
        </p:nvCxnSpPr>
        <p:spPr bwMode="auto">
          <a:xfrm>
            <a:off x="7250113" y="2713038"/>
            <a:ext cx="52387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BF742CF6-1727-73F0-A103-5BAF2F625D0D}"/>
              </a:ext>
            </a:extLst>
          </p:cNvPr>
          <p:cNvCxnSpPr/>
          <p:nvPr>
            <p:custDataLst>
              <p:tags r:id="rId9"/>
            </p:custDataLst>
          </p:nvPr>
        </p:nvCxnSpPr>
        <p:spPr bwMode="gray">
          <a:xfrm flipV="1">
            <a:off x="7716838" y="2709862"/>
            <a:ext cx="0" cy="896938"/>
          </a:xfrm>
          <a:prstGeom prst="line">
            <a:avLst/>
          </a:prstGeom>
          <a:ln w="38100" cap="flat" cmpd="sng" algn="ctr">
            <a:solidFill>
              <a:schemeClr val="accent6"/>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40844F1A-8FE8-5C3B-AE91-AD91721C5381}"/>
              </a:ext>
            </a:extLst>
          </p:cNvPr>
          <p:cNvCxnSpPr/>
          <p:nvPr>
            <p:custDataLst>
              <p:tags r:id="rId10"/>
            </p:custDataLst>
          </p:nvPr>
        </p:nvCxnSpPr>
        <p:spPr bwMode="gray">
          <a:xfrm>
            <a:off x="4414838" y="3603625"/>
            <a:ext cx="3302000" cy="0"/>
          </a:xfrm>
          <a:prstGeom prst="line">
            <a:avLst/>
          </a:prstGeom>
          <a:ln w="19050" cap="flat" cmpd="sng" algn="ctr">
            <a:solidFill>
              <a:schemeClr val="accent6"/>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3" name="Text Placeholder 2">
            <a:extLst>
              <a:ext uri="{FF2B5EF4-FFF2-40B4-BE49-F238E27FC236}">
                <a16:creationId xmlns:a16="http://schemas.microsoft.com/office/drawing/2014/main" id="{84D29803-192B-A655-DFAD-D2D61B24903D}"/>
              </a:ext>
            </a:extLst>
          </p:cNvPr>
          <p:cNvSpPr>
            <a:spLocks noGrp="1"/>
          </p:cNvSpPr>
          <p:nvPr>
            <p:custDataLst>
              <p:tags r:id="rId11"/>
            </p:custDataLst>
          </p:nvPr>
        </p:nvSpPr>
        <p:spPr bwMode="auto">
          <a:xfrm>
            <a:off x="4826000" y="5988050"/>
            <a:ext cx="701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4AE83828-3283-4FB5-A2FA-F4F765C7B7E6}" type="datetime'2''0''''''''''''''''''''2''''''''6'' ''''''''''''''5m'''''''''">
              <a:rPr lang="en-US" altLang="en-US" sz="1400" smtClean="0">
                <a:solidFill>
                  <a:srgbClr val="191C1E"/>
                </a:solidFill>
                <a:cs typeface="+mn-cs"/>
              </a:rPr>
              <a:pPr lvl="0" algn="ctr">
                <a:spcBef>
                  <a:spcPct val="0"/>
                </a:spcBef>
                <a:spcAft>
                  <a:spcPct val="0"/>
                </a:spcAft>
              </a:pPr>
              <a:t>2026 5m</a:t>
            </a:fld>
            <a:endParaRPr lang="en-US" sz="1400">
              <a:solidFill>
                <a:srgbClr val="191C1E"/>
              </a:solidFill>
              <a:cs typeface="+mn-cs"/>
            </a:endParaRPr>
          </a:p>
        </p:txBody>
      </p:sp>
      <p:sp>
        <p:nvSpPr>
          <p:cNvPr id="74" name="Text Placeholder 2">
            <a:extLst>
              <a:ext uri="{FF2B5EF4-FFF2-40B4-BE49-F238E27FC236}">
                <a16:creationId xmlns:a16="http://schemas.microsoft.com/office/drawing/2014/main" id="{2D417AE0-D4B0-1E97-E450-E4DC109B7308}"/>
              </a:ext>
            </a:extLst>
          </p:cNvPr>
          <p:cNvSpPr>
            <a:spLocks noGrp="1"/>
          </p:cNvSpPr>
          <p:nvPr>
            <p:custDataLst>
              <p:tags r:id="rId12"/>
            </p:custDataLst>
          </p:nvPr>
        </p:nvSpPr>
        <p:spPr bwMode="auto">
          <a:xfrm>
            <a:off x="6107113" y="5988050"/>
            <a:ext cx="11906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altLang="en-US" sz="1400">
                <a:solidFill>
                  <a:srgbClr val="191C1E"/>
                </a:solidFill>
                <a:cs typeface="+mn-cs"/>
              </a:rPr>
              <a:t>2026 projected</a:t>
            </a:r>
            <a:endParaRPr lang="en-US" sz="1400">
              <a:solidFill>
                <a:srgbClr val="191C1E"/>
              </a:solidFill>
              <a:cs typeface="+mn-cs"/>
            </a:endParaRPr>
          </a:p>
        </p:txBody>
      </p:sp>
      <p:sp>
        <p:nvSpPr>
          <p:cNvPr id="75" name="Text Placeholder 2">
            <a:extLst>
              <a:ext uri="{FF2B5EF4-FFF2-40B4-BE49-F238E27FC236}">
                <a16:creationId xmlns:a16="http://schemas.microsoft.com/office/drawing/2014/main" id="{7C1B1CD8-B663-A4AA-5D8D-B1C4E6ACD701}"/>
              </a:ext>
            </a:extLst>
          </p:cNvPr>
          <p:cNvSpPr>
            <a:spLocks noGrp="1"/>
          </p:cNvSpPr>
          <p:nvPr>
            <p:custDataLst>
              <p:tags r:id="rId13"/>
            </p:custDataLst>
          </p:nvPr>
        </p:nvSpPr>
        <p:spPr bwMode="gray">
          <a:xfrm>
            <a:off x="5027613" y="4627563"/>
            <a:ext cx="2984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fld id="{54A25B5B-1401-4654-9B38-4BE6DB794E44}" type="datetime'''''''''''''''''''6'''''''''''''''''''',''''''''9'''''''''''''">
              <a:rPr lang="en-US" altLang="en-US" sz="1400" smtClean="0">
                <a:solidFill>
                  <a:srgbClr val="191C1E"/>
                </a:solidFill>
                <a:cs typeface="+mn-cs"/>
              </a:rPr>
              <a:pPr lvl="0" algn="ctr">
                <a:spcBef>
                  <a:spcPct val="0"/>
                </a:spcBef>
                <a:spcAft>
                  <a:spcPct val="0"/>
                </a:spcAft>
              </a:pPr>
              <a:t>6,9</a:t>
            </a:fld>
            <a:endParaRPr lang="en-US" sz="1400">
              <a:solidFill>
                <a:srgbClr val="191C1E"/>
              </a:solidFill>
              <a:cs typeface="+mn-cs"/>
            </a:endParaRPr>
          </a:p>
        </p:txBody>
      </p:sp>
      <p:sp>
        <p:nvSpPr>
          <p:cNvPr id="76" name="Text Placeholder 2">
            <a:extLst>
              <a:ext uri="{FF2B5EF4-FFF2-40B4-BE49-F238E27FC236}">
                <a16:creationId xmlns:a16="http://schemas.microsoft.com/office/drawing/2014/main" id="{6E983657-DC92-0326-E2C5-FAFF6111CAD2}"/>
              </a:ext>
            </a:extLst>
          </p:cNvPr>
          <p:cNvSpPr>
            <a:spLocks noGrp="1"/>
          </p:cNvSpPr>
          <p:nvPr>
            <p:custDataLst>
              <p:tags r:id="rId14"/>
            </p:custDataLst>
          </p:nvPr>
        </p:nvSpPr>
        <p:spPr bwMode="gray">
          <a:xfrm>
            <a:off x="6516688" y="2474913"/>
            <a:ext cx="3730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buNone/>
            </a:pPr>
            <a:r>
              <a:rPr lang="en-US" sz="1400">
                <a:solidFill>
                  <a:srgbClr val="191C1E"/>
                </a:solidFill>
                <a:cs typeface="+mn-cs"/>
              </a:rPr>
              <a:t>~21</a:t>
            </a:r>
          </a:p>
        </p:txBody>
      </p:sp>
      <p:sp>
        <p:nvSpPr>
          <p:cNvPr id="77" name="Text Placeholder 4">
            <a:extLst>
              <a:ext uri="{FF2B5EF4-FFF2-40B4-BE49-F238E27FC236}">
                <a16:creationId xmlns:a16="http://schemas.microsoft.com/office/drawing/2014/main" id="{2761A300-DAE4-6B74-909A-429C152CE7F9}"/>
              </a:ext>
            </a:extLst>
          </p:cNvPr>
          <p:cNvSpPr>
            <a:spLocks noGrp="1"/>
          </p:cNvSpPr>
          <p:nvPr>
            <p:custDataLst>
              <p:tags r:id="rId15"/>
            </p:custDataLst>
          </p:nvPr>
        </p:nvSpPr>
        <p:spPr bwMode="auto">
          <a:xfrm>
            <a:off x="7324725" y="3086100"/>
            <a:ext cx="785813" cy="258763"/>
          </a:xfrm>
          <a:prstGeom prst="ellipse">
            <a:avLst/>
          </a:prstGeom>
          <a:solidFill>
            <a:schemeClr val="bg2"/>
          </a:solidFill>
          <a:ln w="9525" cmpd="sng" algn="ctr">
            <a:solidFill>
              <a:schemeClr val="tx1"/>
            </a:solid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pPr>
            <a:r>
              <a:rPr lang="en-US" sz="1200" b="1">
                <a:latin typeface="+mn-lt"/>
                <a:ea typeface="+mn-ea"/>
                <a:cs typeface="+mn-cs"/>
              </a:rPr>
              <a:t>~6 </a:t>
            </a:r>
            <a:r>
              <a:rPr lang="en-US" sz="1200" b="1" err="1">
                <a:latin typeface="+mn-lt"/>
                <a:ea typeface="+mn-ea"/>
                <a:cs typeface="+mn-cs"/>
              </a:rPr>
              <a:t>mln</a:t>
            </a:r>
            <a:endParaRPr lang="en-US" sz="1200" b="1">
              <a:latin typeface="+mn-lt"/>
              <a:ea typeface="+mn-ea"/>
              <a:cs typeface="+mn-cs"/>
            </a:endParaRPr>
          </a:p>
        </p:txBody>
      </p:sp>
      <p:sp>
        <p:nvSpPr>
          <p:cNvPr id="79" name="TextBox 78">
            <a:extLst>
              <a:ext uri="{FF2B5EF4-FFF2-40B4-BE49-F238E27FC236}">
                <a16:creationId xmlns:a16="http://schemas.microsoft.com/office/drawing/2014/main" id="{1BFA3DEF-1458-F3EF-543D-897E74C8ED1E}"/>
              </a:ext>
            </a:extLst>
          </p:cNvPr>
          <p:cNvSpPr txBox="1"/>
          <p:nvPr/>
        </p:nvSpPr>
        <p:spPr>
          <a:xfrm>
            <a:off x="7334901" y="3471741"/>
            <a:ext cx="785813" cy="247650"/>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600" b="1">
                <a:solidFill>
                  <a:schemeClr val="accent6"/>
                </a:solidFill>
              </a:rPr>
              <a:t>15 </a:t>
            </a:r>
            <a:r>
              <a:rPr lang="en-US" sz="1600" b="1" err="1">
                <a:solidFill>
                  <a:schemeClr val="accent6"/>
                </a:solidFill>
              </a:rPr>
              <a:t>mln</a:t>
            </a:r>
            <a:endParaRPr lang="en-US" sz="1600" b="1">
              <a:solidFill>
                <a:schemeClr val="accent6"/>
              </a:solidFill>
            </a:endParaRPr>
          </a:p>
        </p:txBody>
      </p:sp>
      <p:grpSp>
        <p:nvGrpSpPr>
          <p:cNvPr id="91" name="Group 90">
            <a:extLst>
              <a:ext uri="{FF2B5EF4-FFF2-40B4-BE49-F238E27FC236}">
                <a16:creationId xmlns:a16="http://schemas.microsoft.com/office/drawing/2014/main" id="{4C95EA0A-3F4F-0EAD-F075-6EF9138A7CAB}"/>
              </a:ext>
            </a:extLst>
          </p:cNvPr>
          <p:cNvGrpSpPr/>
          <p:nvPr/>
        </p:nvGrpSpPr>
        <p:grpSpPr>
          <a:xfrm>
            <a:off x="4297651" y="3029816"/>
            <a:ext cx="1824037" cy="1096962"/>
            <a:chOff x="3798888" y="2955925"/>
            <a:chExt cx="1824037" cy="1096962"/>
          </a:xfrm>
        </p:grpSpPr>
        <p:sp>
          <p:nvSpPr>
            <p:cNvPr id="78" name="TextBox 77">
              <a:extLst>
                <a:ext uri="{FF2B5EF4-FFF2-40B4-BE49-F238E27FC236}">
                  <a16:creationId xmlns:a16="http://schemas.microsoft.com/office/drawing/2014/main" id="{9F6E6916-BC28-983B-FA36-D0E88872398C}"/>
                </a:ext>
              </a:extLst>
            </p:cNvPr>
            <p:cNvSpPr txBox="1"/>
            <p:nvPr/>
          </p:nvSpPr>
          <p:spPr>
            <a:xfrm>
              <a:off x="3840163" y="2955925"/>
              <a:ext cx="1470025" cy="738188"/>
            </a:xfrm>
            <a:prstGeom prst="rect">
              <a:avLst/>
            </a:prstGeom>
            <a:solidFill>
              <a:schemeClr val="accent5"/>
            </a:solidFill>
          </p:spPr>
          <p:txBody>
            <a:bodyPr vert="horz" wrap="square" lIns="91440" tIns="91440" rIns="91440" bIns="9144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i="1"/>
                <a:t>Estimated based on 2026 Mar-May</a:t>
              </a:r>
              <a:r>
                <a:rPr lang="en-US" sz="900" i="1" baseline="30000"/>
                <a:t>1</a:t>
              </a:r>
              <a:r>
                <a:rPr lang="en-US" sz="900" i="1"/>
                <a:t> monthly average sales volumes of ~2 </a:t>
              </a:r>
              <a:r>
                <a:rPr lang="en-US" sz="900" i="1" err="1"/>
                <a:t>mln</a:t>
              </a:r>
              <a:r>
                <a:rPr lang="en-US" sz="900" i="1"/>
                <a:t> AZN  </a:t>
              </a:r>
            </a:p>
          </p:txBody>
        </p:sp>
        <p:cxnSp>
          <p:nvCxnSpPr>
            <p:cNvPr id="81" name="Straight Connector 80">
              <a:extLst>
                <a:ext uri="{FF2B5EF4-FFF2-40B4-BE49-F238E27FC236}">
                  <a16:creationId xmlns:a16="http://schemas.microsoft.com/office/drawing/2014/main" id="{680E676D-5BDC-8F56-A002-228E38F8B97B}"/>
                </a:ext>
              </a:extLst>
            </p:cNvPr>
            <p:cNvCxnSpPr/>
            <p:nvPr/>
          </p:nvCxnSpPr>
          <p:spPr>
            <a:xfrm>
              <a:off x="3798888" y="3714750"/>
              <a:ext cx="1555750" cy="0"/>
            </a:xfrm>
            <a:prstGeom prst="line">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2" name="Connector: Elbow 81">
              <a:extLst>
                <a:ext uri="{FF2B5EF4-FFF2-40B4-BE49-F238E27FC236}">
                  <a16:creationId xmlns:a16="http://schemas.microsoft.com/office/drawing/2014/main" id="{854CD3FB-4A34-D75A-0B7C-684F766C6D75}"/>
                </a:ext>
              </a:extLst>
            </p:cNvPr>
            <p:cNvCxnSpPr>
              <a:cxnSpLocks/>
            </p:cNvCxnSpPr>
            <p:nvPr/>
          </p:nvCxnSpPr>
          <p:spPr>
            <a:xfrm>
              <a:off x="4567237" y="3714749"/>
              <a:ext cx="1055688" cy="338138"/>
            </a:xfrm>
            <a:prstGeom prst="bentConnector3">
              <a:avLst>
                <a:gd name="adj1" fmla="val 503"/>
              </a:avLst>
            </a:prstGeom>
            <a:ln w="6350" cap="sq">
              <a:solidFill>
                <a:schemeClr val="tx1"/>
              </a:solidFill>
              <a:miter lim="800000"/>
              <a:tailEnd type="oval"/>
            </a:ln>
          </p:spPr>
          <p:style>
            <a:lnRef idx="1">
              <a:schemeClr val="accent1"/>
            </a:lnRef>
            <a:fillRef idx="0">
              <a:schemeClr val="accent1"/>
            </a:fillRef>
            <a:effectRef idx="0">
              <a:schemeClr val="accent1"/>
            </a:effectRef>
            <a:fontRef idx="minor">
              <a:schemeClr val="tx1"/>
            </a:fontRef>
          </p:style>
        </p:cxnSp>
      </p:grpSp>
      <p:sp>
        <p:nvSpPr>
          <p:cNvPr id="97" name="TextBox 96">
            <a:extLst>
              <a:ext uri="{FF2B5EF4-FFF2-40B4-BE49-F238E27FC236}">
                <a16:creationId xmlns:a16="http://schemas.microsoft.com/office/drawing/2014/main" id="{83CADA99-55EA-3E71-415A-7671F73D8F24}"/>
              </a:ext>
            </a:extLst>
          </p:cNvPr>
          <p:cNvSpPr txBox="1"/>
          <p:nvPr/>
        </p:nvSpPr>
        <p:spPr>
          <a:xfrm>
            <a:off x="554733" y="1403485"/>
            <a:ext cx="7767231"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PBA is already on track to exceed its lending limits for non-PASHA employees</a:t>
            </a:r>
          </a:p>
        </p:txBody>
      </p:sp>
      <p:sp>
        <p:nvSpPr>
          <p:cNvPr id="102" name="4. Footnote">
            <a:extLst>
              <a:ext uri="{FF2B5EF4-FFF2-40B4-BE49-F238E27FC236}">
                <a16:creationId xmlns:a16="http://schemas.microsoft.com/office/drawing/2014/main" id="{57D84E38-349B-4424-2A7D-BE5F00F097E8}"/>
              </a:ext>
            </a:extLst>
          </p:cNvPr>
          <p:cNvSpPr txBox="1">
            <a:spLocks/>
          </p:cNvSpPr>
          <p:nvPr>
            <p:custDataLst>
              <p:tags r:id="rId16"/>
            </p:custDataLst>
          </p:nvPr>
        </p:nvSpPr>
        <p:spPr>
          <a:xfrm>
            <a:off x="533463" y="6555144"/>
            <a:ext cx="11082528" cy="123111"/>
          </a:xfrm>
          <a:prstGeom prst="rect">
            <a:avLst/>
          </a:prstGeom>
          <a:noFill/>
        </p:spPr>
        <p:txBody>
          <a:bodyPr wrap="square" lIns="0" tIns="0" rIns="0" bIns="0" rtlCol="0" anchor="b">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rtl="0"/>
            <a:r>
              <a:rPr lang="en-US"/>
              <a:t>1.	January and February sales are traditionally low and were excluded from calculation to avoid skewing</a:t>
            </a:r>
          </a:p>
        </p:txBody>
      </p:sp>
      <p:sp>
        <p:nvSpPr>
          <p:cNvPr id="103" name="TextBox 102">
            <a:extLst>
              <a:ext uri="{FF2B5EF4-FFF2-40B4-BE49-F238E27FC236}">
                <a16:creationId xmlns:a16="http://schemas.microsoft.com/office/drawing/2014/main" id="{EE19B6D2-0DB1-2449-F6C2-77059C487087}"/>
              </a:ext>
            </a:extLst>
          </p:cNvPr>
          <p:cNvSpPr txBox="1">
            <a:spLocks/>
          </p:cNvSpPr>
          <p:nvPr/>
        </p:nvSpPr>
        <p:spPr>
          <a:xfrm>
            <a:off x="8916116" y="1748154"/>
            <a:ext cx="2699875" cy="488568"/>
          </a:xfrm>
          <a:prstGeom prst="roundRect">
            <a:avLst/>
          </a:prstGeom>
          <a:solidFill>
            <a:schemeClr val="accent2">
              <a:lumMod val="50000"/>
            </a:schemeClr>
          </a:solidFill>
        </p:spPr>
        <p:txBody>
          <a:bodyPr vert="horz" wrap="square" lIns="36576" tIns="36576" rIns="36576" bIns="36576" rtlCol="0" anchor="ctr">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b="1">
                <a:solidFill>
                  <a:schemeClr val="bg1"/>
                </a:solidFill>
                <a:latin typeface="+mn-lt"/>
              </a:rPr>
              <a:t>Potential actions for PBA</a:t>
            </a:r>
            <a:endParaRPr lang="en-US">
              <a:solidFill>
                <a:schemeClr val="bg1"/>
              </a:solidFill>
              <a:latin typeface="+mn-lt"/>
            </a:endParaRPr>
          </a:p>
        </p:txBody>
      </p:sp>
      <p:sp>
        <p:nvSpPr>
          <p:cNvPr id="104" name="TextBox 103">
            <a:extLst>
              <a:ext uri="{FF2B5EF4-FFF2-40B4-BE49-F238E27FC236}">
                <a16:creationId xmlns:a16="http://schemas.microsoft.com/office/drawing/2014/main" id="{2BCAB2AB-EAC5-226D-4F7F-234B988C6C47}"/>
              </a:ext>
            </a:extLst>
          </p:cNvPr>
          <p:cNvSpPr txBox="1">
            <a:spLocks/>
          </p:cNvSpPr>
          <p:nvPr/>
        </p:nvSpPr>
        <p:spPr>
          <a:xfrm>
            <a:off x="8939071" y="2444079"/>
            <a:ext cx="2699875" cy="270073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b="1">
                <a:latin typeface="+mn-lt"/>
              </a:rPr>
              <a:t>Increase overall lending funding</a:t>
            </a:r>
            <a:r>
              <a:rPr lang="en-US">
                <a:latin typeface="+mn-lt"/>
              </a:rPr>
              <a:t> allocated to retail segment, </a:t>
            </a:r>
            <a:r>
              <a:rPr lang="en-US" b="1">
                <a:latin typeface="+mn-lt"/>
              </a:rPr>
              <a:t>proportionally increasing limit </a:t>
            </a:r>
            <a:r>
              <a:rPr lang="en-US">
                <a:latin typeface="+mn-lt"/>
              </a:rPr>
              <a:t>allocated to </a:t>
            </a:r>
            <a:r>
              <a:rPr lang="en-US" b="1">
                <a:latin typeface="+mn-lt"/>
              </a:rPr>
              <a:t>non-PASHA </a:t>
            </a:r>
            <a:r>
              <a:rPr lang="en-US">
                <a:latin typeface="+mn-lt"/>
              </a:rPr>
              <a:t>employees</a:t>
            </a:r>
          </a:p>
          <a:p>
            <a:pPr lvl="1"/>
            <a:endParaRPr lang="en-US">
              <a:latin typeface="+mn-lt"/>
            </a:endParaRPr>
          </a:p>
          <a:p>
            <a:pPr lvl="1"/>
            <a:r>
              <a:rPr lang="en-US">
                <a:latin typeface="+mn-lt"/>
              </a:rPr>
              <a:t>Keep funding </a:t>
            </a:r>
            <a:r>
              <a:rPr lang="en-US" b="1">
                <a:latin typeface="+mn-lt"/>
              </a:rPr>
              <a:t>level the same</a:t>
            </a:r>
            <a:r>
              <a:rPr lang="en-US">
                <a:latin typeface="+mn-lt"/>
              </a:rPr>
              <a:t>, but </a:t>
            </a:r>
            <a:r>
              <a:rPr lang="en-US" b="1">
                <a:latin typeface="+mn-lt"/>
              </a:rPr>
              <a:t>remove cap</a:t>
            </a:r>
            <a:r>
              <a:rPr lang="en-US">
                <a:latin typeface="+mn-lt"/>
              </a:rPr>
              <a:t> for non-PASHA employees, allowing teams to allocate funding to high value customers</a:t>
            </a:r>
          </a:p>
          <a:p>
            <a:pPr lvl="1"/>
            <a:endParaRPr lang="en-US">
              <a:latin typeface="+mn-lt"/>
            </a:endParaRPr>
          </a:p>
        </p:txBody>
      </p:sp>
      <p:sp>
        <p:nvSpPr>
          <p:cNvPr id="105" name="TrackerNumBlue 82">
            <a:extLst>
              <a:ext uri="{FF2B5EF4-FFF2-40B4-BE49-F238E27FC236}">
                <a16:creationId xmlns:a16="http://schemas.microsoft.com/office/drawing/2014/main" id="{E9054B44-0E3E-02CF-AA15-F9D7C0E67D77}"/>
              </a:ext>
            </a:extLst>
          </p:cNvPr>
          <p:cNvSpPr/>
          <p:nvPr>
            <p:custDataLst>
              <p:tags r:id="rId17"/>
            </p:custDataLst>
          </p:nvPr>
        </p:nvSpPr>
        <p:spPr>
          <a:xfrm>
            <a:off x="8881921" y="3831723"/>
            <a:ext cx="219456" cy="219456"/>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2</a:t>
            </a:r>
          </a:p>
        </p:txBody>
      </p:sp>
      <p:sp>
        <p:nvSpPr>
          <p:cNvPr id="106" name="TrackerNumBlue 82">
            <a:extLst>
              <a:ext uri="{FF2B5EF4-FFF2-40B4-BE49-F238E27FC236}">
                <a16:creationId xmlns:a16="http://schemas.microsoft.com/office/drawing/2014/main" id="{1C2F497D-9777-1433-2AC5-A558D21B9A4C}"/>
              </a:ext>
            </a:extLst>
          </p:cNvPr>
          <p:cNvSpPr/>
          <p:nvPr>
            <p:custDataLst>
              <p:tags r:id="rId18"/>
            </p:custDataLst>
          </p:nvPr>
        </p:nvSpPr>
        <p:spPr>
          <a:xfrm>
            <a:off x="8910114" y="2448854"/>
            <a:ext cx="219456" cy="219456"/>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bg1"/>
                </a:solidFill>
              </a:rPr>
              <a:t>1</a:t>
            </a:r>
          </a:p>
        </p:txBody>
      </p:sp>
    </p:spTree>
    <p:extLst>
      <p:ext uri="{BB962C8B-B14F-4D97-AF65-F5344CB8AC3E}">
        <p14:creationId xmlns:p14="http://schemas.microsoft.com/office/powerpoint/2010/main" val="2746326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09B3B-5338-8B49-42CE-FCAA1426103E}"/>
            </a:ext>
          </a:extLst>
        </p:cNvPr>
        <p:cNvGrpSpPr/>
        <p:nvPr/>
      </p:nvGrpSpPr>
      <p:grpSpPr>
        <a:xfrm>
          <a:off x="0" y="0"/>
          <a:ext cx="0" cy="0"/>
          <a:chOff x="0" y="0"/>
          <a:chExt cx="0" cy="0"/>
        </a:xfrm>
      </p:grpSpPr>
      <p:graphicFrame>
        <p:nvGraphicFramePr>
          <p:cNvPr id="24" name="Object 6" hidden="1">
            <a:extLst>
              <a:ext uri="{FF2B5EF4-FFF2-40B4-BE49-F238E27FC236}">
                <a16:creationId xmlns:a16="http://schemas.microsoft.com/office/drawing/2014/main" id="{B57B641D-7CF5-D062-B336-A3F5E9BD8E7F}"/>
              </a:ext>
            </a:extLst>
          </p:cNvPr>
          <p:cNvGraphicFramePr>
            <a:graphicFrameLocks noChangeAspect="1"/>
          </p:cNvGraphicFramePr>
          <p:nvPr>
            <p:custDataLst>
              <p:tags r:id="rId1"/>
            </p:custDataLst>
            <p:extLst>
              <p:ext uri="{D42A27DB-BD31-4B8C-83A1-F6EECF244321}">
                <p14:modId xmlns:p14="http://schemas.microsoft.com/office/powerpoint/2010/main" val="17656886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04" imgH="405" progId="TCLayout.ActiveDocument.1">
                  <p:embed/>
                </p:oleObj>
              </mc:Choice>
              <mc:Fallback>
                <p:oleObj name="think-cell Slide" r:id="rId18" imgW="404" imgH="405" progId="TCLayout.ActiveDocument.1">
                  <p:embed/>
                  <p:pic>
                    <p:nvPicPr>
                      <p:cNvPr id="24" name="Object 6" hidden="1">
                        <a:extLst>
                          <a:ext uri="{FF2B5EF4-FFF2-40B4-BE49-F238E27FC236}">
                            <a16:creationId xmlns:a16="http://schemas.microsoft.com/office/drawing/2014/main" id="{B57B641D-7CF5-D062-B336-A3F5E9BD8E7F}"/>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17" name="Rectangle 16">
            <a:extLst>
              <a:ext uri="{FF2B5EF4-FFF2-40B4-BE49-F238E27FC236}">
                <a16:creationId xmlns:a16="http://schemas.microsoft.com/office/drawing/2014/main" id="{E7B1CDEB-D37C-4180-80FC-AC771F63CC5B}"/>
              </a:ext>
            </a:extLst>
          </p:cNvPr>
          <p:cNvSpPr/>
          <p:nvPr/>
        </p:nvSpPr>
        <p:spPr>
          <a:xfrm>
            <a:off x="441434" y="5379365"/>
            <a:ext cx="7220607" cy="778385"/>
          </a:xfrm>
          <a:prstGeom prst="rect">
            <a:avLst/>
          </a:prstGeom>
          <a:solidFill>
            <a:schemeClr val="bg1">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14" name="2. Slide Title">
            <a:extLst>
              <a:ext uri="{FF2B5EF4-FFF2-40B4-BE49-F238E27FC236}">
                <a16:creationId xmlns:a16="http://schemas.microsoft.com/office/drawing/2014/main" id="{23A8F20D-8BF8-A8D1-FB53-9536D7885D17}"/>
              </a:ext>
            </a:extLst>
          </p:cNvPr>
          <p:cNvSpPr>
            <a:spLocks noGrp="1"/>
          </p:cNvSpPr>
          <p:nvPr>
            <p:ph type="title"/>
            <p:custDataLst>
              <p:tags r:id="rId2"/>
            </p:custDataLst>
          </p:nvPr>
        </p:nvSpPr>
        <p:spPr>
          <a:xfrm>
            <a:off x="1085679" y="226624"/>
            <a:ext cx="6367174" cy="677108"/>
          </a:xfrm>
          <a:noFill/>
          <a:ln/>
          <a:extLst>
            <a:ext uri="{909E8E84-426E-40DD-AFC4-6F175D3DCCD1}">
              <a14:hiddenFill xmlns:a14="http://schemas.microsoft.com/office/drawing/2010/main">
                <a:solidFill>
                  <a:srgbClr val="FFFFFF"/>
                </a:solidFill>
              </a14:hiddenFill>
            </a:ext>
          </a:extLst>
        </p:spPr>
        <p:txBody>
          <a:bodyPr vert="horz"/>
          <a:lstStyle/>
          <a:p>
            <a:r>
              <a:rPr lang="en-US"/>
              <a:t>Banking players offer exclusive incentives for their salary customers</a:t>
            </a:r>
            <a:endParaRPr lang="de-DE"/>
          </a:p>
        </p:txBody>
      </p:sp>
      <p:sp>
        <p:nvSpPr>
          <p:cNvPr id="2" name="3. Subtitle">
            <a:extLst>
              <a:ext uri="{FF2B5EF4-FFF2-40B4-BE49-F238E27FC236}">
                <a16:creationId xmlns:a16="http://schemas.microsoft.com/office/drawing/2014/main" id="{F306E54D-FA87-DDD5-CEAF-C6A3A304E0AD}"/>
              </a:ext>
            </a:extLst>
          </p:cNvPr>
          <p:cNvSpPr>
            <a:spLocks noGrp="1"/>
          </p:cNvSpPr>
          <p:nvPr>
            <p:ph type="subTitle" idx="1"/>
            <p:custDataLst>
              <p:tags r:id="rId3"/>
            </p:custDataLst>
          </p:nvPr>
        </p:nvSpPr>
        <p:spPr>
          <a:xfrm>
            <a:off x="554736" y="958596"/>
            <a:ext cx="6967728" cy="430887"/>
          </a:xfrm>
        </p:spPr>
        <p:txBody>
          <a:bodyPr/>
          <a:lstStyle/>
          <a:p>
            <a:r>
              <a:rPr lang="en-US" sz="1400"/>
              <a:t>Banks are driving salary account adoption by offering customers an </a:t>
            </a:r>
            <a:r>
              <a:rPr lang="en-US" sz="1400" b="1"/>
              <a:t>expanded suite of benefits</a:t>
            </a:r>
            <a:r>
              <a:rPr lang="en-US" sz="1400"/>
              <a:t>, including enhanced cashback, preferential conditions, and exclusive perks</a:t>
            </a:r>
            <a:endParaRPr lang="en-GB" sz="1400"/>
          </a:p>
        </p:txBody>
      </p:sp>
      <p:sp>
        <p:nvSpPr>
          <p:cNvPr id="3" name="1. On-page tracker">
            <a:extLst>
              <a:ext uri="{FF2B5EF4-FFF2-40B4-BE49-F238E27FC236}">
                <a16:creationId xmlns:a16="http://schemas.microsoft.com/office/drawing/2014/main" id="{F015450C-1633-9BBC-F0BF-8327700B4EC1}"/>
              </a:ext>
            </a:extLst>
          </p:cNvPr>
          <p:cNvSpPr>
            <a:spLocks noGrp="1"/>
          </p:cNvSpPr>
          <p:nvPr>
            <p:ph type="body" sz="quarter" idx="10"/>
            <p:custDataLst>
              <p:tags r:id="rId4"/>
            </p:custDataLst>
          </p:nvPr>
        </p:nvSpPr>
        <p:spPr/>
        <p:txBody>
          <a:bodyPr/>
          <a:lstStyle/>
          <a:p>
            <a:endParaRPr lang="en-GB"/>
          </a:p>
        </p:txBody>
      </p:sp>
      <p:sp>
        <p:nvSpPr>
          <p:cNvPr id="22" name="5. Source">
            <a:extLst>
              <a:ext uri="{FF2B5EF4-FFF2-40B4-BE49-F238E27FC236}">
                <a16:creationId xmlns:a16="http://schemas.microsoft.com/office/drawing/2014/main" id="{DC65E3BD-87D9-C3AC-BD8B-7B0EFE564ACB}"/>
              </a:ext>
            </a:extLst>
          </p:cNvPr>
          <p:cNvSpPr txBox="1"/>
          <p:nvPr>
            <p:custDataLst>
              <p:tags r:id="rId5"/>
            </p:custDataLst>
          </p:nvPr>
        </p:nvSpPr>
        <p:spPr>
          <a:xfrm>
            <a:off x="554735" y="6536453"/>
            <a:ext cx="6967729"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effectLst/>
                <a:uLnTx/>
                <a:uFillTx/>
                <a:ea typeface="+mn-ea"/>
                <a:cs typeface="Arial" panose="020B0604020202020204" pitchFamily="34" charset="0"/>
              </a:rPr>
              <a:t>Source: Bank websites</a:t>
            </a:r>
          </a:p>
        </p:txBody>
      </p:sp>
      <p:sp>
        <p:nvSpPr>
          <p:cNvPr id="12" name="TextBox 11">
            <a:extLst>
              <a:ext uri="{FF2B5EF4-FFF2-40B4-BE49-F238E27FC236}">
                <a16:creationId xmlns:a16="http://schemas.microsoft.com/office/drawing/2014/main" id="{8C69BF88-E8F8-776D-0E31-E27D182A4509}"/>
              </a:ext>
            </a:extLst>
          </p:cNvPr>
          <p:cNvSpPr txBox="1"/>
          <p:nvPr/>
        </p:nvSpPr>
        <p:spPr>
          <a:xfrm>
            <a:off x="8101213" y="1991467"/>
            <a:ext cx="3533576" cy="206979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200"/>
              <a:t>In the context of salary liberalization, establishing a </a:t>
            </a:r>
            <a:r>
              <a:rPr lang="en-US" sz="1200" b="1"/>
              <a:t>differentiated value proposition is crucial to retain existing clients </a:t>
            </a:r>
            <a:r>
              <a:rPr lang="en-US" sz="1200"/>
              <a:t>and capture market share </a:t>
            </a:r>
          </a:p>
          <a:p>
            <a:pPr lvl="1"/>
            <a:r>
              <a:rPr lang="en-US" sz="1200"/>
              <a:t>Structuring targeted incentives tied to salary spending - such as preferential lending or mortgage rates – will make salary accounts function as an efficient </a:t>
            </a:r>
            <a:r>
              <a:rPr lang="en-US" sz="1200" b="1"/>
              <a:t>low-cost acquisition engine</a:t>
            </a:r>
            <a:r>
              <a:rPr lang="en-US" sz="1200"/>
              <a:t> for PASHA, driving </a:t>
            </a:r>
            <a:r>
              <a:rPr lang="en-US" sz="1200" b="1"/>
              <a:t>penetration and cross-selling </a:t>
            </a:r>
            <a:r>
              <a:rPr lang="en-US" sz="1200"/>
              <a:t>across higher-yield financial products</a:t>
            </a:r>
          </a:p>
        </p:txBody>
      </p:sp>
      <p:sp>
        <p:nvSpPr>
          <p:cNvPr id="15" name="TextBox 14">
            <a:extLst>
              <a:ext uri="{FF2B5EF4-FFF2-40B4-BE49-F238E27FC236}">
                <a16:creationId xmlns:a16="http://schemas.microsoft.com/office/drawing/2014/main" id="{82ECB4AB-1A97-C01A-B26E-DFB16134BB2D}"/>
              </a:ext>
            </a:extLst>
          </p:cNvPr>
          <p:cNvSpPr txBox="1">
            <a:spLocks/>
          </p:cNvSpPr>
          <p:nvPr/>
        </p:nvSpPr>
        <p:spPr>
          <a:xfrm>
            <a:off x="8097169" y="1621924"/>
            <a:ext cx="3540095" cy="246221"/>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r>
              <a:rPr lang="en-US" b="1"/>
              <a:t>Implications</a:t>
            </a:r>
          </a:p>
        </p:txBody>
      </p:sp>
      <p:cxnSp>
        <p:nvCxnSpPr>
          <p:cNvPr id="16" name="Straight Connector 15">
            <a:extLst>
              <a:ext uri="{FF2B5EF4-FFF2-40B4-BE49-F238E27FC236}">
                <a16:creationId xmlns:a16="http://schemas.microsoft.com/office/drawing/2014/main" id="{6BF42E6E-839B-54F4-4298-1F0ED298E622}"/>
              </a:ext>
            </a:extLst>
          </p:cNvPr>
          <p:cNvCxnSpPr>
            <a:cxnSpLocks/>
          </p:cNvCxnSpPr>
          <p:nvPr/>
        </p:nvCxnSpPr>
        <p:spPr>
          <a:xfrm>
            <a:off x="8097169" y="1913428"/>
            <a:ext cx="3540095"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 name="TrackerNumBlue 35">
            <a:extLst>
              <a:ext uri="{FF2B5EF4-FFF2-40B4-BE49-F238E27FC236}">
                <a16:creationId xmlns:a16="http://schemas.microsoft.com/office/drawing/2014/main" id="{BC0B025B-EE29-1D7E-713B-2F044756CEC0}"/>
              </a:ext>
            </a:extLst>
          </p:cNvPr>
          <p:cNvSpPr/>
          <p:nvPr>
            <p:custDataLst>
              <p:tags r:id="rId6"/>
            </p:custDataLst>
          </p:nvPr>
        </p:nvSpPr>
        <p:spPr>
          <a:xfrm>
            <a:off x="554734" y="279278"/>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ahoma"/>
                <a:ea typeface="+mn-ea"/>
                <a:cs typeface="+mn-cs"/>
              </a:rPr>
              <a:t>1</a:t>
            </a:r>
          </a:p>
        </p:txBody>
      </p:sp>
      <p:sp>
        <p:nvSpPr>
          <p:cNvPr id="38" name="TextBox 37">
            <a:extLst>
              <a:ext uri="{FF2B5EF4-FFF2-40B4-BE49-F238E27FC236}">
                <a16:creationId xmlns:a16="http://schemas.microsoft.com/office/drawing/2014/main" id="{F12C1289-ECE7-F64D-6E82-47E2FF52130C}"/>
              </a:ext>
            </a:extLst>
          </p:cNvPr>
          <p:cNvSpPr txBox="1">
            <a:spLocks/>
          </p:cNvSpPr>
          <p:nvPr/>
        </p:nvSpPr>
        <p:spPr>
          <a:xfrm>
            <a:off x="554735" y="1668090"/>
            <a:ext cx="3882183" cy="20005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chemeClr val="tx1"/>
              </a:buClr>
              <a:buNone/>
            </a:pPr>
            <a:r>
              <a:rPr lang="en-US" sz="1300"/>
              <a:t>Common </a:t>
            </a:r>
            <a:r>
              <a:rPr lang="en-US" sz="1300" b="1"/>
              <a:t>salary-customer-exclusive benefits</a:t>
            </a:r>
          </a:p>
        </p:txBody>
      </p:sp>
      <p:pic>
        <p:nvPicPr>
          <p:cNvPr id="47" name="Picture 14">
            <a:extLst>
              <a:ext uri="{FF2B5EF4-FFF2-40B4-BE49-F238E27FC236}">
                <a16:creationId xmlns:a16="http://schemas.microsoft.com/office/drawing/2014/main" id="{E724ABEC-73CB-DA21-B170-D357D50B6046}"/>
              </a:ext>
            </a:extLst>
          </p:cNvPr>
          <p:cNvPicPr>
            <a:picLocks noChangeArrowheads="1"/>
          </p:cNvPicPr>
          <p:nvPr/>
        </p:nvPicPr>
        <p:blipFill rotWithShape="1">
          <a:blip r:embed="rId20">
            <a:extLst>
              <a:ext uri="{28A0092B-C50C-407E-A947-70E740481C1C}">
                <a14:useLocalDpi xmlns:a14="http://schemas.microsoft.com/office/drawing/2010/main" val="0"/>
              </a:ext>
            </a:extLst>
          </a:blip>
          <a:srcRect r="40277" b="-9316"/>
          <a:stretch>
            <a:fillRect/>
          </a:stretch>
        </p:blipFill>
        <p:spPr bwMode="auto">
          <a:xfrm>
            <a:off x="6853190" y="5872037"/>
            <a:ext cx="641507" cy="239713"/>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0">
            <a:extLst>
              <a:ext uri="{FF2B5EF4-FFF2-40B4-BE49-F238E27FC236}">
                <a16:creationId xmlns:a16="http://schemas.microsoft.com/office/drawing/2014/main" id="{70F7D636-53E8-C3AD-AEC0-51CF6B959B6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67375" y="2018351"/>
            <a:ext cx="627231" cy="22492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8" descr="Monzo Bank Ltd - Open Banking">
            <a:extLst>
              <a:ext uri="{FF2B5EF4-FFF2-40B4-BE49-F238E27FC236}">
                <a16:creationId xmlns:a16="http://schemas.microsoft.com/office/drawing/2014/main" id="{029045FC-9580-EB43-A810-B7566EE7FD1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10687" y="4062923"/>
            <a:ext cx="549859" cy="54158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56">
            <a:extLst>
              <a:ext uri="{FF2B5EF4-FFF2-40B4-BE49-F238E27FC236}">
                <a16:creationId xmlns:a16="http://schemas.microsoft.com/office/drawing/2014/main" id="{E198C5BA-48DC-8200-1D45-933F771F755C}"/>
              </a:ext>
            </a:extLst>
          </p:cNvPr>
          <p:cNvPicPr>
            <a:picLocks noChangeAspect="1"/>
          </p:cNvPicPr>
          <p:nvPr/>
        </p:nvPicPr>
        <p:blipFill>
          <a:blip r:embed="rId23">
            <a:extLst>
              <a:ext uri="{BEBA8EAE-BF5A-486C-A8C5-ECC9F3942E4B}">
                <a14:imgProps xmlns:a14="http://schemas.microsoft.com/office/drawing/2010/main">
                  <a14:imgLayer r:embed="rId24">
                    <a14:imgEffect>
                      <a14:backgroundRemoval t="9990" b="94583" l="9962" r="89991">
                        <a14:foregroundMark x1="31499" y1="92793" x2="71917" y2="94583"/>
                      </a14:backgroundRemoval>
                    </a14:imgEffect>
                  </a14:imgLayer>
                </a14:imgProps>
              </a:ext>
            </a:extLst>
          </a:blip>
          <a:stretch>
            <a:fillRect/>
          </a:stretch>
        </p:blipFill>
        <p:spPr>
          <a:xfrm>
            <a:off x="9777443" y="4482207"/>
            <a:ext cx="2564008" cy="2447241"/>
          </a:xfrm>
          <a:prstGeom prst="rect">
            <a:avLst/>
          </a:prstGeom>
        </p:spPr>
      </p:pic>
      <p:pic>
        <p:nvPicPr>
          <p:cNvPr id="68" name="Picture 67">
            <a:extLst>
              <a:ext uri="{FF2B5EF4-FFF2-40B4-BE49-F238E27FC236}">
                <a16:creationId xmlns:a16="http://schemas.microsoft.com/office/drawing/2014/main" id="{82D21E33-1DF2-3837-1212-E914EA30F648}"/>
              </a:ext>
            </a:extLst>
          </p:cNvPr>
          <p:cNvPicPr>
            <a:picLocks noChangeAspect="1"/>
          </p:cNvPicPr>
          <p:nvPr/>
        </p:nvPicPr>
        <p:blipFill>
          <a:blip r:embed="rId25"/>
          <a:srcRect l="3980" t="59099" r="3079"/>
          <a:stretch>
            <a:fillRect/>
          </a:stretch>
        </p:blipFill>
        <p:spPr>
          <a:xfrm>
            <a:off x="7990000" y="5437239"/>
            <a:ext cx="2496872" cy="1013271"/>
          </a:xfrm>
          <a:prstGeom prst="roundRect">
            <a:avLst>
              <a:gd name="adj" fmla="val 8291"/>
            </a:avLst>
          </a:prstGeom>
          <a:ln>
            <a:solidFill>
              <a:schemeClr val="accent2"/>
            </a:solidFill>
          </a:ln>
        </p:spPr>
      </p:pic>
      <p:pic>
        <p:nvPicPr>
          <p:cNvPr id="81" name="Picture 80">
            <a:extLst>
              <a:ext uri="{FF2B5EF4-FFF2-40B4-BE49-F238E27FC236}">
                <a16:creationId xmlns:a16="http://schemas.microsoft.com/office/drawing/2014/main" id="{F817871E-6ADB-4AA3-7789-4827CCF24933}"/>
              </a:ext>
            </a:extLst>
          </p:cNvPr>
          <p:cNvPicPr>
            <a:picLocks noChangeAspect="1"/>
          </p:cNvPicPr>
          <p:nvPr/>
        </p:nvPicPr>
        <p:blipFill>
          <a:blip r:embed="rId26"/>
          <a:srcRect l="4873" t="5053" r="44572" b="37867"/>
          <a:stretch>
            <a:fillRect/>
          </a:stretch>
        </p:blipFill>
        <p:spPr>
          <a:xfrm>
            <a:off x="7990000" y="4385258"/>
            <a:ext cx="1964228" cy="939096"/>
          </a:xfrm>
          <a:prstGeom prst="roundRect">
            <a:avLst>
              <a:gd name="adj" fmla="val 8749"/>
            </a:avLst>
          </a:prstGeom>
          <a:ln>
            <a:solidFill>
              <a:schemeClr val="accent2"/>
            </a:solidFill>
          </a:ln>
        </p:spPr>
      </p:pic>
      <p:grpSp>
        <p:nvGrpSpPr>
          <p:cNvPr id="115" name="Group 114">
            <a:extLst>
              <a:ext uri="{FF2B5EF4-FFF2-40B4-BE49-F238E27FC236}">
                <a16:creationId xmlns:a16="http://schemas.microsoft.com/office/drawing/2014/main" id="{D1DDF93F-D620-F76B-18DB-9C3F52CF2A1E}"/>
              </a:ext>
            </a:extLst>
          </p:cNvPr>
          <p:cNvGrpSpPr/>
          <p:nvPr/>
        </p:nvGrpSpPr>
        <p:grpSpPr>
          <a:xfrm>
            <a:off x="554735" y="1991467"/>
            <a:ext cx="5290480" cy="622195"/>
            <a:chOff x="388784" y="2923869"/>
            <a:chExt cx="5290480" cy="622195"/>
          </a:xfrm>
        </p:grpSpPr>
        <p:sp>
          <p:nvSpPr>
            <p:cNvPr id="39" name="TextBox 38">
              <a:extLst>
                <a:ext uri="{FF2B5EF4-FFF2-40B4-BE49-F238E27FC236}">
                  <a16:creationId xmlns:a16="http://schemas.microsoft.com/office/drawing/2014/main" id="{5725AD75-4A60-1025-0E61-1236A0EF58F7}"/>
                </a:ext>
              </a:extLst>
            </p:cNvPr>
            <p:cNvSpPr txBox="1"/>
            <p:nvPr/>
          </p:nvSpPr>
          <p:spPr>
            <a:xfrm>
              <a:off x="957856" y="2981396"/>
              <a:ext cx="4721408" cy="56466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a:t>Ecosystem services access </a:t>
              </a:r>
              <a:r>
                <a:rPr lang="en-GB" sz="1200"/>
                <a:t>with f</a:t>
              </a:r>
              <a:r>
                <a:rPr lang="en-US" sz="1200" err="1"/>
                <a:t>ree</a:t>
              </a:r>
              <a:r>
                <a:rPr lang="en-US" sz="1200"/>
                <a:t> or discounted access to a suite of non-banking lifestyle services (e.g., insurance, streaming, </a:t>
              </a:r>
              <a:br>
                <a:rPr lang="en-US" sz="1200"/>
              </a:br>
              <a:r>
                <a:rPr lang="en-US" sz="1200"/>
                <a:t>e-commerce, mobile data)</a:t>
              </a:r>
              <a:endParaRPr lang="en-GB" sz="1200" b="1"/>
            </a:p>
          </p:txBody>
        </p:sp>
        <p:grpSp>
          <p:nvGrpSpPr>
            <p:cNvPr id="89" name="CustomIcon">
              <a:extLst>
                <a:ext uri="{FF2B5EF4-FFF2-40B4-BE49-F238E27FC236}">
                  <a16:creationId xmlns:a16="http://schemas.microsoft.com/office/drawing/2014/main" id="{8435153E-F9FE-C573-BF50-E3BD72F97C6D}"/>
                </a:ext>
              </a:extLst>
            </p:cNvPr>
            <p:cNvGrpSpPr>
              <a:grpSpLocks noChangeAspect="1"/>
            </p:cNvGrpSpPr>
            <p:nvPr>
              <p:custDataLst>
                <p:tags r:id="rId15"/>
              </p:custDataLst>
            </p:nvPr>
          </p:nvGrpSpPr>
          <p:grpSpPr>
            <a:xfrm>
              <a:off x="388784" y="2923869"/>
              <a:ext cx="484387" cy="484387"/>
              <a:chOff x="-205105" y="-205105"/>
              <a:chExt cx="1019810" cy="1019810"/>
            </a:xfrm>
          </p:grpSpPr>
          <p:sp>
            <p:nvSpPr>
              <p:cNvPr id="86" name="Oval 85">
                <a:extLst>
                  <a:ext uri="{FF2B5EF4-FFF2-40B4-BE49-F238E27FC236}">
                    <a16:creationId xmlns:a16="http://schemas.microsoft.com/office/drawing/2014/main" id="{2064D4A8-9F92-B419-20AE-64EA46F08C8C}"/>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1C863F"/>
                  </a:fgClr>
                  <a:bgClr>
                    <a:srgbClr val="1C863F"/>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88" name="Graphic 87">
                <a:extLst>
                  <a:ext uri="{FF2B5EF4-FFF2-40B4-BE49-F238E27FC236}">
                    <a16:creationId xmlns:a16="http://schemas.microsoft.com/office/drawing/2014/main" id="{85F22598-845B-E5F8-9156-36A0C915C95E}"/>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0" y="0"/>
                <a:ext cx="609600" cy="609600"/>
              </a:xfrm>
              <a:prstGeom prst="rect">
                <a:avLst/>
              </a:prstGeom>
            </p:spPr>
          </p:pic>
        </p:grpSp>
      </p:grpSp>
      <p:grpSp>
        <p:nvGrpSpPr>
          <p:cNvPr id="116" name="Group 115">
            <a:extLst>
              <a:ext uri="{FF2B5EF4-FFF2-40B4-BE49-F238E27FC236}">
                <a16:creationId xmlns:a16="http://schemas.microsoft.com/office/drawing/2014/main" id="{A8E57169-2610-BAB4-1CBB-E40FDC7D3E43}"/>
              </a:ext>
            </a:extLst>
          </p:cNvPr>
          <p:cNvGrpSpPr/>
          <p:nvPr/>
        </p:nvGrpSpPr>
        <p:grpSpPr>
          <a:xfrm>
            <a:off x="554735" y="2719408"/>
            <a:ext cx="6247990" cy="484387"/>
            <a:chOff x="554735" y="3515222"/>
            <a:chExt cx="6247990" cy="484387"/>
          </a:xfrm>
        </p:grpSpPr>
        <p:sp>
          <p:nvSpPr>
            <p:cNvPr id="40" name="TextBox 39">
              <a:extLst>
                <a:ext uri="{FF2B5EF4-FFF2-40B4-BE49-F238E27FC236}">
                  <a16:creationId xmlns:a16="http://schemas.microsoft.com/office/drawing/2014/main" id="{5179EC7F-0E7F-FBBA-47C9-57B068A98FB4}"/>
                </a:ext>
              </a:extLst>
            </p:cNvPr>
            <p:cNvSpPr txBox="1"/>
            <p:nvPr/>
          </p:nvSpPr>
          <p:spPr>
            <a:xfrm>
              <a:off x="1123807" y="3665082"/>
              <a:ext cx="5678918"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a:t>Reduced fees and waivers </a:t>
              </a:r>
              <a:r>
                <a:rPr lang="en-US" sz="1200"/>
                <a:t>on transactional </a:t>
              </a:r>
              <a:r>
                <a:rPr lang="en-GB" sz="1200"/>
                <a:t>and payment fees</a:t>
              </a:r>
              <a:endParaRPr lang="en-GB" sz="1200" b="1"/>
            </a:p>
          </p:txBody>
        </p:sp>
        <p:grpSp>
          <p:nvGrpSpPr>
            <p:cNvPr id="93" name="CustomIcon">
              <a:extLst>
                <a:ext uri="{FF2B5EF4-FFF2-40B4-BE49-F238E27FC236}">
                  <a16:creationId xmlns:a16="http://schemas.microsoft.com/office/drawing/2014/main" id="{F3A272D5-CC3B-F360-4260-C7A7D3889C3C}"/>
                </a:ext>
              </a:extLst>
            </p:cNvPr>
            <p:cNvGrpSpPr>
              <a:grpSpLocks noChangeAspect="1"/>
            </p:cNvGrpSpPr>
            <p:nvPr>
              <p:custDataLst>
                <p:tags r:id="rId14"/>
              </p:custDataLst>
            </p:nvPr>
          </p:nvGrpSpPr>
          <p:grpSpPr>
            <a:xfrm>
              <a:off x="554735" y="3515222"/>
              <a:ext cx="484387" cy="484387"/>
              <a:chOff x="-205105" y="-205105"/>
              <a:chExt cx="1019810" cy="1019810"/>
            </a:xfrm>
          </p:grpSpPr>
          <p:sp>
            <p:nvSpPr>
              <p:cNvPr id="90" name="Oval 89">
                <a:extLst>
                  <a:ext uri="{FF2B5EF4-FFF2-40B4-BE49-F238E27FC236}">
                    <a16:creationId xmlns:a16="http://schemas.microsoft.com/office/drawing/2014/main" id="{CF010744-0EB0-5A29-FB07-685644ED9486}"/>
                  </a:ext>
                </a:extLst>
              </p:cNvPr>
              <p:cNvSpPr>
                <a:spLocks noChangeAspect="1"/>
              </p:cNvSpPr>
              <p:nvPr/>
            </p:nvSpPr>
            <p:spPr>
              <a:xfrm>
                <a:off x="-205105" y="-205105"/>
                <a:ext cx="1019810" cy="1019810"/>
              </a:xfrm>
              <a:prstGeom prst="ellipse">
                <a:avLst/>
              </a:prstGeom>
              <a:solidFill>
                <a:schemeClr val="lt1"/>
              </a:solidFill>
              <a:ln w="6350" cap="sq">
                <a:pattFill prst="solidDmnd">
                  <a:fgClr>
                    <a:srgbClr val="1C863F"/>
                  </a:fgClr>
                  <a:bgClr>
                    <a:srgbClr val="1C863F"/>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92" name="Graphic 91">
                <a:extLst>
                  <a:ext uri="{FF2B5EF4-FFF2-40B4-BE49-F238E27FC236}">
                    <a16:creationId xmlns:a16="http://schemas.microsoft.com/office/drawing/2014/main" id="{83ACA498-9D7A-5604-5A5B-A504AD16C35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0" y="0"/>
                <a:ext cx="609600" cy="609600"/>
              </a:xfrm>
              <a:prstGeom prst="rect">
                <a:avLst/>
              </a:prstGeom>
            </p:spPr>
          </p:pic>
        </p:grpSp>
      </p:grpSp>
      <p:sp>
        <p:nvSpPr>
          <p:cNvPr id="41" name="TextBox 40">
            <a:extLst>
              <a:ext uri="{FF2B5EF4-FFF2-40B4-BE49-F238E27FC236}">
                <a16:creationId xmlns:a16="http://schemas.microsoft.com/office/drawing/2014/main" id="{608CA1C2-BD0F-C7F4-300A-ECCE11B851BE}"/>
              </a:ext>
            </a:extLst>
          </p:cNvPr>
          <p:cNvSpPr txBox="1"/>
          <p:nvPr/>
        </p:nvSpPr>
        <p:spPr>
          <a:xfrm>
            <a:off x="1123809" y="3413368"/>
            <a:ext cx="4536211"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a:t>Higher </a:t>
            </a:r>
            <a:r>
              <a:rPr lang="en-GB" sz="1200" b="1"/>
              <a:t>cashback</a:t>
            </a:r>
            <a:r>
              <a:rPr lang="en-GB" sz="1200"/>
              <a:t> (capped per month), </a:t>
            </a:r>
            <a:r>
              <a:rPr lang="en-GB" sz="1200" b="1"/>
              <a:t>miles</a:t>
            </a:r>
            <a:r>
              <a:rPr lang="en-GB" sz="1200"/>
              <a:t> or </a:t>
            </a:r>
            <a:r>
              <a:rPr lang="en-GB" sz="1200" b="1"/>
              <a:t>unique categories</a:t>
            </a:r>
            <a:r>
              <a:rPr lang="en-GB" sz="1200"/>
              <a:t>, rewarding daily card usage</a:t>
            </a:r>
            <a:endParaRPr lang="en-GB" sz="1200" b="1"/>
          </a:p>
        </p:txBody>
      </p:sp>
      <p:sp>
        <p:nvSpPr>
          <p:cNvPr id="94" name="Oval 93">
            <a:extLst>
              <a:ext uri="{FF2B5EF4-FFF2-40B4-BE49-F238E27FC236}">
                <a16:creationId xmlns:a16="http://schemas.microsoft.com/office/drawing/2014/main" id="{1C48C2CA-E6A9-FF6E-5610-CDFEC7BF5213}"/>
              </a:ext>
            </a:extLst>
          </p:cNvPr>
          <p:cNvSpPr>
            <a:spLocks noChangeAspect="1"/>
          </p:cNvSpPr>
          <p:nvPr/>
        </p:nvSpPr>
        <p:spPr>
          <a:xfrm>
            <a:off x="554735" y="3355841"/>
            <a:ext cx="484387" cy="484387"/>
          </a:xfrm>
          <a:prstGeom prst="ellipse">
            <a:avLst/>
          </a:prstGeom>
          <a:solidFill>
            <a:schemeClr val="accent3"/>
          </a:solidFill>
          <a:ln w="6350" cap="sq">
            <a:pattFill prst="solidDmnd">
              <a:fgClr>
                <a:srgbClr val="1C863F"/>
              </a:fgClr>
              <a:bgClr>
                <a:srgbClr val="1C863F"/>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96" name="Graphic 95">
            <a:extLst>
              <a:ext uri="{FF2B5EF4-FFF2-40B4-BE49-F238E27FC236}">
                <a16:creationId xmlns:a16="http://schemas.microsoft.com/office/drawing/2014/main" id="{23FAD6DB-C2B5-0AED-4E70-44BDD7EBDD2F}"/>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652155" y="3453261"/>
            <a:ext cx="289546" cy="289546"/>
          </a:xfrm>
          <a:prstGeom prst="rect">
            <a:avLst/>
          </a:prstGeom>
        </p:spPr>
      </p:pic>
      <p:sp>
        <p:nvSpPr>
          <p:cNvPr id="42" name="TextBox 41">
            <a:extLst>
              <a:ext uri="{FF2B5EF4-FFF2-40B4-BE49-F238E27FC236}">
                <a16:creationId xmlns:a16="http://schemas.microsoft.com/office/drawing/2014/main" id="{B47E55C5-D7D9-D098-DDDE-621C3358BFC1}"/>
              </a:ext>
            </a:extLst>
          </p:cNvPr>
          <p:cNvSpPr txBox="1"/>
          <p:nvPr/>
        </p:nvSpPr>
        <p:spPr>
          <a:xfrm>
            <a:off x="1116762" y="5587258"/>
            <a:ext cx="5796903"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a:t>Tier-based perks </a:t>
            </a:r>
            <a:r>
              <a:rPr lang="en-GB" sz="1200"/>
              <a:t>with higher banking tier (e.g., Premium) assigned for salary customers when they achieve certain salary thresholds or balances</a:t>
            </a:r>
            <a:r>
              <a:rPr lang="en-GB" sz="1200" b="1"/>
              <a:t> </a:t>
            </a:r>
          </a:p>
        </p:txBody>
      </p:sp>
      <p:grpSp>
        <p:nvGrpSpPr>
          <p:cNvPr id="101" name="CustomIcon">
            <a:extLst>
              <a:ext uri="{FF2B5EF4-FFF2-40B4-BE49-F238E27FC236}">
                <a16:creationId xmlns:a16="http://schemas.microsoft.com/office/drawing/2014/main" id="{6EA186D3-20DB-EC54-15BA-F21A94EC87B5}"/>
              </a:ext>
            </a:extLst>
          </p:cNvPr>
          <p:cNvGrpSpPr>
            <a:grpSpLocks noChangeAspect="1"/>
          </p:cNvGrpSpPr>
          <p:nvPr>
            <p:custDataLst>
              <p:tags r:id="rId7"/>
            </p:custDataLst>
          </p:nvPr>
        </p:nvGrpSpPr>
        <p:grpSpPr>
          <a:xfrm>
            <a:off x="547688" y="5529731"/>
            <a:ext cx="484387" cy="484387"/>
            <a:chOff x="-205105" y="-205105"/>
            <a:chExt cx="1019810" cy="1019810"/>
          </a:xfrm>
          <a:solidFill>
            <a:schemeClr val="accent3"/>
          </a:solidFill>
        </p:grpSpPr>
        <p:sp>
          <p:nvSpPr>
            <p:cNvPr id="98" name="Oval 97">
              <a:extLst>
                <a:ext uri="{FF2B5EF4-FFF2-40B4-BE49-F238E27FC236}">
                  <a16:creationId xmlns:a16="http://schemas.microsoft.com/office/drawing/2014/main" id="{9A3B576A-6C4A-40D6-776F-C77E8D414253}"/>
                </a:ext>
              </a:extLst>
            </p:cNvPr>
            <p:cNvSpPr>
              <a:spLocks noChangeAspect="1"/>
            </p:cNvSpPr>
            <p:nvPr/>
          </p:nvSpPr>
          <p:spPr>
            <a:xfrm>
              <a:off x="-205105" y="-205105"/>
              <a:ext cx="1019810" cy="1019810"/>
            </a:xfrm>
            <a:prstGeom prst="ellipse">
              <a:avLst/>
            </a:prstGeom>
            <a:grpFill/>
            <a:ln w="6350" cap="sq">
              <a:pattFill prst="solidDmnd">
                <a:fgClr>
                  <a:srgbClr val="1C863F"/>
                </a:fgClr>
                <a:bgClr>
                  <a:srgbClr val="1C863F"/>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100" name="Graphic 99">
              <a:extLst>
                <a:ext uri="{FF2B5EF4-FFF2-40B4-BE49-F238E27FC236}">
                  <a16:creationId xmlns:a16="http://schemas.microsoft.com/office/drawing/2014/main" id="{9C395572-E7FF-E5EA-84ED-791D29387507}"/>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0" y="0"/>
              <a:ext cx="609600" cy="609600"/>
            </a:xfrm>
            <a:prstGeom prst="rect">
              <a:avLst/>
            </a:prstGeom>
          </p:spPr>
        </p:pic>
      </p:grpSp>
      <p:sp>
        <p:nvSpPr>
          <p:cNvPr id="44" name="TextBox 43">
            <a:extLst>
              <a:ext uri="{FF2B5EF4-FFF2-40B4-BE49-F238E27FC236}">
                <a16:creationId xmlns:a16="http://schemas.microsoft.com/office/drawing/2014/main" id="{082AC35D-7FF3-1C5C-177A-608BB605A5C9}"/>
              </a:ext>
            </a:extLst>
          </p:cNvPr>
          <p:cNvSpPr txBox="1"/>
          <p:nvPr/>
        </p:nvSpPr>
        <p:spPr>
          <a:xfrm>
            <a:off x="1123807" y="4657470"/>
            <a:ext cx="5144913" cy="5539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a:t>Preferential conditions </a:t>
            </a:r>
            <a:r>
              <a:rPr lang="en-GB" sz="1200"/>
              <a:t>such as access, d</a:t>
            </a:r>
            <a:r>
              <a:rPr lang="en-US" sz="1200" err="1"/>
              <a:t>iscounted</a:t>
            </a:r>
            <a:r>
              <a:rPr lang="en-US" sz="1200"/>
              <a:t> rates, or higher yield for core products (mortgages, auto loans, </a:t>
            </a:r>
            <a:r>
              <a:rPr lang="az-Latn-AZ" sz="1200"/>
              <a:t>overdraft facilities</a:t>
            </a:r>
            <a:r>
              <a:rPr lang="en-US" sz="1200"/>
              <a:t>), or a higher chance to get a loan approval</a:t>
            </a:r>
            <a:endParaRPr lang="en-GB" sz="1200" b="1"/>
          </a:p>
        </p:txBody>
      </p:sp>
      <p:sp>
        <p:nvSpPr>
          <p:cNvPr id="102" name="Oval 101">
            <a:extLst>
              <a:ext uri="{FF2B5EF4-FFF2-40B4-BE49-F238E27FC236}">
                <a16:creationId xmlns:a16="http://schemas.microsoft.com/office/drawing/2014/main" id="{D46FFC1E-D805-3885-0293-F40ABE07D980}"/>
              </a:ext>
            </a:extLst>
          </p:cNvPr>
          <p:cNvSpPr>
            <a:spLocks noChangeAspect="1"/>
          </p:cNvSpPr>
          <p:nvPr/>
        </p:nvSpPr>
        <p:spPr>
          <a:xfrm>
            <a:off x="554735" y="4692276"/>
            <a:ext cx="484387" cy="484387"/>
          </a:xfrm>
          <a:prstGeom prst="ellipse">
            <a:avLst/>
          </a:prstGeom>
          <a:solidFill>
            <a:schemeClr val="accent3"/>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104" name="Graphic 103">
            <a:extLst>
              <a:ext uri="{FF2B5EF4-FFF2-40B4-BE49-F238E27FC236}">
                <a16:creationId xmlns:a16="http://schemas.microsoft.com/office/drawing/2014/main" id="{1C82166D-A681-A2D0-2AC6-A93A8BD07E3C}"/>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652155" y="4789696"/>
            <a:ext cx="289546" cy="289546"/>
          </a:xfrm>
          <a:prstGeom prst="rect">
            <a:avLst/>
          </a:prstGeom>
        </p:spPr>
      </p:pic>
      <p:sp>
        <p:nvSpPr>
          <p:cNvPr id="43" name="TextBox 42">
            <a:extLst>
              <a:ext uri="{FF2B5EF4-FFF2-40B4-BE49-F238E27FC236}">
                <a16:creationId xmlns:a16="http://schemas.microsoft.com/office/drawing/2014/main" id="{808D2877-3DB4-2DF4-43EA-3D6B1E39D5C4}"/>
              </a:ext>
            </a:extLst>
          </p:cNvPr>
          <p:cNvSpPr txBox="1"/>
          <p:nvPr/>
        </p:nvSpPr>
        <p:spPr>
          <a:xfrm>
            <a:off x="1123809" y="4072950"/>
            <a:ext cx="4906601"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200" b="1"/>
              <a:t>Exclusive promos, </a:t>
            </a:r>
            <a:r>
              <a:rPr lang="en-GB" sz="1200"/>
              <a:t>e.g., o</a:t>
            </a:r>
            <a:r>
              <a:rPr lang="en-US" sz="1200"/>
              <a:t>ne-off cash bonuses for initiating a salary transfer or targeted campaigns with exclusive retail partners</a:t>
            </a:r>
            <a:endParaRPr lang="en-GB" sz="1200" b="1"/>
          </a:p>
        </p:txBody>
      </p:sp>
      <p:sp>
        <p:nvSpPr>
          <p:cNvPr id="106" name="Oval 105">
            <a:extLst>
              <a:ext uri="{FF2B5EF4-FFF2-40B4-BE49-F238E27FC236}">
                <a16:creationId xmlns:a16="http://schemas.microsoft.com/office/drawing/2014/main" id="{FAD7F4B4-9E42-9BF8-6178-D4EF0033D06C}"/>
              </a:ext>
            </a:extLst>
          </p:cNvPr>
          <p:cNvSpPr>
            <a:spLocks noChangeAspect="1"/>
          </p:cNvSpPr>
          <p:nvPr/>
        </p:nvSpPr>
        <p:spPr>
          <a:xfrm>
            <a:off x="554735" y="4015424"/>
            <a:ext cx="484387" cy="484387"/>
          </a:xfrm>
          <a:prstGeom prst="ellipse">
            <a:avLst/>
          </a:prstGeom>
          <a:solidFill>
            <a:schemeClr val="accent3"/>
          </a:solidFill>
          <a:ln w="6350" cap="sq">
            <a:pattFill prst="solidDmnd">
              <a:fgClr>
                <a:srgbClr val="1C863F"/>
              </a:fgClr>
              <a:bgClr>
                <a:srgbClr val="1C863F"/>
              </a:bgClr>
            </a:patt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pic>
        <p:nvPicPr>
          <p:cNvPr id="108" name="Graphic 107">
            <a:extLst>
              <a:ext uri="{FF2B5EF4-FFF2-40B4-BE49-F238E27FC236}">
                <a16:creationId xmlns:a16="http://schemas.microsoft.com/office/drawing/2014/main" id="{BB4371DD-CC12-BCB2-9E46-C608BDFDE5DE}"/>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52155" y="4112843"/>
            <a:ext cx="289546" cy="289546"/>
          </a:xfrm>
          <a:prstGeom prst="rect">
            <a:avLst/>
          </a:prstGeom>
        </p:spPr>
      </p:pic>
      <p:pic>
        <p:nvPicPr>
          <p:cNvPr id="118" name="Picture 14">
            <a:extLst>
              <a:ext uri="{FF2B5EF4-FFF2-40B4-BE49-F238E27FC236}">
                <a16:creationId xmlns:a16="http://schemas.microsoft.com/office/drawing/2014/main" id="{6B3E04E4-063D-62AD-F4C5-A77AFEBD92C6}"/>
              </a:ext>
            </a:extLst>
          </p:cNvPr>
          <p:cNvPicPr>
            <a:picLocks noChangeArrowheads="1"/>
          </p:cNvPicPr>
          <p:nvPr/>
        </p:nvPicPr>
        <p:blipFill rotWithShape="1">
          <a:blip r:embed="rId20">
            <a:extLst>
              <a:ext uri="{28A0092B-C50C-407E-A947-70E740481C1C}">
                <a14:useLocalDpi xmlns:a14="http://schemas.microsoft.com/office/drawing/2010/main" val="0"/>
              </a:ext>
            </a:extLst>
          </a:blip>
          <a:srcRect r="40277" b="-9316"/>
          <a:stretch>
            <a:fillRect/>
          </a:stretch>
        </p:blipFill>
        <p:spPr bwMode="auto">
          <a:xfrm>
            <a:off x="6860237" y="2290729"/>
            <a:ext cx="641507" cy="262665"/>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16">
            <a:extLst>
              <a:ext uri="{FF2B5EF4-FFF2-40B4-BE49-F238E27FC236}">
                <a16:creationId xmlns:a16="http://schemas.microsoft.com/office/drawing/2014/main" id="{5FFABC7A-87DB-B09E-D567-15518623D4A1}"/>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869642" y="4604349"/>
            <a:ext cx="690793" cy="567559"/>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20">
            <a:extLst>
              <a:ext uri="{FF2B5EF4-FFF2-40B4-BE49-F238E27FC236}">
                <a16:creationId xmlns:a16="http://schemas.microsoft.com/office/drawing/2014/main" id="{8F9AF744-B6B5-22FF-BCF4-61E43B09FD8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67375" y="3430462"/>
            <a:ext cx="627231" cy="224921"/>
          </a:xfrm>
          <a:prstGeom prst="rect">
            <a:avLst/>
          </a:prstGeom>
          <a:noFill/>
          <a:extLst>
            <a:ext uri="{909E8E84-426E-40DD-AFC4-6F175D3DCCD1}">
              <a14:hiddenFill xmlns:a14="http://schemas.microsoft.com/office/drawing/2010/main">
                <a:solidFill>
                  <a:srgbClr val="FFFFFF"/>
                </a:solidFill>
              </a14:hiddenFill>
            </a:ext>
          </a:extLst>
        </p:spPr>
      </p:pic>
      <p:pic>
        <p:nvPicPr>
          <p:cNvPr id="123" name="Picture 122">
            <a:extLst>
              <a:ext uri="{FF2B5EF4-FFF2-40B4-BE49-F238E27FC236}">
                <a16:creationId xmlns:a16="http://schemas.microsoft.com/office/drawing/2014/main" id="{A22EC135-4225-E094-035C-335BB706C36B}"/>
              </a:ext>
            </a:extLst>
          </p:cNvPr>
          <p:cNvPicPr>
            <a:picLocks/>
          </p:cNvPicPr>
          <p:nvPr/>
        </p:nvPicPr>
        <p:blipFill>
          <a:blip r:embed="rId34"/>
          <a:srcRect t="21307" b="21307"/>
          <a:stretch>
            <a:fillRect/>
          </a:stretch>
        </p:blipFill>
        <p:spPr>
          <a:xfrm>
            <a:off x="6837481" y="4198199"/>
            <a:ext cx="773724" cy="249758"/>
          </a:xfrm>
          <a:prstGeom prst="rect">
            <a:avLst/>
          </a:prstGeom>
        </p:spPr>
      </p:pic>
      <p:pic>
        <p:nvPicPr>
          <p:cNvPr id="124" name="Picture 123">
            <a:extLst>
              <a:ext uri="{FF2B5EF4-FFF2-40B4-BE49-F238E27FC236}">
                <a16:creationId xmlns:a16="http://schemas.microsoft.com/office/drawing/2014/main" id="{07847B6F-F429-0B20-74AB-B612FF53BE40}"/>
              </a:ext>
            </a:extLst>
          </p:cNvPr>
          <p:cNvPicPr>
            <a:picLocks/>
          </p:cNvPicPr>
          <p:nvPr/>
        </p:nvPicPr>
        <p:blipFill>
          <a:blip r:embed="rId34"/>
          <a:srcRect t="21307" b="21307"/>
          <a:stretch>
            <a:fillRect/>
          </a:stretch>
        </p:blipFill>
        <p:spPr>
          <a:xfrm>
            <a:off x="6900949" y="3677338"/>
            <a:ext cx="611021" cy="197237"/>
          </a:xfrm>
          <a:prstGeom prst="rect">
            <a:avLst/>
          </a:prstGeom>
        </p:spPr>
      </p:pic>
      <p:pic>
        <p:nvPicPr>
          <p:cNvPr id="125" name="Picture 20">
            <a:extLst>
              <a:ext uri="{FF2B5EF4-FFF2-40B4-BE49-F238E27FC236}">
                <a16:creationId xmlns:a16="http://schemas.microsoft.com/office/drawing/2014/main" id="{B5E82B3D-F714-6F34-BD50-35F3BF2D766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67375" y="5085642"/>
            <a:ext cx="627231" cy="224921"/>
          </a:xfrm>
          <a:prstGeom prst="rect">
            <a:avLst/>
          </a:prstGeom>
          <a:noFill/>
          <a:extLst>
            <a:ext uri="{909E8E84-426E-40DD-AFC4-6F175D3DCCD1}">
              <a14:hiddenFill xmlns:a14="http://schemas.microsoft.com/office/drawing/2010/main">
                <a:solidFill>
                  <a:srgbClr val="FFFFFF"/>
                </a:solidFill>
              </a14:hiddenFill>
            </a:ext>
          </a:extLst>
        </p:spPr>
      </p:pic>
      <p:pic>
        <p:nvPicPr>
          <p:cNvPr id="126" name="object 5">
            <a:extLst>
              <a:ext uri="{FF2B5EF4-FFF2-40B4-BE49-F238E27FC236}">
                <a16:creationId xmlns:a16="http://schemas.microsoft.com/office/drawing/2014/main" id="{48629271-5C51-B413-C44E-711003AAA601}"/>
              </a:ext>
            </a:extLst>
          </p:cNvPr>
          <p:cNvPicPr/>
          <p:nvPr/>
        </p:nvPicPr>
        <p:blipFill>
          <a:blip r:embed="rId35" cstate="print"/>
          <a:stretch>
            <a:fillRect/>
          </a:stretch>
        </p:blipFill>
        <p:spPr>
          <a:xfrm>
            <a:off x="6900065" y="2901146"/>
            <a:ext cx="648815" cy="170395"/>
          </a:xfrm>
          <a:prstGeom prst="rect">
            <a:avLst/>
          </a:prstGeom>
        </p:spPr>
      </p:pic>
      <p:cxnSp>
        <p:nvCxnSpPr>
          <p:cNvPr id="127" name="LineBasicDefault 127">
            <a:extLst>
              <a:ext uri="{FF2B5EF4-FFF2-40B4-BE49-F238E27FC236}">
                <a16:creationId xmlns:a16="http://schemas.microsoft.com/office/drawing/2014/main" id="{A7932FDF-BFAD-C2FC-D46A-F0B4F671A05A}"/>
              </a:ext>
            </a:extLst>
          </p:cNvPr>
          <p:cNvCxnSpPr>
            <a:cxnSpLocks/>
          </p:cNvCxnSpPr>
          <p:nvPr>
            <p:custDataLst>
              <p:tags r:id="rId8"/>
            </p:custDataLst>
          </p:nvPr>
        </p:nvCxnSpPr>
        <p:spPr>
          <a:xfrm>
            <a:off x="591820" y="2654206"/>
            <a:ext cx="6951980"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0" name="LineBasicDefault 127">
            <a:extLst>
              <a:ext uri="{FF2B5EF4-FFF2-40B4-BE49-F238E27FC236}">
                <a16:creationId xmlns:a16="http://schemas.microsoft.com/office/drawing/2014/main" id="{33388EE9-2EEE-F034-0080-171EC4BD6751}"/>
              </a:ext>
            </a:extLst>
          </p:cNvPr>
          <p:cNvCxnSpPr>
            <a:cxnSpLocks/>
          </p:cNvCxnSpPr>
          <p:nvPr>
            <p:custDataLst>
              <p:tags r:id="rId9"/>
            </p:custDataLst>
          </p:nvPr>
        </p:nvCxnSpPr>
        <p:spPr>
          <a:xfrm>
            <a:off x="591820" y="3299366"/>
            <a:ext cx="6951980"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1" name="LineBasicDefault 127">
            <a:extLst>
              <a:ext uri="{FF2B5EF4-FFF2-40B4-BE49-F238E27FC236}">
                <a16:creationId xmlns:a16="http://schemas.microsoft.com/office/drawing/2014/main" id="{4E213823-B936-2B26-8491-F5CC7C466E93}"/>
              </a:ext>
            </a:extLst>
          </p:cNvPr>
          <p:cNvCxnSpPr>
            <a:cxnSpLocks/>
          </p:cNvCxnSpPr>
          <p:nvPr>
            <p:custDataLst>
              <p:tags r:id="rId10"/>
            </p:custDataLst>
          </p:nvPr>
        </p:nvCxnSpPr>
        <p:spPr>
          <a:xfrm>
            <a:off x="591820" y="3924206"/>
            <a:ext cx="6951980"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2" name="LineBasicDefault 127">
            <a:extLst>
              <a:ext uri="{FF2B5EF4-FFF2-40B4-BE49-F238E27FC236}">
                <a16:creationId xmlns:a16="http://schemas.microsoft.com/office/drawing/2014/main" id="{3BC80218-C557-4D79-AC35-51E0EE0EF41F}"/>
              </a:ext>
            </a:extLst>
          </p:cNvPr>
          <p:cNvCxnSpPr>
            <a:cxnSpLocks/>
          </p:cNvCxnSpPr>
          <p:nvPr>
            <p:custDataLst>
              <p:tags r:id="rId11"/>
            </p:custDataLst>
          </p:nvPr>
        </p:nvCxnSpPr>
        <p:spPr>
          <a:xfrm>
            <a:off x="591820" y="4549046"/>
            <a:ext cx="6951980"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3" name="LineBasicDefault 127">
            <a:extLst>
              <a:ext uri="{FF2B5EF4-FFF2-40B4-BE49-F238E27FC236}">
                <a16:creationId xmlns:a16="http://schemas.microsoft.com/office/drawing/2014/main" id="{534B5282-7C70-9B14-23FA-8DC3203C0516}"/>
              </a:ext>
            </a:extLst>
          </p:cNvPr>
          <p:cNvCxnSpPr>
            <a:cxnSpLocks/>
          </p:cNvCxnSpPr>
          <p:nvPr>
            <p:custDataLst>
              <p:tags r:id="rId12"/>
            </p:custDataLst>
          </p:nvPr>
        </p:nvCxnSpPr>
        <p:spPr>
          <a:xfrm>
            <a:off x="591820" y="5326286"/>
            <a:ext cx="6951980"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 name="Picture 20">
            <a:extLst>
              <a:ext uri="{FF2B5EF4-FFF2-40B4-BE49-F238E27FC236}">
                <a16:creationId xmlns:a16="http://schemas.microsoft.com/office/drawing/2014/main" id="{B2AF1D28-5583-053E-8BA8-30DF0A77F24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60328" y="5595229"/>
            <a:ext cx="627231" cy="22492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A4B421D4-24AE-74D2-1AC7-0E956D70E4C3}"/>
              </a:ext>
            </a:extLst>
          </p:cNvPr>
          <p:cNvSpPr txBox="1"/>
          <p:nvPr/>
        </p:nvSpPr>
        <p:spPr>
          <a:xfrm>
            <a:off x="6140120" y="5399487"/>
            <a:ext cx="1499172" cy="1692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100" i="1">
                <a:solidFill>
                  <a:schemeClr val="bg1">
                    <a:lumMod val="50000"/>
                  </a:schemeClr>
                </a:solidFill>
              </a:rPr>
              <a:t>Affluent target offering</a:t>
            </a:r>
          </a:p>
        </p:txBody>
      </p:sp>
      <p:sp>
        <p:nvSpPr>
          <p:cNvPr id="20" name="Oval 19">
            <a:extLst>
              <a:ext uri="{FF2B5EF4-FFF2-40B4-BE49-F238E27FC236}">
                <a16:creationId xmlns:a16="http://schemas.microsoft.com/office/drawing/2014/main" id="{88AB72D4-A9DA-913F-EFC6-DBFBC4D384A1}"/>
              </a:ext>
            </a:extLst>
          </p:cNvPr>
          <p:cNvSpPr/>
          <p:nvPr/>
        </p:nvSpPr>
        <p:spPr>
          <a:xfrm>
            <a:off x="5550179" y="1586377"/>
            <a:ext cx="210207" cy="210207"/>
          </a:xfrm>
          <a:prstGeom prst="ellipse">
            <a:avLst/>
          </a:prstGeom>
          <a:solidFill>
            <a:schemeClr val="accent3"/>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600" err="1">
              <a:solidFill>
                <a:schemeClr val="bg1"/>
              </a:solidFill>
            </a:endParaRPr>
          </a:p>
        </p:txBody>
      </p:sp>
      <p:sp>
        <p:nvSpPr>
          <p:cNvPr id="21" name="TextBox 20">
            <a:extLst>
              <a:ext uri="{FF2B5EF4-FFF2-40B4-BE49-F238E27FC236}">
                <a16:creationId xmlns:a16="http://schemas.microsoft.com/office/drawing/2014/main" id="{9F501DFC-F198-6DA6-03C4-FC97CB004516}"/>
              </a:ext>
            </a:extLst>
          </p:cNvPr>
          <p:cNvSpPr txBox="1"/>
          <p:nvPr/>
        </p:nvSpPr>
        <p:spPr>
          <a:xfrm>
            <a:off x="5809907" y="1544980"/>
            <a:ext cx="1683969"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GB" sz="1050" i="1"/>
              <a:t>Offered in PASHA Bank as part of </a:t>
            </a:r>
            <a:r>
              <a:rPr lang="en-GB" sz="1050" i="1" err="1"/>
              <a:t>Miles&amp;Smiles</a:t>
            </a:r>
            <a:endParaRPr lang="en-GB" sz="1050" i="1"/>
          </a:p>
        </p:txBody>
      </p:sp>
      <p:cxnSp>
        <p:nvCxnSpPr>
          <p:cNvPr id="9" name="LineBasicDefault 127">
            <a:extLst>
              <a:ext uri="{FF2B5EF4-FFF2-40B4-BE49-F238E27FC236}">
                <a16:creationId xmlns:a16="http://schemas.microsoft.com/office/drawing/2014/main" id="{86379858-467D-8C71-B1C9-46BAF158AF1D}"/>
              </a:ext>
            </a:extLst>
          </p:cNvPr>
          <p:cNvCxnSpPr>
            <a:cxnSpLocks/>
          </p:cNvCxnSpPr>
          <p:nvPr>
            <p:custDataLst>
              <p:tags r:id="rId13"/>
            </p:custDataLst>
          </p:nvPr>
        </p:nvCxnSpPr>
        <p:spPr>
          <a:xfrm>
            <a:off x="591820" y="1913428"/>
            <a:ext cx="6951980"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670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22DFA28-CF29-97D8-50E7-562F3F2B4DD3}"/>
              </a:ext>
            </a:extLst>
          </p:cNvPr>
          <p:cNvGraphicFramePr>
            <a:graphicFrameLocks noChangeAspect="1"/>
          </p:cNvGraphicFramePr>
          <p:nvPr>
            <p:custDataLst>
              <p:tags r:id="rId1"/>
            </p:custDataLst>
            <p:extLst>
              <p:ext uri="{D42A27DB-BD31-4B8C-83A1-F6EECF244321}">
                <p14:modId xmlns:p14="http://schemas.microsoft.com/office/powerpoint/2010/main" val="38371515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0" imgW="606" imgH="608" progId="TCLayout.ActiveDocument.1">
                  <p:embed/>
                </p:oleObj>
              </mc:Choice>
              <mc:Fallback>
                <p:oleObj name="think-cell Slide" r:id="rId70" imgW="606" imgH="608" progId="TCLayout.ActiveDocument.1">
                  <p:embed/>
                  <p:pic>
                    <p:nvPicPr>
                      <p:cNvPr id="5" name="think-cell data - do not delete" hidden="1">
                        <a:extLst>
                          <a:ext uri="{FF2B5EF4-FFF2-40B4-BE49-F238E27FC236}">
                            <a16:creationId xmlns:a16="http://schemas.microsoft.com/office/drawing/2014/main" id="{F22DFA28-CF29-97D8-50E7-562F3F2B4DD3}"/>
                          </a:ext>
                        </a:extLst>
                      </p:cNvPr>
                      <p:cNvPicPr/>
                      <p:nvPr/>
                    </p:nvPicPr>
                    <p:blipFill>
                      <a:blip r:embed="rId71"/>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0BDB14DD-B551-3034-B3B9-D9DEB1FEA225}"/>
              </a:ext>
            </a:extLst>
          </p:cNvPr>
          <p:cNvSpPr>
            <a:spLocks noGrp="1"/>
          </p:cNvSpPr>
          <p:nvPr>
            <p:ph type="title"/>
            <p:custDataLst>
              <p:tags r:id="rId2"/>
            </p:custDataLst>
          </p:nvPr>
        </p:nvSpPr>
        <p:spPr>
          <a:xfrm>
            <a:off x="1062446" y="534400"/>
            <a:ext cx="10574816" cy="369332"/>
          </a:xfrm>
        </p:spPr>
        <p:txBody>
          <a:bodyPr vert="horz"/>
          <a:lstStyle/>
          <a:p>
            <a:r>
              <a:rPr lang="en-US"/>
              <a:t>Unlocking affluent segment is key to expanding funding base</a:t>
            </a:r>
          </a:p>
        </p:txBody>
      </p:sp>
      <p:sp>
        <p:nvSpPr>
          <p:cNvPr id="37" name="Subtitle 36">
            <a:extLst>
              <a:ext uri="{FF2B5EF4-FFF2-40B4-BE49-F238E27FC236}">
                <a16:creationId xmlns:a16="http://schemas.microsoft.com/office/drawing/2014/main" id="{CEF6D316-F7F5-C8A0-4634-F54A0531B482}"/>
              </a:ext>
            </a:extLst>
          </p:cNvPr>
          <p:cNvSpPr>
            <a:spLocks noGrp="1"/>
          </p:cNvSpPr>
          <p:nvPr>
            <p:ph type="subTitle" idx="1"/>
          </p:nvPr>
        </p:nvSpPr>
        <p:spPr/>
        <p:txBody>
          <a:bodyPr/>
          <a:lstStyle/>
          <a:p>
            <a:r>
              <a:rPr lang="en-US"/>
              <a:t>Identifying affluent and hidden segment is key for banks to unlock affluent banking</a:t>
            </a:r>
          </a:p>
        </p:txBody>
      </p:sp>
      <p:sp>
        <p:nvSpPr>
          <p:cNvPr id="38" name="Text Placeholder 37">
            <a:extLst>
              <a:ext uri="{FF2B5EF4-FFF2-40B4-BE49-F238E27FC236}">
                <a16:creationId xmlns:a16="http://schemas.microsoft.com/office/drawing/2014/main" id="{357E2584-4572-6A79-FBB0-C604A10FD054}"/>
              </a:ext>
            </a:extLst>
          </p:cNvPr>
          <p:cNvSpPr>
            <a:spLocks noGrp="1"/>
          </p:cNvSpPr>
          <p:nvPr>
            <p:ph type="body" sz="quarter" idx="10"/>
          </p:nvPr>
        </p:nvSpPr>
        <p:spPr/>
        <p:txBody>
          <a:bodyPr/>
          <a:lstStyle/>
          <a:p>
            <a:endParaRPr lang="en-US"/>
          </a:p>
        </p:txBody>
      </p:sp>
      <p:sp>
        <p:nvSpPr>
          <p:cNvPr id="19" name="TextBox 18">
            <a:extLst>
              <a:ext uri="{FF2B5EF4-FFF2-40B4-BE49-F238E27FC236}">
                <a16:creationId xmlns:a16="http://schemas.microsoft.com/office/drawing/2014/main" id="{3FFC83FA-A15B-96DF-B647-BD1A633BD983}"/>
              </a:ext>
            </a:extLst>
          </p:cNvPr>
          <p:cNvSpPr txBox="1">
            <a:spLocks/>
          </p:cNvSpPr>
          <p:nvPr/>
        </p:nvSpPr>
        <p:spPr>
          <a:xfrm>
            <a:off x="561296" y="1559996"/>
            <a:ext cx="5506434" cy="552583"/>
          </a:xfrm>
          <a:prstGeom prst="roundRect">
            <a:avLst/>
          </a:prstGeom>
          <a:solidFill>
            <a:schemeClr val="accent2">
              <a:lumMod val="50000"/>
            </a:schemeClr>
          </a:solidFill>
        </p:spPr>
        <p:txBody>
          <a:bodyPr vert="horz" wrap="square" lIns="36576" tIns="36576" rIns="36576" bIns="36576" rtlCol="0" anchor="ctr">
            <a:noAutofit/>
          </a:bodyPr>
          <a:lstStyle>
            <a:defPPr>
              <a:defRPr lang="en-US"/>
            </a:defPPr>
            <a:lvl1pPr lvl="0" indent="0">
              <a:lnSpc>
                <a:spcPct val="100000"/>
              </a:lnSpc>
              <a:spcBef>
                <a:spcPts val="300"/>
              </a:spcBef>
              <a:spcAft>
                <a:spcPts val="300"/>
              </a:spcAft>
              <a:buFont typeface="Segoe UI" panose="020B0502040204020203" pitchFamily="34" charset="0"/>
              <a:buChar char="​"/>
              <a:defRPr sz="1400" b="1">
                <a:solidFill>
                  <a:schemeClr val="bg1"/>
                </a:solidFill>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Attracting affluent deposits might be crucial for banks in a stagnating deposit and increasing </a:t>
            </a:r>
            <a:r>
              <a:rPr lang="en-US" err="1"/>
              <a:t>CoF</a:t>
            </a:r>
            <a:r>
              <a:rPr lang="en-US"/>
              <a:t> context</a:t>
            </a:r>
          </a:p>
        </p:txBody>
      </p:sp>
      <p:cxnSp>
        <p:nvCxnSpPr>
          <p:cNvPr id="20" name="LineBasicVerticalDefault 32">
            <a:extLst>
              <a:ext uri="{FF2B5EF4-FFF2-40B4-BE49-F238E27FC236}">
                <a16:creationId xmlns:a16="http://schemas.microsoft.com/office/drawing/2014/main" id="{565779B4-B1BB-FDA0-9ED9-09289BE63ACC}"/>
              </a:ext>
            </a:extLst>
          </p:cNvPr>
          <p:cNvCxnSpPr>
            <a:cxnSpLocks/>
          </p:cNvCxnSpPr>
          <p:nvPr>
            <p:custDataLst>
              <p:tags r:id="rId3"/>
            </p:custDataLst>
          </p:nvPr>
        </p:nvCxnSpPr>
        <p:spPr>
          <a:xfrm>
            <a:off x="6107859" y="1559996"/>
            <a:ext cx="0" cy="4830391"/>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AB74FE8-1A08-A310-28EF-E6C969FF0C59}"/>
              </a:ext>
            </a:extLst>
          </p:cNvPr>
          <p:cNvSpPr txBox="1">
            <a:spLocks/>
          </p:cNvSpPr>
          <p:nvPr/>
        </p:nvSpPr>
        <p:spPr>
          <a:xfrm>
            <a:off x="6155103" y="1565440"/>
            <a:ext cx="5506434" cy="552583"/>
          </a:xfrm>
          <a:prstGeom prst="roundRect">
            <a:avLst/>
          </a:prstGeom>
          <a:solidFill>
            <a:schemeClr val="accent2">
              <a:lumMod val="50000"/>
            </a:schemeClr>
          </a:solidFill>
        </p:spPr>
        <p:txBody>
          <a:bodyPr vert="horz" wrap="square" lIns="36576" tIns="36576" rIns="36576" bIns="36576" rtlCol="0" anchor="ctr">
            <a:noAutofit/>
          </a:bodyPr>
          <a:lstStyle>
            <a:defPPr>
              <a:defRPr lang="en-US"/>
            </a:defPPr>
            <a:lvl1pPr lvl="0" indent="0">
              <a:lnSpc>
                <a:spcPct val="100000"/>
              </a:lnSpc>
              <a:spcBef>
                <a:spcPts val="300"/>
              </a:spcBef>
              <a:spcAft>
                <a:spcPts val="300"/>
              </a:spcAft>
              <a:buFont typeface="Segoe UI" panose="020B0502040204020203" pitchFamily="34" charset="0"/>
              <a:buChar char="​"/>
              <a:defRPr sz="1400" b="1">
                <a:solidFill>
                  <a:schemeClr val="bg1"/>
                </a:solidFill>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 making their “uncovering” critical for PASHA Bank</a:t>
            </a:r>
          </a:p>
        </p:txBody>
      </p:sp>
      <p:sp>
        <p:nvSpPr>
          <p:cNvPr id="24" name="TrackerNumBlue 35">
            <a:extLst>
              <a:ext uri="{FF2B5EF4-FFF2-40B4-BE49-F238E27FC236}">
                <a16:creationId xmlns:a16="http://schemas.microsoft.com/office/drawing/2014/main" id="{22E5CEA7-575C-007C-08AD-BF138E05B026}"/>
              </a:ext>
            </a:extLst>
          </p:cNvPr>
          <p:cNvSpPr/>
          <p:nvPr>
            <p:custDataLst>
              <p:tags r:id="rId4"/>
            </p:custDataLst>
          </p:nvPr>
        </p:nvSpPr>
        <p:spPr>
          <a:xfrm>
            <a:off x="554735" y="494751"/>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2</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cxnSp>
        <p:nvCxnSpPr>
          <p:cNvPr id="31" name="LineBasicStrong 47">
            <a:extLst>
              <a:ext uri="{FF2B5EF4-FFF2-40B4-BE49-F238E27FC236}">
                <a16:creationId xmlns:a16="http://schemas.microsoft.com/office/drawing/2014/main" id="{B7873B92-1885-3980-8A11-398E1E0FB1AD}"/>
              </a:ext>
            </a:extLst>
          </p:cNvPr>
          <p:cNvCxnSpPr>
            <a:cxnSpLocks/>
          </p:cNvCxnSpPr>
          <p:nvPr>
            <p:custDataLst>
              <p:tags r:id="rId5"/>
            </p:custDataLst>
          </p:nvPr>
        </p:nvCxnSpPr>
        <p:spPr>
          <a:xfrm>
            <a:off x="554734" y="6482821"/>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LineBasicStrong 47">
            <a:extLst>
              <a:ext uri="{FF2B5EF4-FFF2-40B4-BE49-F238E27FC236}">
                <a16:creationId xmlns:a16="http://schemas.microsoft.com/office/drawing/2014/main" id="{45EB1E99-D200-A37A-D86E-4BF291A7DE8D}"/>
              </a:ext>
            </a:extLst>
          </p:cNvPr>
          <p:cNvCxnSpPr>
            <a:cxnSpLocks/>
          </p:cNvCxnSpPr>
          <p:nvPr>
            <p:custDataLst>
              <p:tags r:id="rId6"/>
            </p:custDataLst>
          </p:nvPr>
        </p:nvCxnSpPr>
        <p:spPr>
          <a:xfrm>
            <a:off x="554734" y="1497361"/>
            <a:ext cx="11082528"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BasicDefault 127">
            <a:extLst>
              <a:ext uri="{FF2B5EF4-FFF2-40B4-BE49-F238E27FC236}">
                <a16:creationId xmlns:a16="http://schemas.microsoft.com/office/drawing/2014/main" id="{6C55B4F6-30A7-CB1F-C307-1468C51BB0DA}"/>
              </a:ext>
            </a:extLst>
          </p:cNvPr>
          <p:cNvCxnSpPr>
            <a:cxnSpLocks/>
          </p:cNvCxnSpPr>
          <p:nvPr>
            <p:custDataLst>
              <p:tags r:id="rId7"/>
            </p:custDataLst>
          </p:nvPr>
        </p:nvCxnSpPr>
        <p:spPr>
          <a:xfrm>
            <a:off x="639607" y="2171700"/>
            <a:ext cx="5273513"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graphicFrame>
        <p:nvGraphicFramePr>
          <p:cNvPr id="140" name="Chart 139">
            <a:extLst>
              <a:ext uri="{FF2B5EF4-FFF2-40B4-BE49-F238E27FC236}">
                <a16:creationId xmlns:a16="http://schemas.microsoft.com/office/drawing/2014/main" id="{B9EFA752-B14A-31C6-7E5C-33FAFA28AD06}"/>
              </a:ext>
            </a:extLst>
          </p:cNvPr>
          <p:cNvGraphicFramePr/>
          <p:nvPr>
            <p:custDataLst>
              <p:tags r:id="rId8"/>
            </p:custDataLst>
            <p:extLst>
              <p:ext uri="{D42A27DB-BD31-4B8C-83A1-F6EECF244321}">
                <p14:modId xmlns:p14="http://schemas.microsoft.com/office/powerpoint/2010/main" val="1149889980"/>
              </p:ext>
            </p:extLst>
          </p:nvPr>
        </p:nvGraphicFramePr>
        <p:xfrm>
          <a:off x="746125" y="3949700"/>
          <a:ext cx="5210175" cy="2166938"/>
        </p:xfrm>
        <a:graphic>
          <a:graphicData uri="http://schemas.openxmlformats.org/drawingml/2006/chart">
            <c:chart xmlns:c="http://schemas.openxmlformats.org/drawingml/2006/chart" xmlns:r="http://schemas.openxmlformats.org/officeDocument/2006/relationships" r:id="rId72"/>
          </a:graphicData>
        </a:graphic>
      </p:graphicFrame>
      <p:cxnSp>
        <p:nvCxnSpPr>
          <p:cNvPr id="43" name="Straight Connector 42">
            <a:extLst>
              <a:ext uri="{FF2B5EF4-FFF2-40B4-BE49-F238E27FC236}">
                <a16:creationId xmlns:a16="http://schemas.microsoft.com/office/drawing/2014/main" id="{EBCAABE3-08DF-AA1E-1AD4-962D681F18E0}"/>
              </a:ext>
            </a:extLst>
          </p:cNvPr>
          <p:cNvCxnSpPr/>
          <p:nvPr>
            <p:custDataLst>
              <p:tags r:id="rId9"/>
            </p:custDataLst>
          </p:nvPr>
        </p:nvCxnSpPr>
        <p:spPr bwMode="auto">
          <a:xfrm flipV="1">
            <a:off x="1331913" y="3878263"/>
            <a:ext cx="1009650" cy="357188"/>
          </a:xfrm>
          <a:prstGeom prst="line">
            <a:avLst/>
          </a:prstGeom>
          <a:ln w="1905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A93CE3F4-D560-1234-8664-C97E0C17F2BA}"/>
              </a:ext>
            </a:extLst>
          </p:cNvPr>
          <p:cNvCxnSpPr/>
          <p:nvPr>
            <p:custDataLst>
              <p:tags r:id="rId10"/>
            </p:custDataLst>
          </p:nvPr>
        </p:nvCxnSpPr>
        <p:spPr bwMode="auto">
          <a:xfrm flipV="1">
            <a:off x="2341563" y="3836988"/>
            <a:ext cx="1008063" cy="41275"/>
          </a:xfrm>
          <a:prstGeom prst="line">
            <a:avLst/>
          </a:prstGeom>
          <a:ln w="1905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0B073088-B8E4-1772-2C73-511300A332AB}"/>
              </a:ext>
            </a:extLst>
          </p:cNvPr>
          <p:cNvCxnSpPr>
            <a:cxnSpLocks/>
          </p:cNvCxnSpPr>
          <p:nvPr>
            <p:custDataLst>
              <p:tags r:id="rId11"/>
            </p:custDataLst>
          </p:nvPr>
        </p:nvCxnSpPr>
        <p:spPr bwMode="auto">
          <a:xfrm flipV="1">
            <a:off x="3349625" y="3671888"/>
            <a:ext cx="1009650" cy="165100"/>
          </a:xfrm>
          <a:prstGeom prst="line">
            <a:avLst/>
          </a:prstGeom>
          <a:ln w="1905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3C5E97FF-9AB9-AF6F-48E0-467C77B9E5E3}"/>
              </a:ext>
            </a:extLst>
          </p:cNvPr>
          <p:cNvCxnSpPr>
            <a:cxnSpLocks/>
          </p:cNvCxnSpPr>
          <p:nvPr>
            <p:custDataLst>
              <p:tags r:id="rId12"/>
            </p:custDataLst>
          </p:nvPr>
        </p:nvCxnSpPr>
        <p:spPr bwMode="auto">
          <a:xfrm flipV="1">
            <a:off x="4359275" y="3644900"/>
            <a:ext cx="1008063" cy="26988"/>
          </a:xfrm>
          <a:prstGeom prst="line">
            <a:avLst/>
          </a:prstGeom>
          <a:ln w="1905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47" name="Text Placeholder 2">
            <a:extLst>
              <a:ext uri="{FF2B5EF4-FFF2-40B4-BE49-F238E27FC236}">
                <a16:creationId xmlns:a16="http://schemas.microsoft.com/office/drawing/2014/main" id="{3ADCEC52-55F0-B1BD-5219-61CA302B2CA5}"/>
              </a:ext>
            </a:extLst>
          </p:cNvPr>
          <p:cNvSpPr>
            <a:spLocks noGrp="1"/>
          </p:cNvSpPr>
          <p:nvPr>
            <p:custDataLst>
              <p:tags r:id="rId13"/>
            </p:custDataLst>
          </p:nvPr>
        </p:nvSpPr>
        <p:spPr bwMode="gray">
          <a:xfrm>
            <a:off x="1182688" y="4783138"/>
            <a:ext cx="298450" cy="152400"/>
          </a:xfrm>
          <a:prstGeom prst="rect">
            <a:avLst/>
          </a:prstGeom>
          <a:noFill/>
          <a:ln>
            <a:noFill/>
          </a:ln>
          <a:effectLst/>
          <a:extLst>
            <a:ext uri="{909E8E84-426E-40DD-AFC4-6F175D3DCCD1}">
              <a14:hiddenFill xmlns:a14="http://schemas.microsoft.com/office/drawing/2010/main">
                <a:solidFill>
                  <a:srgbClr val="7F7F7F"/>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9C167621-7005-4EAC-8ECA-DDE23EE4B830}" type="datetime'''''''''''''''''''3''4''''''''''''''''''''''''''''''''''%'''''">
              <a:rPr lang="ru-RU" altLang="en-US" sz="1000" smtClean="0">
                <a:solidFill>
                  <a:srgbClr val="111918"/>
                </a:solidFill>
                <a:cs typeface="+mn-cs"/>
              </a:rPr>
              <a:pPr lvl="0" algn="ctr">
                <a:spcBef>
                  <a:spcPct val="0"/>
                </a:spcBef>
                <a:spcAft>
                  <a:spcPct val="0"/>
                </a:spcAft>
                <a:defRPr/>
              </a:pPr>
              <a:t>34%</a:t>
            </a:fld>
            <a:endParaRPr kumimoji="0" lang="ru-RU" sz="1000" b="0" i="0" strike="noStrike" kern="1200" cap="none" spc="0" normalizeH="0" baseline="0" noProof="0">
              <a:ln>
                <a:noFill/>
              </a:ln>
              <a:solidFill>
                <a:srgbClr val="111918"/>
              </a:solidFill>
              <a:effectLst/>
              <a:uLnTx/>
              <a:uFillTx/>
              <a:cs typeface="+mn-cs"/>
            </a:endParaRPr>
          </a:p>
        </p:txBody>
      </p:sp>
      <p:sp>
        <p:nvSpPr>
          <p:cNvPr id="48" name="Text Placeholder 2">
            <a:extLst>
              <a:ext uri="{FF2B5EF4-FFF2-40B4-BE49-F238E27FC236}">
                <a16:creationId xmlns:a16="http://schemas.microsoft.com/office/drawing/2014/main" id="{A366A673-E1C2-5F80-0DFB-6EB4B7767E88}"/>
              </a:ext>
            </a:extLst>
          </p:cNvPr>
          <p:cNvSpPr>
            <a:spLocks noGrp="1"/>
          </p:cNvSpPr>
          <p:nvPr>
            <p:custDataLst>
              <p:tags r:id="rId14"/>
            </p:custDataLst>
          </p:nvPr>
        </p:nvSpPr>
        <p:spPr bwMode="gray">
          <a:xfrm>
            <a:off x="1182688" y="5487988"/>
            <a:ext cx="2984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8E2D6CFA-E1DA-44F3-9E5E-4ACC837E5B4B}" type="datetime'''''''''''''''''''''6''''''''''''''''''6''''''%'''''''''''''">
              <a:rPr lang="ru-RU" altLang="en-US" sz="1000" smtClean="0">
                <a:solidFill>
                  <a:srgbClr val="FFFFFF"/>
                </a:solidFill>
                <a:cs typeface="+mn-cs"/>
              </a:rPr>
              <a:pPr lvl="0" algn="ctr">
                <a:spcBef>
                  <a:spcPct val="0"/>
                </a:spcBef>
                <a:spcAft>
                  <a:spcPct val="0"/>
                </a:spcAft>
                <a:defRPr/>
              </a:pPr>
              <a:t>66%</a:t>
            </a:fld>
            <a:endParaRPr kumimoji="0" lang="ru-RU" sz="1000" b="0" i="0" strike="noStrike" kern="1200" cap="none" spc="0" normalizeH="0" baseline="0" noProof="0">
              <a:ln>
                <a:noFill/>
              </a:ln>
              <a:solidFill>
                <a:srgbClr val="FFFFFF"/>
              </a:solidFill>
              <a:effectLst/>
              <a:uLnTx/>
              <a:uFillTx/>
              <a:cs typeface="+mn-cs"/>
            </a:endParaRPr>
          </a:p>
        </p:txBody>
      </p:sp>
      <p:sp>
        <p:nvSpPr>
          <p:cNvPr id="49" name="Text Placeholder 2">
            <a:extLst>
              <a:ext uri="{FF2B5EF4-FFF2-40B4-BE49-F238E27FC236}">
                <a16:creationId xmlns:a16="http://schemas.microsoft.com/office/drawing/2014/main" id="{FD866A30-4500-18BA-8CC1-D892DB0F1FAA}"/>
              </a:ext>
            </a:extLst>
          </p:cNvPr>
          <p:cNvSpPr>
            <a:spLocks noGrp="1"/>
          </p:cNvSpPr>
          <p:nvPr>
            <p:custDataLst>
              <p:tags r:id="rId15"/>
            </p:custDataLst>
          </p:nvPr>
        </p:nvSpPr>
        <p:spPr bwMode="auto">
          <a:xfrm>
            <a:off x="1163638" y="6076950"/>
            <a:ext cx="33655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B27792F9-A523-4999-94DA-C37FC6B9819F}" type="datetime'2''0''''''''''''2''1'''''''''''''''''''''''''''">
              <a:rPr lang="en-US" altLang="en-US" sz="1000" b="1" smtClean="0">
                <a:solidFill>
                  <a:srgbClr val="191C1E"/>
                </a:solidFill>
                <a:cs typeface="+mn-cs"/>
              </a:rPr>
              <a:pPr lvl="0" algn="ctr">
                <a:spcBef>
                  <a:spcPct val="0"/>
                </a:spcBef>
                <a:spcAft>
                  <a:spcPct val="0"/>
                </a:spcAft>
                <a:defRPr/>
              </a:pPr>
              <a:t>2021</a:t>
            </a:fld>
            <a:endParaRPr kumimoji="0" lang="ru-RU" sz="1000" b="1" i="0" strike="noStrike" kern="1200" cap="none" spc="0" normalizeH="0" baseline="0" noProof="0">
              <a:ln>
                <a:noFill/>
              </a:ln>
              <a:solidFill>
                <a:srgbClr val="191C1E"/>
              </a:solidFill>
              <a:effectLst/>
              <a:uLnTx/>
              <a:uFillTx/>
              <a:cs typeface="+mn-cs"/>
            </a:endParaRPr>
          </a:p>
        </p:txBody>
      </p:sp>
      <p:sp>
        <p:nvSpPr>
          <p:cNvPr id="50" name="Text Placeholder 2">
            <a:extLst>
              <a:ext uri="{FF2B5EF4-FFF2-40B4-BE49-F238E27FC236}">
                <a16:creationId xmlns:a16="http://schemas.microsoft.com/office/drawing/2014/main" id="{D33E2589-1B96-5C09-F6CE-380A39246B2F}"/>
              </a:ext>
            </a:extLst>
          </p:cNvPr>
          <p:cNvSpPr>
            <a:spLocks noGrp="1"/>
          </p:cNvSpPr>
          <p:nvPr>
            <p:custDataLst>
              <p:tags r:id="rId16"/>
            </p:custDataLst>
          </p:nvPr>
        </p:nvSpPr>
        <p:spPr bwMode="gray">
          <a:xfrm>
            <a:off x="2192338" y="4489450"/>
            <a:ext cx="298450" cy="152400"/>
          </a:xfrm>
          <a:prstGeom prst="rect">
            <a:avLst/>
          </a:prstGeom>
          <a:noFill/>
          <a:ln>
            <a:noFill/>
          </a:ln>
          <a:effectLst/>
          <a:extLst>
            <a:ext uri="{909E8E84-426E-40DD-AFC4-6F175D3DCCD1}">
              <a14:hiddenFill xmlns:a14="http://schemas.microsoft.com/office/drawing/2010/main">
                <a:solidFill>
                  <a:srgbClr val="7F7F7F"/>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4A2FA81B-86A1-47E4-9BDF-ED62C7AC12DF}" type="datetime'''''''''''3''''''''''''''4''''''''''''''''%'''''''''''">
              <a:rPr lang="ru-RU" altLang="en-US" sz="1000" smtClean="0">
                <a:solidFill>
                  <a:srgbClr val="111918"/>
                </a:solidFill>
                <a:cs typeface="+mn-cs"/>
              </a:rPr>
              <a:pPr lvl="0" algn="ctr">
                <a:spcBef>
                  <a:spcPct val="0"/>
                </a:spcBef>
                <a:spcAft>
                  <a:spcPct val="0"/>
                </a:spcAft>
                <a:defRPr/>
              </a:pPr>
              <a:t>34%</a:t>
            </a:fld>
            <a:endParaRPr kumimoji="0" lang="ru-RU" sz="1000" b="0" i="0" strike="noStrike" kern="1200" cap="none" spc="0" normalizeH="0" baseline="0" noProof="0">
              <a:ln>
                <a:noFill/>
              </a:ln>
              <a:solidFill>
                <a:srgbClr val="111918"/>
              </a:solidFill>
              <a:effectLst/>
              <a:uLnTx/>
              <a:uFillTx/>
              <a:cs typeface="+mn-cs"/>
            </a:endParaRPr>
          </a:p>
        </p:txBody>
      </p:sp>
      <p:sp>
        <p:nvSpPr>
          <p:cNvPr id="51" name="Text Placeholder 2">
            <a:extLst>
              <a:ext uri="{FF2B5EF4-FFF2-40B4-BE49-F238E27FC236}">
                <a16:creationId xmlns:a16="http://schemas.microsoft.com/office/drawing/2014/main" id="{05024C4E-766C-E253-C22F-2BA21765AFF2}"/>
              </a:ext>
            </a:extLst>
          </p:cNvPr>
          <p:cNvSpPr>
            <a:spLocks noGrp="1"/>
          </p:cNvSpPr>
          <p:nvPr>
            <p:custDataLst>
              <p:tags r:id="rId17"/>
            </p:custDataLst>
          </p:nvPr>
        </p:nvSpPr>
        <p:spPr bwMode="gray">
          <a:xfrm>
            <a:off x="2192338" y="5373688"/>
            <a:ext cx="29845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0DB11A30-F5C2-4268-BFDD-C25CA620206D}" type="datetime'''''''''''''''''''''''6''''''''''''''6''%'">
              <a:rPr lang="ru-RU" altLang="en-US" sz="1000" smtClean="0">
                <a:solidFill>
                  <a:srgbClr val="FFFFFF"/>
                </a:solidFill>
                <a:cs typeface="+mn-cs"/>
              </a:rPr>
              <a:pPr lvl="0" algn="ctr">
                <a:spcBef>
                  <a:spcPct val="0"/>
                </a:spcBef>
                <a:spcAft>
                  <a:spcPct val="0"/>
                </a:spcAft>
                <a:defRPr/>
              </a:pPr>
              <a:t>66%</a:t>
            </a:fld>
            <a:endParaRPr kumimoji="0" lang="ru-RU" sz="1000" b="0" i="0" strike="noStrike" kern="1200" cap="none" spc="0" normalizeH="0" baseline="0" noProof="0">
              <a:ln>
                <a:noFill/>
              </a:ln>
              <a:solidFill>
                <a:srgbClr val="FFFFFF"/>
              </a:solidFill>
              <a:effectLst/>
              <a:uLnTx/>
              <a:uFillTx/>
              <a:cs typeface="+mn-cs"/>
            </a:endParaRPr>
          </a:p>
        </p:txBody>
      </p:sp>
      <p:sp>
        <p:nvSpPr>
          <p:cNvPr id="52" name="Text Placeholder 2">
            <a:extLst>
              <a:ext uri="{FF2B5EF4-FFF2-40B4-BE49-F238E27FC236}">
                <a16:creationId xmlns:a16="http://schemas.microsoft.com/office/drawing/2014/main" id="{93656DA4-F010-CE13-2D24-518A4F966A2A}"/>
              </a:ext>
            </a:extLst>
          </p:cNvPr>
          <p:cNvSpPr>
            <a:spLocks noGrp="1"/>
          </p:cNvSpPr>
          <p:nvPr>
            <p:custDataLst>
              <p:tags r:id="rId18"/>
            </p:custDataLst>
          </p:nvPr>
        </p:nvSpPr>
        <p:spPr bwMode="auto">
          <a:xfrm>
            <a:off x="2254250" y="6076950"/>
            <a:ext cx="174625"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A3EFA146-0DA7-49F8-9DF5-FD60D80ECDC0}" type="datetime'''''''''''''''''''2''''2'''''''''''''''''''''''''''">
              <a:rPr lang="en-US" altLang="en-US" sz="1000" b="1" smtClean="0">
                <a:solidFill>
                  <a:srgbClr val="191C1E"/>
                </a:solidFill>
                <a:cs typeface="+mn-cs"/>
              </a:rPr>
              <a:pPr lvl="0" algn="ctr">
                <a:spcBef>
                  <a:spcPct val="0"/>
                </a:spcBef>
                <a:spcAft>
                  <a:spcPct val="0"/>
                </a:spcAft>
                <a:defRPr/>
              </a:pPr>
              <a:t>22</a:t>
            </a:fld>
            <a:endParaRPr kumimoji="0" lang="ru-RU" sz="1000" b="1" i="0" strike="noStrike" kern="1200" cap="none" spc="0" normalizeH="0" baseline="0" noProof="0">
              <a:ln>
                <a:noFill/>
              </a:ln>
              <a:solidFill>
                <a:srgbClr val="191C1E"/>
              </a:solidFill>
              <a:effectLst/>
              <a:uLnTx/>
              <a:uFillTx/>
              <a:cs typeface="+mn-cs"/>
            </a:endParaRPr>
          </a:p>
        </p:txBody>
      </p:sp>
      <p:sp>
        <p:nvSpPr>
          <p:cNvPr id="53" name="Text Placeholder 2">
            <a:extLst>
              <a:ext uri="{FF2B5EF4-FFF2-40B4-BE49-F238E27FC236}">
                <a16:creationId xmlns:a16="http://schemas.microsoft.com/office/drawing/2014/main" id="{23D9A795-0355-17C6-B71C-427EB99B0477}"/>
              </a:ext>
            </a:extLst>
          </p:cNvPr>
          <p:cNvSpPr>
            <a:spLocks noGrp="1"/>
          </p:cNvSpPr>
          <p:nvPr>
            <p:custDataLst>
              <p:tags r:id="rId19"/>
            </p:custDataLst>
          </p:nvPr>
        </p:nvSpPr>
        <p:spPr bwMode="gray">
          <a:xfrm>
            <a:off x="3200400" y="4476750"/>
            <a:ext cx="298450" cy="152400"/>
          </a:xfrm>
          <a:prstGeom prst="rect">
            <a:avLst/>
          </a:prstGeom>
          <a:noFill/>
          <a:ln>
            <a:noFill/>
          </a:ln>
          <a:effectLst/>
          <a:extLst>
            <a:ext uri="{909E8E84-426E-40DD-AFC4-6F175D3DCCD1}">
              <a14:hiddenFill xmlns:a14="http://schemas.microsoft.com/office/drawing/2010/main">
                <a:solidFill>
                  <a:srgbClr val="7F7F7F"/>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B0018118-BDBF-47C5-862F-6DCBA55B45E9}" type="datetime'''''''''''''''''''''''''''3''6''''''%'''''''''''''''''''''''''">
              <a:rPr lang="ru-RU" altLang="en-US" sz="1000" smtClean="0">
                <a:solidFill>
                  <a:srgbClr val="111918"/>
                </a:solidFill>
                <a:cs typeface="+mn-cs"/>
              </a:rPr>
              <a:pPr lvl="0" algn="ctr">
                <a:spcBef>
                  <a:spcPct val="0"/>
                </a:spcBef>
                <a:spcAft>
                  <a:spcPct val="0"/>
                </a:spcAft>
                <a:defRPr/>
              </a:pPr>
              <a:t>36%</a:t>
            </a:fld>
            <a:endParaRPr kumimoji="0" lang="ru-RU" sz="1000" b="0" i="0" strike="noStrike" kern="1200" cap="none" spc="0" normalizeH="0" baseline="0" noProof="0">
              <a:ln>
                <a:noFill/>
              </a:ln>
              <a:solidFill>
                <a:srgbClr val="111918"/>
              </a:solidFill>
              <a:effectLst/>
              <a:uLnTx/>
              <a:uFillTx/>
              <a:cs typeface="+mn-cs"/>
            </a:endParaRPr>
          </a:p>
        </p:txBody>
      </p:sp>
      <p:sp>
        <p:nvSpPr>
          <p:cNvPr id="54" name="Text Placeholder 2">
            <a:extLst>
              <a:ext uri="{FF2B5EF4-FFF2-40B4-BE49-F238E27FC236}">
                <a16:creationId xmlns:a16="http://schemas.microsoft.com/office/drawing/2014/main" id="{F4A6711C-72BE-E672-678B-FC2C79B721F5}"/>
              </a:ext>
            </a:extLst>
          </p:cNvPr>
          <p:cNvSpPr>
            <a:spLocks noGrp="1"/>
          </p:cNvSpPr>
          <p:nvPr>
            <p:custDataLst>
              <p:tags r:id="rId20"/>
            </p:custDataLst>
          </p:nvPr>
        </p:nvSpPr>
        <p:spPr bwMode="gray">
          <a:xfrm>
            <a:off x="3200400" y="5381625"/>
            <a:ext cx="29845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0109C96C-1B7E-491E-8C91-E36830E8BEF9}" type="datetime'''''''''''''''''''''6''''''4''''''''''''''%'">
              <a:rPr lang="ru-RU" altLang="en-US" sz="1000" smtClean="0">
                <a:solidFill>
                  <a:srgbClr val="FFFFFF"/>
                </a:solidFill>
                <a:cs typeface="+mn-cs"/>
              </a:rPr>
              <a:pPr lvl="0" algn="ctr">
                <a:spcBef>
                  <a:spcPct val="0"/>
                </a:spcBef>
                <a:spcAft>
                  <a:spcPct val="0"/>
                </a:spcAft>
                <a:defRPr/>
              </a:pPr>
              <a:t>64%</a:t>
            </a:fld>
            <a:endParaRPr kumimoji="0" lang="ru-RU" sz="1000" b="0" i="0" strike="noStrike" kern="1200" cap="none" spc="0" normalizeH="0" baseline="0" noProof="0">
              <a:ln>
                <a:noFill/>
              </a:ln>
              <a:solidFill>
                <a:srgbClr val="FFFFFF"/>
              </a:solidFill>
              <a:effectLst/>
              <a:uLnTx/>
              <a:uFillTx/>
              <a:cs typeface="+mn-cs"/>
            </a:endParaRPr>
          </a:p>
        </p:txBody>
      </p:sp>
      <p:sp>
        <p:nvSpPr>
          <p:cNvPr id="55" name="Text Placeholder 2">
            <a:extLst>
              <a:ext uri="{FF2B5EF4-FFF2-40B4-BE49-F238E27FC236}">
                <a16:creationId xmlns:a16="http://schemas.microsoft.com/office/drawing/2014/main" id="{E7C39FE8-599B-92CE-E3F9-31CD557537E9}"/>
              </a:ext>
            </a:extLst>
          </p:cNvPr>
          <p:cNvSpPr>
            <a:spLocks noGrp="1"/>
          </p:cNvSpPr>
          <p:nvPr>
            <p:custDataLst>
              <p:tags r:id="rId21"/>
            </p:custDataLst>
          </p:nvPr>
        </p:nvSpPr>
        <p:spPr bwMode="auto">
          <a:xfrm>
            <a:off x="3262313" y="6076950"/>
            <a:ext cx="174625"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B3E7D11B-3B3B-49DF-9118-77B708F6475B}" type="datetime'2''''''''''''''''''''''''''''''''''''''''''3'''''''">
              <a:rPr lang="en-US" altLang="en-US" sz="1000" b="1" smtClean="0">
                <a:solidFill>
                  <a:srgbClr val="191C1E"/>
                </a:solidFill>
                <a:cs typeface="+mn-cs"/>
              </a:rPr>
              <a:pPr lvl="0" algn="ctr">
                <a:spcBef>
                  <a:spcPct val="0"/>
                </a:spcBef>
                <a:spcAft>
                  <a:spcPct val="0"/>
                </a:spcAft>
                <a:defRPr/>
              </a:pPr>
              <a:t>23</a:t>
            </a:fld>
            <a:endParaRPr kumimoji="0" lang="ru-RU" sz="1000" b="1" i="0" strike="noStrike" kern="1200" cap="none" spc="0" normalizeH="0" baseline="0" noProof="0">
              <a:ln>
                <a:noFill/>
              </a:ln>
              <a:solidFill>
                <a:srgbClr val="191C1E"/>
              </a:solidFill>
              <a:effectLst/>
              <a:uLnTx/>
              <a:uFillTx/>
              <a:cs typeface="+mn-cs"/>
            </a:endParaRPr>
          </a:p>
        </p:txBody>
      </p:sp>
      <p:sp>
        <p:nvSpPr>
          <p:cNvPr id="56" name="Text Placeholder 2">
            <a:extLst>
              <a:ext uri="{FF2B5EF4-FFF2-40B4-BE49-F238E27FC236}">
                <a16:creationId xmlns:a16="http://schemas.microsoft.com/office/drawing/2014/main" id="{6FB62153-DE6F-0A9C-7187-BC118BED2EE0}"/>
              </a:ext>
            </a:extLst>
          </p:cNvPr>
          <p:cNvSpPr>
            <a:spLocks noGrp="1"/>
          </p:cNvSpPr>
          <p:nvPr>
            <p:custDataLst>
              <p:tags r:id="rId22"/>
            </p:custDataLst>
          </p:nvPr>
        </p:nvSpPr>
        <p:spPr bwMode="gray">
          <a:xfrm>
            <a:off x="4210050" y="4357688"/>
            <a:ext cx="298450" cy="152400"/>
          </a:xfrm>
          <a:prstGeom prst="rect">
            <a:avLst/>
          </a:prstGeom>
          <a:noFill/>
          <a:ln>
            <a:noFill/>
          </a:ln>
          <a:effectLst/>
          <a:extLst>
            <a:ext uri="{909E8E84-426E-40DD-AFC4-6F175D3DCCD1}">
              <a14:hiddenFill xmlns:a14="http://schemas.microsoft.com/office/drawing/2010/main">
                <a:solidFill>
                  <a:srgbClr val="7F7F7F"/>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5CF8A702-A9D7-4D01-9016-1CCC9B3D3D94}" type="datetime'''3''''8''''''''''''''''''''''''%'''''''''''''''''''">
              <a:rPr lang="ru-RU" altLang="en-US" sz="1000" smtClean="0">
                <a:solidFill>
                  <a:srgbClr val="111918"/>
                </a:solidFill>
                <a:cs typeface="+mn-cs"/>
              </a:rPr>
              <a:pPr lvl="0" algn="ctr">
                <a:spcBef>
                  <a:spcPct val="0"/>
                </a:spcBef>
                <a:spcAft>
                  <a:spcPct val="0"/>
                </a:spcAft>
                <a:defRPr/>
              </a:pPr>
              <a:t>38%</a:t>
            </a:fld>
            <a:endParaRPr kumimoji="0" lang="ru-RU" sz="1000" b="0" i="0" strike="noStrike" kern="1200" cap="none" spc="0" normalizeH="0" baseline="0" noProof="0">
              <a:ln>
                <a:noFill/>
              </a:ln>
              <a:solidFill>
                <a:srgbClr val="111918"/>
              </a:solidFill>
              <a:effectLst/>
              <a:uLnTx/>
              <a:uFillTx/>
              <a:cs typeface="+mn-cs"/>
            </a:endParaRPr>
          </a:p>
        </p:txBody>
      </p:sp>
      <p:sp>
        <p:nvSpPr>
          <p:cNvPr id="57" name="Text Placeholder 2">
            <a:extLst>
              <a:ext uri="{FF2B5EF4-FFF2-40B4-BE49-F238E27FC236}">
                <a16:creationId xmlns:a16="http://schemas.microsoft.com/office/drawing/2014/main" id="{4076010E-2857-64ED-A060-610ABB51EB52}"/>
              </a:ext>
            </a:extLst>
          </p:cNvPr>
          <p:cNvSpPr>
            <a:spLocks noGrp="1"/>
          </p:cNvSpPr>
          <p:nvPr>
            <p:custDataLst>
              <p:tags r:id="rId23"/>
            </p:custDataLst>
          </p:nvPr>
        </p:nvSpPr>
        <p:spPr bwMode="gray">
          <a:xfrm>
            <a:off x="4210050" y="5345113"/>
            <a:ext cx="29845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66D32791-7EB8-486C-9700-19CC210550BF}" type="datetime'6''''''''''''''''''''''''''2''''%'''''">
              <a:rPr lang="ru-RU" altLang="en-US" sz="1000" smtClean="0">
                <a:solidFill>
                  <a:srgbClr val="FFFFFF"/>
                </a:solidFill>
                <a:cs typeface="+mn-cs"/>
              </a:rPr>
              <a:pPr lvl="0" algn="ctr">
                <a:spcBef>
                  <a:spcPct val="0"/>
                </a:spcBef>
                <a:spcAft>
                  <a:spcPct val="0"/>
                </a:spcAft>
                <a:defRPr/>
              </a:pPr>
              <a:t>62%</a:t>
            </a:fld>
            <a:endParaRPr kumimoji="0" lang="ru-RU" sz="1000" b="0" i="0" strike="noStrike" kern="1200" cap="none" spc="0" normalizeH="0" baseline="0" noProof="0">
              <a:ln>
                <a:noFill/>
              </a:ln>
              <a:solidFill>
                <a:srgbClr val="FFFFFF"/>
              </a:solidFill>
              <a:effectLst/>
              <a:uLnTx/>
              <a:uFillTx/>
              <a:cs typeface="+mn-cs"/>
            </a:endParaRPr>
          </a:p>
        </p:txBody>
      </p:sp>
      <p:sp>
        <p:nvSpPr>
          <p:cNvPr id="58" name="Text Placeholder 2">
            <a:extLst>
              <a:ext uri="{FF2B5EF4-FFF2-40B4-BE49-F238E27FC236}">
                <a16:creationId xmlns:a16="http://schemas.microsoft.com/office/drawing/2014/main" id="{A0A7833F-8D42-F483-E21B-F19E0155A222}"/>
              </a:ext>
            </a:extLst>
          </p:cNvPr>
          <p:cNvSpPr>
            <a:spLocks noGrp="1"/>
          </p:cNvSpPr>
          <p:nvPr>
            <p:custDataLst>
              <p:tags r:id="rId24"/>
            </p:custDataLst>
          </p:nvPr>
        </p:nvSpPr>
        <p:spPr bwMode="auto">
          <a:xfrm>
            <a:off x="4271963" y="6076950"/>
            <a:ext cx="174625"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A63C4770-876F-4EC2-B49A-A28423A30D64}" type="datetime'2''''''''''''''4'''''''''">
              <a:rPr lang="en-US" altLang="en-US" sz="1000" b="1" smtClean="0">
                <a:solidFill>
                  <a:srgbClr val="191C1E"/>
                </a:solidFill>
                <a:cs typeface="+mn-cs"/>
              </a:rPr>
              <a:pPr lvl="0" algn="ctr">
                <a:spcBef>
                  <a:spcPct val="0"/>
                </a:spcBef>
                <a:spcAft>
                  <a:spcPct val="0"/>
                </a:spcAft>
                <a:defRPr/>
              </a:pPr>
              <a:t>24</a:t>
            </a:fld>
            <a:endParaRPr kumimoji="0" lang="ru-RU" sz="1000" b="1" i="0" strike="noStrike" kern="1200" cap="none" spc="0" normalizeH="0" baseline="0" noProof="0">
              <a:ln>
                <a:noFill/>
              </a:ln>
              <a:solidFill>
                <a:srgbClr val="191C1E"/>
              </a:solidFill>
              <a:effectLst/>
              <a:uLnTx/>
              <a:uFillTx/>
              <a:cs typeface="+mn-cs"/>
            </a:endParaRPr>
          </a:p>
        </p:txBody>
      </p:sp>
      <p:sp>
        <p:nvSpPr>
          <p:cNvPr id="59" name="Text Placeholder 2">
            <a:extLst>
              <a:ext uri="{FF2B5EF4-FFF2-40B4-BE49-F238E27FC236}">
                <a16:creationId xmlns:a16="http://schemas.microsoft.com/office/drawing/2014/main" id="{AFE9B17A-C923-1E85-03CF-E2AEC6B204C0}"/>
              </a:ext>
            </a:extLst>
          </p:cNvPr>
          <p:cNvSpPr>
            <a:spLocks noGrp="1"/>
          </p:cNvSpPr>
          <p:nvPr>
            <p:custDataLst>
              <p:tags r:id="rId25"/>
            </p:custDataLst>
          </p:nvPr>
        </p:nvSpPr>
        <p:spPr bwMode="gray">
          <a:xfrm>
            <a:off x="5218113" y="4383088"/>
            <a:ext cx="298450" cy="152400"/>
          </a:xfrm>
          <a:prstGeom prst="rect">
            <a:avLst/>
          </a:prstGeom>
          <a:noFill/>
          <a:ln>
            <a:noFill/>
          </a:ln>
          <a:effectLst/>
          <a:extLst>
            <a:ext uri="{909E8E84-426E-40DD-AFC4-6F175D3DCCD1}">
              <a14:hiddenFill xmlns:a14="http://schemas.microsoft.com/office/drawing/2010/main">
                <a:solidFill>
                  <a:srgbClr val="7F7F7F"/>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39B3D2F0-119A-4EA4-83AE-546FB04D5785}" type="datetime'''''4''3''''''''''''''''''''%'''''''''''''">
              <a:rPr lang="ru-RU" altLang="en-US" sz="1000" smtClean="0">
                <a:solidFill>
                  <a:srgbClr val="111918"/>
                </a:solidFill>
                <a:cs typeface="+mn-cs"/>
              </a:rPr>
              <a:pPr lvl="0" algn="ctr">
                <a:spcBef>
                  <a:spcPct val="0"/>
                </a:spcBef>
                <a:spcAft>
                  <a:spcPct val="0"/>
                </a:spcAft>
                <a:defRPr/>
              </a:pPr>
              <a:t>43%</a:t>
            </a:fld>
            <a:endParaRPr kumimoji="0" lang="ru-RU" sz="1000" b="0" i="0" strike="noStrike" kern="1200" cap="none" spc="0" normalizeH="0" baseline="0" noProof="0">
              <a:ln>
                <a:noFill/>
              </a:ln>
              <a:solidFill>
                <a:srgbClr val="111918"/>
              </a:solidFill>
              <a:effectLst/>
              <a:uLnTx/>
              <a:uFillTx/>
              <a:cs typeface="+mn-cs"/>
            </a:endParaRPr>
          </a:p>
        </p:txBody>
      </p:sp>
      <p:sp>
        <p:nvSpPr>
          <p:cNvPr id="60" name="Text Placeholder 2">
            <a:extLst>
              <a:ext uri="{FF2B5EF4-FFF2-40B4-BE49-F238E27FC236}">
                <a16:creationId xmlns:a16="http://schemas.microsoft.com/office/drawing/2014/main" id="{E60AE929-AC30-6722-8955-E9B22173E39A}"/>
              </a:ext>
            </a:extLst>
          </p:cNvPr>
          <p:cNvSpPr>
            <a:spLocks noGrp="1"/>
          </p:cNvSpPr>
          <p:nvPr>
            <p:custDataLst>
              <p:tags r:id="rId26"/>
            </p:custDataLst>
          </p:nvPr>
        </p:nvSpPr>
        <p:spPr bwMode="gray">
          <a:xfrm>
            <a:off x="5218113" y="5384800"/>
            <a:ext cx="29845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B8996721-0CD1-4FB1-BE99-17491286E638}" type="datetime'5''''7''''''''''''''''''''''''''''''%'''''''''''''''''''''''''">
              <a:rPr lang="ru-RU" altLang="en-US" sz="1000" smtClean="0">
                <a:solidFill>
                  <a:srgbClr val="FFFFFF"/>
                </a:solidFill>
                <a:cs typeface="+mn-cs"/>
              </a:rPr>
              <a:pPr lvl="0" algn="ctr">
                <a:spcBef>
                  <a:spcPct val="0"/>
                </a:spcBef>
                <a:spcAft>
                  <a:spcPct val="0"/>
                </a:spcAft>
                <a:defRPr/>
              </a:pPr>
              <a:t>57%</a:t>
            </a:fld>
            <a:endParaRPr kumimoji="0" lang="ru-RU" sz="1000" b="0" i="0" strike="noStrike" kern="1200" cap="none" spc="0" normalizeH="0" baseline="0" noProof="0">
              <a:ln>
                <a:noFill/>
              </a:ln>
              <a:solidFill>
                <a:srgbClr val="FFFFFF"/>
              </a:solidFill>
              <a:effectLst/>
              <a:uLnTx/>
              <a:uFillTx/>
              <a:cs typeface="+mn-cs"/>
            </a:endParaRPr>
          </a:p>
        </p:txBody>
      </p:sp>
      <p:sp>
        <p:nvSpPr>
          <p:cNvPr id="61" name="Text Placeholder 2">
            <a:extLst>
              <a:ext uri="{FF2B5EF4-FFF2-40B4-BE49-F238E27FC236}">
                <a16:creationId xmlns:a16="http://schemas.microsoft.com/office/drawing/2014/main" id="{82A5D6DB-9A1E-3397-9873-2144A711073C}"/>
              </a:ext>
            </a:extLst>
          </p:cNvPr>
          <p:cNvSpPr>
            <a:spLocks noGrp="1"/>
          </p:cNvSpPr>
          <p:nvPr>
            <p:custDataLst>
              <p:tags r:id="rId27"/>
            </p:custDataLst>
          </p:nvPr>
        </p:nvSpPr>
        <p:spPr bwMode="auto">
          <a:xfrm>
            <a:off x="5199063" y="6076950"/>
            <a:ext cx="33655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B610F866-7E8B-4F36-BB10-34D57C718D3A}" type="datetime'''''''''''20''''''''''''''''''''''''2''5'''''''''''''''''">
              <a:rPr lang="en-US" altLang="en-US" sz="1000" b="1" smtClean="0">
                <a:solidFill>
                  <a:srgbClr val="191C1E"/>
                </a:solidFill>
                <a:cs typeface="+mn-cs"/>
              </a:rPr>
              <a:pPr lvl="0" algn="ctr">
                <a:spcBef>
                  <a:spcPct val="0"/>
                </a:spcBef>
                <a:spcAft>
                  <a:spcPct val="0"/>
                </a:spcAft>
                <a:defRPr/>
              </a:pPr>
              <a:t>2025</a:t>
            </a:fld>
            <a:endParaRPr kumimoji="0" lang="ru-RU" sz="1000" b="1" i="0" strike="noStrike" kern="1200" cap="none" spc="0" normalizeH="0" baseline="0" noProof="0">
              <a:ln>
                <a:noFill/>
              </a:ln>
              <a:solidFill>
                <a:srgbClr val="191C1E"/>
              </a:solidFill>
              <a:effectLst/>
              <a:uLnTx/>
              <a:uFillTx/>
              <a:cs typeface="+mn-cs"/>
            </a:endParaRPr>
          </a:p>
        </p:txBody>
      </p:sp>
      <p:sp>
        <p:nvSpPr>
          <p:cNvPr id="62" name="Text Placeholder 2">
            <a:extLst>
              <a:ext uri="{FF2B5EF4-FFF2-40B4-BE49-F238E27FC236}">
                <a16:creationId xmlns:a16="http://schemas.microsoft.com/office/drawing/2014/main" id="{A07456C2-2011-05F0-8FA0-D6C9EF619F7F}"/>
              </a:ext>
            </a:extLst>
          </p:cNvPr>
          <p:cNvSpPr>
            <a:spLocks noGrp="1"/>
          </p:cNvSpPr>
          <p:nvPr>
            <p:custDataLst>
              <p:tags r:id="rId28"/>
            </p:custDataLst>
          </p:nvPr>
        </p:nvSpPr>
        <p:spPr bwMode="gray">
          <a:xfrm>
            <a:off x="1173163" y="4445000"/>
            <a:ext cx="3175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b"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73B546A1-4409-467F-A1F2-185C3E696D51}" type="datetime'2''''''''''''''''''''''''6''''''''''''.''''''9'">
              <a:rPr lang="en-US" altLang="en-US" sz="1000" b="1" smtClean="0">
                <a:solidFill>
                  <a:srgbClr val="191C1E"/>
                </a:solidFill>
                <a:cs typeface="+mn-cs"/>
              </a:rPr>
              <a:pPr lvl="0" algn="ctr">
                <a:spcBef>
                  <a:spcPct val="0"/>
                </a:spcBef>
                <a:spcAft>
                  <a:spcPct val="0"/>
                </a:spcAft>
                <a:defRPr/>
              </a:pPr>
              <a:t>26.9</a:t>
            </a:fld>
            <a:endParaRPr kumimoji="0" lang="ru-RU" sz="1000" b="1" i="0" strike="noStrike" kern="1200" cap="none" spc="0" normalizeH="0" baseline="0" noProof="0">
              <a:ln>
                <a:noFill/>
              </a:ln>
              <a:solidFill>
                <a:srgbClr val="191C1E"/>
              </a:solidFill>
              <a:effectLst/>
              <a:uLnTx/>
              <a:uFillTx/>
              <a:cs typeface="+mn-cs"/>
            </a:endParaRPr>
          </a:p>
        </p:txBody>
      </p:sp>
      <p:sp>
        <p:nvSpPr>
          <p:cNvPr id="63" name="Text Placeholder 2">
            <a:extLst>
              <a:ext uri="{FF2B5EF4-FFF2-40B4-BE49-F238E27FC236}">
                <a16:creationId xmlns:a16="http://schemas.microsoft.com/office/drawing/2014/main" id="{F2C4F245-DD63-9DC4-28D8-B5B90256E9EB}"/>
              </a:ext>
            </a:extLst>
          </p:cNvPr>
          <p:cNvSpPr>
            <a:spLocks noGrp="1"/>
          </p:cNvSpPr>
          <p:nvPr>
            <p:custDataLst>
              <p:tags r:id="rId29"/>
            </p:custDataLst>
          </p:nvPr>
        </p:nvSpPr>
        <p:spPr bwMode="gray">
          <a:xfrm>
            <a:off x="2182813" y="4087813"/>
            <a:ext cx="3175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b"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92CB36A0-3363-491C-BD1A-E7DC7584F934}" type="datetime'''''''''33''.''''8'''''''''''''''''''''''''''''''''">
              <a:rPr lang="en-US" altLang="en-US" sz="1000" b="1" smtClean="0">
                <a:solidFill>
                  <a:srgbClr val="191C1E"/>
                </a:solidFill>
                <a:cs typeface="+mn-cs"/>
              </a:rPr>
              <a:pPr lvl="0" algn="ctr">
                <a:spcBef>
                  <a:spcPct val="0"/>
                </a:spcBef>
                <a:spcAft>
                  <a:spcPct val="0"/>
                </a:spcAft>
                <a:defRPr/>
              </a:pPr>
              <a:t>33.8</a:t>
            </a:fld>
            <a:endParaRPr kumimoji="0" lang="ru-RU" sz="1000" b="1" i="0" strike="noStrike" kern="1200" cap="none" spc="0" normalizeH="0" baseline="0" noProof="0">
              <a:ln>
                <a:noFill/>
              </a:ln>
              <a:solidFill>
                <a:srgbClr val="191C1E"/>
              </a:solidFill>
              <a:effectLst/>
              <a:uLnTx/>
              <a:uFillTx/>
              <a:cs typeface="+mn-cs"/>
            </a:endParaRPr>
          </a:p>
        </p:txBody>
      </p:sp>
      <p:sp>
        <p:nvSpPr>
          <p:cNvPr id="64" name="Text Placeholder 2">
            <a:extLst>
              <a:ext uri="{FF2B5EF4-FFF2-40B4-BE49-F238E27FC236}">
                <a16:creationId xmlns:a16="http://schemas.microsoft.com/office/drawing/2014/main" id="{0DA50220-DD10-3C48-41E2-6FA870ABEC99}"/>
              </a:ext>
            </a:extLst>
          </p:cNvPr>
          <p:cNvSpPr>
            <a:spLocks noGrp="1"/>
          </p:cNvSpPr>
          <p:nvPr>
            <p:custDataLst>
              <p:tags r:id="rId30"/>
            </p:custDataLst>
          </p:nvPr>
        </p:nvSpPr>
        <p:spPr bwMode="gray">
          <a:xfrm>
            <a:off x="3190875" y="4046538"/>
            <a:ext cx="3175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b"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1542B368-6F7A-4E06-A5B0-8D8B1888BCC6}" type="datetime'''''''''''''''''''''34''''''.''''''''''6'">
              <a:rPr lang="en-US" altLang="en-US" sz="1000" b="1" smtClean="0">
                <a:solidFill>
                  <a:srgbClr val="191C1E"/>
                </a:solidFill>
                <a:cs typeface="+mn-cs"/>
              </a:rPr>
              <a:pPr lvl="0" algn="ctr">
                <a:spcBef>
                  <a:spcPct val="0"/>
                </a:spcBef>
                <a:spcAft>
                  <a:spcPct val="0"/>
                </a:spcAft>
                <a:defRPr/>
              </a:pPr>
              <a:t>34.6</a:t>
            </a:fld>
            <a:endParaRPr kumimoji="0" lang="ru-RU" sz="1000" b="1" i="0" strike="noStrike" kern="1200" cap="none" spc="0" normalizeH="0" baseline="0" noProof="0">
              <a:ln>
                <a:noFill/>
              </a:ln>
              <a:solidFill>
                <a:srgbClr val="191C1E"/>
              </a:solidFill>
              <a:effectLst/>
              <a:uLnTx/>
              <a:uFillTx/>
              <a:cs typeface="+mn-cs"/>
            </a:endParaRPr>
          </a:p>
        </p:txBody>
      </p:sp>
      <p:sp>
        <p:nvSpPr>
          <p:cNvPr id="65" name="Text Placeholder 2">
            <a:extLst>
              <a:ext uri="{FF2B5EF4-FFF2-40B4-BE49-F238E27FC236}">
                <a16:creationId xmlns:a16="http://schemas.microsoft.com/office/drawing/2014/main" id="{979B792F-89B7-CEEF-E111-760FD34E0CF6}"/>
              </a:ext>
            </a:extLst>
          </p:cNvPr>
          <p:cNvSpPr>
            <a:spLocks noGrp="1"/>
          </p:cNvSpPr>
          <p:nvPr>
            <p:custDataLst>
              <p:tags r:id="rId31"/>
            </p:custDataLst>
          </p:nvPr>
        </p:nvSpPr>
        <p:spPr bwMode="gray">
          <a:xfrm>
            <a:off x="4200525" y="3881438"/>
            <a:ext cx="3175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b"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84F80122-E4C1-4A15-9B29-E215CF95D9BD}" type="datetime'''''''3''''''''7''''''''''''''''''''''''.''''''7'''''''''">
              <a:rPr lang="en-US" altLang="en-US" sz="1000" b="1" smtClean="0">
                <a:solidFill>
                  <a:srgbClr val="191C1E"/>
                </a:solidFill>
                <a:cs typeface="+mn-cs"/>
              </a:rPr>
              <a:pPr lvl="0" algn="ctr">
                <a:spcBef>
                  <a:spcPct val="0"/>
                </a:spcBef>
                <a:spcAft>
                  <a:spcPct val="0"/>
                </a:spcAft>
                <a:defRPr/>
              </a:pPr>
              <a:t>37.7</a:t>
            </a:fld>
            <a:endParaRPr kumimoji="0" lang="ru-RU" sz="1000" b="1" i="0" strike="noStrike" kern="1200" cap="none" spc="0" normalizeH="0" baseline="0" noProof="0">
              <a:ln>
                <a:noFill/>
              </a:ln>
              <a:solidFill>
                <a:srgbClr val="191C1E"/>
              </a:solidFill>
              <a:effectLst/>
              <a:uLnTx/>
              <a:uFillTx/>
              <a:cs typeface="+mn-cs"/>
            </a:endParaRPr>
          </a:p>
        </p:txBody>
      </p:sp>
      <p:sp>
        <p:nvSpPr>
          <p:cNvPr id="66" name="Text Placeholder 2">
            <a:extLst>
              <a:ext uri="{FF2B5EF4-FFF2-40B4-BE49-F238E27FC236}">
                <a16:creationId xmlns:a16="http://schemas.microsoft.com/office/drawing/2014/main" id="{E8E6F677-F9CA-56C3-4C0A-21095823CBE8}"/>
              </a:ext>
            </a:extLst>
          </p:cNvPr>
          <p:cNvSpPr>
            <a:spLocks noGrp="1"/>
          </p:cNvSpPr>
          <p:nvPr>
            <p:custDataLst>
              <p:tags r:id="rId32"/>
            </p:custDataLst>
          </p:nvPr>
        </p:nvSpPr>
        <p:spPr bwMode="gray">
          <a:xfrm>
            <a:off x="5208588" y="3854450"/>
            <a:ext cx="317500" cy="152400"/>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17463" tIns="0" rIns="17463" bIns="0" numCol="1" spcCol="0" rtlCol="0" anchor="b"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lgn="ctr">
              <a:spcBef>
                <a:spcPct val="0"/>
              </a:spcBef>
              <a:spcAft>
                <a:spcPct val="0"/>
              </a:spcAft>
              <a:defRPr/>
            </a:pPr>
            <a:fld id="{090B8B87-31F8-4994-8C02-47190F24B803}" type="datetime'''''''''''''''''''''''''3''8''''''''''''''''''''''''''.2'">
              <a:rPr lang="en-US" altLang="en-US" sz="1000" b="1" smtClean="0">
                <a:solidFill>
                  <a:srgbClr val="191C1E"/>
                </a:solidFill>
                <a:cs typeface="+mn-cs"/>
              </a:rPr>
              <a:pPr lvl="0" algn="ctr">
                <a:spcBef>
                  <a:spcPct val="0"/>
                </a:spcBef>
                <a:spcAft>
                  <a:spcPct val="0"/>
                </a:spcAft>
                <a:defRPr/>
              </a:pPr>
              <a:t>38.2</a:t>
            </a:fld>
            <a:endParaRPr kumimoji="0" lang="ru-RU" sz="1000" b="1" i="0" strike="noStrike" kern="1200" cap="none" spc="0" normalizeH="0" baseline="0" noProof="0">
              <a:ln>
                <a:noFill/>
              </a:ln>
              <a:solidFill>
                <a:srgbClr val="191C1E"/>
              </a:solidFill>
              <a:effectLst/>
              <a:uLnTx/>
              <a:uFillTx/>
              <a:cs typeface="+mn-cs"/>
            </a:endParaRPr>
          </a:p>
        </p:txBody>
      </p:sp>
      <p:sp>
        <p:nvSpPr>
          <p:cNvPr id="67" name="Text Placeholder 2">
            <a:extLst>
              <a:ext uri="{FF2B5EF4-FFF2-40B4-BE49-F238E27FC236}">
                <a16:creationId xmlns:a16="http://schemas.microsoft.com/office/drawing/2014/main" id="{F843B274-BDEA-68FE-7919-F52537455A87}"/>
              </a:ext>
            </a:extLst>
          </p:cNvPr>
          <p:cNvSpPr>
            <a:spLocks noGrp="1"/>
          </p:cNvSpPr>
          <p:nvPr>
            <p:custDataLst>
              <p:tags r:id="rId33"/>
            </p:custDataLst>
          </p:nvPr>
        </p:nvSpPr>
        <p:spPr bwMode="auto">
          <a:xfrm>
            <a:off x="1585913" y="3948113"/>
            <a:ext cx="503238" cy="215900"/>
          </a:xfrm>
          <a:prstGeom prst="ellipse">
            <a:avLst/>
          </a:prstGeom>
          <a:solidFill>
            <a:srgbClr val="E6E6E6"/>
          </a:solidFill>
          <a:ln>
            <a:no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F1852D16-672D-4847-9985-7F082465E239}" type="datetime'''''''''''+''''2''5''''''''''''''''%'''''''''''''''''''''">
              <a:rPr lang="en-US" altLang="en-US" sz="1000" smtClean="0">
                <a:solidFill>
                  <a:srgbClr val="191C1E"/>
                </a:solidFill>
                <a:effectLst/>
                <a:cs typeface="+mn-cs"/>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+25%</a:t>
            </a:fld>
            <a:endParaRPr kumimoji="0" lang="ru-RU" sz="1000" b="0" i="0" strike="noStrike" kern="1200" cap="none" spc="0" normalizeH="0" baseline="0" noProof="0">
              <a:ln>
                <a:noFill/>
              </a:ln>
              <a:solidFill>
                <a:srgbClr val="191C1E"/>
              </a:solidFill>
              <a:effectLst/>
              <a:uLnTx/>
              <a:uFillTx/>
              <a:ea typeface="+mn-ea"/>
              <a:cs typeface="+mn-cs"/>
            </a:endParaRPr>
          </a:p>
        </p:txBody>
      </p:sp>
      <p:sp>
        <p:nvSpPr>
          <p:cNvPr id="68" name="Text Placeholder 2">
            <a:extLst>
              <a:ext uri="{FF2B5EF4-FFF2-40B4-BE49-F238E27FC236}">
                <a16:creationId xmlns:a16="http://schemas.microsoft.com/office/drawing/2014/main" id="{417C7C78-C4C7-0E6E-F5B4-35ECD0632F13}"/>
              </a:ext>
            </a:extLst>
          </p:cNvPr>
          <p:cNvSpPr>
            <a:spLocks noGrp="1"/>
          </p:cNvSpPr>
          <p:nvPr>
            <p:custDataLst>
              <p:tags r:id="rId34"/>
            </p:custDataLst>
          </p:nvPr>
        </p:nvSpPr>
        <p:spPr bwMode="auto">
          <a:xfrm>
            <a:off x="2643188" y="3749675"/>
            <a:ext cx="404813" cy="215900"/>
          </a:xfrm>
          <a:prstGeom prst="ellipse">
            <a:avLst/>
          </a:prstGeom>
          <a:solidFill>
            <a:srgbClr val="E6E6E6"/>
          </a:solidFill>
          <a:ln>
            <a:no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329363AF-1B60-4D86-92B8-58A4DE7CEE14}" type="datetime'''''''''''+''''''''''''''''''''''2%'''''''''''''''''''''''''">
              <a:rPr lang="en-US" altLang="en-US" sz="1000" smtClean="0">
                <a:solidFill>
                  <a:srgbClr val="191C1E"/>
                </a:solidFill>
                <a:effectLst/>
                <a:cs typeface="+mn-cs"/>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a:t>
            </a:fld>
            <a:endParaRPr kumimoji="0" lang="ru-RU" sz="1000" b="0" i="0" strike="noStrike" kern="1200" cap="none" spc="0" normalizeH="0" baseline="0" noProof="0">
              <a:ln>
                <a:noFill/>
              </a:ln>
              <a:solidFill>
                <a:srgbClr val="191C1E"/>
              </a:solidFill>
              <a:effectLst/>
              <a:uLnTx/>
              <a:uFillTx/>
              <a:ea typeface="+mn-ea"/>
              <a:cs typeface="+mn-cs"/>
            </a:endParaRPr>
          </a:p>
        </p:txBody>
      </p:sp>
      <p:sp>
        <p:nvSpPr>
          <p:cNvPr id="69" name="Text Placeholder 2">
            <a:extLst>
              <a:ext uri="{FF2B5EF4-FFF2-40B4-BE49-F238E27FC236}">
                <a16:creationId xmlns:a16="http://schemas.microsoft.com/office/drawing/2014/main" id="{3EB9FFF9-5A94-618A-0B21-61FD24D0B6D4}"/>
              </a:ext>
            </a:extLst>
          </p:cNvPr>
          <p:cNvSpPr>
            <a:spLocks noGrp="1"/>
          </p:cNvSpPr>
          <p:nvPr>
            <p:custDataLst>
              <p:tags r:id="rId35"/>
            </p:custDataLst>
          </p:nvPr>
        </p:nvSpPr>
        <p:spPr bwMode="auto">
          <a:xfrm>
            <a:off x="3652838" y="3646488"/>
            <a:ext cx="404813" cy="215900"/>
          </a:xfrm>
          <a:prstGeom prst="ellipse">
            <a:avLst/>
          </a:prstGeom>
          <a:solidFill>
            <a:srgbClr val="E6E6E6"/>
          </a:solidFill>
          <a:ln>
            <a:noFill/>
          </a:ln>
          <a:effectLst/>
        </p:spPr>
        <p:txBody>
          <a:bodyPr vert="horz" wrap="none" lIns="0" tIns="0" rIns="0" bIns="0" numCol="1" spcCol="0" rtlCol="0" anchor="ctr"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48A1E93-BA70-4EE0-912D-B4369B47FAF8}" type="datetime'''''''''+''''''''9''''''''''%'''''''''''">
              <a:rPr lang="en-US" altLang="en-US" sz="1000" smtClean="0">
                <a:solidFill>
                  <a:srgbClr val="191C1E"/>
                </a:solidFill>
                <a:effectLst/>
                <a:cs typeface="+mn-cs"/>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+9%</a:t>
            </a:fld>
            <a:endParaRPr kumimoji="0" lang="ru-RU" sz="1000" b="0" i="0" strike="noStrike" kern="1200" cap="none" spc="0" normalizeH="0" baseline="0" noProof="0">
              <a:ln>
                <a:noFill/>
              </a:ln>
              <a:solidFill>
                <a:srgbClr val="191C1E"/>
              </a:solidFill>
              <a:effectLst/>
              <a:uLnTx/>
              <a:uFillTx/>
              <a:ea typeface="+mn-ea"/>
              <a:cs typeface="+mn-cs"/>
            </a:endParaRPr>
          </a:p>
        </p:txBody>
      </p:sp>
      <p:sp>
        <p:nvSpPr>
          <p:cNvPr id="70" name="Text Placeholder 2">
            <a:extLst>
              <a:ext uri="{FF2B5EF4-FFF2-40B4-BE49-F238E27FC236}">
                <a16:creationId xmlns:a16="http://schemas.microsoft.com/office/drawing/2014/main" id="{C5C8615A-5398-A69F-78B7-B4A81FAC3A7D}"/>
              </a:ext>
            </a:extLst>
          </p:cNvPr>
          <p:cNvSpPr>
            <a:spLocks noGrp="1"/>
          </p:cNvSpPr>
          <p:nvPr>
            <p:custDataLst>
              <p:tags r:id="rId36"/>
            </p:custDataLst>
          </p:nvPr>
        </p:nvSpPr>
        <p:spPr bwMode="auto">
          <a:xfrm>
            <a:off x="4660900" y="3549650"/>
            <a:ext cx="404813" cy="215900"/>
          </a:xfrm>
          <a:prstGeom prst="ellipse">
            <a:avLst/>
          </a:prstGeom>
          <a:solidFill>
            <a:srgbClr val="E6E6E6"/>
          </a:solidFill>
          <a:ln>
            <a:noFill/>
          </a:ln>
          <a:effec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36361999-D14A-4650-BD6E-DE8A870D5600}" type="datetime'''''+''''1''''''''''''''''''''''''''''''%'''''''''''''''''''">
              <a:rPr lang="en-US" altLang="en-US" sz="1000" smtClean="0">
                <a:solidFill>
                  <a:srgbClr val="191C1E"/>
                </a:solidFill>
                <a:effectLst/>
                <a:cs typeface="+mn-cs"/>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a:t>
            </a:fld>
            <a:endParaRPr kumimoji="0" lang="ru-RU" sz="1000" b="0" i="0" strike="noStrike" kern="1200" cap="none" spc="0" normalizeH="0" baseline="0" noProof="0">
              <a:ln>
                <a:noFill/>
              </a:ln>
              <a:solidFill>
                <a:srgbClr val="191C1E"/>
              </a:solidFill>
              <a:effectLst/>
              <a:uLnTx/>
              <a:uFillTx/>
              <a:ea typeface="+mn-ea"/>
              <a:cs typeface="+mn-cs"/>
            </a:endParaRPr>
          </a:p>
        </p:txBody>
      </p:sp>
      <p:cxnSp>
        <p:nvCxnSpPr>
          <p:cNvPr id="81" name="LineBasicDefault 127">
            <a:extLst>
              <a:ext uri="{FF2B5EF4-FFF2-40B4-BE49-F238E27FC236}">
                <a16:creationId xmlns:a16="http://schemas.microsoft.com/office/drawing/2014/main" id="{76186BFD-28F9-D684-1559-7D5B89CCF24E}"/>
              </a:ext>
            </a:extLst>
          </p:cNvPr>
          <p:cNvCxnSpPr>
            <a:cxnSpLocks/>
          </p:cNvCxnSpPr>
          <p:nvPr>
            <p:custDataLst>
              <p:tags r:id="rId37"/>
            </p:custDataLst>
          </p:nvPr>
        </p:nvCxnSpPr>
        <p:spPr>
          <a:xfrm>
            <a:off x="639607" y="2603184"/>
            <a:ext cx="5273513"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9ED08E4-1021-AF06-4A5D-5B11FA9A6FAB}"/>
              </a:ext>
            </a:extLst>
          </p:cNvPr>
          <p:cNvSpPr txBox="1"/>
          <p:nvPr/>
        </p:nvSpPr>
        <p:spPr>
          <a:xfrm>
            <a:off x="639607" y="2283353"/>
            <a:ext cx="472850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Azerbaijan deposits volumes,</a:t>
            </a:r>
            <a:r>
              <a:rPr lang="en-US"/>
              <a:t> AZN b</a:t>
            </a:r>
          </a:p>
        </p:txBody>
      </p:sp>
      <p:cxnSp>
        <p:nvCxnSpPr>
          <p:cNvPr id="85" name="LineBasicDefault 127">
            <a:extLst>
              <a:ext uri="{FF2B5EF4-FFF2-40B4-BE49-F238E27FC236}">
                <a16:creationId xmlns:a16="http://schemas.microsoft.com/office/drawing/2014/main" id="{8B4F98CB-AAE4-FD70-6A28-24AE17E309E5}"/>
              </a:ext>
            </a:extLst>
          </p:cNvPr>
          <p:cNvCxnSpPr>
            <a:cxnSpLocks/>
          </p:cNvCxnSpPr>
          <p:nvPr>
            <p:custDataLst>
              <p:tags r:id="rId38"/>
            </p:custDataLst>
          </p:nvPr>
        </p:nvCxnSpPr>
        <p:spPr>
          <a:xfrm>
            <a:off x="6349854" y="2171700"/>
            <a:ext cx="5273513" cy="0"/>
          </a:xfrm>
          <a:prstGeom prst="straightConnector1">
            <a:avLst/>
          </a:prstGeom>
          <a:ln w="635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6" name="Rectangle 115">
            <a:extLst>
              <a:ext uri="{FF2B5EF4-FFF2-40B4-BE49-F238E27FC236}">
                <a16:creationId xmlns:a16="http://schemas.microsoft.com/office/drawing/2014/main" id="{1D7D9B6C-2583-8062-06E7-E4B292BF815E}"/>
              </a:ext>
            </a:extLst>
          </p:cNvPr>
          <p:cNvSpPr/>
          <p:nvPr>
            <p:custDataLst>
              <p:tags r:id="rId39"/>
            </p:custDataLst>
          </p:nvPr>
        </p:nvSpPr>
        <p:spPr bwMode="auto">
          <a:xfrm>
            <a:off x="4271963" y="2954338"/>
            <a:ext cx="165100" cy="165100"/>
          </a:xfrm>
          <a:prstGeom prst="rect">
            <a:avLst/>
          </a:prstGeom>
          <a:solidFill>
            <a:srgbClr val="7F7F7F"/>
          </a:solidFill>
          <a:ln w="9525" cap="sq" cmpd="sng" algn="ctr">
            <a:solidFill>
              <a:schemeClr val="bg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17" name="Rectangle 116">
            <a:extLst>
              <a:ext uri="{FF2B5EF4-FFF2-40B4-BE49-F238E27FC236}">
                <a16:creationId xmlns:a16="http://schemas.microsoft.com/office/drawing/2014/main" id="{D709761A-EF77-5C15-96F5-9D52CA1F229A}"/>
              </a:ext>
            </a:extLst>
          </p:cNvPr>
          <p:cNvSpPr/>
          <p:nvPr>
            <p:custDataLst>
              <p:tags r:id="rId40"/>
            </p:custDataLst>
          </p:nvPr>
        </p:nvSpPr>
        <p:spPr bwMode="auto">
          <a:xfrm>
            <a:off x="4962525" y="2954338"/>
            <a:ext cx="165100" cy="165100"/>
          </a:xfrm>
          <a:prstGeom prst="rect">
            <a:avLst/>
          </a:prstGeom>
          <a:solidFill>
            <a:schemeClr val="accent1"/>
          </a:solidFill>
          <a:ln w="9525" cap="sq" cmpd="sng" algn="ctr">
            <a:solidFill>
              <a:schemeClr val="bg1"/>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14" name="Text Placeholder 4">
            <a:extLst>
              <a:ext uri="{FF2B5EF4-FFF2-40B4-BE49-F238E27FC236}">
                <a16:creationId xmlns:a16="http://schemas.microsoft.com/office/drawing/2014/main" id="{4C1F3293-4EFE-461D-940D-7EE66BAE31C5}"/>
              </a:ext>
            </a:extLst>
          </p:cNvPr>
          <p:cNvSpPr>
            <a:spLocks noGrp="1"/>
          </p:cNvSpPr>
          <p:nvPr>
            <p:custDataLst>
              <p:tags r:id="rId41"/>
            </p:custDataLst>
          </p:nvPr>
        </p:nvSpPr>
        <p:spPr bwMode="auto">
          <a:xfrm>
            <a:off x="4487863" y="2952750"/>
            <a:ext cx="3730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A7417F42-2236-4F95-8290-A8D394FAB93A}" type="datetime'''''''''''Re''tai''''''l'''''''''''''">
              <a:rPr lang="en-US" altLang="en-US" sz="1200" smtClean="0">
                <a:effectLst/>
                <a:latin typeface="+mn-lt"/>
                <a:ea typeface="+mn-ea"/>
                <a:cs typeface="+mn-cs"/>
              </a:rPr>
              <a:pPr lvl="0">
                <a:spcBef>
                  <a:spcPct val="0"/>
                </a:spcBef>
                <a:spcAft>
                  <a:spcPct val="0"/>
                </a:spcAft>
              </a:pPr>
              <a:t>Retail</a:t>
            </a:fld>
            <a:endParaRPr lang="en-US" sz="1200">
              <a:latin typeface="+mn-lt"/>
              <a:ea typeface="+mn-ea"/>
              <a:cs typeface="+mn-cs"/>
            </a:endParaRPr>
          </a:p>
        </p:txBody>
      </p:sp>
      <p:sp>
        <p:nvSpPr>
          <p:cNvPr id="112" name="Text Placeholder 4">
            <a:extLst>
              <a:ext uri="{FF2B5EF4-FFF2-40B4-BE49-F238E27FC236}">
                <a16:creationId xmlns:a16="http://schemas.microsoft.com/office/drawing/2014/main" id="{4C1F3293-4EFE-461D-940D-7EE66BAE31C5}"/>
              </a:ext>
            </a:extLst>
          </p:cNvPr>
          <p:cNvSpPr>
            <a:spLocks noGrp="1"/>
          </p:cNvSpPr>
          <p:nvPr>
            <p:custDataLst>
              <p:tags r:id="rId42"/>
            </p:custDataLst>
          </p:nvPr>
        </p:nvSpPr>
        <p:spPr bwMode="auto">
          <a:xfrm>
            <a:off x="5178425" y="2952750"/>
            <a:ext cx="6604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indent="-226796"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indent="-215997"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indent="-1511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indent="-14759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lvl="0">
              <a:spcBef>
                <a:spcPct val="0"/>
              </a:spcBef>
              <a:spcAft>
                <a:spcPct val="0"/>
              </a:spcAft>
            </a:pPr>
            <a:fld id="{1DA5011E-F025-4754-A306-516975F56AA4}" type="datetime'C''''''o''rp''''''''''o''''''''''''''rat''''''''''''''''e'">
              <a:rPr lang="en-US" altLang="en-US" sz="1200" smtClean="0">
                <a:effectLst/>
                <a:latin typeface="+mn-lt"/>
                <a:ea typeface="+mn-ea"/>
                <a:cs typeface="+mn-cs"/>
              </a:rPr>
              <a:pPr lvl="0">
                <a:spcBef>
                  <a:spcPct val="0"/>
                </a:spcBef>
                <a:spcAft>
                  <a:spcPct val="0"/>
                </a:spcAft>
              </a:pPr>
              <a:t>Corporate</a:t>
            </a:fld>
            <a:endParaRPr lang="en-US" sz="1200">
              <a:latin typeface="+mn-lt"/>
              <a:ea typeface="+mn-ea"/>
              <a:cs typeface="+mn-cs"/>
            </a:endParaRPr>
          </a:p>
        </p:txBody>
      </p:sp>
      <p:sp>
        <p:nvSpPr>
          <p:cNvPr id="132" name="TextBox 131">
            <a:extLst>
              <a:ext uri="{FF2B5EF4-FFF2-40B4-BE49-F238E27FC236}">
                <a16:creationId xmlns:a16="http://schemas.microsoft.com/office/drawing/2014/main" id="{9B255CA3-2A4F-F7D6-24E5-25A002F7867A}"/>
              </a:ext>
            </a:extLst>
          </p:cNvPr>
          <p:cNvSpPr txBox="1">
            <a:spLocks/>
          </p:cNvSpPr>
          <p:nvPr>
            <p:custDataLst>
              <p:tags r:id="rId43"/>
            </p:custDataLst>
          </p:nvPr>
        </p:nvSpPr>
        <p:spPr>
          <a:xfrm>
            <a:off x="6313358" y="2283353"/>
            <a:ext cx="5321430" cy="215444"/>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Char char="​"/>
              <a:defRPr sz="140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Key identification levers</a:t>
            </a:r>
          </a:p>
        </p:txBody>
      </p:sp>
      <p:cxnSp>
        <p:nvCxnSpPr>
          <p:cNvPr id="133" name="Straight Connector 132">
            <a:extLst>
              <a:ext uri="{FF2B5EF4-FFF2-40B4-BE49-F238E27FC236}">
                <a16:creationId xmlns:a16="http://schemas.microsoft.com/office/drawing/2014/main" id="{28FA9F53-3F12-6113-8387-D70DD7327EB1}"/>
              </a:ext>
            </a:extLst>
          </p:cNvPr>
          <p:cNvCxnSpPr>
            <a:cxnSpLocks/>
          </p:cNvCxnSpPr>
          <p:nvPr>
            <p:custDataLst>
              <p:tags r:id="rId44"/>
            </p:custDataLst>
          </p:nvPr>
        </p:nvCxnSpPr>
        <p:spPr>
          <a:xfrm>
            <a:off x="6313358" y="2603184"/>
            <a:ext cx="5323901"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16B50157-9F6F-0FA2-82FB-38FFB50476DD}"/>
              </a:ext>
            </a:extLst>
          </p:cNvPr>
          <p:cNvSpPr txBox="1"/>
          <p:nvPr>
            <p:custDataLst>
              <p:tags r:id="rId45"/>
            </p:custDataLst>
          </p:nvPr>
        </p:nvSpPr>
        <p:spPr>
          <a:xfrm>
            <a:off x="6726902" y="2673816"/>
            <a:ext cx="987691"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atin typeface="Arial" panose="020B0604020202020204" pitchFamily="34" charset="0"/>
                <a:cs typeface="Arial" panose="020B0604020202020204" pitchFamily="34" charset="0"/>
                <a:sym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600"/>
              </a:spcBef>
              <a:spcAft>
                <a:spcPts val="600"/>
              </a:spcAft>
              <a:buNone/>
            </a:pPr>
            <a:r>
              <a:rPr lang="en-US" sz="1200" b="1">
                <a:latin typeface="+mn-lt"/>
              </a:rPr>
              <a:t>Banking activity</a:t>
            </a:r>
          </a:p>
        </p:txBody>
      </p:sp>
      <p:cxnSp>
        <p:nvCxnSpPr>
          <p:cNvPr id="14" name="LineBasicVerticalDefault 14">
            <a:extLst>
              <a:ext uri="{FF2B5EF4-FFF2-40B4-BE49-F238E27FC236}">
                <a16:creationId xmlns:a16="http://schemas.microsoft.com/office/drawing/2014/main" id="{674B78A5-5469-4530-BA59-08E36ED64236}"/>
              </a:ext>
            </a:extLst>
          </p:cNvPr>
          <p:cNvCxnSpPr>
            <a:cxnSpLocks/>
          </p:cNvCxnSpPr>
          <p:nvPr>
            <p:custDataLst>
              <p:tags r:id="rId46"/>
            </p:custDataLst>
          </p:nvPr>
        </p:nvCxnSpPr>
        <p:spPr>
          <a:xfrm>
            <a:off x="7984357" y="2673816"/>
            <a:ext cx="0" cy="721025"/>
          </a:xfrm>
          <a:prstGeom prst="straightConnector1">
            <a:avLst/>
          </a:prstGeom>
          <a:ln w="12700" cap="sq">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5DAEB8EF-FC59-ACBB-3E76-EFF0DDD8D63C}"/>
              </a:ext>
            </a:extLst>
          </p:cNvPr>
          <p:cNvSpPr txBox="1">
            <a:spLocks/>
          </p:cNvSpPr>
          <p:nvPr/>
        </p:nvSpPr>
        <p:spPr>
          <a:xfrm>
            <a:off x="8048611" y="2673816"/>
            <a:ext cx="3574756" cy="73866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lvl="0" indent="-171450" eaLnBrk="0" fontAlgn="base" hangingPunct="0">
              <a:spcBef>
                <a:spcPct val="0"/>
              </a:spcBef>
              <a:spcAft>
                <a:spcPct val="0"/>
              </a:spcAft>
              <a:buFont typeface="Arial" panose="020B0604020202020204" pitchFamily="34" charset="0"/>
              <a:buChar char="•"/>
            </a:pPr>
            <a:r>
              <a:rPr lang="az-Latn-AZ" altLang="az-Latn-AZ" sz="1200">
                <a:solidFill>
                  <a:schemeClr val="tx1"/>
                </a:solidFill>
                <a:latin typeface="+mn-lt"/>
              </a:rPr>
              <a:t>Salary level</a:t>
            </a:r>
            <a:r>
              <a:rPr lang="en-US" altLang="az-Latn-AZ" sz="1200">
                <a:solidFill>
                  <a:schemeClr val="tx1"/>
                </a:solidFill>
                <a:latin typeface="+mn-lt"/>
              </a:rPr>
              <a:t> &amp; n</a:t>
            </a:r>
            <a:r>
              <a:rPr lang="az-Latn-AZ" altLang="az-Latn-AZ" sz="1200">
                <a:solidFill>
                  <a:schemeClr val="tx1"/>
                </a:solidFill>
                <a:latin typeface="+mn-lt"/>
              </a:rPr>
              <a:t>on-salary </a:t>
            </a:r>
            <a:r>
              <a:rPr lang="en-US" altLang="az-Latn-AZ" sz="1200">
                <a:solidFill>
                  <a:schemeClr val="tx1"/>
                </a:solidFill>
                <a:latin typeface="+mn-lt"/>
              </a:rPr>
              <a:t>cash flows</a:t>
            </a:r>
            <a:r>
              <a:rPr lang="az-Latn-AZ" altLang="az-Latn-AZ" sz="1200">
                <a:solidFill>
                  <a:schemeClr val="tx1"/>
                </a:solidFill>
                <a:latin typeface="+mn-lt"/>
              </a:rPr>
              <a:t> </a:t>
            </a:r>
          </a:p>
          <a:p>
            <a:pPr marL="171450" lvl="0" indent="-171450" eaLnBrk="0" fontAlgn="base" hangingPunct="0">
              <a:spcBef>
                <a:spcPct val="0"/>
              </a:spcBef>
              <a:spcAft>
                <a:spcPct val="0"/>
              </a:spcAft>
              <a:buFont typeface="Arial" panose="020B0604020202020204" pitchFamily="34" charset="0"/>
              <a:buChar char="•"/>
            </a:pPr>
            <a:r>
              <a:rPr lang="az-Latn-AZ" altLang="az-Latn-AZ" sz="1200">
                <a:solidFill>
                  <a:schemeClr val="tx1"/>
                </a:solidFill>
                <a:latin typeface="+mn-lt"/>
              </a:rPr>
              <a:t>Deposit accumulation </a:t>
            </a:r>
          </a:p>
          <a:p>
            <a:pPr marL="171450" lvl="0" indent="-171450" eaLnBrk="0" fontAlgn="base" hangingPunct="0">
              <a:spcBef>
                <a:spcPct val="0"/>
              </a:spcBef>
              <a:spcAft>
                <a:spcPct val="0"/>
              </a:spcAft>
              <a:buFont typeface="Arial" panose="020B0604020202020204" pitchFamily="34" charset="0"/>
              <a:buChar char="•"/>
            </a:pPr>
            <a:r>
              <a:rPr lang="az-Latn-AZ" altLang="az-Latn-AZ" sz="1200">
                <a:solidFill>
                  <a:schemeClr val="tx1"/>
                </a:solidFill>
                <a:latin typeface="+mn-lt"/>
              </a:rPr>
              <a:t>Premium spending patterns </a:t>
            </a:r>
          </a:p>
          <a:p>
            <a:pPr marL="171450" lvl="0" indent="-171450" eaLnBrk="0" fontAlgn="base" hangingPunct="0">
              <a:spcBef>
                <a:spcPct val="0"/>
              </a:spcBef>
              <a:spcAft>
                <a:spcPct val="0"/>
              </a:spcAft>
              <a:buFont typeface="Arial" panose="020B0604020202020204" pitchFamily="34" charset="0"/>
              <a:buChar char="•"/>
            </a:pPr>
            <a:r>
              <a:rPr lang="en-US" altLang="az-Latn-AZ" sz="1200">
                <a:solidFill>
                  <a:schemeClr val="tx1"/>
                </a:solidFill>
                <a:latin typeface="+mn-lt"/>
              </a:rPr>
              <a:t>FX </a:t>
            </a:r>
            <a:r>
              <a:rPr lang="az-Latn-AZ" altLang="az-Latn-AZ" sz="1200">
                <a:solidFill>
                  <a:schemeClr val="tx1"/>
                </a:solidFill>
                <a:latin typeface="+mn-lt"/>
              </a:rPr>
              <a:t>transactions</a:t>
            </a:r>
            <a:r>
              <a:rPr lang="en-US" altLang="az-Latn-AZ" sz="1200">
                <a:solidFill>
                  <a:schemeClr val="tx1"/>
                </a:solidFill>
                <a:latin typeface="+mn-lt"/>
              </a:rPr>
              <a:t> &amp; lending</a:t>
            </a:r>
            <a:r>
              <a:rPr lang="az-Latn-AZ" altLang="az-Latn-AZ" sz="1200">
                <a:solidFill>
                  <a:schemeClr val="tx1"/>
                </a:solidFill>
                <a:latin typeface="+mn-lt"/>
              </a:rPr>
              <a:t> tickets</a:t>
            </a:r>
            <a:endParaRPr lang="en-US" altLang="az-Latn-AZ" sz="1200">
              <a:solidFill>
                <a:schemeClr val="tx1"/>
              </a:solidFill>
              <a:latin typeface="+mn-lt"/>
            </a:endParaRPr>
          </a:p>
        </p:txBody>
      </p:sp>
      <p:pic>
        <p:nvPicPr>
          <p:cNvPr id="107" name="CustomIcon">
            <a:extLst>
              <a:ext uri="{FF2B5EF4-FFF2-40B4-BE49-F238E27FC236}">
                <a16:creationId xmlns:a16="http://schemas.microsoft.com/office/drawing/2014/main" id="{345AC839-79A6-FD24-A4B7-0136C63B801E}"/>
              </a:ext>
            </a:extLst>
          </p:cNvPr>
          <p:cNvPicPr>
            <a:picLocks noChangeAspect="1"/>
          </p:cNvPicPr>
          <p:nvPr>
            <p:custDataLst>
              <p:tags r:id="rId47"/>
            </p:custDataLst>
          </p:nvPr>
        </p:nvPicPr>
        <p:blipFill>
          <a:blip>
            <a:extLst>
              <a:ext uri="{96DAC541-7B7A-43D3-8B79-37D633B846F1}">
                <asvg:svgBlip xmlns:asvg="http://schemas.microsoft.com/office/drawing/2016/SVG/main" r:embed="rId73"/>
              </a:ext>
            </a:extLst>
          </a:blip>
          <a:stretch>
            <a:fillRect/>
          </a:stretch>
        </p:blipFill>
        <p:spPr>
          <a:xfrm>
            <a:off x="6247960" y="2623645"/>
            <a:ext cx="445376" cy="445376"/>
          </a:xfrm>
          <a:prstGeom prst="rect">
            <a:avLst/>
          </a:prstGeom>
        </p:spPr>
      </p:pic>
      <p:sp>
        <p:nvSpPr>
          <p:cNvPr id="10" name="TextBox 9">
            <a:extLst>
              <a:ext uri="{FF2B5EF4-FFF2-40B4-BE49-F238E27FC236}">
                <a16:creationId xmlns:a16="http://schemas.microsoft.com/office/drawing/2014/main" id="{A4343199-8F45-ADA6-6D05-98D323AAB18C}"/>
              </a:ext>
            </a:extLst>
          </p:cNvPr>
          <p:cNvSpPr txBox="1"/>
          <p:nvPr>
            <p:custDataLst>
              <p:tags r:id="rId48"/>
            </p:custDataLst>
          </p:nvPr>
        </p:nvSpPr>
        <p:spPr>
          <a:xfrm>
            <a:off x="6726902" y="3598617"/>
            <a:ext cx="1155857"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atin typeface="Arial" panose="020B0604020202020204" pitchFamily="34" charset="0"/>
                <a:cs typeface="Arial" panose="020B0604020202020204" pitchFamily="34" charset="0"/>
                <a:sym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600"/>
              </a:spcBef>
              <a:spcAft>
                <a:spcPts val="600"/>
              </a:spcAft>
              <a:buNone/>
            </a:pPr>
            <a:r>
              <a:rPr lang="az-Latn-AZ" sz="1200" b="1">
                <a:latin typeface="+mn-lt"/>
              </a:rPr>
              <a:t>Real Estate </a:t>
            </a:r>
            <a:r>
              <a:rPr lang="en-US" sz="1200" b="1">
                <a:latin typeface="+mn-lt"/>
              </a:rPr>
              <a:t>w</a:t>
            </a:r>
            <a:r>
              <a:rPr lang="az-Latn-AZ" sz="1200" b="1">
                <a:latin typeface="+mn-lt"/>
              </a:rPr>
              <a:t>ealth</a:t>
            </a:r>
            <a:endParaRPr lang="en-US" sz="1200" b="1">
              <a:latin typeface="+mn-lt"/>
            </a:endParaRPr>
          </a:p>
        </p:txBody>
      </p:sp>
      <p:cxnSp>
        <p:nvCxnSpPr>
          <p:cNvPr id="18" name="LineBasicVerticalDefault 14">
            <a:extLst>
              <a:ext uri="{FF2B5EF4-FFF2-40B4-BE49-F238E27FC236}">
                <a16:creationId xmlns:a16="http://schemas.microsoft.com/office/drawing/2014/main" id="{70D70D52-67CA-802D-B511-8CBDE2CEB204}"/>
              </a:ext>
            </a:extLst>
          </p:cNvPr>
          <p:cNvCxnSpPr>
            <a:cxnSpLocks/>
          </p:cNvCxnSpPr>
          <p:nvPr>
            <p:custDataLst>
              <p:tags r:id="rId49"/>
            </p:custDataLst>
          </p:nvPr>
        </p:nvCxnSpPr>
        <p:spPr>
          <a:xfrm>
            <a:off x="7984357" y="3580445"/>
            <a:ext cx="0" cy="405677"/>
          </a:xfrm>
          <a:prstGeom prst="straightConnector1">
            <a:avLst/>
          </a:prstGeom>
          <a:ln w="12700" cap="sq">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18DA556-069B-5DE3-A639-8F21F13C66A7}"/>
              </a:ext>
            </a:extLst>
          </p:cNvPr>
          <p:cNvSpPr txBox="1">
            <a:spLocks/>
          </p:cNvSpPr>
          <p:nvPr/>
        </p:nvSpPr>
        <p:spPr>
          <a:xfrm>
            <a:off x="8048611" y="3598617"/>
            <a:ext cx="3574756" cy="3693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lvl="0" indent="-171450" eaLnBrk="0" fontAlgn="base" hangingPunct="0">
              <a:spcBef>
                <a:spcPct val="0"/>
              </a:spcBef>
              <a:spcAft>
                <a:spcPct val="0"/>
              </a:spcAft>
              <a:buFont typeface="Arial" panose="020B0604020202020204" pitchFamily="34" charset="0"/>
              <a:buChar char="•"/>
            </a:pPr>
            <a:r>
              <a:rPr lang="en-US" altLang="az-Latn-AZ" sz="1200">
                <a:solidFill>
                  <a:schemeClr val="tx1"/>
                </a:solidFill>
                <a:latin typeface="+mn-lt"/>
              </a:rPr>
              <a:t>Property ownership and valuations</a:t>
            </a:r>
          </a:p>
          <a:p>
            <a:pPr marL="171450" lvl="0" indent="-171450" eaLnBrk="0" fontAlgn="base" hangingPunct="0">
              <a:spcBef>
                <a:spcPct val="0"/>
              </a:spcBef>
              <a:spcAft>
                <a:spcPct val="0"/>
              </a:spcAft>
              <a:buFont typeface="Arial" panose="020B0604020202020204" pitchFamily="34" charset="0"/>
              <a:buChar char="•"/>
            </a:pPr>
            <a:r>
              <a:rPr lang="en-US" altLang="az-Latn-AZ" sz="1200">
                <a:solidFill>
                  <a:schemeClr val="tx1"/>
                </a:solidFill>
                <a:latin typeface="+mn-lt"/>
              </a:rPr>
              <a:t>Premium real estate acquisitions</a:t>
            </a:r>
            <a:endParaRPr lang="az-Latn-AZ" altLang="az-Latn-AZ" sz="1200">
              <a:solidFill>
                <a:schemeClr val="tx1"/>
              </a:solidFill>
              <a:latin typeface="+mn-lt"/>
            </a:endParaRPr>
          </a:p>
        </p:txBody>
      </p:sp>
      <p:pic>
        <p:nvPicPr>
          <p:cNvPr id="109" name="CustomIcon">
            <a:extLst>
              <a:ext uri="{FF2B5EF4-FFF2-40B4-BE49-F238E27FC236}">
                <a16:creationId xmlns:a16="http://schemas.microsoft.com/office/drawing/2014/main" id="{4861E3D2-745C-2013-9570-4D4DA7F1A134}"/>
              </a:ext>
            </a:extLst>
          </p:cNvPr>
          <p:cNvPicPr>
            <a:picLocks/>
          </p:cNvPicPr>
          <p:nvPr>
            <p:custDataLst>
              <p:tags r:id="rId50"/>
            </p:custDataLst>
          </p:nvPr>
        </p:nvPicPr>
        <p:blipFill>
          <a:blip>
            <a:extLst>
              <a:ext uri="{96DAC541-7B7A-43D3-8B79-37D633B846F1}">
                <asvg:svgBlip xmlns:asvg="http://schemas.microsoft.com/office/drawing/2016/SVG/main" r:embed="rId74"/>
              </a:ext>
            </a:extLst>
          </a:blip>
          <a:stretch>
            <a:fillRect/>
          </a:stretch>
        </p:blipFill>
        <p:spPr>
          <a:xfrm>
            <a:off x="6261098" y="3573733"/>
            <a:ext cx="419100" cy="419100"/>
          </a:xfrm>
          <a:prstGeom prst="rect">
            <a:avLst/>
          </a:prstGeom>
        </p:spPr>
      </p:pic>
      <p:cxnSp>
        <p:nvCxnSpPr>
          <p:cNvPr id="144" name="LineBasicDefault 144">
            <a:extLst>
              <a:ext uri="{FF2B5EF4-FFF2-40B4-BE49-F238E27FC236}">
                <a16:creationId xmlns:a16="http://schemas.microsoft.com/office/drawing/2014/main" id="{7918833B-CD67-8135-31A5-A71CF3C27B2A}"/>
              </a:ext>
            </a:extLst>
          </p:cNvPr>
          <p:cNvCxnSpPr>
            <a:cxnSpLocks/>
          </p:cNvCxnSpPr>
          <p:nvPr>
            <p:custDataLst>
              <p:tags r:id="rId51"/>
            </p:custDataLst>
          </p:nvPr>
        </p:nvCxnSpPr>
        <p:spPr>
          <a:xfrm>
            <a:off x="6285186" y="3495342"/>
            <a:ext cx="5360112"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0421A70-2957-649A-A7E7-92C742FCD2C6}"/>
              </a:ext>
            </a:extLst>
          </p:cNvPr>
          <p:cNvSpPr txBox="1"/>
          <p:nvPr>
            <p:custDataLst>
              <p:tags r:id="rId52"/>
            </p:custDataLst>
          </p:nvPr>
        </p:nvSpPr>
        <p:spPr>
          <a:xfrm>
            <a:off x="6726903" y="4157561"/>
            <a:ext cx="1281980"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atin typeface="Arial" panose="020B0604020202020204" pitchFamily="34" charset="0"/>
                <a:cs typeface="Arial" panose="020B0604020202020204" pitchFamily="34" charset="0"/>
                <a:sym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600"/>
              </a:spcBef>
              <a:spcAft>
                <a:spcPts val="600"/>
              </a:spcAft>
              <a:buNone/>
            </a:pPr>
            <a:r>
              <a:rPr lang="en-US" sz="1200" b="1">
                <a:latin typeface="+mn-lt"/>
              </a:rPr>
              <a:t>Entrepreneurial activity</a:t>
            </a:r>
          </a:p>
        </p:txBody>
      </p:sp>
      <p:cxnSp>
        <p:nvCxnSpPr>
          <p:cNvPr id="26" name="LineBasicVerticalDefault 14">
            <a:extLst>
              <a:ext uri="{FF2B5EF4-FFF2-40B4-BE49-F238E27FC236}">
                <a16:creationId xmlns:a16="http://schemas.microsoft.com/office/drawing/2014/main" id="{B1D72E49-7A02-2371-7E40-9F1EB0DBACB9}"/>
              </a:ext>
            </a:extLst>
          </p:cNvPr>
          <p:cNvCxnSpPr>
            <a:cxnSpLocks/>
          </p:cNvCxnSpPr>
          <p:nvPr>
            <p:custDataLst>
              <p:tags r:id="rId53"/>
            </p:custDataLst>
          </p:nvPr>
        </p:nvCxnSpPr>
        <p:spPr>
          <a:xfrm>
            <a:off x="7984357" y="4152896"/>
            <a:ext cx="0" cy="378663"/>
          </a:xfrm>
          <a:prstGeom prst="straightConnector1">
            <a:avLst/>
          </a:prstGeom>
          <a:ln w="12700" cap="sq">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3F895AC5-D33D-689C-9106-DFE8DC51F270}"/>
              </a:ext>
            </a:extLst>
          </p:cNvPr>
          <p:cNvSpPr txBox="1">
            <a:spLocks/>
          </p:cNvSpPr>
          <p:nvPr/>
        </p:nvSpPr>
        <p:spPr>
          <a:xfrm>
            <a:off x="8048610" y="4157561"/>
            <a:ext cx="3574756" cy="3693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lvl="0" indent="-171450" eaLnBrk="0" fontAlgn="base" hangingPunct="0">
              <a:spcBef>
                <a:spcPct val="0"/>
              </a:spcBef>
              <a:spcAft>
                <a:spcPct val="0"/>
              </a:spcAft>
              <a:buFont typeface="Arial" panose="020B0604020202020204" pitchFamily="34" charset="0"/>
              <a:buChar char="•"/>
            </a:pPr>
            <a:r>
              <a:rPr lang="en-US" altLang="az-Latn-AZ" sz="1200">
                <a:solidFill>
                  <a:schemeClr val="tx1"/>
                </a:solidFill>
                <a:latin typeface="+mn-lt"/>
              </a:rPr>
              <a:t>Business ownership, revenues and profitability</a:t>
            </a:r>
          </a:p>
          <a:p>
            <a:pPr marL="171450" lvl="0" indent="-171450" eaLnBrk="0" fontAlgn="base" hangingPunct="0">
              <a:spcBef>
                <a:spcPct val="0"/>
              </a:spcBef>
              <a:spcAft>
                <a:spcPct val="0"/>
              </a:spcAft>
              <a:buFont typeface="Arial" panose="020B0604020202020204" pitchFamily="34" charset="0"/>
              <a:buChar char="•"/>
            </a:pPr>
            <a:r>
              <a:rPr lang="az-Latn-AZ" sz="1200"/>
              <a:t>Multiple business interests</a:t>
            </a:r>
            <a:endParaRPr lang="az-Latn-AZ" altLang="az-Latn-AZ" sz="1200">
              <a:solidFill>
                <a:schemeClr val="tx1"/>
              </a:solidFill>
              <a:latin typeface="+mn-lt"/>
            </a:endParaRPr>
          </a:p>
        </p:txBody>
      </p:sp>
      <p:pic>
        <p:nvPicPr>
          <p:cNvPr id="111" name="CustomIcon">
            <a:extLst>
              <a:ext uri="{FF2B5EF4-FFF2-40B4-BE49-F238E27FC236}">
                <a16:creationId xmlns:a16="http://schemas.microsoft.com/office/drawing/2014/main" id="{64B5CEA5-B5E8-7D47-F0BC-20D976B2C868}"/>
              </a:ext>
            </a:extLst>
          </p:cNvPr>
          <p:cNvPicPr>
            <a:picLocks/>
          </p:cNvPicPr>
          <p:nvPr>
            <p:custDataLst>
              <p:tags r:id="rId54"/>
            </p:custDataLst>
          </p:nvPr>
        </p:nvPicPr>
        <p:blipFill>
          <a:blip>
            <a:extLst>
              <a:ext uri="{96DAC541-7B7A-43D3-8B79-37D633B846F1}">
                <asvg:svgBlip xmlns:asvg="http://schemas.microsoft.com/office/drawing/2016/SVG/main" r:embed="rId75"/>
              </a:ext>
            </a:extLst>
          </a:blip>
          <a:stretch>
            <a:fillRect/>
          </a:stretch>
        </p:blipFill>
        <p:spPr>
          <a:xfrm>
            <a:off x="6261098" y="4127809"/>
            <a:ext cx="419100" cy="419100"/>
          </a:xfrm>
          <a:prstGeom prst="rect">
            <a:avLst/>
          </a:prstGeom>
        </p:spPr>
      </p:pic>
      <p:cxnSp>
        <p:nvCxnSpPr>
          <p:cNvPr id="149" name="LineBasicDefault 144">
            <a:extLst>
              <a:ext uri="{FF2B5EF4-FFF2-40B4-BE49-F238E27FC236}">
                <a16:creationId xmlns:a16="http://schemas.microsoft.com/office/drawing/2014/main" id="{FCC9F6AF-E94C-86E9-05E2-1FDA44AE004F}"/>
              </a:ext>
            </a:extLst>
          </p:cNvPr>
          <p:cNvCxnSpPr>
            <a:cxnSpLocks/>
          </p:cNvCxnSpPr>
          <p:nvPr>
            <p:custDataLst>
              <p:tags r:id="rId55"/>
            </p:custDataLst>
          </p:nvPr>
        </p:nvCxnSpPr>
        <p:spPr>
          <a:xfrm>
            <a:off x="6285186" y="4075695"/>
            <a:ext cx="5360112"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D785898-D76A-1F90-0C59-7AF366FFDD33}"/>
              </a:ext>
            </a:extLst>
          </p:cNvPr>
          <p:cNvSpPr txBox="1"/>
          <p:nvPr>
            <p:custDataLst>
              <p:tags r:id="rId56"/>
            </p:custDataLst>
          </p:nvPr>
        </p:nvSpPr>
        <p:spPr>
          <a:xfrm>
            <a:off x="6726902" y="4732967"/>
            <a:ext cx="1197897"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atin typeface="Arial" panose="020B0604020202020204" pitchFamily="34" charset="0"/>
                <a:cs typeface="Arial" panose="020B0604020202020204" pitchFamily="34" charset="0"/>
                <a:sym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600"/>
              </a:spcBef>
              <a:spcAft>
                <a:spcPts val="600"/>
              </a:spcAft>
              <a:buNone/>
            </a:pPr>
            <a:r>
              <a:rPr lang="az-Latn-AZ" sz="1200" b="1">
                <a:latin typeface="+mn-lt"/>
              </a:rPr>
              <a:t>Investments &amp; </a:t>
            </a:r>
            <a:r>
              <a:rPr lang="en-US" sz="1200" b="1">
                <a:latin typeface="+mn-lt"/>
              </a:rPr>
              <a:t>a</a:t>
            </a:r>
            <a:r>
              <a:rPr lang="az-Latn-AZ" sz="1200" b="1">
                <a:latin typeface="+mn-lt"/>
              </a:rPr>
              <a:t>ssets</a:t>
            </a:r>
            <a:endParaRPr lang="en-US" sz="1200" b="1">
              <a:latin typeface="+mn-lt"/>
            </a:endParaRPr>
          </a:p>
        </p:txBody>
      </p:sp>
      <p:cxnSp>
        <p:nvCxnSpPr>
          <p:cNvPr id="27" name="LineBasicVerticalDefault 14">
            <a:extLst>
              <a:ext uri="{FF2B5EF4-FFF2-40B4-BE49-F238E27FC236}">
                <a16:creationId xmlns:a16="http://schemas.microsoft.com/office/drawing/2014/main" id="{8288D8C7-99C2-194F-816A-388E1A565BBD}"/>
              </a:ext>
            </a:extLst>
          </p:cNvPr>
          <p:cNvCxnSpPr>
            <a:cxnSpLocks/>
          </p:cNvCxnSpPr>
          <p:nvPr>
            <p:custDataLst>
              <p:tags r:id="rId57"/>
            </p:custDataLst>
          </p:nvPr>
        </p:nvCxnSpPr>
        <p:spPr>
          <a:xfrm>
            <a:off x="7984357" y="4688417"/>
            <a:ext cx="0" cy="458432"/>
          </a:xfrm>
          <a:prstGeom prst="straightConnector1">
            <a:avLst/>
          </a:prstGeom>
          <a:ln w="12700" cap="sq">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803D1FBE-2A3F-0E8D-307A-23A85C41FB11}"/>
              </a:ext>
            </a:extLst>
          </p:cNvPr>
          <p:cNvSpPr txBox="1">
            <a:spLocks/>
          </p:cNvSpPr>
          <p:nvPr/>
        </p:nvSpPr>
        <p:spPr>
          <a:xfrm>
            <a:off x="8048610" y="4732967"/>
            <a:ext cx="3574756" cy="3693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eaLnBrk="0" fontAlgn="base" hangingPunct="0">
              <a:spcBef>
                <a:spcPct val="0"/>
              </a:spcBef>
              <a:spcAft>
                <a:spcPct val="0"/>
              </a:spcAft>
              <a:buFont typeface="Arial" panose="020B0604020202020204" pitchFamily="34" charset="0"/>
              <a:buChar char="•"/>
            </a:pPr>
            <a:r>
              <a:rPr lang="az-Latn-AZ" altLang="az-Latn-AZ" sz="1200">
                <a:solidFill>
                  <a:schemeClr val="tx1"/>
                </a:solidFill>
                <a:latin typeface="+mn-lt"/>
              </a:rPr>
              <a:t>Investment portfolio holdings</a:t>
            </a:r>
            <a:r>
              <a:rPr lang="en-US" altLang="az-Latn-AZ" sz="1200">
                <a:solidFill>
                  <a:schemeClr val="tx1"/>
                </a:solidFill>
                <a:latin typeface="+mn-lt"/>
              </a:rPr>
              <a:t>, AUM</a:t>
            </a:r>
            <a:endParaRPr lang="az-Latn-AZ" altLang="az-Latn-AZ" sz="1200">
              <a:solidFill>
                <a:schemeClr val="tx1"/>
              </a:solidFill>
              <a:latin typeface="+mn-lt"/>
            </a:endParaRPr>
          </a:p>
          <a:p>
            <a:pPr marL="171450" indent="-171450" eaLnBrk="0" fontAlgn="base" hangingPunct="0">
              <a:spcBef>
                <a:spcPct val="0"/>
              </a:spcBef>
              <a:spcAft>
                <a:spcPct val="0"/>
              </a:spcAft>
              <a:buFont typeface="Arial" panose="020B0604020202020204" pitchFamily="34" charset="0"/>
              <a:buChar char="•"/>
            </a:pPr>
            <a:r>
              <a:rPr lang="en-US" altLang="az-Latn-AZ" sz="1200">
                <a:solidFill>
                  <a:schemeClr val="tx1"/>
                </a:solidFill>
                <a:latin typeface="+mn-lt"/>
              </a:rPr>
              <a:t>Brokerage activity</a:t>
            </a:r>
            <a:r>
              <a:rPr lang="az-Latn-AZ" altLang="az-Latn-AZ" sz="1200">
                <a:solidFill>
                  <a:schemeClr val="tx1"/>
                </a:solidFill>
                <a:latin typeface="+mn-lt"/>
              </a:rPr>
              <a:t> </a:t>
            </a:r>
          </a:p>
        </p:txBody>
      </p:sp>
      <p:pic>
        <p:nvPicPr>
          <p:cNvPr id="134" name="CustomIcon">
            <a:extLst>
              <a:ext uri="{FF2B5EF4-FFF2-40B4-BE49-F238E27FC236}">
                <a16:creationId xmlns:a16="http://schemas.microsoft.com/office/drawing/2014/main" id="{F7005B8B-3AB7-7371-BD1B-07C187EFEDDE}"/>
              </a:ext>
            </a:extLst>
          </p:cNvPr>
          <p:cNvPicPr>
            <a:picLocks/>
          </p:cNvPicPr>
          <p:nvPr>
            <p:custDataLst>
              <p:tags r:id="rId58"/>
            </p:custDataLst>
          </p:nvPr>
        </p:nvPicPr>
        <p:blipFill>
          <a:blip>
            <a:extLst>
              <a:ext uri="{96DAC541-7B7A-43D3-8B79-37D633B846F1}">
                <asvg:svgBlip xmlns:asvg="http://schemas.microsoft.com/office/drawing/2016/SVG/main" r:embed="rId76"/>
              </a:ext>
            </a:extLst>
          </a:blip>
          <a:stretch>
            <a:fillRect/>
          </a:stretch>
        </p:blipFill>
        <p:spPr>
          <a:xfrm>
            <a:off x="6261098" y="4739691"/>
            <a:ext cx="419100" cy="419100"/>
          </a:xfrm>
          <a:prstGeom prst="rect">
            <a:avLst/>
          </a:prstGeom>
        </p:spPr>
      </p:pic>
      <p:cxnSp>
        <p:nvCxnSpPr>
          <p:cNvPr id="150" name="LineBasicDefault 144">
            <a:extLst>
              <a:ext uri="{FF2B5EF4-FFF2-40B4-BE49-F238E27FC236}">
                <a16:creationId xmlns:a16="http://schemas.microsoft.com/office/drawing/2014/main" id="{C0327E69-FD94-542F-51BC-E050B3EC9165}"/>
              </a:ext>
            </a:extLst>
          </p:cNvPr>
          <p:cNvCxnSpPr>
            <a:cxnSpLocks/>
          </p:cNvCxnSpPr>
          <p:nvPr>
            <p:custDataLst>
              <p:tags r:id="rId59"/>
            </p:custDataLst>
          </p:nvPr>
        </p:nvCxnSpPr>
        <p:spPr>
          <a:xfrm>
            <a:off x="6285186" y="4629771"/>
            <a:ext cx="5360112"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44CB51D-3F51-9D96-48E7-4BC0506C8B1F}"/>
              </a:ext>
            </a:extLst>
          </p:cNvPr>
          <p:cNvSpPr txBox="1"/>
          <p:nvPr>
            <p:custDataLst>
              <p:tags r:id="rId60"/>
            </p:custDataLst>
          </p:nvPr>
        </p:nvSpPr>
        <p:spPr>
          <a:xfrm>
            <a:off x="6726902" y="5380274"/>
            <a:ext cx="1408105"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atin typeface="Arial" panose="020B0604020202020204" pitchFamily="34" charset="0"/>
                <a:cs typeface="Arial" panose="020B0604020202020204" pitchFamily="34" charset="0"/>
                <a:sym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600"/>
              </a:spcBef>
              <a:spcAft>
                <a:spcPts val="600"/>
              </a:spcAft>
              <a:buNone/>
            </a:pPr>
            <a:r>
              <a:rPr lang="az-Latn-AZ" sz="1200" b="1">
                <a:latin typeface="+mn-lt"/>
              </a:rPr>
              <a:t>Lifestyle Indicators</a:t>
            </a:r>
            <a:endParaRPr lang="en-US" sz="1200" b="1">
              <a:latin typeface="+mn-lt"/>
            </a:endParaRPr>
          </a:p>
        </p:txBody>
      </p:sp>
      <p:cxnSp>
        <p:nvCxnSpPr>
          <p:cNvPr id="28" name="LineBasicVerticalDefault 14">
            <a:extLst>
              <a:ext uri="{FF2B5EF4-FFF2-40B4-BE49-F238E27FC236}">
                <a16:creationId xmlns:a16="http://schemas.microsoft.com/office/drawing/2014/main" id="{54A9CAEB-86D4-83BC-2BF1-29E9A762934D}"/>
              </a:ext>
            </a:extLst>
          </p:cNvPr>
          <p:cNvCxnSpPr>
            <a:cxnSpLocks/>
          </p:cNvCxnSpPr>
          <p:nvPr>
            <p:custDataLst>
              <p:tags r:id="rId61"/>
            </p:custDataLst>
          </p:nvPr>
        </p:nvCxnSpPr>
        <p:spPr>
          <a:xfrm>
            <a:off x="7984357" y="5326706"/>
            <a:ext cx="0" cy="476469"/>
          </a:xfrm>
          <a:prstGeom prst="straightConnector1">
            <a:avLst/>
          </a:prstGeom>
          <a:ln w="12700" cap="sq">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BDC8A87C-48BC-AA03-AEF6-9EA5A6C348C0}"/>
              </a:ext>
            </a:extLst>
          </p:cNvPr>
          <p:cNvSpPr txBox="1">
            <a:spLocks/>
          </p:cNvSpPr>
          <p:nvPr/>
        </p:nvSpPr>
        <p:spPr>
          <a:xfrm>
            <a:off x="8048610" y="5287941"/>
            <a:ext cx="3574756" cy="55399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eaLnBrk="0" fontAlgn="base" hangingPunct="0">
              <a:spcBef>
                <a:spcPct val="0"/>
              </a:spcBef>
              <a:spcAft>
                <a:spcPct val="0"/>
              </a:spcAft>
              <a:buFont typeface="Arial" panose="020B0604020202020204" pitchFamily="34" charset="0"/>
              <a:buChar char="•"/>
            </a:pPr>
            <a:r>
              <a:rPr lang="az-Latn-AZ" altLang="az-Latn-AZ" sz="1200">
                <a:solidFill>
                  <a:schemeClr val="tx1"/>
                </a:solidFill>
                <a:latin typeface="+mn-lt"/>
              </a:rPr>
              <a:t>Insured asset values</a:t>
            </a:r>
            <a:r>
              <a:rPr lang="en-US" altLang="az-Latn-AZ" sz="1200">
                <a:solidFill>
                  <a:schemeClr val="tx1"/>
                </a:solidFill>
                <a:latin typeface="+mn-lt"/>
              </a:rPr>
              <a:t>, p</a:t>
            </a:r>
            <a:r>
              <a:rPr lang="az-Latn-AZ" altLang="az-Latn-AZ" sz="1200">
                <a:solidFill>
                  <a:schemeClr val="tx1"/>
                </a:solidFill>
                <a:latin typeface="+mn-lt"/>
              </a:rPr>
              <a:t>remium property coverage </a:t>
            </a:r>
          </a:p>
          <a:p>
            <a:pPr marL="171450" indent="-171450" eaLnBrk="0" fontAlgn="base" hangingPunct="0">
              <a:spcBef>
                <a:spcPct val="0"/>
              </a:spcBef>
              <a:spcAft>
                <a:spcPct val="0"/>
              </a:spcAft>
              <a:buFont typeface="Arial" panose="020B0604020202020204" pitchFamily="34" charset="0"/>
              <a:buChar char="•"/>
            </a:pPr>
            <a:r>
              <a:rPr lang="az-Latn-AZ" altLang="az-Latn-AZ" sz="1200">
                <a:solidFill>
                  <a:schemeClr val="tx1"/>
                </a:solidFill>
                <a:latin typeface="+mn-lt"/>
              </a:rPr>
              <a:t>Luxury vehicle ownership </a:t>
            </a:r>
          </a:p>
          <a:p>
            <a:pPr marL="171450" indent="-171450" eaLnBrk="0" fontAlgn="base" hangingPunct="0">
              <a:spcBef>
                <a:spcPct val="0"/>
              </a:spcBef>
              <a:spcAft>
                <a:spcPct val="0"/>
              </a:spcAft>
              <a:buFont typeface="Arial" panose="020B0604020202020204" pitchFamily="34" charset="0"/>
              <a:buChar char="•"/>
            </a:pPr>
            <a:r>
              <a:rPr lang="az-Latn-AZ" altLang="az-Latn-AZ" sz="1200">
                <a:solidFill>
                  <a:schemeClr val="tx1"/>
                </a:solidFill>
                <a:latin typeface="+mn-lt"/>
              </a:rPr>
              <a:t>Travel and lifestyle patterns </a:t>
            </a:r>
          </a:p>
        </p:txBody>
      </p:sp>
      <p:pic>
        <p:nvPicPr>
          <p:cNvPr id="136" name="CustomIcon">
            <a:extLst>
              <a:ext uri="{FF2B5EF4-FFF2-40B4-BE49-F238E27FC236}">
                <a16:creationId xmlns:a16="http://schemas.microsoft.com/office/drawing/2014/main" id="{48834C02-9F49-1E9A-C039-5015A01BD40A}"/>
              </a:ext>
            </a:extLst>
          </p:cNvPr>
          <p:cNvPicPr>
            <a:picLocks/>
          </p:cNvPicPr>
          <p:nvPr>
            <p:custDataLst>
              <p:tags r:id="rId62"/>
            </p:custDataLst>
          </p:nvPr>
        </p:nvPicPr>
        <p:blipFill>
          <a:blip>
            <a:extLst>
              <a:ext uri="{96DAC541-7B7A-43D3-8B79-37D633B846F1}">
                <asvg:svgBlip xmlns:asvg="http://schemas.microsoft.com/office/drawing/2016/SVG/main" r:embed="rId77"/>
              </a:ext>
            </a:extLst>
          </a:blip>
          <a:stretch>
            <a:fillRect/>
          </a:stretch>
        </p:blipFill>
        <p:spPr>
          <a:xfrm>
            <a:off x="6261098" y="5283255"/>
            <a:ext cx="419100" cy="419100"/>
          </a:xfrm>
          <a:prstGeom prst="rect">
            <a:avLst/>
          </a:prstGeom>
        </p:spPr>
      </p:pic>
      <p:cxnSp>
        <p:nvCxnSpPr>
          <p:cNvPr id="151" name="LineBasicDefault 144">
            <a:extLst>
              <a:ext uri="{FF2B5EF4-FFF2-40B4-BE49-F238E27FC236}">
                <a16:creationId xmlns:a16="http://schemas.microsoft.com/office/drawing/2014/main" id="{FBEDCFDC-139E-1990-C152-F3AD9BA96159}"/>
              </a:ext>
            </a:extLst>
          </p:cNvPr>
          <p:cNvCxnSpPr>
            <a:cxnSpLocks/>
          </p:cNvCxnSpPr>
          <p:nvPr>
            <p:custDataLst>
              <p:tags r:id="rId63"/>
            </p:custDataLst>
          </p:nvPr>
        </p:nvCxnSpPr>
        <p:spPr>
          <a:xfrm>
            <a:off x="6285186" y="5241653"/>
            <a:ext cx="5360112"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52D0841-671C-CF86-FAE2-802258B4FED6}"/>
              </a:ext>
            </a:extLst>
          </p:cNvPr>
          <p:cNvSpPr txBox="1"/>
          <p:nvPr>
            <p:custDataLst>
              <p:tags r:id="rId64"/>
            </p:custDataLst>
          </p:nvPr>
        </p:nvSpPr>
        <p:spPr>
          <a:xfrm>
            <a:off x="6726902" y="6001748"/>
            <a:ext cx="1218919"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atin typeface="Arial" panose="020B0604020202020204" pitchFamily="34" charset="0"/>
                <a:cs typeface="Arial" panose="020B0604020202020204" pitchFamily="34" charset="0"/>
                <a:sym typeface="Arial" panose="020B0604020202020204" pitchFamily="34" charset="0"/>
              </a:defRPr>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atin typeface="Arial" panose="020B0604020202020204" pitchFamily="34" charset="0"/>
                <a:cs typeface="Arial" panose="020B0604020202020204" pitchFamily="34" charset="0"/>
                <a:sym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600"/>
              </a:spcBef>
              <a:spcAft>
                <a:spcPts val="600"/>
              </a:spcAft>
              <a:buNone/>
            </a:pPr>
            <a:r>
              <a:rPr lang="az-Latn-AZ" sz="1200" b="1">
                <a:latin typeface="+mn-lt"/>
              </a:rPr>
              <a:t>Ecosystem Relationships</a:t>
            </a:r>
            <a:endParaRPr lang="en-US" sz="1200" b="1">
              <a:latin typeface="+mn-lt"/>
            </a:endParaRPr>
          </a:p>
        </p:txBody>
      </p:sp>
      <p:cxnSp>
        <p:nvCxnSpPr>
          <p:cNvPr id="29" name="LineBasicVerticalDefault 14">
            <a:extLst>
              <a:ext uri="{FF2B5EF4-FFF2-40B4-BE49-F238E27FC236}">
                <a16:creationId xmlns:a16="http://schemas.microsoft.com/office/drawing/2014/main" id="{8E6C710C-C57F-F2CD-DE1A-E0C5E2B4CAA7}"/>
              </a:ext>
            </a:extLst>
          </p:cNvPr>
          <p:cNvCxnSpPr>
            <a:cxnSpLocks/>
          </p:cNvCxnSpPr>
          <p:nvPr>
            <p:custDataLst>
              <p:tags r:id="rId65"/>
            </p:custDataLst>
          </p:nvPr>
        </p:nvCxnSpPr>
        <p:spPr>
          <a:xfrm>
            <a:off x="7984357" y="6022409"/>
            <a:ext cx="0" cy="328010"/>
          </a:xfrm>
          <a:prstGeom prst="straightConnector1">
            <a:avLst/>
          </a:prstGeom>
          <a:ln w="12700" cap="sq">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5014AED3-AA38-D52F-212B-56FB3157B586}"/>
              </a:ext>
            </a:extLst>
          </p:cNvPr>
          <p:cNvSpPr txBox="1">
            <a:spLocks/>
          </p:cNvSpPr>
          <p:nvPr/>
        </p:nvSpPr>
        <p:spPr>
          <a:xfrm>
            <a:off x="8048610" y="6001748"/>
            <a:ext cx="3574756" cy="36933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eaLnBrk="0" fontAlgn="base" hangingPunct="0">
              <a:spcBef>
                <a:spcPct val="0"/>
              </a:spcBef>
              <a:spcAft>
                <a:spcPct val="0"/>
              </a:spcAft>
              <a:buFont typeface="Arial" panose="020B0604020202020204" pitchFamily="34" charset="0"/>
              <a:buChar char="•"/>
            </a:pPr>
            <a:r>
              <a:rPr lang="en-US" sz="1200"/>
              <a:t>Existing</a:t>
            </a:r>
            <a:r>
              <a:rPr lang="az-Latn-AZ" sz="1200"/>
              <a:t> relationships</a:t>
            </a:r>
            <a:r>
              <a:rPr lang="en-US" sz="1200"/>
              <a:t> within broader PASHA Holding</a:t>
            </a:r>
            <a:endParaRPr lang="az-Latn-AZ" altLang="az-Latn-AZ" sz="1200">
              <a:solidFill>
                <a:schemeClr val="tx1"/>
              </a:solidFill>
              <a:latin typeface="+mn-lt"/>
            </a:endParaRPr>
          </a:p>
        </p:txBody>
      </p:sp>
      <p:pic>
        <p:nvPicPr>
          <p:cNvPr id="138" name="CustomIcon">
            <a:extLst>
              <a:ext uri="{FF2B5EF4-FFF2-40B4-BE49-F238E27FC236}">
                <a16:creationId xmlns:a16="http://schemas.microsoft.com/office/drawing/2014/main" id="{CD0E30C6-1BCE-0890-E68B-69C2CA3145B9}"/>
              </a:ext>
            </a:extLst>
          </p:cNvPr>
          <p:cNvPicPr>
            <a:picLocks/>
          </p:cNvPicPr>
          <p:nvPr>
            <p:custDataLst>
              <p:tags r:id="rId66"/>
            </p:custDataLst>
          </p:nvPr>
        </p:nvPicPr>
        <p:blipFill>
          <a:blip>
            <a:extLst>
              <a:ext uri="{96DAC541-7B7A-43D3-8B79-37D633B846F1}">
                <asvg:svgBlip xmlns:asvg="http://schemas.microsoft.com/office/drawing/2016/SVG/main" r:embed="rId78"/>
              </a:ext>
            </a:extLst>
          </a:blip>
          <a:stretch>
            <a:fillRect/>
          </a:stretch>
        </p:blipFill>
        <p:spPr>
          <a:xfrm>
            <a:off x="6261098" y="5980857"/>
            <a:ext cx="419100" cy="419100"/>
          </a:xfrm>
          <a:prstGeom prst="rect">
            <a:avLst/>
          </a:prstGeom>
        </p:spPr>
      </p:pic>
      <p:cxnSp>
        <p:nvCxnSpPr>
          <p:cNvPr id="152" name="LineBasicDefault 144">
            <a:extLst>
              <a:ext uri="{FF2B5EF4-FFF2-40B4-BE49-F238E27FC236}">
                <a16:creationId xmlns:a16="http://schemas.microsoft.com/office/drawing/2014/main" id="{0F8F5C61-B541-9003-2A1F-F8CBA4DA3081}"/>
              </a:ext>
            </a:extLst>
          </p:cNvPr>
          <p:cNvCxnSpPr>
            <a:cxnSpLocks/>
          </p:cNvCxnSpPr>
          <p:nvPr>
            <p:custDataLst>
              <p:tags r:id="rId67"/>
            </p:custDataLst>
          </p:nvPr>
        </p:nvCxnSpPr>
        <p:spPr>
          <a:xfrm>
            <a:off x="6285186" y="5924801"/>
            <a:ext cx="5360112"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376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0283CBED-77D8-44FF-BE93-E250C33A2AF4}"/>
              </a:ext>
            </a:extLst>
          </p:cNvPr>
          <p:cNvGraphicFramePr>
            <a:graphicFrameLocks noChangeAspect="1"/>
          </p:cNvGraphicFramePr>
          <p:nvPr>
            <p:custDataLst>
              <p:tags r:id="rId1"/>
            </p:custDataLst>
            <p:extLst>
              <p:ext uri="{D42A27DB-BD31-4B8C-83A1-F6EECF244321}">
                <p14:modId xmlns:p14="http://schemas.microsoft.com/office/powerpoint/2010/main" val="3140352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51" imgH="351" progId="TCLayout.ActiveDocument.1">
                  <p:embed/>
                </p:oleObj>
              </mc:Choice>
              <mc:Fallback>
                <p:oleObj name="think-cell Slide" r:id="rId12" imgW="351" imgH="351" progId="TCLayout.ActiveDocument.1">
                  <p:embed/>
                  <p:pic>
                    <p:nvPicPr>
                      <p:cNvPr id="5" name="Object 2" hidden="1">
                        <a:extLst>
                          <a:ext uri="{FF2B5EF4-FFF2-40B4-BE49-F238E27FC236}">
                            <a16:creationId xmlns:a16="http://schemas.microsoft.com/office/drawing/2014/main" id="{0283CBED-77D8-44FF-BE93-E250C33A2AF4}"/>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9" name="Rectangle 1" hidden="1">
            <a:extLst>
              <a:ext uri="{FF2B5EF4-FFF2-40B4-BE49-F238E27FC236}">
                <a16:creationId xmlns:a16="http://schemas.microsoft.com/office/drawing/2014/main" id="{D59B3B0B-BC07-444C-9A26-0A215C451F45}"/>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sym typeface="Georgia" panose="02040502050405020303" pitchFamily="18" charset="0"/>
            </a:endParaRPr>
          </a:p>
        </p:txBody>
      </p:sp>
      <p:sp>
        <p:nvSpPr>
          <p:cNvPr id="6" name="Rectangle 1" hidden="1">
            <a:extLst>
              <a:ext uri="{FF2B5EF4-FFF2-40B4-BE49-F238E27FC236}">
                <a16:creationId xmlns:a16="http://schemas.microsoft.com/office/drawing/2014/main" id="{EFDA00AD-6EB2-46B6-BDA8-A4DCC85B3FCA}"/>
              </a:ext>
            </a:extLst>
          </p:cNvPr>
          <p:cNvSpPr/>
          <p:nvPr>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sym typeface="Georgia" panose="02040502050405020303" pitchFamily="18" charset="0"/>
            </a:endParaRPr>
          </a:p>
        </p:txBody>
      </p:sp>
      <p:sp>
        <p:nvSpPr>
          <p:cNvPr id="2" name="2. Slide Title">
            <a:extLst>
              <a:ext uri="{FF2B5EF4-FFF2-40B4-BE49-F238E27FC236}">
                <a16:creationId xmlns:a16="http://schemas.microsoft.com/office/drawing/2014/main" id="{572679A4-1AE5-4E0D-9C6B-D7D5244D8C45}"/>
              </a:ext>
            </a:extLst>
          </p:cNvPr>
          <p:cNvSpPr>
            <a:spLocks noGrp="1"/>
          </p:cNvSpPr>
          <p:nvPr>
            <p:ph type="title"/>
            <p:custDataLst>
              <p:tags r:id="rId4"/>
            </p:custDataLst>
          </p:nvPr>
        </p:nvSpPr>
        <p:spPr>
          <a:xfrm>
            <a:off x="996168" y="165068"/>
            <a:ext cx="11082528" cy="738664"/>
          </a:xfrm>
          <a:noFill/>
          <a:ln/>
          <a:extLst>
            <a:ext uri="{909E8E84-426E-40DD-AFC4-6F175D3DCCD1}">
              <a14:hiddenFill xmlns:a14="http://schemas.microsoft.com/office/drawing/2010/main">
                <a:solidFill>
                  <a:srgbClr val="FFFFFF"/>
                </a:solidFill>
              </a14:hiddenFill>
            </a:ext>
          </a:extLst>
        </p:spPr>
        <p:txBody>
          <a:bodyPr vert="horz" wrap="square" anchor="b" anchorCtr="0">
            <a:noAutofit/>
          </a:bodyPr>
          <a:lstStyle/>
          <a:p>
            <a:pPr>
              <a:buClr>
                <a:schemeClr val="tx1"/>
              </a:buClr>
            </a:pPr>
            <a:r>
              <a:rPr lang="en-US" dirty="0"/>
              <a:t>Banks offer premium customer loyalty programs with a variety of offerings</a:t>
            </a:r>
          </a:p>
        </p:txBody>
      </p:sp>
      <p:sp>
        <p:nvSpPr>
          <p:cNvPr id="13" name="Subtitle 12">
            <a:extLst>
              <a:ext uri="{FF2B5EF4-FFF2-40B4-BE49-F238E27FC236}">
                <a16:creationId xmlns:a16="http://schemas.microsoft.com/office/drawing/2014/main" id="{9D38A043-AB47-71FB-4F4F-AA5432AE5E2B}"/>
              </a:ext>
            </a:extLst>
          </p:cNvPr>
          <p:cNvSpPr>
            <a:spLocks noGrp="1"/>
          </p:cNvSpPr>
          <p:nvPr>
            <p:ph type="subTitle" idx="1"/>
          </p:nvPr>
        </p:nvSpPr>
        <p:spPr/>
        <p:txBody>
          <a:bodyPr/>
          <a:lstStyle/>
          <a:p>
            <a:endParaRPr lang="en-GB"/>
          </a:p>
        </p:txBody>
      </p:sp>
      <p:sp>
        <p:nvSpPr>
          <p:cNvPr id="25" name="Text Placeholder 24">
            <a:extLst>
              <a:ext uri="{FF2B5EF4-FFF2-40B4-BE49-F238E27FC236}">
                <a16:creationId xmlns:a16="http://schemas.microsoft.com/office/drawing/2014/main" id="{B2B03F8D-CBAE-E33E-A9E5-9EE71E31823C}"/>
              </a:ext>
            </a:extLst>
          </p:cNvPr>
          <p:cNvSpPr>
            <a:spLocks noGrp="1"/>
          </p:cNvSpPr>
          <p:nvPr>
            <p:ph type="body" sz="quarter" idx="10"/>
          </p:nvPr>
        </p:nvSpPr>
        <p:spPr/>
        <p:txBody>
          <a:bodyPr/>
          <a:lstStyle/>
          <a:p>
            <a:endParaRPr lang="en-GB"/>
          </a:p>
        </p:txBody>
      </p:sp>
      <p:cxnSp>
        <p:nvCxnSpPr>
          <p:cNvPr id="21" name="Straight Connector 20">
            <a:extLst>
              <a:ext uri="{FF2B5EF4-FFF2-40B4-BE49-F238E27FC236}">
                <a16:creationId xmlns:a16="http://schemas.microsoft.com/office/drawing/2014/main" id="{13D81292-034C-4EC2-8986-304904DF4A34}"/>
              </a:ext>
            </a:extLst>
          </p:cNvPr>
          <p:cNvCxnSpPr>
            <a:cxnSpLocks/>
          </p:cNvCxnSpPr>
          <p:nvPr/>
        </p:nvCxnSpPr>
        <p:spPr>
          <a:xfrm>
            <a:off x="2250106" y="3385388"/>
            <a:ext cx="938715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0E58EEF-09EA-44AF-815F-D52F86A5562B}"/>
              </a:ext>
            </a:extLst>
          </p:cNvPr>
          <p:cNvCxnSpPr>
            <a:cxnSpLocks/>
          </p:cNvCxnSpPr>
          <p:nvPr/>
        </p:nvCxnSpPr>
        <p:spPr>
          <a:xfrm>
            <a:off x="2250106" y="4366188"/>
            <a:ext cx="9387158"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A5E92A6-DC5F-4EBE-B84F-8EC99C9A5106}"/>
              </a:ext>
            </a:extLst>
          </p:cNvPr>
          <p:cNvCxnSpPr>
            <a:cxnSpLocks/>
          </p:cNvCxnSpPr>
          <p:nvPr/>
        </p:nvCxnSpPr>
        <p:spPr>
          <a:xfrm>
            <a:off x="1634792" y="2510787"/>
            <a:ext cx="10005519"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D937254-756C-4435-ACD9-3FC023B6CF15}"/>
              </a:ext>
            </a:extLst>
          </p:cNvPr>
          <p:cNvCxnSpPr>
            <a:cxnSpLocks/>
          </p:cNvCxnSpPr>
          <p:nvPr/>
        </p:nvCxnSpPr>
        <p:spPr>
          <a:xfrm>
            <a:off x="1634792" y="5315540"/>
            <a:ext cx="10005519"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EE04940C-B23A-4FA8-8E8B-0347D3183A1D}"/>
              </a:ext>
            </a:extLst>
          </p:cNvPr>
          <p:cNvSpPr txBox="1">
            <a:spLocks/>
          </p:cNvSpPr>
          <p:nvPr/>
        </p:nvSpPr>
        <p:spPr>
          <a:xfrm>
            <a:off x="1811865" y="1429898"/>
            <a:ext cx="3833284" cy="246221"/>
          </a:xfrm>
          <a:prstGeom prst="rect">
            <a:avLst/>
          </a:prstGeom>
          <a:noFill/>
        </p:spPr>
        <p:txBody>
          <a:bodyPr vert="horz" wrap="square" lIns="0" tIns="0" rIns="0" bIns="0" rtlCol="0" anchor="b">
            <a:noAutofit/>
          </a:bodyPr>
          <a:lstStyle>
            <a:defPPr>
              <a:defRPr lang="en-US"/>
            </a:defPPr>
            <a:lvl1pPr>
              <a:spcBef>
                <a:spcPts val="600"/>
              </a:spcBef>
              <a:spcAft>
                <a:spcPts val="300"/>
              </a:spcAft>
              <a:buFontTx/>
              <a:buNone/>
              <a:defRPr sz="1400">
                <a:latin typeface="+mj-lt"/>
              </a:defRPr>
            </a:lvl1pPr>
          </a:lstStyle>
          <a:p>
            <a:pPr marL="0" marR="0" lvl="0" indent="0" algn="l" defTabSz="914400" rtl="0" eaLnBrk="1" fontAlgn="auto" latinLnBrk="0" hangingPunct="1">
              <a:lnSpc>
                <a:spcPct val="100000"/>
              </a:lnSpc>
              <a:spcBef>
                <a:spcPts val="600"/>
              </a:spcBef>
              <a:spcAft>
                <a:spcPts val="3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mn-lt"/>
                <a:sym typeface="Theinhardt Pan Medium" panose="020B0604020101020102" pitchFamily="34" charset="0"/>
              </a:rPr>
              <a:t>Offers</a:t>
            </a:r>
          </a:p>
        </p:txBody>
      </p:sp>
      <p:cxnSp>
        <p:nvCxnSpPr>
          <p:cNvPr id="70" name="Straight Connector 69">
            <a:extLst>
              <a:ext uri="{FF2B5EF4-FFF2-40B4-BE49-F238E27FC236}">
                <a16:creationId xmlns:a16="http://schemas.microsoft.com/office/drawing/2014/main" id="{8FD19880-C4C3-4856-801A-33CB7F1B6EAF}"/>
              </a:ext>
            </a:extLst>
          </p:cNvPr>
          <p:cNvCxnSpPr>
            <a:cxnSpLocks/>
          </p:cNvCxnSpPr>
          <p:nvPr/>
        </p:nvCxnSpPr>
        <p:spPr>
          <a:xfrm>
            <a:off x="1811865" y="1712272"/>
            <a:ext cx="9825399"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A60A7F9-E789-409A-873E-2FCF3CBE792B}"/>
              </a:ext>
            </a:extLst>
          </p:cNvPr>
          <p:cNvSpPr txBox="1">
            <a:spLocks/>
          </p:cNvSpPr>
          <p:nvPr/>
        </p:nvSpPr>
        <p:spPr>
          <a:xfrm>
            <a:off x="5845820" y="1429898"/>
            <a:ext cx="3478509" cy="246221"/>
          </a:xfrm>
          <a:prstGeom prst="rect">
            <a:avLst/>
          </a:prstGeom>
          <a:noFill/>
        </p:spPr>
        <p:txBody>
          <a:bodyPr vert="horz" wrap="square" lIns="0" tIns="0" rIns="0" bIns="0" rtlCol="0" anchor="b">
            <a:noAutofit/>
          </a:bodyPr>
          <a:lstStyle>
            <a:defPPr>
              <a:defRPr lang="en-US"/>
            </a:defPPr>
            <a:lvl1pPr>
              <a:spcBef>
                <a:spcPts val="600"/>
              </a:spcBef>
              <a:spcAft>
                <a:spcPts val="300"/>
              </a:spcAft>
              <a:buFontTx/>
              <a:buNone/>
              <a:defRPr sz="1400">
                <a:latin typeface="+mj-lt"/>
              </a:defRPr>
            </a:lvl1pPr>
          </a:lstStyle>
          <a:p>
            <a:pPr marL="0" marR="0" lvl="0" indent="0" algn="l" defTabSz="914400" rtl="0" eaLnBrk="1" fontAlgn="auto" latinLnBrk="0" hangingPunct="1">
              <a:lnSpc>
                <a:spcPct val="100000"/>
              </a:lnSpc>
              <a:spcBef>
                <a:spcPts val="600"/>
              </a:spcBef>
              <a:spcAft>
                <a:spcPts val="3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mn-lt"/>
                <a:sym typeface="Theinhardt Pan Medium" panose="020B0604020101020102" pitchFamily="34" charset="0"/>
              </a:rPr>
              <a:t>Examples</a:t>
            </a:r>
          </a:p>
        </p:txBody>
      </p:sp>
      <p:sp>
        <p:nvSpPr>
          <p:cNvPr id="63" name="TextBox 62">
            <a:extLst>
              <a:ext uri="{FF2B5EF4-FFF2-40B4-BE49-F238E27FC236}">
                <a16:creationId xmlns:a16="http://schemas.microsoft.com/office/drawing/2014/main" id="{24E8B348-08E7-411C-ADC2-7CB06BB54DBB}"/>
              </a:ext>
            </a:extLst>
          </p:cNvPr>
          <p:cNvSpPr txBox="1">
            <a:spLocks/>
          </p:cNvSpPr>
          <p:nvPr/>
        </p:nvSpPr>
        <p:spPr>
          <a:xfrm>
            <a:off x="9525000" y="1429898"/>
            <a:ext cx="2112264" cy="246221"/>
          </a:xfrm>
          <a:prstGeom prst="rect">
            <a:avLst/>
          </a:prstGeom>
          <a:noFill/>
        </p:spPr>
        <p:txBody>
          <a:bodyPr vert="horz" wrap="square" lIns="0" tIns="0" rIns="0" bIns="0" rtlCol="0" anchor="b">
            <a:noAutofit/>
          </a:bodyPr>
          <a:lstStyle>
            <a:defPPr>
              <a:defRPr lang="en-US"/>
            </a:defPPr>
            <a:lvl1pPr>
              <a:spcBef>
                <a:spcPts val="600"/>
              </a:spcBef>
              <a:spcAft>
                <a:spcPts val="300"/>
              </a:spcAft>
              <a:buFontTx/>
              <a:buNone/>
              <a:defRPr sz="1400">
                <a:latin typeface="+mj-lt"/>
              </a:defRPr>
            </a:lvl1pPr>
          </a:lstStyle>
          <a:p>
            <a:pPr marL="0" marR="0" lvl="0" indent="0" algn="l" defTabSz="914400" rtl="0" eaLnBrk="1" fontAlgn="auto" latinLnBrk="0" hangingPunct="1">
              <a:lnSpc>
                <a:spcPct val="100000"/>
              </a:lnSpc>
              <a:spcBef>
                <a:spcPts val="600"/>
              </a:spcBef>
              <a:spcAft>
                <a:spcPts val="300"/>
              </a:spcAft>
              <a:buClrTx/>
              <a:buSzTx/>
              <a:buFontTx/>
              <a:buNone/>
              <a:tabLst/>
              <a:defRPr/>
            </a:pPr>
            <a:r>
              <a:rPr kumimoji="0" lang="en-US" sz="1600" b="1" i="0" u="none" strike="noStrike" kern="1200" cap="none" spc="0" normalizeH="0" baseline="0" noProof="0">
                <a:ln>
                  <a:noFill/>
                </a:ln>
                <a:solidFill>
                  <a:srgbClr val="000000"/>
                </a:solidFill>
                <a:effectLst/>
                <a:uLnTx/>
                <a:uFillTx/>
                <a:latin typeface="+mn-lt"/>
                <a:sym typeface="Theinhardt Pan Medium" panose="020B0604020101020102" pitchFamily="34" charset="0"/>
              </a:rPr>
              <a:t>Benefit to Bank</a:t>
            </a:r>
          </a:p>
        </p:txBody>
      </p:sp>
      <p:sp>
        <p:nvSpPr>
          <p:cNvPr id="4" name="Arc 3">
            <a:extLst>
              <a:ext uri="{FF2B5EF4-FFF2-40B4-BE49-F238E27FC236}">
                <a16:creationId xmlns:a16="http://schemas.microsoft.com/office/drawing/2014/main" id="{12B97DF4-3C9F-4AFF-A712-E295F0551DBB}"/>
              </a:ext>
            </a:extLst>
          </p:cNvPr>
          <p:cNvSpPr/>
          <p:nvPr/>
        </p:nvSpPr>
        <p:spPr>
          <a:xfrm>
            <a:off x="-593142" y="1704073"/>
            <a:ext cx="2266681" cy="4502524"/>
          </a:xfrm>
          <a:prstGeom prst="arc">
            <a:avLst>
              <a:gd name="adj1" fmla="val 16232009"/>
              <a:gd name="adj2" fmla="val 5376884"/>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ndParaRPr>
          </a:p>
        </p:txBody>
      </p:sp>
      <p:grpSp>
        <p:nvGrpSpPr>
          <p:cNvPr id="61" name="CustomIcon">
            <a:extLst>
              <a:ext uri="{FF2B5EF4-FFF2-40B4-BE49-F238E27FC236}">
                <a16:creationId xmlns:a16="http://schemas.microsoft.com/office/drawing/2014/main" id="{55947E90-8FD4-2905-CD06-FB676F1E51EC}"/>
              </a:ext>
            </a:extLst>
          </p:cNvPr>
          <p:cNvGrpSpPr>
            <a:grpSpLocks/>
          </p:cNvGrpSpPr>
          <p:nvPr>
            <p:custDataLst>
              <p:tags r:id="rId5"/>
            </p:custDataLst>
          </p:nvPr>
        </p:nvGrpSpPr>
        <p:grpSpPr>
          <a:xfrm>
            <a:off x="1317484" y="4518933"/>
            <a:ext cx="643861" cy="643861"/>
            <a:chOff x="-205105" y="-205105"/>
            <a:chExt cx="1019810" cy="1019810"/>
          </a:xfrm>
          <a:solidFill>
            <a:schemeClr val="accent2"/>
          </a:solidFill>
        </p:grpSpPr>
        <p:sp>
          <p:nvSpPr>
            <p:cNvPr id="48" name="Oval 47">
              <a:extLst>
                <a:ext uri="{FF2B5EF4-FFF2-40B4-BE49-F238E27FC236}">
                  <a16:creationId xmlns:a16="http://schemas.microsoft.com/office/drawing/2014/main" id="{A052B318-4ECC-36C0-0FF3-01A8209B37D8}"/>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a:ln>
                  <a:noFill/>
                </a:ln>
                <a:solidFill>
                  <a:srgbClr val="FFFFFF"/>
                </a:solidFill>
                <a:effectLst/>
                <a:uLnTx/>
                <a:uFillTx/>
              </a:endParaRPr>
            </a:p>
          </p:txBody>
        </p:sp>
        <p:pic>
          <p:nvPicPr>
            <p:cNvPr id="60" name="Graphic 59">
              <a:extLst>
                <a:ext uri="{FF2B5EF4-FFF2-40B4-BE49-F238E27FC236}">
                  <a16:creationId xmlns:a16="http://schemas.microsoft.com/office/drawing/2014/main" id="{B4CCDBFA-A8D4-4C50-7AA6-82D94AA365B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0" y="0"/>
              <a:ext cx="609600" cy="609600"/>
            </a:xfrm>
            <a:prstGeom prst="rect">
              <a:avLst/>
            </a:prstGeom>
          </p:spPr>
        </p:pic>
      </p:grpSp>
      <p:sp>
        <p:nvSpPr>
          <p:cNvPr id="17" name="TextBox 16">
            <a:extLst>
              <a:ext uri="{FF2B5EF4-FFF2-40B4-BE49-F238E27FC236}">
                <a16:creationId xmlns:a16="http://schemas.microsoft.com/office/drawing/2014/main" id="{C034529A-008C-4F01-9AA3-AC8F27C16B8C}"/>
              </a:ext>
            </a:extLst>
          </p:cNvPr>
          <p:cNvSpPr txBox="1">
            <a:spLocks/>
          </p:cNvSpPr>
          <p:nvPr/>
        </p:nvSpPr>
        <p:spPr>
          <a:xfrm>
            <a:off x="9525000" y="4625420"/>
            <a:ext cx="2112264"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cs typeface="+mn-cs"/>
              </a:rPr>
              <a:t>Increase customer engagement &amp; experience</a:t>
            </a:r>
          </a:p>
        </p:txBody>
      </p:sp>
      <p:sp>
        <p:nvSpPr>
          <p:cNvPr id="32" name="TextBox 31">
            <a:extLst>
              <a:ext uri="{FF2B5EF4-FFF2-40B4-BE49-F238E27FC236}">
                <a16:creationId xmlns:a16="http://schemas.microsoft.com/office/drawing/2014/main" id="{2A153E60-3BFC-82CB-ED0D-DEA0EC3E90EA}"/>
              </a:ext>
            </a:extLst>
          </p:cNvPr>
          <p:cNvSpPr txBox="1">
            <a:spLocks/>
          </p:cNvSpPr>
          <p:nvPr/>
        </p:nvSpPr>
        <p:spPr>
          <a:xfrm>
            <a:off x="2087639" y="4479226"/>
            <a:ext cx="3557511" cy="72327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404040">
                    <a:lumMod val="50000"/>
                  </a:srgbClr>
                </a:solidFill>
                <a:effectLst/>
                <a:uLnTx/>
                <a:uFillTx/>
              </a:rPr>
              <a:t>Wide range of “Beyond Banking” products offering with wide range of deals</a:t>
            </a:r>
          </a:p>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Char char="​"/>
              <a:tabLst/>
              <a:defRPr/>
            </a:pPr>
            <a:r>
              <a:rPr kumimoji="0" lang="en-GB" sz="1400" b="0" i="0" u="none" strike="noStrike" kern="1200" cap="none" spc="0" normalizeH="0" baseline="0" noProof="0">
                <a:ln>
                  <a:noFill/>
                </a:ln>
                <a:solidFill>
                  <a:srgbClr val="404040">
                    <a:lumMod val="50000"/>
                  </a:srgbClr>
                </a:solidFill>
                <a:effectLst/>
                <a:uLnTx/>
                <a:uFillTx/>
              </a:rPr>
              <a:t>App in app experience </a:t>
            </a:r>
          </a:p>
        </p:txBody>
      </p:sp>
      <p:sp>
        <p:nvSpPr>
          <p:cNvPr id="29" name="TextBox 28">
            <a:extLst>
              <a:ext uri="{FF2B5EF4-FFF2-40B4-BE49-F238E27FC236}">
                <a16:creationId xmlns:a16="http://schemas.microsoft.com/office/drawing/2014/main" id="{1093F837-C09C-5F53-32E8-92581DBF518F}"/>
              </a:ext>
            </a:extLst>
          </p:cNvPr>
          <p:cNvSpPr txBox="1">
            <a:spLocks/>
          </p:cNvSpPr>
          <p:nvPr/>
        </p:nvSpPr>
        <p:spPr>
          <a:xfrm>
            <a:off x="5845820" y="4625420"/>
            <a:ext cx="1874504"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None/>
              <a:tabLst/>
              <a:defRPr/>
            </a:pPr>
            <a:r>
              <a:rPr kumimoji="0" lang="en-US" sz="1400" b="0" i="0" u="none" strike="noStrike" kern="1200" cap="none" spc="0" normalizeH="0" baseline="0" noProof="0">
                <a:ln>
                  <a:noFill/>
                </a:ln>
                <a:solidFill>
                  <a:srgbClr val="404040">
                    <a:lumMod val="50000"/>
                  </a:srgbClr>
                </a:solidFill>
                <a:effectLst/>
                <a:uLnTx/>
                <a:uFillTx/>
              </a:rPr>
              <a:t>Book movie tickets through the bank app</a:t>
            </a:r>
            <a:endParaRPr kumimoji="0" lang="en-GB" sz="1400" b="0" i="0" u="none" strike="noStrike" kern="1200" cap="none" spc="0" normalizeH="0" baseline="0" noProof="0">
              <a:ln>
                <a:noFill/>
              </a:ln>
              <a:solidFill>
                <a:srgbClr val="404040">
                  <a:lumMod val="50000"/>
                </a:srgbClr>
              </a:solidFill>
              <a:effectLst/>
              <a:uLnTx/>
              <a:uFillTx/>
            </a:endParaRPr>
          </a:p>
        </p:txBody>
      </p:sp>
      <p:grpSp>
        <p:nvGrpSpPr>
          <p:cNvPr id="72" name="CustomIcon">
            <a:extLst>
              <a:ext uri="{FF2B5EF4-FFF2-40B4-BE49-F238E27FC236}">
                <a16:creationId xmlns:a16="http://schemas.microsoft.com/office/drawing/2014/main" id="{DFE0E0F8-5846-9CF1-E46D-5EAED8E60AC2}"/>
              </a:ext>
            </a:extLst>
          </p:cNvPr>
          <p:cNvGrpSpPr>
            <a:grpSpLocks/>
          </p:cNvGrpSpPr>
          <p:nvPr>
            <p:custDataLst>
              <p:tags r:id="rId6"/>
            </p:custDataLst>
          </p:nvPr>
        </p:nvGrpSpPr>
        <p:grpSpPr>
          <a:xfrm>
            <a:off x="807366" y="5537535"/>
            <a:ext cx="643861" cy="643861"/>
            <a:chOff x="-205105" y="-205105"/>
            <a:chExt cx="1019810" cy="1019810"/>
          </a:xfrm>
          <a:solidFill>
            <a:schemeClr val="accent2"/>
          </a:solidFill>
        </p:grpSpPr>
        <p:sp>
          <p:nvSpPr>
            <p:cNvPr id="62" name="Oval 61">
              <a:extLst>
                <a:ext uri="{FF2B5EF4-FFF2-40B4-BE49-F238E27FC236}">
                  <a16:creationId xmlns:a16="http://schemas.microsoft.com/office/drawing/2014/main" id="{E3B4DC5C-433F-94E5-30E1-06D2B3131D74}"/>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a:ln>
                  <a:noFill/>
                </a:ln>
                <a:solidFill>
                  <a:srgbClr val="FFFFFF"/>
                </a:solidFill>
                <a:effectLst/>
                <a:uLnTx/>
                <a:uFillTx/>
              </a:endParaRPr>
            </a:p>
          </p:txBody>
        </p:sp>
        <p:pic>
          <p:nvPicPr>
            <p:cNvPr id="71" name="Graphic 70">
              <a:extLst>
                <a:ext uri="{FF2B5EF4-FFF2-40B4-BE49-F238E27FC236}">
                  <a16:creationId xmlns:a16="http://schemas.microsoft.com/office/drawing/2014/main" id="{132FAD73-18D7-1A3A-4CBD-3FB65CD84573}"/>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0" y="0"/>
              <a:ext cx="609600" cy="609600"/>
            </a:xfrm>
            <a:prstGeom prst="rect">
              <a:avLst/>
            </a:prstGeom>
          </p:spPr>
        </p:pic>
      </p:grpSp>
      <p:sp>
        <p:nvSpPr>
          <p:cNvPr id="18" name="TextBox 17">
            <a:extLst>
              <a:ext uri="{FF2B5EF4-FFF2-40B4-BE49-F238E27FC236}">
                <a16:creationId xmlns:a16="http://schemas.microsoft.com/office/drawing/2014/main" id="{161247DF-047C-400F-A349-E834A1B1EACB}"/>
              </a:ext>
            </a:extLst>
          </p:cNvPr>
          <p:cNvSpPr txBox="1">
            <a:spLocks/>
          </p:cNvSpPr>
          <p:nvPr/>
        </p:nvSpPr>
        <p:spPr>
          <a:xfrm>
            <a:off x="9525000" y="5644022"/>
            <a:ext cx="2112264"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cs typeface="+mn-cs"/>
              </a:rPr>
              <a:t>Open market customer acquisition</a:t>
            </a:r>
          </a:p>
        </p:txBody>
      </p:sp>
      <p:sp>
        <p:nvSpPr>
          <p:cNvPr id="28" name="TextBox 27">
            <a:extLst>
              <a:ext uri="{FF2B5EF4-FFF2-40B4-BE49-F238E27FC236}">
                <a16:creationId xmlns:a16="http://schemas.microsoft.com/office/drawing/2014/main" id="{AAC78749-BB35-65A5-85D6-12194541DCF0}"/>
              </a:ext>
            </a:extLst>
          </p:cNvPr>
          <p:cNvSpPr txBox="1">
            <a:spLocks/>
          </p:cNvSpPr>
          <p:nvPr/>
        </p:nvSpPr>
        <p:spPr>
          <a:xfrm>
            <a:off x="1811865" y="5644022"/>
            <a:ext cx="3395044"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404040">
                    <a:lumMod val="50000"/>
                  </a:srgbClr>
                </a:solidFill>
                <a:effectLst/>
                <a:uLnTx/>
                <a:uFillTx/>
              </a:rPr>
              <a:t>Own marketplace with thousands of sellers and special deals for on-us customers</a:t>
            </a:r>
            <a:endParaRPr kumimoji="0" lang="en-GB" sz="1400" b="0" i="0" u="none" strike="noStrike" kern="1200" cap="none" spc="0" normalizeH="0" baseline="0" noProof="0">
              <a:ln>
                <a:noFill/>
              </a:ln>
              <a:solidFill>
                <a:srgbClr val="404040">
                  <a:lumMod val="50000"/>
                </a:srgbClr>
              </a:solidFill>
              <a:effectLst/>
              <a:uLnTx/>
              <a:uFillTx/>
            </a:endParaRPr>
          </a:p>
        </p:txBody>
      </p:sp>
      <p:sp>
        <p:nvSpPr>
          <p:cNvPr id="30" name="TextBox 29">
            <a:extLst>
              <a:ext uri="{FF2B5EF4-FFF2-40B4-BE49-F238E27FC236}">
                <a16:creationId xmlns:a16="http://schemas.microsoft.com/office/drawing/2014/main" id="{AF73E0D5-2160-0DB6-5FA1-5F742FA41466}"/>
              </a:ext>
            </a:extLst>
          </p:cNvPr>
          <p:cNvSpPr txBox="1">
            <a:spLocks/>
          </p:cNvSpPr>
          <p:nvPr/>
        </p:nvSpPr>
        <p:spPr>
          <a:xfrm>
            <a:off x="5845820" y="5428578"/>
            <a:ext cx="1874504" cy="86177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None/>
              <a:tabLst/>
              <a:defRPr/>
            </a:pPr>
            <a:r>
              <a:rPr kumimoji="0" lang="en-US" sz="1400" b="0" i="0" u="none" strike="noStrike" kern="1200" cap="none" spc="0" normalizeH="0" baseline="0" noProof="0">
                <a:ln>
                  <a:noFill/>
                </a:ln>
                <a:solidFill>
                  <a:srgbClr val="404040">
                    <a:lumMod val="50000"/>
                  </a:srgbClr>
                </a:solidFill>
                <a:effectLst/>
                <a:uLnTx/>
                <a:uFillTx/>
              </a:rPr>
              <a:t>Own online store with 3</a:t>
            </a:r>
            <a:r>
              <a:rPr kumimoji="0" lang="en-US" sz="1400" b="0" i="0" u="none" strike="noStrike" kern="1200" cap="none" spc="0" normalizeH="0" baseline="30000" noProof="0">
                <a:ln>
                  <a:noFill/>
                </a:ln>
                <a:solidFill>
                  <a:srgbClr val="404040">
                    <a:lumMod val="50000"/>
                  </a:srgbClr>
                </a:solidFill>
                <a:effectLst/>
                <a:uLnTx/>
                <a:uFillTx/>
              </a:rPr>
              <a:t>rd</a:t>
            </a:r>
            <a:r>
              <a:rPr kumimoji="0" lang="en-US" sz="1400" b="0" i="0" u="none" strike="noStrike" kern="1200" cap="none" spc="0" normalizeH="0" baseline="0" noProof="0">
                <a:ln>
                  <a:noFill/>
                </a:ln>
                <a:solidFill>
                  <a:srgbClr val="404040">
                    <a:lumMod val="50000"/>
                  </a:srgbClr>
                </a:solidFill>
                <a:effectLst/>
                <a:uLnTx/>
                <a:uFillTx/>
              </a:rPr>
              <a:t> party vendors with discounts for bank customers</a:t>
            </a:r>
            <a:endParaRPr kumimoji="0" lang="en-GB" sz="1400" b="0" i="0" u="none" strike="noStrike" kern="1200" cap="none" spc="0" normalizeH="0" baseline="0" noProof="0">
              <a:ln>
                <a:noFill/>
              </a:ln>
              <a:solidFill>
                <a:srgbClr val="404040">
                  <a:lumMod val="50000"/>
                </a:srgbClr>
              </a:solidFill>
              <a:effectLst/>
              <a:uLnTx/>
              <a:uFillTx/>
            </a:endParaRPr>
          </a:p>
        </p:txBody>
      </p:sp>
      <p:sp>
        <p:nvSpPr>
          <p:cNvPr id="41" name="Oval 40">
            <a:extLst>
              <a:ext uri="{FF2B5EF4-FFF2-40B4-BE49-F238E27FC236}">
                <a16:creationId xmlns:a16="http://schemas.microsoft.com/office/drawing/2014/main" id="{B39C09C1-1A49-B2A9-7EE0-7964FAA645B1}"/>
              </a:ext>
            </a:extLst>
          </p:cNvPr>
          <p:cNvSpPr>
            <a:spLocks noChangeAspect="1"/>
          </p:cNvSpPr>
          <p:nvPr/>
        </p:nvSpPr>
        <p:spPr>
          <a:xfrm>
            <a:off x="1505298" y="3553858"/>
            <a:ext cx="643861" cy="643861"/>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a:ln>
                <a:noFill/>
              </a:ln>
              <a:solidFill>
                <a:srgbClr val="FFFFFF"/>
              </a:solidFill>
              <a:effectLst/>
              <a:uLnTx/>
              <a:uFillTx/>
            </a:endParaRPr>
          </a:p>
        </p:txBody>
      </p:sp>
      <p:pic>
        <p:nvPicPr>
          <p:cNvPr id="43" name="Graphic 42">
            <a:extLst>
              <a:ext uri="{FF2B5EF4-FFF2-40B4-BE49-F238E27FC236}">
                <a16:creationId xmlns:a16="http://schemas.microsoft.com/office/drawing/2014/main" id="{599068E5-A4D5-1F5D-6FFF-347976CDEC8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634792" y="3683352"/>
            <a:ext cx="384873" cy="384873"/>
          </a:xfrm>
          <a:prstGeom prst="rect">
            <a:avLst/>
          </a:prstGeom>
        </p:spPr>
      </p:pic>
      <p:sp>
        <p:nvSpPr>
          <p:cNvPr id="16" name="TextBox 15">
            <a:extLst>
              <a:ext uri="{FF2B5EF4-FFF2-40B4-BE49-F238E27FC236}">
                <a16:creationId xmlns:a16="http://schemas.microsoft.com/office/drawing/2014/main" id="{80DCFDFF-96F5-48B4-B71F-4E1E18C3AF4F}"/>
              </a:ext>
            </a:extLst>
          </p:cNvPr>
          <p:cNvSpPr txBox="1">
            <a:spLocks/>
          </p:cNvSpPr>
          <p:nvPr/>
        </p:nvSpPr>
        <p:spPr>
          <a:xfrm>
            <a:off x="9525000" y="3660345"/>
            <a:ext cx="2112264"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cs typeface="+mn-cs"/>
              </a:rPr>
              <a:t>Cross sell of core financial services products </a:t>
            </a:r>
          </a:p>
        </p:txBody>
      </p:sp>
      <p:sp>
        <p:nvSpPr>
          <p:cNvPr id="34" name="TextBox 33">
            <a:extLst>
              <a:ext uri="{FF2B5EF4-FFF2-40B4-BE49-F238E27FC236}">
                <a16:creationId xmlns:a16="http://schemas.microsoft.com/office/drawing/2014/main" id="{14D68CAA-13EE-C371-9673-C8A0AF9EB737}"/>
              </a:ext>
            </a:extLst>
          </p:cNvPr>
          <p:cNvSpPr txBox="1">
            <a:spLocks/>
          </p:cNvSpPr>
          <p:nvPr/>
        </p:nvSpPr>
        <p:spPr>
          <a:xfrm>
            <a:off x="2250106" y="3660345"/>
            <a:ext cx="3395044"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404040">
                    <a:lumMod val="50000"/>
                  </a:srgbClr>
                </a:solidFill>
                <a:effectLst/>
                <a:uLnTx/>
                <a:uFillTx/>
              </a:rPr>
              <a:t>Product specific ecosystem with online and offline suppliers</a:t>
            </a:r>
            <a:endParaRPr kumimoji="0" lang="en-GB" sz="1400" b="0" i="0" u="none" strike="noStrike" kern="1200" cap="none" spc="0" normalizeH="0" baseline="0" noProof="0">
              <a:ln>
                <a:noFill/>
              </a:ln>
              <a:solidFill>
                <a:srgbClr val="404040">
                  <a:lumMod val="50000"/>
                </a:srgbClr>
              </a:solidFill>
              <a:effectLst/>
              <a:uLnTx/>
              <a:uFillTx/>
            </a:endParaRPr>
          </a:p>
        </p:txBody>
      </p:sp>
      <p:sp>
        <p:nvSpPr>
          <p:cNvPr id="27" name="TextBox 26">
            <a:extLst>
              <a:ext uri="{FF2B5EF4-FFF2-40B4-BE49-F238E27FC236}">
                <a16:creationId xmlns:a16="http://schemas.microsoft.com/office/drawing/2014/main" id="{1AB1EF8B-6B6D-8023-70A0-A85904D3FD7F}"/>
              </a:ext>
            </a:extLst>
          </p:cNvPr>
          <p:cNvSpPr txBox="1">
            <a:spLocks/>
          </p:cNvSpPr>
          <p:nvPr/>
        </p:nvSpPr>
        <p:spPr>
          <a:xfrm>
            <a:off x="5845820" y="3660345"/>
            <a:ext cx="1874504"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None/>
              <a:tabLst/>
              <a:defRPr/>
            </a:pPr>
            <a:r>
              <a:rPr kumimoji="0" lang="en-US" sz="1400" b="0" i="0" u="none" strike="noStrike" kern="1200" cap="none" spc="0" normalizeH="0" baseline="0" noProof="0">
                <a:ln>
                  <a:noFill/>
                </a:ln>
                <a:solidFill>
                  <a:srgbClr val="404040">
                    <a:lumMod val="50000"/>
                  </a:srgbClr>
                </a:solidFill>
                <a:effectLst/>
                <a:uLnTx/>
                <a:uFillTx/>
              </a:rPr>
              <a:t>Installment plan for purchase of appliances</a:t>
            </a:r>
            <a:endParaRPr kumimoji="0" lang="en-GB" sz="1400" b="0" i="0" u="none" strike="noStrike" kern="1200" cap="none" spc="0" normalizeH="0" baseline="0" noProof="0">
              <a:ln>
                <a:noFill/>
              </a:ln>
              <a:solidFill>
                <a:srgbClr val="404040">
                  <a:lumMod val="50000"/>
                </a:srgbClr>
              </a:solidFill>
              <a:effectLst/>
              <a:uLnTx/>
              <a:uFillTx/>
            </a:endParaRPr>
          </a:p>
        </p:txBody>
      </p:sp>
      <p:grpSp>
        <p:nvGrpSpPr>
          <p:cNvPr id="33" name="CustomIcon">
            <a:extLst>
              <a:ext uri="{FF2B5EF4-FFF2-40B4-BE49-F238E27FC236}">
                <a16:creationId xmlns:a16="http://schemas.microsoft.com/office/drawing/2014/main" id="{D5F5949F-CAE5-A121-7A20-AAF4CCA29055}"/>
              </a:ext>
            </a:extLst>
          </p:cNvPr>
          <p:cNvGrpSpPr>
            <a:grpSpLocks/>
          </p:cNvGrpSpPr>
          <p:nvPr>
            <p:custDataLst>
              <p:tags r:id="rId7"/>
            </p:custDataLst>
          </p:nvPr>
        </p:nvGrpSpPr>
        <p:grpSpPr>
          <a:xfrm>
            <a:off x="807366" y="1752653"/>
            <a:ext cx="643861" cy="643861"/>
            <a:chOff x="-205105" y="-205105"/>
            <a:chExt cx="1019810" cy="1019810"/>
          </a:xfrm>
          <a:solidFill>
            <a:schemeClr val="accent2"/>
          </a:solidFill>
        </p:grpSpPr>
        <p:sp>
          <p:nvSpPr>
            <p:cNvPr id="24" name="Oval 23">
              <a:extLst>
                <a:ext uri="{FF2B5EF4-FFF2-40B4-BE49-F238E27FC236}">
                  <a16:creationId xmlns:a16="http://schemas.microsoft.com/office/drawing/2014/main" id="{AB6C801C-EA6B-1E98-61B6-DB7F985E0FFF}"/>
                </a:ext>
              </a:extLst>
            </p:cNvPr>
            <p:cNvSpPr>
              <a:spLocks noChangeAspect="1"/>
            </p:cNvSpPr>
            <p:nvPr/>
          </p:nvSpPr>
          <p:spPr>
            <a:xfrm>
              <a:off x="-205105" y="-205105"/>
              <a:ext cx="1019810" cy="1019810"/>
            </a:xfrm>
            <a:prstGeom prst="ellips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a:ln>
                  <a:noFill/>
                </a:ln>
                <a:solidFill>
                  <a:srgbClr val="FFFFFF"/>
                </a:solidFill>
                <a:effectLst/>
                <a:uLnTx/>
                <a:uFillTx/>
              </a:endParaRPr>
            </a:p>
          </p:txBody>
        </p:sp>
        <p:pic>
          <p:nvPicPr>
            <p:cNvPr id="31" name="Graphic 30">
              <a:extLst>
                <a:ext uri="{FF2B5EF4-FFF2-40B4-BE49-F238E27FC236}">
                  <a16:creationId xmlns:a16="http://schemas.microsoft.com/office/drawing/2014/main" id="{1EFC2AEB-F7AF-F68C-04E3-DC3E59A5B25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0" y="0"/>
              <a:ext cx="609600" cy="609600"/>
            </a:xfrm>
            <a:prstGeom prst="rect">
              <a:avLst/>
            </a:prstGeom>
          </p:spPr>
        </p:pic>
      </p:grpSp>
      <p:sp>
        <p:nvSpPr>
          <p:cNvPr id="8" name="TextBox 7">
            <a:extLst>
              <a:ext uri="{FF2B5EF4-FFF2-40B4-BE49-F238E27FC236}">
                <a16:creationId xmlns:a16="http://schemas.microsoft.com/office/drawing/2014/main" id="{0D8458FE-941A-4921-80EF-79AD4835F119}"/>
              </a:ext>
            </a:extLst>
          </p:cNvPr>
          <p:cNvSpPr txBox="1">
            <a:spLocks/>
          </p:cNvSpPr>
          <p:nvPr/>
        </p:nvSpPr>
        <p:spPr>
          <a:xfrm>
            <a:off x="9525000" y="1966861"/>
            <a:ext cx="2112264" cy="21544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cs typeface="+mn-cs"/>
              </a:rPr>
              <a:t>Classic reward redemption</a:t>
            </a:r>
          </a:p>
        </p:txBody>
      </p:sp>
      <p:sp>
        <p:nvSpPr>
          <p:cNvPr id="39" name="TextBox 38">
            <a:extLst>
              <a:ext uri="{FF2B5EF4-FFF2-40B4-BE49-F238E27FC236}">
                <a16:creationId xmlns:a16="http://schemas.microsoft.com/office/drawing/2014/main" id="{389D4E69-0209-0FB1-DC4C-0EF661395381}"/>
              </a:ext>
            </a:extLst>
          </p:cNvPr>
          <p:cNvSpPr txBox="1">
            <a:spLocks/>
          </p:cNvSpPr>
          <p:nvPr/>
        </p:nvSpPr>
        <p:spPr>
          <a:xfrm>
            <a:off x="1811865" y="1859140"/>
            <a:ext cx="3395044" cy="430887"/>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404040">
                    <a:lumMod val="50000"/>
                  </a:srgbClr>
                </a:solidFill>
                <a:effectLst/>
                <a:uLnTx/>
                <a:uFillTx/>
              </a:rPr>
              <a:t>Rewards earn and burn platforms – with / without deals on redemption</a:t>
            </a:r>
            <a:endParaRPr kumimoji="0" lang="en-GB" sz="1400" b="0" i="0" u="none" strike="noStrike" kern="1200" cap="none" spc="0" normalizeH="0" baseline="0" noProof="0">
              <a:ln>
                <a:noFill/>
              </a:ln>
              <a:solidFill>
                <a:srgbClr val="404040">
                  <a:lumMod val="50000"/>
                </a:srgbClr>
              </a:solidFill>
              <a:effectLst/>
              <a:uLnTx/>
              <a:uFillTx/>
            </a:endParaRPr>
          </a:p>
        </p:txBody>
      </p:sp>
      <p:sp>
        <p:nvSpPr>
          <p:cNvPr id="35" name="Oval 34">
            <a:extLst>
              <a:ext uri="{FF2B5EF4-FFF2-40B4-BE49-F238E27FC236}">
                <a16:creationId xmlns:a16="http://schemas.microsoft.com/office/drawing/2014/main" id="{C2FE01AC-1A5D-CA79-C33A-89E9E38A085E}"/>
              </a:ext>
            </a:extLst>
          </p:cNvPr>
          <p:cNvSpPr>
            <a:spLocks noChangeAspect="1"/>
          </p:cNvSpPr>
          <p:nvPr/>
        </p:nvSpPr>
        <p:spPr>
          <a:xfrm>
            <a:off x="1317484" y="2626157"/>
            <a:ext cx="643861" cy="643861"/>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600" b="0" i="0" u="none" strike="noStrike" kern="1200" cap="none" spc="0" normalizeH="0" baseline="0" noProof="0">
              <a:ln>
                <a:noFill/>
              </a:ln>
              <a:solidFill>
                <a:srgbClr val="FFFFFF"/>
              </a:solidFill>
              <a:effectLst/>
              <a:uLnTx/>
              <a:uFillTx/>
            </a:endParaRPr>
          </a:p>
        </p:txBody>
      </p:sp>
      <p:pic>
        <p:nvPicPr>
          <p:cNvPr id="38" name="Graphic 37">
            <a:extLst>
              <a:ext uri="{FF2B5EF4-FFF2-40B4-BE49-F238E27FC236}">
                <a16:creationId xmlns:a16="http://schemas.microsoft.com/office/drawing/2014/main" id="{46130561-51D3-AD54-A6CA-01CCAB901AE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446978" y="2755651"/>
            <a:ext cx="384873" cy="384873"/>
          </a:xfrm>
          <a:prstGeom prst="rect">
            <a:avLst/>
          </a:prstGeom>
        </p:spPr>
      </p:pic>
      <p:sp>
        <p:nvSpPr>
          <p:cNvPr id="15" name="TextBox 14">
            <a:extLst>
              <a:ext uri="{FF2B5EF4-FFF2-40B4-BE49-F238E27FC236}">
                <a16:creationId xmlns:a16="http://schemas.microsoft.com/office/drawing/2014/main" id="{EB04DD8F-B098-4435-828C-2E51C5C5DE99}"/>
              </a:ext>
            </a:extLst>
          </p:cNvPr>
          <p:cNvSpPr txBox="1">
            <a:spLocks/>
          </p:cNvSpPr>
          <p:nvPr/>
        </p:nvSpPr>
        <p:spPr>
          <a:xfrm>
            <a:off x="9525000" y="2732644"/>
            <a:ext cx="2112264" cy="43088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0" i="0" u="none" strike="noStrike" kern="1200" cap="none" spc="0" normalizeH="0" baseline="0" noProof="0">
                <a:ln>
                  <a:noFill/>
                </a:ln>
                <a:solidFill>
                  <a:srgbClr val="000000"/>
                </a:solidFill>
                <a:effectLst/>
                <a:uLnTx/>
                <a:uFillTx/>
                <a:cs typeface="+mn-cs"/>
              </a:rPr>
              <a:t>Deepen wallet share / program engagement </a:t>
            </a:r>
          </a:p>
        </p:txBody>
      </p:sp>
      <p:sp>
        <p:nvSpPr>
          <p:cNvPr id="36" name="TextBox 35">
            <a:extLst>
              <a:ext uri="{FF2B5EF4-FFF2-40B4-BE49-F238E27FC236}">
                <a16:creationId xmlns:a16="http://schemas.microsoft.com/office/drawing/2014/main" id="{A2A88913-A096-332B-5564-B3E41344CC20}"/>
              </a:ext>
            </a:extLst>
          </p:cNvPr>
          <p:cNvSpPr txBox="1">
            <a:spLocks/>
          </p:cNvSpPr>
          <p:nvPr/>
        </p:nvSpPr>
        <p:spPr>
          <a:xfrm>
            <a:off x="2087639" y="2732644"/>
            <a:ext cx="3557511"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404040">
                    <a:lumMod val="50000"/>
                  </a:srgbClr>
                </a:solidFill>
                <a:effectLst/>
                <a:uLnTx/>
                <a:uFillTx/>
              </a:rPr>
              <a:t>Innovative deals for existing customers to encourage usage of Debit/credit cards</a:t>
            </a:r>
            <a:endParaRPr kumimoji="0" lang="en-GB" sz="1400" b="0" i="0" u="none" strike="noStrike" kern="1200" cap="none" spc="0" normalizeH="0" baseline="0" noProof="0">
              <a:ln>
                <a:noFill/>
              </a:ln>
              <a:solidFill>
                <a:srgbClr val="404040">
                  <a:lumMod val="50000"/>
                </a:srgbClr>
              </a:solidFill>
              <a:effectLst/>
              <a:uLnTx/>
              <a:uFillTx/>
            </a:endParaRPr>
          </a:p>
        </p:txBody>
      </p:sp>
      <p:sp>
        <p:nvSpPr>
          <p:cNvPr id="26" name="TextBox 25">
            <a:extLst>
              <a:ext uri="{FF2B5EF4-FFF2-40B4-BE49-F238E27FC236}">
                <a16:creationId xmlns:a16="http://schemas.microsoft.com/office/drawing/2014/main" id="{5E2C61E8-B989-4D13-11A7-30647AF2F2E9}"/>
              </a:ext>
            </a:extLst>
          </p:cNvPr>
          <p:cNvSpPr txBox="1">
            <a:spLocks/>
          </p:cNvSpPr>
          <p:nvPr/>
        </p:nvSpPr>
        <p:spPr>
          <a:xfrm>
            <a:off x="5845820" y="2732644"/>
            <a:ext cx="1874504"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None/>
              <a:tabLst/>
              <a:defRPr/>
            </a:pPr>
            <a:r>
              <a:rPr kumimoji="0" lang="en-US" sz="1400" b="0" i="0" u="none" strike="noStrike" kern="1200" cap="none" spc="0" normalizeH="0" baseline="0" noProof="0">
                <a:ln>
                  <a:noFill/>
                </a:ln>
                <a:solidFill>
                  <a:srgbClr val="404040">
                    <a:lumMod val="50000"/>
                  </a:srgbClr>
                </a:solidFill>
                <a:effectLst/>
                <a:uLnTx/>
                <a:uFillTx/>
              </a:rPr>
              <a:t>Discounts in stores if credit cards is used</a:t>
            </a:r>
            <a:endParaRPr kumimoji="0" lang="en-GB" sz="1400" b="0" i="0" u="none" strike="noStrike" kern="1200" cap="none" spc="0" normalizeH="0" baseline="0" noProof="0">
              <a:ln>
                <a:noFill/>
              </a:ln>
              <a:solidFill>
                <a:srgbClr val="404040">
                  <a:lumMod val="50000"/>
                </a:srgbClr>
              </a:solidFill>
              <a:effectLst/>
              <a:uLnTx/>
              <a:uFillTx/>
            </a:endParaRPr>
          </a:p>
        </p:txBody>
      </p:sp>
      <p:sp>
        <p:nvSpPr>
          <p:cNvPr id="20" name="TextBox 19">
            <a:extLst>
              <a:ext uri="{FF2B5EF4-FFF2-40B4-BE49-F238E27FC236}">
                <a16:creationId xmlns:a16="http://schemas.microsoft.com/office/drawing/2014/main" id="{25459AAC-949C-F466-AA95-8F5848BD724E}"/>
              </a:ext>
            </a:extLst>
          </p:cNvPr>
          <p:cNvSpPr txBox="1">
            <a:spLocks/>
          </p:cNvSpPr>
          <p:nvPr/>
        </p:nvSpPr>
        <p:spPr>
          <a:xfrm>
            <a:off x="5845820" y="1751418"/>
            <a:ext cx="1874504" cy="64633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404040"/>
              </a:buClr>
              <a:buSzPct val="100000"/>
              <a:buFont typeface="Segoe UI" panose="020B0502040204020203" pitchFamily="34" charset="0"/>
              <a:buChar char="​"/>
              <a:tabLst/>
              <a:defRPr/>
            </a:pPr>
            <a:r>
              <a:rPr kumimoji="0" lang="en-US" sz="1400" b="0" i="0" u="none" strike="noStrike" kern="1200" cap="none" spc="0" normalizeH="0" baseline="0" noProof="0">
                <a:ln>
                  <a:noFill/>
                </a:ln>
                <a:solidFill>
                  <a:srgbClr val="404040">
                    <a:lumMod val="50000"/>
                  </a:srgbClr>
                </a:solidFill>
                <a:effectLst/>
                <a:uLnTx/>
                <a:uFillTx/>
              </a:rPr>
              <a:t>Points earned for each transaction; spend to get fee waivers</a:t>
            </a:r>
            <a:endParaRPr kumimoji="0" lang="en-GB" sz="1400" b="0" i="0" u="none" strike="noStrike" kern="1200" cap="none" spc="0" normalizeH="0" baseline="0" noProof="0">
              <a:ln>
                <a:noFill/>
              </a:ln>
              <a:solidFill>
                <a:srgbClr val="404040">
                  <a:lumMod val="50000"/>
                </a:srgbClr>
              </a:solidFill>
              <a:effectLst/>
              <a:uLnTx/>
              <a:uFillTx/>
            </a:endParaRPr>
          </a:p>
        </p:txBody>
      </p:sp>
      <p:grpSp>
        <p:nvGrpSpPr>
          <p:cNvPr id="65" name="Group 64">
            <a:extLst>
              <a:ext uri="{FF2B5EF4-FFF2-40B4-BE49-F238E27FC236}">
                <a16:creationId xmlns:a16="http://schemas.microsoft.com/office/drawing/2014/main" id="{1DDB3814-0D31-4E4C-9B5F-AB93C16E464E}"/>
              </a:ext>
            </a:extLst>
          </p:cNvPr>
          <p:cNvGrpSpPr/>
          <p:nvPr/>
        </p:nvGrpSpPr>
        <p:grpSpPr>
          <a:xfrm>
            <a:off x="7920994" y="4587852"/>
            <a:ext cx="1085687" cy="506023"/>
            <a:chOff x="7130709" y="1831369"/>
            <a:chExt cx="1313682" cy="506023"/>
          </a:xfrm>
        </p:grpSpPr>
        <p:pic>
          <p:nvPicPr>
            <p:cNvPr id="66" name="Picture 9">
              <a:extLst>
                <a:ext uri="{FF2B5EF4-FFF2-40B4-BE49-F238E27FC236}">
                  <a16:creationId xmlns:a16="http://schemas.microsoft.com/office/drawing/2014/main" id="{A6F8E5E5-E63F-430A-A74B-64B3D5B12940}"/>
                </a:ext>
              </a:extLst>
            </p:cNvPr>
            <p:cNvPicPr>
              <a:picLocks noChangeArrowheads="1"/>
            </p:cNvPicPr>
            <p:nvPr/>
          </p:nvPicPr>
          <p:blipFill rotWithShape="1">
            <a:blip r:embed="rId19" cstate="screen">
              <a:extLst>
                <a:ext uri="{28A0092B-C50C-407E-A947-70E740481C1C}">
                  <a14:useLocalDpi xmlns:a14="http://schemas.microsoft.com/office/drawing/2010/main"/>
                </a:ext>
              </a:extLst>
            </a:blip>
            <a:srcRect l="21002" t="34740" r="23049" b="35099"/>
            <a:stretch/>
          </p:blipFill>
          <p:spPr bwMode="auto">
            <a:xfrm>
              <a:off x="7782989" y="2024410"/>
              <a:ext cx="661402" cy="204457"/>
            </a:xfrm>
            <a:prstGeom prst="rect">
              <a:avLst/>
            </a:prstGeom>
            <a:noFill/>
            <a:extLst>
              <a:ext uri="{909E8E84-426E-40dd-AFC4-6F175D3DCCD1}">
                <a14:hiddenFill xmlns:a14="http://schemas.microsoft.com/office/drawing/2010/main" xmlns="">
                  <a:solidFill>
                    <a:srgbClr val="FFFFFF"/>
                  </a:solidFill>
                </a14:hiddenFill>
              </a:ext>
            </a:extLst>
          </p:spPr>
        </p:pic>
        <p:pic>
          <p:nvPicPr>
            <p:cNvPr id="67" name="Picture 5" descr="YONO SBI:Banking and Lifestyle on the App Store">
              <a:extLst>
                <a:ext uri="{FF2B5EF4-FFF2-40B4-BE49-F238E27FC236}">
                  <a16:creationId xmlns:a16="http://schemas.microsoft.com/office/drawing/2014/main" id="{26AFA1F7-123E-4EA7-8924-EF16E32850B0}"/>
                </a:ext>
              </a:extLst>
            </p:cNvPr>
            <p:cNvPicPr>
              <a:picLocks noChangeAspect="1" noChangeArrowheads="1"/>
            </p:cNvPicPr>
            <p:nvPr/>
          </p:nvPicPr>
          <p:blipFill rotWithShape="1">
            <a:blip r:embed="rId20" cstate="screen">
              <a:extLst>
                <a:ext uri="{28A0092B-C50C-407E-A947-70E740481C1C}">
                  <a14:useLocalDpi xmlns:a14="http://schemas.microsoft.com/office/drawing/2010/main"/>
                </a:ext>
              </a:extLst>
            </a:blip>
            <a:srcRect l="32653" t="16953" r="33140" b="18977"/>
            <a:stretch/>
          </p:blipFill>
          <p:spPr bwMode="auto">
            <a:xfrm>
              <a:off x="7130709" y="1831369"/>
              <a:ext cx="519771" cy="506023"/>
            </a:xfrm>
            <a:prstGeom prst="roundRect">
              <a:avLst/>
            </a:prstGeom>
            <a:noFill/>
            <a:extLst>
              <a:ext uri="{909E8E84-426E-40DD-AFC4-6F175D3DCCD1}">
                <a14:hiddenFill xmlns:a14="http://schemas.microsoft.com/office/drawing/2010/main">
                  <a:solidFill>
                    <a:srgbClr val="FFFFFF"/>
                  </a:solidFill>
                </a14:hiddenFill>
              </a:ext>
            </a:extLst>
          </p:spPr>
        </p:pic>
      </p:grpSp>
      <p:grpSp>
        <p:nvGrpSpPr>
          <p:cNvPr id="75" name="Group 74">
            <a:extLst>
              <a:ext uri="{FF2B5EF4-FFF2-40B4-BE49-F238E27FC236}">
                <a16:creationId xmlns:a16="http://schemas.microsoft.com/office/drawing/2014/main" id="{BD84F5A9-7F56-D111-4252-934E25EFBC35}"/>
              </a:ext>
            </a:extLst>
          </p:cNvPr>
          <p:cNvGrpSpPr/>
          <p:nvPr/>
        </p:nvGrpSpPr>
        <p:grpSpPr>
          <a:xfrm>
            <a:off x="7920994" y="5540727"/>
            <a:ext cx="1282056" cy="637476"/>
            <a:chOff x="7879350" y="5429191"/>
            <a:chExt cx="1282056" cy="637476"/>
          </a:xfrm>
        </p:grpSpPr>
        <p:pic>
          <p:nvPicPr>
            <p:cNvPr id="56" name="Picture 55">
              <a:extLst>
                <a:ext uri="{FF2B5EF4-FFF2-40B4-BE49-F238E27FC236}">
                  <a16:creationId xmlns:a16="http://schemas.microsoft.com/office/drawing/2014/main" id="{7F7C3BAD-7689-4CB1-8644-4E1B6F4AD5E1}"/>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7882581" y="5429191"/>
              <a:ext cx="1278825" cy="231110"/>
            </a:xfrm>
            <a:prstGeom prst="rect">
              <a:avLst/>
            </a:prstGeom>
          </p:spPr>
        </p:pic>
        <p:pic>
          <p:nvPicPr>
            <p:cNvPr id="1026" name="Picture 2" descr="AlfaMall, Atlas Honda host prize distribution to celebrate lucrative  collaboration - Pakistan Observer">
              <a:extLst>
                <a:ext uri="{FF2B5EF4-FFF2-40B4-BE49-F238E27FC236}">
                  <a16:creationId xmlns:a16="http://schemas.microsoft.com/office/drawing/2014/main" id="{F1B85A2F-24A0-7EA6-ACCE-4426E5ACFE91}"/>
                </a:ext>
              </a:extLst>
            </p:cNvPr>
            <p:cNvPicPr>
              <a:picLocks noChangeAspect="1" noChangeArrowheads="1"/>
            </p:cNvPicPr>
            <p:nvPr/>
          </p:nvPicPr>
          <p:blipFill rotWithShape="1">
            <a:blip r:embed="rId22" cstate="screen">
              <a:extLst>
                <a:ext uri="{28A0092B-C50C-407E-A947-70E740481C1C}">
                  <a14:useLocalDpi xmlns:a14="http://schemas.microsoft.com/office/drawing/2010/main"/>
                </a:ext>
              </a:extLst>
            </a:blip>
            <a:srcRect/>
            <a:stretch/>
          </p:blipFill>
          <p:spPr bwMode="auto">
            <a:xfrm>
              <a:off x="7879350" y="5708050"/>
              <a:ext cx="1170126" cy="35861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3" name="Group 72">
            <a:extLst>
              <a:ext uri="{FF2B5EF4-FFF2-40B4-BE49-F238E27FC236}">
                <a16:creationId xmlns:a16="http://schemas.microsoft.com/office/drawing/2014/main" id="{4CE2C797-2F37-6579-D00A-3487563689B9}"/>
              </a:ext>
            </a:extLst>
          </p:cNvPr>
          <p:cNvGrpSpPr/>
          <p:nvPr/>
        </p:nvGrpSpPr>
        <p:grpSpPr>
          <a:xfrm>
            <a:off x="7920994" y="3498426"/>
            <a:ext cx="1403335" cy="754724"/>
            <a:chOff x="7779592" y="3192887"/>
            <a:chExt cx="1403335" cy="754724"/>
          </a:xfrm>
        </p:grpSpPr>
        <p:pic>
          <p:nvPicPr>
            <p:cNvPr id="55" name="Picture 25" descr="Bajaj Finserv Market Plus - Rs.60 Cashback &amp; coupon codes Dec, 2020">
              <a:extLst>
                <a:ext uri="{FF2B5EF4-FFF2-40B4-BE49-F238E27FC236}">
                  <a16:creationId xmlns:a16="http://schemas.microsoft.com/office/drawing/2014/main" id="{1FCAFA3B-E72A-4853-9082-6DC830DEF2BE}"/>
                </a:ext>
              </a:extLst>
            </p:cNvPr>
            <p:cNvPicPr>
              <a:picLocks noChangeAspect="1" noChangeArrowheads="1"/>
            </p:cNvPicPr>
            <p:nvPr/>
          </p:nvPicPr>
          <p:blipFill rotWithShape="1">
            <a:blip r:embed="rId23" cstate="screen">
              <a:extLst>
                <a:ext uri="{28A0092B-C50C-407E-A947-70E740481C1C}">
                  <a14:useLocalDpi xmlns:a14="http://schemas.microsoft.com/office/drawing/2010/main"/>
                </a:ext>
              </a:extLst>
            </a:blip>
            <a:srcRect t="30078" b="30440"/>
            <a:stretch/>
          </p:blipFill>
          <p:spPr bwMode="auto">
            <a:xfrm>
              <a:off x="7779592" y="3573169"/>
              <a:ext cx="1046400" cy="374442"/>
            </a:xfrm>
            <a:prstGeom prst="rect">
              <a:avLst/>
            </a:prstGeom>
            <a:noFill/>
            <a:extLst>
              <a:ext uri="{909E8E84-426E-40DD-AFC4-6F175D3DCCD1}">
                <a14:hiddenFill xmlns:a14="http://schemas.microsoft.com/office/drawing/2010/main">
                  <a:solidFill>
                    <a:srgbClr val="FFFFFF"/>
                  </a:solidFill>
                </a14:hiddenFill>
              </a:ext>
            </a:extLst>
          </p:spPr>
        </p:pic>
        <p:grpSp>
          <p:nvGrpSpPr>
            <p:cNvPr id="68" name="Group 67">
              <a:extLst>
                <a:ext uri="{FF2B5EF4-FFF2-40B4-BE49-F238E27FC236}">
                  <a16:creationId xmlns:a16="http://schemas.microsoft.com/office/drawing/2014/main" id="{FA7242CA-6913-EA76-7451-BE66E03D921E}"/>
                </a:ext>
              </a:extLst>
            </p:cNvPr>
            <p:cNvGrpSpPr/>
            <p:nvPr/>
          </p:nvGrpSpPr>
          <p:grpSpPr>
            <a:xfrm>
              <a:off x="7779592" y="3192887"/>
              <a:ext cx="1403335" cy="305232"/>
              <a:chOff x="7779592" y="3192887"/>
              <a:chExt cx="1403335" cy="305232"/>
            </a:xfrm>
          </p:grpSpPr>
          <p:pic>
            <p:nvPicPr>
              <p:cNvPr id="74" name="Picture 2">
                <a:extLst>
                  <a:ext uri="{FF2B5EF4-FFF2-40B4-BE49-F238E27FC236}">
                    <a16:creationId xmlns:a16="http://schemas.microsoft.com/office/drawing/2014/main" id="{56700385-FE04-E75C-BD68-AB01070B5413}"/>
                  </a:ext>
                </a:extLst>
              </p:cNvPr>
              <p:cNvPicPr>
                <a:picLocks noChangeAspect="1" noChangeArrowheads="1"/>
              </p:cNvPicPr>
              <p:nvPr/>
            </p:nvPicPr>
            <p:blipFill>
              <a:blip r:embed="rId24">
                <a:extLst>
                  <a:ext uri="{28A0092B-C50C-407E-A947-70E740481C1C}">
                    <a14:useLocalDpi xmlns:a14="http://schemas.microsoft.com/office/drawing/2010/main"/>
                  </a:ext>
                </a:extLst>
              </a:blip>
              <a:srcRect/>
              <a:stretch>
                <a:fillRect/>
              </a:stretch>
            </p:blipFill>
            <p:spPr bwMode="auto">
              <a:xfrm>
                <a:off x="8484604" y="3192887"/>
                <a:ext cx="698323" cy="2909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9909CFB-DC5B-938A-6340-621160986B64}"/>
                  </a:ext>
                </a:extLst>
              </p:cNvPr>
              <p:cNvPicPr>
                <a:picLocks noChangeAspect="1" noChangeArrowheads="1"/>
              </p:cNvPicPr>
              <p:nvPr/>
            </p:nvPicPr>
            <p:blipFill rotWithShape="1">
              <a:blip r:embed="rId25" cstate="screen">
                <a:extLst>
                  <a:ext uri="{28A0092B-C50C-407E-A947-70E740481C1C}">
                    <a14:useLocalDpi xmlns:a14="http://schemas.microsoft.com/office/drawing/2010/main"/>
                  </a:ext>
                </a:extLst>
              </a:blip>
              <a:srcRect l="-2"/>
              <a:stretch/>
            </p:blipFill>
            <p:spPr bwMode="auto">
              <a:xfrm>
                <a:off x="7779592" y="3207151"/>
                <a:ext cx="638832" cy="29096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8" name="Group 57">
            <a:extLst>
              <a:ext uri="{FF2B5EF4-FFF2-40B4-BE49-F238E27FC236}">
                <a16:creationId xmlns:a16="http://schemas.microsoft.com/office/drawing/2014/main" id="{5A85E98C-3DE1-05A9-7BB5-3EF74FE1A0A9}"/>
              </a:ext>
            </a:extLst>
          </p:cNvPr>
          <p:cNvGrpSpPr/>
          <p:nvPr/>
        </p:nvGrpSpPr>
        <p:grpSpPr>
          <a:xfrm>
            <a:off x="7920994" y="1754445"/>
            <a:ext cx="1165765" cy="640276"/>
            <a:chOff x="7896882" y="1357305"/>
            <a:chExt cx="1165765" cy="640276"/>
          </a:xfrm>
        </p:grpSpPr>
        <p:pic>
          <p:nvPicPr>
            <p:cNvPr id="46" name="Picture 45" descr="Convert Your Payback Points to InterMiles | InterMiles Conversion Partner">
              <a:extLst>
                <a:ext uri="{FF2B5EF4-FFF2-40B4-BE49-F238E27FC236}">
                  <a16:creationId xmlns:a16="http://schemas.microsoft.com/office/drawing/2014/main" id="{4520ECA6-9F8D-4447-A2B3-E478716AEF96}"/>
                </a:ext>
              </a:extLst>
            </p:cNvPr>
            <p:cNvPicPr>
              <a:picLocks noChangeAspect="1" noChangeArrowheads="1"/>
            </p:cNvPicPr>
            <p:nvPr/>
          </p:nvPicPr>
          <p:blipFill>
            <a:blip r:embed="rId26" cstate="screen">
              <a:extLst>
                <a:ext uri="{28A0092B-C50C-407E-A947-70E740481C1C}">
                  <a14:useLocalDpi xmlns:a14="http://schemas.microsoft.com/office/drawing/2010/main"/>
                </a:ext>
              </a:extLst>
            </a:blip>
            <a:srcRect/>
            <a:stretch>
              <a:fillRect/>
            </a:stretch>
          </p:blipFill>
          <p:spPr bwMode="auto">
            <a:xfrm>
              <a:off x="7896882" y="1357305"/>
              <a:ext cx="761480" cy="336908"/>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a:extLst>
                <a:ext uri="{FF2B5EF4-FFF2-40B4-BE49-F238E27FC236}">
                  <a16:creationId xmlns:a16="http://schemas.microsoft.com/office/drawing/2014/main" id="{DE1EEBB9-3BE0-442D-A210-147DA23276C2}"/>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8774775" y="1365813"/>
              <a:ext cx="287872" cy="344333"/>
            </a:xfrm>
            <a:prstGeom prst="rect">
              <a:avLst/>
            </a:prstGeom>
          </p:spPr>
        </p:pic>
        <p:pic>
          <p:nvPicPr>
            <p:cNvPr id="7" name="Picture 4" descr="Best Foreign Bank in KSA | Emirates NBD">
              <a:extLst>
                <a:ext uri="{FF2B5EF4-FFF2-40B4-BE49-F238E27FC236}">
                  <a16:creationId xmlns:a16="http://schemas.microsoft.com/office/drawing/2014/main" id="{B728F05E-A6BA-E07A-9636-E2DB25192EA9}"/>
                </a:ext>
              </a:extLst>
            </p:cNvPr>
            <p:cNvPicPr>
              <a:picLocks noChangeAspect="1" noChangeArrowheads="1"/>
            </p:cNvPicPr>
            <p:nvPr/>
          </p:nvPicPr>
          <p:blipFill>
            <a:blip r:embed="rId28" cstate="screen">
              <a:extLst>
                <a:ext uri="{28A0092B-C50C-407E-A947-70E740481C1C}">
                  <a14:useLocalDpi xmlns:a14="http://schemas.microsoft.com/office/drawing/2010/main"/>
                </a:ext>
              </a:extLst>
            </a:blip>
            <a:srcRect/>
            <a:stretch>
              <a:fillRect/>
            </a:stretch>
          </p:blipFill>
          <p:spPr bwMode="auto">
            <a:xfrm>
              <a:off x="7896882" y="1730329"/>
              <a:ext cx="1027893" cy="2672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9" name="Group 58">
            <a:extLst>
              <a:ext uri="{FF2B5EF4-FFF2-40B4-BE49-F238E27FC236}">
                <a16:creationId xmlns:a16="http://schemas.microsoft.com/office/drawing/2014/main" id="{905C7586-7DB1-AC5F-FF66-CC54402F1DA2}"/>
              </a:ext>
            </a:extLst>
          </p:cNvPr>
          <p:cNvGrpSpPr/>
          <p:nvPr/>
        </p:nvGrpSpPr>
        <p:grpSpPr>
          <a:xfrm>
            <a:off x="7920994" y="2623825"/>
            <a:ext cx="1348218" cy="648525"/>
            <a:chOff x="7866887" y="2320121"/>
            <a:chExt cx="1348218" cy="648525"/>
          </a:xfrm>
        </p:grpSpPr>
        <p:grpSp>
          <p:nvGrpSpPr>
            <p:cNvPr id="11" name="Group 10">
              <a:extLst>
                <a:ext uri="{FF2B5EF4-FFF2-40B4-BE49-F238E27FC236}">
                  <a16:creationId xmlns:a16="http://schemas.microsoft.com/office/drawing/2014/main" id="{2F4E6478-63DD-EABD-7588-0826F4B8EC22}"/>
                </a:ext>
              </a:extLst>
            </p:cNvPr>
            <p:cNvGrpSpPr/>
            <p:nvPr/>
          </p:nvGrpSpPr>
          <p:grpSpPr>
            <a:xfrm>
              <a:off x="7866887" y="2320121"/>
              <a:ext cx="1348218" cy="344111"/>
              <a:chOff x="7262631" y="2614304"/>
              <a:chExt cx="1348218" cy="344111"/>
            </a:xfrm>
          </p:grpSpPr>
          <p:pic>
            <p:nvPicPr>
              <p:cNvPr id="52" name="Picture 51">
                <a:extLst>
                  <a:ext uri="{FF2B5EF4-FFF2-40B4-BE49-F238E27FC236}">
                    <a16:creationId xmlns:a16="http://schemas.microsoft.com/office/drawing/2014/main" id="{610E4ECC-C916-4014-8FC1-5AFE0ADF4AF0}"/>
                  </a:ext>
                </a:extLst>
              </p:cNvPr>
              <p:cNvPicPr>
                <a:picLocks noChangeAspect="1"/>
              </p:cNvPicPr>
              <p:nvPr/>
            </p:nvPicPr>
            <p:blipFill>
              <a:blip r:embed="rId29" cstate="screen">
                <a:extLst>
                  <a:ext uri="{28A0092B-C50C-407E-A947-70E740481C1C}">
                    <a14:useLocalDpi xmlns:a14="http://schemas.microsoft.com/office/drawing/2010/main"/>
                  </a:ext>
                </a:extLst>
              </a:blip>
              <a:stretch>
                <a:fillRect/>
              </a:stretch>
            </p:blipFill>
            <p:spPr>
              <a:xfrm>
                <a:off x="7848544" y="2614304"/>
                <a:ext cx="762305" cy="344111"/>
              </a:xfrm>
              <a:prstGeom prst="rect">
                <a:avLst/>
              </a:prstGeom>
            </p:spPr>
          </p:pic>
          <p:pic>
            <p:nvPicPr>
              <p:cNvPr id="3" name="Picture 2">
                <a:extLst>
                  <a:ext uri="{FF2B5EF4-FFF2-40B4-BE49-F238E27FC236}">
                    <a16:creationId xmlns:a16="http://schemas.microsoft.com/office/drawing/2014/main" id="{56CF4169-1BBE-53E6-CEED-D4E53CA55968}"/>
                  </a:ext>
                </a:extLst>
              </p:cNvPr>
              <p:cNvPicPr>
                <a:picLocks noChangeAspect="1"/>
              </p:cNvPicPr>
              <p:nvPr/>
            </p:nvPicPr>
            <p:blipFill>
              <a:blip r:embed="rId30" cstate="screen">
                <a:extLst>
                  <a:ext uri="{28A0092B-C50C-407E-A947-70E740481C1C}">
                    <a14:useLocalDpi xmlns:a14="http://schemas.microsoft.com/office/drawing/2010/main"/>
                  </a:ext>
                </a:extLst>
              </a:blip>
              <a:stretch>
                <a:fillRect/>
              </a:stretch>
            </p:blipFill>
            <p:spPr>
              <a:xfrm>
                <a:off x="7262631" y="2617485"/>
                <a:ext cx="558101" cy="308753"/>
              </a:xfrm>
              <a:prstGeom prst="rect">
                <a:avLst/>
              </a:prstGeom>
            </p:spPr>
          </p:pic>
        </p:grpSp>
        <p:pic>
          <p:nvPicPr>
            <p:cNvPr id="10" name="Picture 4" descr="Best Foreign Bank in KSA | Emirates NBD">
              <a:extLst>
                <a:ext uri="{FF2B5EF4-FFF2-40B4-BE49-F238E27FC236}">
                  <a16:creationId xmlns:a16="http://schemas.microsoft.com/office/drawing/2014/main" id="{A5C5D7C8-3EBE-AA3F-468E-6C9D6FC68692}"/>
                </a:ext>
              </a:extLst>
            </p:cNvPr>
            <p:cNvPicPr>
              <a:picLocks noChangeAspect="1" noChangeArrowheads="1"/>
            </p:cNvPicPr>
            <p:nvPr/>
          </p:nvPicPr>
          <p:blipFill>
            <a:blip r:embed="rId28" cstate="screen">
              <a:extLst>
                <a:ext uri="{28A0092B-C50C-407E-A947-70E740481C1C}">
                  <a14:useLocalDpi xmlns:a14="http://schemas.microsoft.com/office/drawing/2010/main"/>
                </a:ext>
              </a:extLst>
            </a:blip>
            <a:srcRect/>
            <a:stretch>
              <a:fillRect/>
            </a:stretch>
          </p:blipFill>
          <p:spPr bwMode="auto">
            <a:xfrm>
              <a:off x="7880404" y="2701394"/>
              <a:ext cx="1027893" cy="267252"/>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5. Source">
            <a:extLst>
              <a:ext uri="{FF2B5EF4-FFF2-40B4-BE49-F238E27FC236}">
                <a16:creationId xmlns:a16="http://schemas.microsoft.com/office/drawing/2014/main" id="{E8B7B292-B2EC-EC80-D874-A1D8615E1068}"/>
              </a:ext>
            </a:extLst>
          </p:cNvPr>
          <p:cNvSpPr txBox="1"/>
          <p:nvPr>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Company website, Press search, Expert input</a:t>
            </a:r>
          </a:p>
        </p:txBody>
      </p:sp>
      <p:sp>
        <p:nvSpPr>
          <p:cNvPr id="19" name="TrackerNumBlue 35">
            <a:extLst>
              <a:ext uri="{FF2B5EF4-FFF2-40B4-BE49-F238E27FC236}">
                <a16:creationId xmlns:a16="http://schemas.microsoft.com/office/drawing/2014/main" id="{C38F146B-E70F-6519-4BC2-3A104BE062DD}"/>
              </a:ext>
            </a:extLst>
          </p:cNvPr>
          <p:cNvSpPr/>
          <p:nvPr>
            <p:custDataLst>
              <p:tags r:id="rId9"/>
            </p:custDataLst>
          </p:nvPr>
        </p:nvSpPr>
        <p:spPr>
          <a:xfrm>
            <a:off x="554735" y="165068"/>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2</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spTree>
    <p:extLst>
      <p:ext uri="{BB962C8B-B14F-4D97-AF65-F5344CB8AC3E}">
        <p14:creationId xmlns:p14="http://schemas.microsoft.com/office/powerpoint/2010/main" val="4252775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EC2AE06A-3835-4D1B-A328-7849DEF50492}"/>
              </a:ext>
            </a:extLst>
          </p:cNvPr>
          <p:cNvGraphicFramePr>
            <a:graphicFrameLocks noChangeAspect="1"/>
          </p:cNvGraphicFramePr>
          <p:nvPr>
            <p:custDataLst>
              <p:tags r:id="rId1"/>
            </p:custDataLst>
            <p:extLst>
              <p:ext uri="{D42A27DB-BD31-4B8C-83A1-F6EECF244321}">
                <p14:modId xmlns:p14="http://schemas.microsoft.com/office/powerpoint/2010/main" val="30083263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04" imgH="405" progId="TCLayout.ActiveDocument.1">
                  <p:embed/>
                </p:oleObj>
              </mc:Choice>
              <mc:Fallback>
                <p:oleObj name="think-cell Slide" r:id="rId15" imgW="404" imgH="405" progId="TCLayout.ActiveDocument.1">
                  <p:embed/>
                  <p:pic>
                    <p:nvPicPr>
                      <p:cNvPr id="6" name="Object 6" hidden="1">
                        <a:extLst>
                          <a:ext uri="{FF2B5EF4-FFF2-40B4-BE49-F238E27FC236}">
                            <a16:creationId xmlns:a16="http://schemas.microsoft.com/office/drawing/2014/main" id="{EC2AE06A-3835-4D1B-A328-7849DEF50492}"/>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8A2099D4-60AC-490D-90C8-149CB25DFFB1}"/>
              </a:ext>
            </a:extLst>
          </p:cNvPr>
          <p:cNvSpPr>
            <a:spLocks noGrp="1"/>
          </p:cNvSpPr>
          <p:nvPr>
            <p:ph type="title"/>
            <p:custDataLst>
              <p:tags r:id="rId2"/>
            </p:custDataLst>
          </p:nvPr>
        </p:nvSpPr>
        <p:spPr>
          <a:xfrm>
            <a:off x="1109472" y="91312"/>
            <a:ext cx="11082528" cy="1073371"/>
          </a:xfrm>
          <a:noFill/>
          <a:ln/>
          <a:extLst>
            <a:ext uri="{909E8E84-426E-40DD-AFC4-6F175D3DCCD1}">
              <a14:hiddenFill xmlns:a14="http://schemas.microsoft.com/office/drawing/2010/main">
                <a:solidFill>
                  <a:srgbClr val="FFFFFF"/>
                </a:solidFill>
              </a14:hiddenFill>
            </a:ext>
          </a:extLst>
        </p:spPr>
        <p:txBody>
          <a:bodyPr vert="horz" wrap="square" anchor="b" anchorCtr="0">
            <a:noAutofit/>
          </a:bodyPr>
          <a:lstStyle/>
          <a:p>
            <a:r>
              <a:rPr lang="en-US" dirty="0"/>
              <a:t>DBS’ iWealth</a:t>
            </a:r>
            <a:r>
              <a:rPr lang="en-US" baseline="30000" dirty="0"/>
              <a:t>1</a:t>
            </a:r>
            <a:r>
              <a:rPr lang="en-US" dirty="0"/>
              <a:t> app is amongst the best customer </a:t>
            </a:r>
            <a:br>
              <a:rPr lang="en-US" dirty="0"/>
            </a:br>
            <a:r>
              <a:rPr lang="en-US" dirty="0"/>
              <a:t>engagement apps that provide customers a differentiated </a:t>
            </a:r>
            <a:br>
              <a:rPr lang="en-US" dirty="0"/>
            </a:br>
            <a:r>
              <a:rPr lang="en-US" dirty="0"/>
              <a:t>and integrated view on their investment portfolios </a:t>
            </a:r>
          </a:p>
        </p:txBody>
      </p:sp>
      <p:sp>
        <p:nvSpPr>
          <p:cNvPr id="10" name="1. On-page tracker">
            <a:extLst>
              <a:ext uri="{FF2B5EF4-FFF2-40B4-BE49-F238E27FC236}">
                <a16:creationId xmlns:a16="http://schemas.microsoft.com/office/drawing/2014/main" id="{9C295DB0-DFB4-A83E-6A86-18507C822807}"/>
              </a:ext>
            </a:extLst>
          </p:cNvPr>
          <p:cNvSpPr>
            <a:spLocks noGrp="1"/>
          </p:cNvSpPr>
          <p:nvPr>
            <p:ph type="body" sz="quarter" idx="17"/>
            <p:custDataLst>
              <p:tags r:id="rId3"/>
            </p:custDataLst>
          </p:nvPr>
        </p:nvSpPr>
        <p:spPr/>
        <p:txBody>
          <a:bodyPr/>
          <a:lstStyle/>
          <a:p>
            <a:endParaRPr lang="en-US"/>
          </a:p>
        </p:txBody>
      </p:sp>
      <p:pic>
        <p:nvPicPr>
          <p:cNvPr id="9" name="Picture 8">
            <a:extLst>
              <a:ext uri="{FF2B5EF4-FFF2-40B4-BE49-F238E27FC236}">
                <a16:creationId xmlns:a16="http://schemas.microsoft.com/office/drawing/2014/main" id="{4B711629-B7B9-4DB4-BD3A-1207FCEC5A66}"/>
              </a:ext>
            </a:extLst>
          </p:cNvPr>
          <p:cNvPicPr>
            <a:picLocks noChangeAspect="1"/>
          </p:cNvPicPr>
          <p:nvPr/>
        </p:nvPicPr>
        <p:blipFill>
          <a:blip r:embed="rId17"/>
          <a:stretch>
            <a:fillRect/>
          </a:stretch>
        </p:blipFill>
        <p:spPr>
          <a:xfrm>
            <a:off x="10626952" y="810070"/>
            <a:ext cx="1010312" cy="354613"/>
          </a:xfrm>
          <a:prstGeom prst="rect">
            <a:avLst/>
          </a:prstGeom>
        </p:spPr>
      </p:pic>
      <p:sp>
        <p:nvSpPr>
          <p:cNvPr id="3" name="5. Source">
            <a:extLst>
              <a:ext uri="{FF2B5EF4-FFF2-40B4-BE49-F238E27FC236}">
                <a16:creationId xmlns:a16="http://schemas.microsoft.com/office/drawing/2014/main" id="{2F8D1341-2F76-39DB-9DC1-ED007D263FFE}"/>
              </a:ext>
            </a:extLst>
          </p:cNvPr>
          <p:cNvSpPr txBox="1"/>
          <p:nvPr>
            <p:custDataLst>
              <p:tags r:id="rId4"/>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R="0" lvl="0"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trike="noStrike" kern="1200" spc="0" normalizeH="0" noProof="0">
                <a:ln>
                  <a:noFill/>
                </a:ln>
                <a:effectLst/>
                <a:uLnTx/>
                <a:uFillTx/>
                <a:ea typeface="+mn-ea"/>
                <a:cs typeface="Arial" panose="020B0604020202020204" pitchFamily="34" charset="0"/>
              </a:rPr>
              <a:t>Source: Company website</a:t>
            </a:r>
          </a:p>
        </p:txBody>
      </p:sp>
      <p:grpSp>
        <p:nvGrpSpPr>
          <p:cNvPr id="75" name="Group 74">
            <a:extLst>
              <a:ext uri="{FF2B5EF4-FFF2-40B4-BE49-F238E27FC236}">
                <a16:creationId xmlns:a16="http://schemas.microsoft.com/office/drawing/2014/main" id="{A62C3203-06DD-4488-AEDA-E9A458681BD8}"/>
              </a:ext>
            </a:extLst>
          </p:cNvPr>
          <p:cNvGrpSpPr/>
          <p:nvPr/>
        </p:nvGrpSpPr>
        <p:grpSpPr>
          <a:xfrm>
            <a:off x="9610041" y="2277116"/>
            <a:ext cx="1737908" cy="2628401"/>
            <a:chOff x="9610041" y="2205545"/>
            <a:chExt cx="1737908" cy="2628401"/>
          </a:xfrm>
        </p:grpSpPr>
        <p:pic>
          <p:nvPicPr>
            <p:cNvPr id="65" name="Picture 64">
              <a:extLst>
                <a:ext uri="{FF2B5EF4-FFF2-40B4-BE49-F238E27FC236}">
                  <a16:creationId xmlns:a16="http://schemas.microsoft.com/office/drawing/2014/main" id="{FC1D1750-1AC3-685C-963C-D01C32453A31}"/>
                </a:ext>
              </a:extLst>
            </p:cNvPr>
            <p:cNvPicPr>
              <a:picLocks/>
            </p:cNvPicPr>
            <p:nvPr/>
          </p:nvPicPr>
          <p:blipFill>
            <a:blip r:embed="rId18" cstate="screen">
              <a:extLst>
                <a:ext uri="{28A0092B-C50C-407E-A947-70E740481C1C}">
                  <a14:useLocalDpi xmlns:a14="http://schemas.microsoft.com/office/drawing/2010/main"/>
                </a:ext>
              </a:extLst>
            </a:blip>
            <a:stretch>
              <a:fillRect/>
            </a:stretch>
          </p:blipFill>
          <p:spPr>
            <a:xfrm>
              <a:off x="9610041" y="2205545"/>
              <a:ext cx="1737908" cy="1220696"/>
            </a:xfrm>
            <a:prstGeom prst="rect">
              <a:avLst/>
            </a:prstGeom>
            <a:ln>
              <a:solidFill>
                <a:schemeClr val="tx1"/>
              </a:solidFill>
            </a:ln>
          </p:spPr>
        </p:pic>
        <p:pic>
          <p:nvPicPr>
            <p:cNvPr id="63" name="Picture 62">
              <a:extLst>
                <a:ext uri="{FF2B5EF4-FFF2-40B4-BE49-F238E27FC236}">
                  <a16:creationId xmlns:a16="http://schemas.microsoft.com/office/drawing/2014/main" id="{91519337-7381-112A-C924-580D5B21A2AE}"/>
                </a:ext>
              </a:extLst>
            </p:cNvPr>
            <p:cNvPicPr>
              <a:picLocks/>
            </p:cNvPicPr>
            <p:nvPr/>
          </p:nvPicPr>
          <p:blipFill>
            <a:blip r:embed="rId19" cstate="screen">
              <a:extLst>
                <a:ext uri="{28A0092B-C50C-407E-A947-70E740481C1C}">
                  <a14:useLocalDpi xmlns:a14="http://schemas.microsoft.com/office/drawing/2010/main"/>
                </a:ext>
              </a:extLst>
            </a:blip>
            <a:stretch>
              <a:fillRect/>
            </a:stretch>
          </p:blipFill>
          <p:spPr>
            <a:xfrm>
              <a:off x="9610041" y="3613250"/>
              <a:ext cx="1737908" cy="1220696"/>
            </a:xfrm>
            <a:prstGeom prst="rect">
              <a:avLst/>
            </a:prstGeom>
            <a:ln>
              <a:solidFill>
                <a:schemeClr val="tx1"/>
              </a:solidFill>
            </a:ln>
          </p:spPr>
        </p:pic>
      </p:grpSp>
      <p:pic>
        <p:nvPicPr>
          <p:cNvPr id="21" name="CustomIcon">
            <a:extLst>
              <a:ext uri="{FF2B5EF4-FFF2-40B4-BE49-F238E27FC236}">
                <a16:creationId xmlns:a16="http://schemas.microsoft.com/office/drawing/2014/main" id="{1466C561-B264-4946-8EC9-6CEC8AEDF13D}"/>
              </a:ext>
            </a:extLst>
          </p:cNvPr>
          <p:cNvPicPr>
            <a:picLocks/>
          </p:cNvPicPr>
          <p:nvPr>
            <p:custDataLst>
              <p:tags r:id="rId5"/>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126815" y="1861348"/>
            <a:ext cx="288953" cy="296932"/>
          </a:xfrm>
          <a:prstGeom prst="rect">
            <a:avLst/>
          </a:prstGeom>
        </p:spPr>
      </p:pic>
      <p:pic>
        <p:nvPicPr>
          <p:cNvPr id="29" name="CustomIcon">
            <a:extLst>
              <a:ext uri="{FF2B5EF4-FFF2-40B4-BE49-F238E27FC236}">
                <a16:creationId xmlns:a16="http://schemas.microsoft.com/office/drawing/2014/main" id="{7C3AF77D-F930-4203-9BE4-8FBEE50780B7}"/>
              </a:ext>
            </a:extLst>
          </p:cNvPr>
          <p:cNvPicPr>
            <a:picLocks/>
          </p:cNvPicPr>
          <p:nvPr>
            <p:custDataLst>
              <p:tags r:id="rId6"/>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372536" y="1861348"/>
            <a:ext cx="288953" cy="296932"/>
          </a:xfrm>
          <a:prstGeom prst="rect">
            <a:avLst/>
          </a:prstGeom>
        </p:spPr>
      </p:pic>
      <p:pic>
        <p:nvPicPr>
          <p:cNvPr id="36" name="CustomIcon">
            <a:extLst>
              <a:ext uri="{FF2B5EF4-FFF2-40B4-BE49-F238E27FC236}">
                <a16:creationId xmlns:a16="http://schemas.microsoft.com/office/drawing/2014/main" id="{30EE7287-BC47-4768-8876-DE531918AFB6}"/>
              </a:ext>
            </a:extLst>
          </p:cNvPr>
          <p:cNvPicPr>
            <a:picLocks/>
          </p:cNvPicPr>
          <p:nvPr>
            <p:custDataLst>
              <p:tags r:id="rId7"/>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618257" y="1861348"/>
            <a:ext cx="288953" cy="296932"/>
          </a:xfrm>
          <a:prstGeom prst="rect">
            <a:avLst/>
          </a:prstGeom>
        </p:spPr>
      </p:pic>
      <p:sp>
        <p:nvSpPr>
          <p:cNvPr id="15" name="TextBox 14">
            <a:extLst>
              <a:ext uri="{FF2B5EF4-FFF2-40B4-BE49-F238E27FC236}">
                <a16:creationId xmlns:a16="http://schemas.microsoft.com/office/drawing/2014/main" id="{7AE02A03-1BA8-4950-98B6-8C7E4E5158B2}"/>
              </a:ext>
            </a:extLst>
          </p:cNvPr>
          <p:cNvSpPr txBox="1">
            <a:spLocks/>
          </p:cNvSpPr>
          <p:nvPr/>
        </p:nvSpPr>
        <p:spPr>
          <a:xfrm>
            <a:off x="2800458" y="5006975"/>
            <a:ext cx="2070345"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Current Financial health assessment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with savings / investment goal setting tool and life goal product recommendations</a:t>
            </a:r>
            <a:endParaRPr kumimoji="0" lang="en-GB" sz="1200" b="0" i="0" u="none" strike="noStrike" kern="1200" cap="none" spc="0" normalizeH="0" baseline="0" noProof="0">
              <a:ln>
                <a:noFill/>
              </a:ln>
              <a:solidFill>
                <a:srgbClr val="000000"/>
              </a:solidFill>
              <a:effectLst/>
              <a:uLnTx/>
              <a:uFillTx/>
              <a:ea typeface="+mn-ea"/>
              <a:cs typeface="Arial" panose="020B0604020202020204" pitchFamily="34" charset="0"/>
            </a:endParaRPr>
          </a:p>
        </p:txBody>
      </p:sp>
      <p:pic>
        <p:nvPicPr>
          <p:cNvPr id="13" name="CustomIcon">
            <a:extLst>
              <a:ext uri="{FF2B5EF4-FFF2-40B4-BE49-F238E27FC236}">
                <a16:creationId xmlns:a16="http://schemas.microsoft.com/office/drawing/2014/main" id="{181CAA8D-D16B-4011-835E-07A56DE24DA2}"/>
              </a:ext>
            </a:extLst>
          </p:cNvPr>
          <p:cNvPicPr>
            <a:picLocks/>
          </p:cNvPicPr>
          <p:nvPr>
            <p:custDataLst>
              <p:tags r:id="rId8"/>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2881093" y="1861348"/>
            <a:ext cx="288953" cy="296932"/>
          </a:xfrm>
          <a:prstGeom prst="rect">
            <a:avLst/>
          </a:prstGeom>
        </p:spPr>
      </p:pic>
      <p:sp>
        <p:nvSpPr>
          <p:cNvPr id="23" name="TextBox 22">
            <a:extLst>
              <a:ext uri="{FF2B5EF4-FFF2-40B4-BE49-F238E27FC236}">
                <a16:creationId xmlns:a16="http://schemas.microsoft.com/office/drawing/2014/main" id="{7E197797-504C-47C7-BB6F-C9194EF686B9}"/>
              </a:ext>
            </a:extLst>
          </p:cNvPr>
          <p:cNvSpPr txBox="1">
            <a:spLocks/>
          </p:cNvSpPr>
          <p:nvPr/>
        </p:nvSpPr>
        <p:spPr>
          <a:xfrm>
            <a:off x="5046180" y="5006975"/>
            <a:ext cx="2070345" cy="10772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Investment tool allowing equity investments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across 7 markets in 12 currencies</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Robo-advisory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with DPM</a:t>
            </a:r>
            <a:r>
              <a:rPr kumimoji="0" lang="en-US" sz="1200" b="0" i="0" u="none" strike="noStrike" kern="1200" cap="none" spc="0" normalizeH="0" baseline="30000" noProof="0">
                <a:ln>
                  <a:noFill/>
                </a:ln>
                <a:solidFill>
                  <a:srgbClr val="000000"/>
                </a:solidFill>
                <a:effectLst/>
                <a:uLnTx/>
                <a:uFillTx/>
                <a:ea typeface="+mn-ea"/>
                <a:cs typeface="Arial" panose="020B0604020202020204" pitchFamily="34" charset="0"/>
              </a:rPr>
              <a:t>2</a:t>
            </a:r>
            <a:endPar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endParaRP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GB" sz="1200" b="1" i="0" u="none" strike="noStrike" kern="1200" cap="none" spc="0" normalizeH="0" baseline="0" noProof="0">
                <a:ln>
                  <a:noFill/>
                </a:ln>
                <a:solidFill>
                  <a:srgbClr val="000000"/>
                </a:solidFill>
                <a:effectLst/>
                <a:uLnTx/>
                <a:uFillTx/>
                <a:ea typeface="+mn-ea"/>
                <a:cs typeface="Arial" panose="020B0604020202020204" pitchFamily="34" charset="0"/>
              </a:rPr>
              <a:t>24/7 AI Chatbot</a:t>
            </a:r>
          </a:p>
        </p:txBody>
      </p:sp>
      <p:sp>
        <p:nvSpPr>
          <p:cNvPr id="31" name="TextBox 30">
            <a:extLst>
              <a:ext uri="{FF2B5EF4-FFF2-40B4-BE49-F238E27FC236}">
                <a16:creationId xmlns:a16="http://schemas.microsoft.com/office/drawing/2014/main" id="{DD2495B0-B95A-462F-8D5F-E98B6392F3BD}"/>
              </a:ext>
            </a:extLst>
          </p:cNvPr>
          <p:cNvSpPr txBox="1">
            <a:spLocks/>
          </p:cNvSpPr>
          <p:nvPr/>
        </p:nvSpPr>
        <p:spPr>
          <a:xfrm>
            <a:off x="7291901" y="5006975"/>
            <a:ext cx="2070345" cy="55399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Wealth Chat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allows instant access to dedicated RM via WhatsApp and WeChat </a:t>
            </a:r>
          </a:p>
        </p:txBody>
      </p:sp>
      <p:sp>
        <p:nvSpPr>
          <p:cNvPr id="38" name="TextBox 37">
            <a:extLst>
              <a:ext uri="{FF2B5EF4-FFF2-40B4-BE49-F238E27FC236}">
                <a16:creationId xmlns:a16="http://schemas.microsoft.com/office/drawing/2014/main" id="{A1B29F43-1DA8-46EC-8C5F-630DD55496EB}"/>
              </a:ext>
            </a:extLst>
          </p:cNvPr>
          <p:cNvSpPr txBox="1">
            <a:spLocks/>
          </p:cNvSpPr>
          <p:nvPr/>
        </p:nvSpPr>
        <p:spPr>
          <a:xfrm>
            <a:off x="9537621" y="5006975"/>
            <a:ext cx="2070335"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Integrated portfolio view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of</a:t>
            </a: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all banking, trading and wealth mgmt. portfolios by geography, currency, sector or asset class</a:t>
            </a:r>
          </a:p>
        </p:txBody>
      </p:sp>
      <p:sp>
        <p:nvSpPr>
          <p:cNvPr id="40" name="TextBox 39">
            <a:extLst>
              <a:ext uri="{FF2B5EF4-FFF2-40B4-BE49-F238E27FC236}">
                <a16:creationId xmlns:a16="http://schemas.microsoft.com/office/drawing/2014/main" id="{8AC4B62E-9320-4542-8677-D87650F2B3D7}"/>
              </a:ext>
            </a:extLst>
          </p:cNvPr>
          <p:cNvSpPr txBox="1">
            <a:spLocks/>
          </p:cNvSpPr>
          <p:nvPr/>
        </p:nvSpPr>
        <p:spPr>
          <a:xfrm>
            <a:off x="554737" y="5006975"/>
            <a:ext cx="2070345" cy="73866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ea typeface="+mn-ea"/>
                <a:cs typeface="Arial" panose="020B0604020202020204" pitchFamily="34" charset="0"/>
              </a:rPr>
              <a:t>Home view </a:t>
            </a:r>
            <a:r>
              <a:rPr kumimoji="0" lang="en-US" sz="1200" b="0" i="0" u="none" strike="noStrike" kern="1200" cap="none" spc="0" normalizeH="0" baseline="0" noProof="0">
                <a:ln>
                  <a:noFill/>
                </a:ln>
                <a:solidFill>
                  <a:srgbClr val="000000"/>
                </a:solidFill>
                <a:effectLst/>
                <a:uLnTx/>
                <a:uFillTx/>
                <a:ea typeface="+mn-ea"/>
                <a:cs typeface="Arial" panose="020B0604020202020204" pitchFamily="34" charset="0"/>
              </a:rPr>
              <a:t>with updates on global and regional markets with specific insights on client’s current holdings</a:t>
            </a:r>
            <a:endParaRPr kumimoji="0" lang="en-GB" sz="1200" b="0" i="0" u="none" strike="noStrike" kern="1200" cap="none" spc="0" normalizeH="0" baseline="0" noProof="0">
              <a:ln>
                <a:noFill/>
              </a:ln>
              <a:solidFill>
                <a:srgbClr val="000000"/>
              </a:solidFill>
              <a:effectLst/>
              <a:uLnTx/>
              <a:uFillTx/>
              <a:ea typeface="+mn-ea"/>
              <a:cs typeface="Arial" panose="020B0604020202020204" pitchFamily="34" charset="0"/>
            </a:endParaRPr>
          </a:p>
        </p:txBody>
      </p:sp>
      <p:grpSp>
        <p:nvGrpSpPr>
          <p:cNvPr id="43" name="Group 42">
            <a:extLst>
              <a:ext uri="{FF2B5EF4-FFF2-40B4-BE49-F238E27FC236}">
                <a16:creationId xmlns:a16="http://schemas.microsoft.com/office/drawing/2014/main" id="{BCDDFE92-9236-47A2-9A1B-CCE9B0DADBBF}"/>
              </a:ext>
            </a:extLst>
          </p:cNvPr>
          <p:cNvGrpSpPr>
            <a:grpSpLocks/>
          </p:cNvGrpSpPr>
          <p:nvPr/>
        </p:nvGrpSpPr>
        <p:grpSpPr>
          <a:xfrm>
            <a:off x="635372" y="1861348"/>
            <a:ext cx="288953" cy="296932"/>
            <a:chOff x="354605" y="2207397"/>
            <a:chExt cx="290915" cy="296932"/>
          </a:xfrm>
        </p:grpSpPr>
        <p:pic>
          <p:nvPicPr>
            <p:cNvPr id="44" name="CustomIcon">
              <a:extLst>
                <a:ext uri="{FF2B5EF4-FFF2-40B4-BE49-F238E27FC236}">
                  <a16:creationId xmlns:a16="http://schemas.microsoft.com/office/drawing/2014/main" id="{2B2933A1-792C-4216-A955-920AC9BCBFBE}"/>
                </a:ext>
              </a:extLst>
            </p:cNvPr>
            <p:cNvPicPr>
              <a:picLocks noChangeAspect="1"/>
            </p:cNvPicPr>
            <p:nvPr>
              <p:custDataLst>
                <p:tags r:id="rId11"/>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444506" y="2267728"/>
              <a:ext cx="111114" cy="113412"/>
            </a:xfrm>
            <a:prstGeom prst="rect">
              <a:avLst/>
            </a:prstGeom>
          </p:spPr>
        </p:pic>
        <p:pic>
          <p:nvPicPr>
            <p:cNvPr id="45" name="CustomIcon">
              <a:extLst>
                <a:ext uri="{FF2B5EF4-FFF2-40B4-BE49-F238E27FC236}">
                  <a16:creationId xmlns:a16="http://schemas.microsoft.com/office/drawing/2014/main" id="{C4AA4F9D-310D-4B65-AF8D-DEA91CB09A77}"/>
                </a:ext>
              </a:extLst>
            </p:cNvPr>
            <p:cNvPicPr>
              <a:picLocks noChangeAspect="1"/>
            </p:cNvPicPr>
            <p:nvPr>
              <p:custDataLst>
                <p:tags r:id="rId12"/>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354605" y="2207397"/>
              <a:ext cx="290915" cy="296932"/>
            </a:xfrm>
            <a:prstGeom prst="rect">
              <a:avLst/>
            </a:prstGeom>
          </p:spPr>
        </p:pic>
      </p:grpSp>
      <p:cxnSp>
        <p:nvCxnSpPr>
          <p:cNvPr id="47" name="Straight Connector 46">
            <a:extLst>
              <a:ext uri="{FF2B5EF4-FFF2-40B4-BE49-F238E27FC236}">
                <a16:creationId xmlns:a16="http://schemas.microsoft.com/office/drawing/2014/main" id="{79A38CD8-D3C5-4107-991D-D85296C7D53C}"/>
              </a:ext>
            </a:extLst>
          </p:cNvPr>
          <p:cNvCxnSpPr>
            <a:cxnSpLocks/>
          </p:cNvCxnSpPr>
          <p:nvPr/>
        </p:nvCxnSpPr>
        <p:spPr>
          <a:xfrm>
            <a:off x="2712769" y="1727393"/>
            <a:ext cx="0" cy="434410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308C20D-05F6-4139-AF40-FEFDEC7F0AB9}"/>
              </a:ext>
            </a:extLst>
          </p:cNvPr>
          <p:cNvCxnSpPr>
            <a:cxnSpLocks/>
          </p:cNvCxnSpPr>
          <p:nvPr/>
        </p:nvCxnSpPr>
        <p:spPr>
          <a:xfrm>
            <a:off x="4958489" y="1727393"/>
            <a:ext cx="0" cy="434410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73A3813-6B49-4CF1-B01C-F20137818370}"/>
              </a:ext>
            </a:extLst>
          </p:cNvPr>
          <p:cNvCxnSpPr>
            <a:cxnSpLocks/>
          </p:cNvCxnSpPr>
          <p:nvPr/>
        </p:nvCxnSpPr>
        <p:spPr>
          <a:xfrm>
            <a:off x="7204210" y="1727393"/>
            <a:ext cx="0" cy="434410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806DA92-610D-4226-8286-83C69DDEC373}"/>
              </a:ext>
            </a:extLst>
          </p:cNvPr>
          <p:cNvCxnSpPr>
            <a:cxnSpLocks/>
          </p:cNvCxnSpPr>
          <p:nvPr/>
        </p:nvCxnSpPr>
        <p:spPr>
          <a:xfrm>
            <a:off x="9449930" y="1727393"/>
            <a:ext cx="0" cy="4344100"/>
          </a:xfrm>
          <a:prstGeom prst="line">
            <a:avLst/>
          </a:prstGeom>
          <a:ln w="6350">
            <a:solidFill>
              <a:srgbClr val="B3B3B3"/>
            </a:solidFill>
            <a:prstDash val="solid"/>
          </a:ln>
        </p:spPr>
        <p:style>
          <a:lnRef idx="1">
            <a:schemeClr val="accent1"/>
          </a:lnRef>
          <a:fillRef idx="0">
            <a:schemeClr val="accent1"/>
          </a:fillRef>
          <a:effectRef idx="0">
            <a:schemeClr val="accent1"/>
          </a:effectRef>
          <a:fontRef idx="minor">
            <a:schemeClr val="tx1"/>
          </a:fontRef>
        </p:style>
      </p:cxnSp>
      <p:pic>
        <p:nvPicPr>
          <p:cNvPr id="53" name="Picture 52">
            <a:extLst>
              <a:ext uri="{FF2B5EF4-FFF2-40B4-BE49-F238E27FC236}">
                <a16:creationId xmlns:a16="http://schemas.microsoft.com/office/drawing/2014/main" id="{5B4C6C67-4B6C-F6CA-3154-30D10C6C75CC}"/>
              </a:ext>
            </a:extLst>
          </p:cNvPr>
          <p:cNvPicPr>
            <a:picLocks/>
          </p:cNvPicPr>
          <p:nvPr/>
        </p:nvPicPr>
        <p:blipFill rotWithShape="1">
          <a:blip r:embed="rId26" cstate="screen">
            <a:extLst>
              <a:ext uri="{28A0092B-C50C-407E-A947-70E740481C1C}">
                <a14:useLocalDpi xmlns:a14="http://schemas.microsoft.com/office/drawing/2010/main"/>
              </a:ext>
            </a:extLst>
          </a:blip>
          <a:srcRect/>
          <a:stretch/>
        </p:blipFill>
        <p:spPr>
          <a:xfrm>
            <a:off x="890413" y="2233010"/>
            <a:ext cx="1347511" cy="2716612"/>
          </a:xfrm>
          <a:prstGeom prst="roundRect">
            <a:avLst>
              <a:gd name="adj" fmla="val 11320"/>
            </a:avLst>
          </a:prstGeom>
        </p:spPr>
      </p:pic>
      <p:pic>
        <p:nvPicPr>
          <p:cNvPr id="55" name="Picture 54">
            <a:extLst>
              <a:ext uri="{FF2B5EF4-FFF2-40B4-BE49-F238E27FC236}">
                <a16:creationId xmlns:a16="http://schemas.microsoft.com/office/drawing/2014/main" id="{5A6BFC62-B20D-C057-1470-6E6EAB592093}"/>
              </a:ext>
            </a:extLst>
          </p:cNvPr>
          <p:cNvPicPr>
            <a:picLocks/>
          </p:cNvPicPr>
          <p:nvPr/>
        </p:nvPicPr>
        <p:blipFill>
          <a:blip r:embed="rId27"/>
          <a:stretch>
            <a:fillRect/>
          </a:stretch>
        </p:blipFill>
        <p:spPr>
          <a:xfrm>
            <a:off x="3171018" y="2233010"/>
            <a:ext cx="1347511" cy="2716612"/>
          </a:xfrm>
          <a:prstGeom prst="roundRect">
            <a:avLst>
              <a:gd name="adj" fmla="val 11320"/>
            </a:avLst>
          </a:prstGeom>
        </p:spPr>
      </p:pic>
      <p:grpSp>
        <p:nvGrpSpPr>
          <p:cNvPr id="74" name="Group 73">
            <a:extLst>
              <a:ext uri="{FF2B5EF4-FFF2-40B4-BE49-F238E27FC236}">
                <a16:creationId xmlns:a16="http://schemas.microsoft.com/office/drawing/2014/main" id="{36954C74-6129-56CE-7A32-FE95771B6BDA}"/>
              </a:ext>
            </a:extLst>
          </p:cNvPr>
          <p:cNvGrpSpPr/>
          <p:nvPr/>
        </p:nvGrpSpPr>
        <p:grpSpPr>
          <a:xfrm>
            <a:off x="7332408" y="2301999"/>
            <a:ext cx="1984898" cy="2578635"/>
            <a:chOff x="7332408" y="2176478"/>
            <a:chExt cx="1984898" cy="2578635"/>
          </a:xfrm>
        </p:grpSpPr>
        <p:pic>
          <p:nvPicPr>
            <p:cNvPr id="57" name="Picture 56">
              <a:extLst>
                <a:ext uri="{FF2B5EF4-FFF2-40B4-BE49-F238E27FC236}">
                  <a16:creationId xmlns:a16="http://schemas.microsoft.com/office/drawing/2014/main" id="{01B56549-B18B-CBFA-24DB-1018DF2F2A5E}"/>
                </a:ext>
              </a:extLst>
            </p:cNvPr>
            <p:cNvPicPr>
              <a:picLocks/>
            </p:cNvPicPr>
            <p:nvPr/>
          </p:nvPicPr>
          <p:blipFill>
            <a:blip r:embed="rId28" cstate="screen">
              <a:extLst>
                <a:ext uri="{28A0092B-C50C-407E-A947-70E740481C1C}">
                  <a14:useLocalDpi xmlns:a14="http://schemas.microsoft.com/office/drawing/2010/main"/>
                </a:ext>
              </a:extLst>
            </a:blip>
            <a:stretch>
              <a:fillRect/>
            </a:stretch>
          </p:blipFill>
          <p:spPr>
            <a:xfrm>
              <a:off x="7332408" y="2176478"/>
              <a:ext cx="998790" cy="1885289"/>
            </a:xfrm>
            <a:prstGeom prst="roundRect">
              <a:avLst>
                <a:gd name="adj" fmla="val 11320"/>
              </a:avLst>
            </a:prstGeom>
          </p:spPr>
        </p:pic>
        <p:pic>
          <p:nvPicPr>
            <p:cNvPr id="59" name="Picture 58">
              <a:extLst>
                <a:ext uri="{FF2B5EF4-FFF2-40B4-BE49-F238E27FC236}">
                  <a16:creationId xmlns:a16="http://schemas.microsoft.com/office/drawing/2014/main" id="{D640E21A-BF21-CEF4-29ED-B87B7353D952}"/>
                </a:ext>
              </a:extLst>
            </p:cNvPr>
            <p:cNvPicPr>
              <a:picLocks/>
            </p:cNvPicPr>
            <p:nvPr/>
          </p:nvPicPr>
          <p:blipFill>
            <a:blip r:embed="rId29" cstate="screen">
              <a:extLst>
                <a:ext uri="{28A0092B-C50C-407E-A947-70E740481C1C}">
                  <a14:useLocalDpi xmlns:a14="http://schemas.microsoft.com/office/drawing/2010/main"/>
                </a:ext>
              </a:extLst>
            </a:blip>
            <a:stretch>
              <a:fillRect/>
            </a:stretch>
          </p:blipFill>
          <p:spPr>
            <a:xfrm>
              <a:off x="8318516" y="2869824"/>
              <a:ext cx="998790" cy="1885289"/>
            </a:xfrm>
            <a:prstGeom prst="rect">
              <a:avLst/>
            </a:prstGeom>
          </p:spPr>
        </p:pic>
      </p:grpSp>
      <p:grpSp>
        <p:nvGrpSpPr>
          <p:cNvPr id="73" name="Group 72">
            <a:extLst>
              <a:ext uri="{FF2B5EF4-FFF2-40B4-BE49-F238E27FC236}">
                <a16:creationId xmlns:a16="http://schemas.microsoft.com/office/drawing/2014/main" id="{20712873-1352-CD69-708C-D0CFCD68A69E}"/>
              </a:ext>
            </a:extLst>
          </p:cNvPr>
          <p:cNvGrpSpPr/>
          <p:nvPr/>
        </p:nvGrpSpPr>
        <p:grpSpPr>
          <a:xfrm>
            <a:off x="5223397" y="2277116"/>
            <a:ext cx="1737908" cy="2628401"/>
            <a:chOff x="5223397" y="2205545"/>
            <a:chExt cx="1737908" cy="2628401"/>
          </a:xfrm>
        </p:grpSpPr>
        <p:pic>
          <p:nvPicPr>
            <p:cNvPr id="61" name="Picture 60">
              <a:extLst>
                <a:ext uri="{FF2B5EF4-FFF2-40B4-BE49-F238E27FC236}">
                  <a16:creationId xmlns:a16="http://schemas.microsoft.com/office/drawing/2014/main" id="{263845D7-BE55-C337-6B8E-A4282DF4D2E3}"/>
                </a:ext>
              </a:extLst>
            </p:cNvPr>
            <p:cNvPicPr>
              <a:picLocks/>
            </p:cNvPicPr>
            <p:nvPr/>
          </p:nvPicPr>
          <p:blipFill>
            <a:blip r:embed="rId30" cstate="screen">
              <a:extLst>
                <a:ext uri="{28A0092B-C50C-407E-A947-70E740481C1C}">
                  <a14:useLocalDpi xmlns:a14="http://schemas.microsoft.com/office/drawing/2010/main"/>
                </a:ext>
              </a:extLst>
            </a:blip>
            <a:stretch>
              <a:fillRect/>
            </a:stretch>
          </p:blipFill>
          <p:spPr>
            <a:xfrm>
              <a:off x="5223397" y="3613250"/>
              <a:ext cx="1737908" cy="1220696"/>
            </a:xfrm>
            <a:prstGeom prst="rect">
              <a:avLst/>
            </a:prstGeom>
            <a:ln>
              <a:solidFill>
                <a:schemeClr val="tx1"/>
              </a:solidFill>
            </a:ln>
          </p:spPr>
        </p:pic>
        <p:pic>
          <p:nvPicPr>
            <p:cNvPr id="67" name="Picture 66">
              <a:extLst>
                <a:ext uri="{FF2B5EF4-FFF2-40B4-BE49-F238E27FC236}">
                  <a16:creationId xmlns:a16="http://schemas.microsoft.com/office/drawing/2014/main" id="{BA178A42-2583-4096-F165-2E09C57EAC15}"/>
                </a:ext>
              </a:extLst>
            </p:cNvPr>
            <p:cNvPicPr>
              <a:picLocks/>
            </p:cNvPicPr>
            <p:nvPr/>
          </p:nvPicPr>
          <p:blipFill>
            <a:blip r:embed="rId31" cstate="screen">
              <a:extLst>
                <a:ext uri="{28A0092B-C50C-407E-A947-70E740481C1C}">
                  <a14:useLocalDpi xmlns:a14="http://schemas.microsoft.com/office/drawing/2010/main"/>
                </a:ext>
              </a:extLst>
            </a:blip>
            <a:stretch>
              <a:fillRect/>
            </a:stretch>
          </p:blipFill>
          <p:spPr>
            <a:xfrm>
              <a:off x="5223397" y="2205545"/>
              <a:ext cx="1737908" cy="1220696"/>
            </a:xfrm>
            <a:prstGeom prst="rect">
              <a:avLst/>
            </a:prstGeom>
            <a:ln w="6350">
              <a:solidFill>
                <a:schemeClr val="tx1"/>
              </a:solidFill>
            </a:ln>
          </p:spPr>
        </p:pic>
      </p:grpSp>
      <p:sp>
        <p:nvSpPr>
          <p:cNvPr id="4" name="4. Footnote">
            <a:extLst>
              <a:ext uri="{FF2B5EF4-FFF2-40B4-BE49-F238E27FC236}">
                <a16:creationId xmlns:a16="http://schemas.microsoft.com/office/drawing/2014/main" id="{7F6839CA-7E98-64C4-BDA1-8ED053EC4613}"/>
              </a:ext>
            </a:extLst>
          </p:cNvPr>
          <p:cNvSpPr txBox="1">
            <a:spLocks/>
          </p:cNvSpPr>
          <p:nvPr>
            <p:custDataLst>
              <p:tags r:id="rId9"/>
            </p:custDataLst>
          </p:nvPr>
        </p:nvSpPr>
        <p:spPr>
          <a:xfrm>
            <a:off x="553972" y="615591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28600" marR="0" lvl="0" indent="-228600" defTabSz="914400" rtl="0" eaLnBrk="1" fontAlgn="auto" latinLnBrk="0" hangingPunct="1">
              <a:lnSpc>
                <a:spcPct val="100000"/>
              </a:lnSpc>
              <a:spcBef>
                <a:spcPts val="0"/>
              </a:spcBef>
              <a:spcAft>
                <a:spcPts val="0"/>
              </a:spcAft>
              <a:buClrTx/>
              <a:buSzTx/>
              <a:buFont typeface="+mj-lt"/>
              <a:buAutoNum type="arabicPeriod"/>
              <a:tabLst/>
              <a:defRPr/>
            </a:pPr>
            <a:r>
              <a:rPr kumimoji="0" lang="en-US" strike="noStrike" kern="1200" spc="0" normalizeH="0" noProof="0">
                <a:ln>
                  <a:noFill/>
                </a:ln>
                <a:effectLst/>
                <a:uLnTx/>
                <a:uFillTx/>
                <a:ea typeface="+mn-ea"/>
                <a:cs typeface="Arial" panose="020B0604020202020204" pitchFamily="34" charset="0"/>
              </a:rPr>
              <a:t>iWealth, embedded within Digibank, is an integrated wealth management platform for affluents that allows clients to get the latest view of their portfolio, execute equity trades, fund purchases and more fully online;</a:t>
            </a:r>
            <a:endParaRPr kumimoji="0" lang="pl-PL" strike="noStrike" kern="1200" spc="0" normalizeH="0" noProof="0">
              <a:ln>
                <a:noFill/>
              </a:ln>
              <a:effectLst/>
              <a:uLnTx/>
              <a:uFillTx/>
              <a:ea typeface="+mn-ea"/>
              <a:cs typeface="Arial" panose="020B0604020202020204" pitchFamily="34" charset="0"/>
            </a:endParaRPr>
          </a:p>
          <a:p>
            <a:pPr marL="228600" marR="0" lvl="0" indent="-228600" defTabSz="914400" rtl="0" eaLnBrk="1" fontAlgn="auto" latinLnBrk="0" hangingPunct="1">
              <a:lnSpc>
                <a:spcPct val="100000"/>
              </a:lnSpc>
              <a:spcBef>
                <a:spcPts val="0"/>
              </a:spcBef>
              <a:spcAft>
                <a:spcPts val="0"/>
              </a:spcAft>
              <a:buClrTx/>
              <a:buSzTx/>
              <a:buFont typeface="+mj-lt"/>
              <a:buAutoNum type="arabicPeriod"/>
              <a:tabLst/>
              <a:defRPr/>
            </a:pPr>
            <a:r>
              <a:rPr kumimoji="0" lang="en-US" strike="noStrike" kern="1200" spc="0" normalizeH="0" noProof="0">
                <a:ln>
                  <a:noFill/>
                </a:ln>
                <a:effectLst/>
                <a:uLnTx/>
                <a:uFillTx/>
                <a:ea typeface="+mn-ea"/>
                <a:cs typeface="Arial" panose="020B0604020202020204" pitchFamily="34" charset="0"/>
              </a:rPr>
              <a:t>Discretionary Portfolio Management</a:t>
            </a:r>
          </a:p>
        </p:txBody>
      </p:sp>
      <p:grpSp>
        <p:nvGrpSpPr>
          <p:cNvPr id="51" name="sticker">
            <a:extLst>
              <a:ext uri="{FF2B5EF4-FFF2-40B4-BE49-F238E27FC236}">
                <a16:creationId xmlns:a16="http://schemas.microsoft.com/office/drawing/2014/main" id="{6ABE08CE-F0FE-6919-BFF1-0D96A9E30A00}"/>
              </a:ext>
            </a:extLst>
          </p:cNvPr>
          <p:cNvGrpSpPr/>
          <p:nvPr/>
        </p:nvGrpSpPr>
        <p:grpSpPr>
          <a:xfrm>
            <a:off x="558192" y="1289273"/>
            <a:ext cx="654025" cy="156966"/>
            <a:chOff x="558192" y="1289273"/>
            <a:chExt cx="654025" cy="156966"/>
          </a:xfrm>
        </p:grpSpPr>
        <p:sp>
          <p:nvSpPr>
            <p:cNvPr id="33" name="StickerRectangle">
              <a:extLst>
                <a:ext uri="{FF2B5EF4-FFF2-40B4-BE49-F238E27FC236}">
                  <a16:creationId xmlns:a16="http://schemas.microsoft.com/office/drawing/2014/main" id="{1E1648AD-B8C6-C1AD-8545-5EB271678C3A}"/>
                </a:ext>
              </a:extLst>
            </p:cNvPr>
            <p:cNvSpPr>
              <a:spLocks noChangeArrowheads="1"/>
            </p:cNvSpPr>
            <p:nvPr userDrawn="1"/>
          </p:nvSpPr>
          <p:spPr bwMode="gray">
            <a:xfrm>
              <a:off x="558192" y="1289273"/>
              <a:ext cx="654025"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Illustrative</a:t>
              </a:r>
              <a:endParaRPr lang="en-US" sz="800" baseline="0">
                <a:solidFill>
                  <a:schemeClr val="tx1"/>
                </a:solidFill>
                <a:latin typeface="+mn-lt"/>
                <a:ea typeface="+mn-ea"/>
              </a:endParaRPr>
            </a:p>
          </p:txBody>
        </p:sp>
        <p:cxnSp>
          <p:nvCxnSpPr>
            <p:cNvPr id="39" name="StickerUnderline">
              <a:extLst>
                <a:ext uri="{FF2B5EF4-FFF2-40B4-BE49-F238E27FC236}">
                  <a16:creationId xmlns:a16="http://schemas.microsoft.com/office/drawing/2014/main" id="{6BC56D7B-CFC9-006C-E78E-DCBC1D79CF62}"/>
                </a:ext>
              </a:extLst>
            </p:cNvPr>
            <p:cNvCxnSpPr>
              <a:cxnSpLocks noChangeShapeType="1"/>
              <a:stCxn id="33" idx="4"/>
              <a:endCxn id="33" idx="6"/>
            </p:cNvCxnSpPr>
            <p:nvPr/>
          </p:nvCxnSpPr>
          <p:spPr bwMode="gray">
            <a:xfrm>
              <a:off x="558192" y="1446239"/>
              <a:ext cx="654025"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58" name="TextBox 57">
            <a:extLst>
              <a:ext uri="{FF2B5EF4-FFF2-40B4-BE49-F238E27FC236}">
                <a16:creationId xmlns:a16="http://schemas.microsoft.com/office/drawing/2014/main" id="{6DF6AC8C-B6D2-969C-EC79-E5FA4E2E1BEE}"/>
              </a:ext>
            </a:extLst>
          </p:cNvPr>
          <p:cNvSpPr txBox="1">
            <a:spLocks/>
          </p:cNvSpPr>
          <p:nvPr/>
        </p:nvSpPr>
        <p:spPr>
          <a:xfrm>
            <a:off x="1079500" y="1727393"/>
            <a:ext cx="1545582"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Wealth education portal</a:t>
            </a:r>
          </a:p>
        </p:txBody>
      </p:sp>
      <p:sp>
        <p:nvSpPr>
          <p:cNvPr id="62" name="TextBox 61">
            <a:extLst>
              <a:ext uri="{FF2B5EF4-FFF2-40B4-BE49-F238E27FC236}">
                <a16:creationId xmlns:a16="http://schemas.microsoft.com/office/drawing/2014/main" id="{D8E5ED99-E28E-D1C2-90D0-F26A9E84A10D}"/>
              </a:ext>
            </a:extLst>
          </p:cNvPr>
          <p:cNvSpPr txBox="1">
            <a:spLocks/>
          </p:cNvSpPr>
          <p:nvPr/>
        </p:nvSpPr>
        <p:spPr>
          <a:xfrm>
            <a:off x="3255264" y="1727393"/>
            <a:ext cx="1615539" cy="430887"/>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Financial products as “Lifegoals”</a:t>
            </a:r>
          </a:p>
        </p:txBody>
      </p:sp>
      <p:sp>
        <p:nvSpPr>
          <p:cNvPr id="66" name="TextBox 65">
            <a:extLst>
              <a:ext uri="{FF2B5EF4-FFF2-40B4-BE49-F238E27FC236}">
                <a16:creationId xmlns:a16="http://schemas.microsoft.com/office/drawing/2014/main" id="{510F0AF1-E2D5-74E9-EEDE-46D98148516A}"/>
              </a:ext>
            </a:extLst>
          </p:cNvPr>
          <p:cNvSpPr txBox="1">
            <a:spLocks/>
          </p:cNvSpPr>
          <p:nvPr/>
        </p:nvSpPr>
        <p:spPr>
          <a:xfrm>
            <a:off x="5458968" y="1942836"/>
            <a:ext cx="1657557"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Digital transactions</a:t>
            </a:r>
          </a:p>
        </p:txBody>
      </p:sp>
      <p:sp>
        <p:nvSpPr>
          <p:cNvPr id="69" name="TextBox 68">
            <a:extLst>
              <a:ext uri="{FF2B5EF4-FFF2-40B4-BE49-F238E27FC236}">
                <a16:creationId xmlns:a16="http://schemas.microsoft.com/office/drawing/2014/main" id="{E190D48C-74CA-3F13-2BD0-C3552592666D}"/>
              </a:ext>
            </a:extLst>
          </p:cNvPr>
          <p:cNvSpPr txBox="1">
            <a:spLocks/>
          </p:cNvSpPr>
          <p:nvPr/>
        </p:nvSpPr>
        <p:spPr>
          <a:xfrm>
            <a:off x="7756525" y="1942836"/>
            <a:ext cx="1605721"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Trusted advisory</a:t>
            </a:r>
          </a:p>
        </p:txBody>
      </p:sp>
      <p:sp>
        <p:nvSpPr>
          <p:cNvPr id="71" name="TextBox 70">
            <a:extLst>
              <a:ext uri="{FF2B5EF4-FFF2-40B4-BE49-F238E27FC236}">
                <a16:creationId xmlns:a16="http://schemas.microsoft.com/office/drawing/2014/main" id="{9CB7BE9C-BA53-2AAA-252B-0F44BBD601B5}"/>
              </a:ext>
            </a:extLst>
          </p:cNvPr>
          <p:cNvSpPr txBox="1">
            <a:spLocks/>
          </p:cNvSpPr>
          <p:nvPr/>
        </p:nvSpPr>
        <p:spPr>
          <a:xfrm>
            <a:off x="9963150" y="1942836"/>
            <a:ext cx="1644806" cy="215444"/>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400" b="1">
                <a:cs typeface="+mn-cs"/>
              </a:rPr>
              <a:t>Portfolio manager</a:t>
            </a:r>
          </a:p>
        </p:txBody>
      </p:sp>
      <p:sp>
        <p:nvSpPr>
          <p:cNvPr id="5" name="TrackerNumBlue 35">
            <a:extLst>
              <a:ext uri="{FF2B5EF4-FFF2-40B4-BE49-F238E27FC236}">
                <a16:creationId xmlns:a16="http://schemas.microsoft.com/office/drawing/2014/main" id="{B8D42F52-7250-C21B-AEA0-E271D406F08C}"/>
              </a:ext>
            </a:extLst>
          </p:cNvPr>
          <p:cNvSpPr/>
          <p:nvPr>
            <p:custDataLst>
              <p:tags r:id="rId10"/>
            </p:custDataLst>
          </p:nvPr>
        </p:nvSpPr>
        <p:spPr>
          <a:xfrm>
            <a:off x="554735" y="494751"/>
            <a:ext cx="408981" cy="408981"/>
          </a:xfrm>
          <a:prstGeom prst="ellipse">
            <a:avLst/>
          </a:prstGeom>
          <a:solidFill>
            <a:schemeClr val="accent3">
              <a:lumMod val="50000"/>
            </a:schemeClr>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600" b="1">
                <a:solidFill>
                  <a:srgbClr val="FFFFFF"/>
                </a:solidFill>
                <a:latin typeface="Tahoma"/>
              </a:rPr>
              <a:t>2</a:t>
            </a:r>
            <a:endParaRPr kumimoji="0" lang="en-US" sz="1600" b="1" i="0" u="none" strike="noStrike" kern="1200" cap="none" spc="0" normalizeH="0" baseline="0" noProof="0">
              <a:ln>
                <a:noFill/>
              </a:ln>
              <a:solidFill>
                <a:srgbClr val="FFFFFF"/>
              </a:solidFill>
              <a:effectLst/>
              <a:uLnTx/>
              <a:uFillTx/>
              <a:latin typeface="Tahoma"/>
              <a:ea typeface="+mn-ea"/>
              <a:cs typeface="+mn-cs"/>
            </a:endParaRPr>
          </a:p>
        </p:txBody>
      </p:sp>
    </p:spTree>
    <p:extLst>
      <p:ext uri="{BB962C8B-B14F-4D97-AF65-F5344CB8AC3E}">
        <p14:creationId xmlns:p14="http://schemas.microsoft.com/office/powerpoint/2010/main" val="1389028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6" hidden="1">
            <a:extLst>
              <a:ext uri="{FF2B5EF4-FFF2-40B4-BE49-F238E27FC236}">
                <a16:creationId xmlns:a16="http://schemas.microsoft.com/office/drawing/2014/main" id="{32CD6273-34B7-BCDD-72A6-B391E8BEA7FC}"/>
              </a:ext>
            </a:extLst>
          </p:cNvPr>
          <p:cNvGraphicFramePr>
            <a:graphicFrameLocks noChangeAspect="1"/>
          </p:cNvGraphicFramePr>
          <p:nvPr>
            <p:custDataLst>
              <p:tags r:id="rId1"/>
            </p:custDataLst>
            <p:extLst>
              <p:ext uri="{D42A27DB-BD31-4B8C-83A1-F6EECF244321}">
                <p14:modId xmlns:p14="http://schemas.microsoft.com/office/powerpoint/2010/main" val="1408477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73" imgH="476" progId="TCLayout.ActiveDocument.1">
                  <p:embed/>
                </p:oleObj>
              </mc:Choice>
              <mc:Fallback>
                <p:oleObj name="think-cell Slide" r:id="rId14" imgW="473" imgH="476" progId="TCLayout.ActiveDocument.1">
                  <p:embed/>
                  <p:pic>
                    <p:nvPicPr>
                      <p:cNvPr id="5" name="Object 6" hidden="1">
                        <a:extLst>
                          <a:ext uri="{FF2B5EF4-FFF2-40B4-BE49-F238E27FC236}">
                            <a16:creationId xmlns:a16="http://schemas.microsoft.com/office/drawing/2014/main" id="{32CD6273-34B7-BCDD-72A6-B391E8BEA7FC}"/>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E8F89D15-8FF2-EC32-F8FC-24217758FD55}"/>
              </a:ext>
            </a:extLst>
          </p:cNvPr>
          <p:cNvSpPr>
            <a:spLocks noGrp="1"/>
          </p:cNvSpPr>
          <p:nvPr>
            <p:ph type="title"/>
            <p:custDataLst>
              <p:tags r:id="rId2"/>
            </p:custDataLst>
          </p:nvPr>
        </p:nvSpPr>
        <p:spPr>
          <a:xfrm>
            <a:off x="547688" y="165068"/>
            <a:ext cx="10699070" cy="738664"/>
          </a:xfrm>
        </p:spPr>
        <p:txBody>
          <a:bodyPr vert="horz"/>
          <a:lstStyle/>
          <a:p>
            <a:r>
              <a:rPr lang="de-DE" dirty="0"/>
              <a:t>There are several NextGen payment technologies emerging, being built and used by banks, Fintechs, and sophisticated platforms</a:t>
            </a:r>
            <a:endParaRPr lang="en-US" dirty="0"/>
          </a:p>
        </p:txBody>
      </p:sp>
      <p:sp>
        <p:nvSpPr>
          <p:cNvPr id="3" name="3. Subtitle">
            <a:extLst>
              <a:ext uri="{FF2B5EF4-FFF2-40B4-BE49-F238E27FC236}">
                <a16:creationId xmlns:a16="http://schemas.microsoft.com/office/drawing/2014/main" id="{30B3413D-75A7-1240-9278-BF74AC9224B8}"/>
              </a:ext>
            </a:extLst>
          </p:cNvPr>
          <p:cNvSpPr>
            <a:spLocks noGrp="1"/>
          </p:cNvSpPr>
          <p:nvPr>
            <p:ph type="subTitle" idx="1"/>
            <p:custDataLst>
              <p:tags r:id="rId3"/>
            </p:custDataLst>
          </p:nvPr>
        </p:nvSpPr>
        <p:spPr/>
        <p:txBody>
          <a:bodyPr/>
          <a:lstStyle/>
          <a:p>
            <a:endParaRPr lang="en-US"/>
          </a:p>
        </p:txBody>
      </p:sp>
      <p:sp>
        <p:nvSpPr>
          <p:cNvPr id="4" name="1. On-page tracker">
            <a:extLst>
              <a:ext uri="{FF2B5EF4-FFF2-40B4-BE49-F238E27FC236}">
                <a16:creationId xmlns:a16="http://schemas.microsoft.com/office/drawing/2014/main" id="{FCD1921C-C928-B57A-9964-CDD560255351}"/>
              </a:ext>
            </a:extLst>
          </p:cNvPr>
          <p:cNvSpPr>
            <a:spLocks noGrp="1"/>
          </p:cNvSpPr>
          <p:nvPr>
            <p:ph type="body" sz="quarter" idx="10"/>
            <p:custDataLst>
              <p:tags r:id="rId4"/>
            </p:custDataLst>
          </p:nvPr>
        </p:nvSpPr>
        <p:spPr/>
        <p:txBody>
          <a:bodyPr/>
          <a:lstStyle/>
          <a:p>
            <a:endParaRPr lang="en-US"/>
          </a:p>
        </p:txBody>
      </p:sp>
      <p:sp>
        <p:nvSpPr>
          <p:cNvPr id="9" name="TextBox 8">
            <a:extLst>
              <a:ext uri="{FF2B5EF4-FFF2-40B4-BE49-F238E27FC236}">
                <a16:creationId xmlns:a16="http://schemas.microsoft.com/office/drawing/2014/main" id="{BBE79195-1523-70F1-55FF-8D0F1E76B95C}"/>
              </a:ext>
            </a:extLst>
          </p:cNvPr>
          <p:cNvSpPr txBox="1"/>
          <p:nvPr/>
        </p:nvSpPr>
        <p:spPr>
          <a:xfrm>
            <a:off x="554735" y="1462876"/>
            <a:ext cx="199182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t>NextGen technology</a:t>
            </a:r>
          </a:p>
        </p:txBody>
      </p:sp>
      <p:sp>
        <p:nvSpPr>
          <p:cNvPr id="15" name="TextBox 14">
            <a:extLst>
              <a:ext uri="{FF2B5EF4-FFF2-40B4-BE49-F238E27FC236}">
                <a16:creationId xmlns:a16="http://schemas.microsoft.com/office/drawing/2014/main" id="{9549FBE1-D99B-1B19-12E8-1C27E236CA6F}"/>
              </a:ext>
            </a:extLst>
          </p:cNvPr>
          <p:cNvSpPr txBox="1"/>
          <p:nvPr/>
        </p:nvSpPr>
        <p:spPr>
          <a:xfrm>
            <a:off x="2646491" y="1462876"/>
            <a:ext cx="1224904" cy="215444"/>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Char char="​"/>
              <a:defRPr sz="140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de-DE"/>
              <a:t>Early movers</a:t>
            </a:r>
          </a:p>
        </p:txBody>
      </p:sp>
      <p:sp>
        <p:nvSpPr>
          <p:cNvPr id="16" name="TextBox 15">
            <a:extLst>
              <a:ext uri="{FF2B5EF4-FFF2-40B4-BE49-F238E27FC236}">
                <a16:creationId xmlns:a16="http://schemas.microsoft.com/office/drawing/2014/main" id="{B0312049-DF27-B9C2-22E9-08C4E5FB0845}"/>
              </a:ext>
            </a:extLst>
          </p:cNvPr>
          <p:cNvSpPr txBox="1"/>
          <p:nvPr/>
        </p:nvSpPr>
        <p:spPr>
          <a:xfrm>
            <a:off x="4580359" y="1462876"/>
            <a:ext cx="1224904" cy="215444"/>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Char char="​"/>
              <a:defRPr sz="140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de-DE"/>
              <a:t>Description</a:t>
            </a:r>
          </a:p>
        </p:txBody>
      </p:sp>
      <p:sp>
        <p:nvSpPr>
          <p:cNvPr id="17" name="Rectangle: Rounded Corners 16">
            <a:extLst>
              <a:ext uri="{FF2B5EF4-FFF2-40B4-BE49-F238E27FC236}">
                <a16:creationId xmlns:a16="http://schemas.microsoft.com/office/drawing/2014/main" id="{472637B9-6AB4-4E66-230D-B716DA1035DD}"/>
              </a:ext>
            </a:extLst>
          </p:cNvPr>
          <p:cNvSpPr/>
          <p:nvPr/>
        </p:nvSpPr>
        <p:spPr>
          <a:xfrm>
            <a:off x="521108" y="1769806"/>
            <a:ext cx="1917291" cy="684000"/>
          </a:xfrm>
          <a:prstGeom prst="roundRect">
            <a:avLst>
              <a:gd name="adj" fmla="val 10870"/>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az-Latn-AZ" sz="1200" b="1">
                <a:solidFill>
                  <a:schemeClr val="bg1"/>
                </a:solidFill>
              </a:rPr>
              <a:t>Advanced QR Ecosystems</a:t>
            </a:r>
            <a:endParaRPr lang="en-US" sz="1200" b="1" err="1">
              <a:solidFill>
                <a:schemeClr val="bg1"/>
              </a:solidFill>
            </a:endParaRPr>
          </a:p>
        </p:txBody>
      </p:sp>
      <p:sp>
        <p:nvSpPr>
          <p:cNvPr id="18" name="Rectangle: Rounded Corners 17">
            <a:extLst>
              <a:ext uri="{FF2B5EF4-FFF2-40B4-BE49-F238E27FC236}">
                <a16:creationId xmlns:a16="http://schemas.microsoft.com/office/drawing/2014/main" id="{8E3BF642-C27F-1E9D-164B-FA8FEAA66E89}"/>
              </a:ext>
            </a:extLst>
          </p:cNvPr>
          <p:cNvSpPr/>
          <p:nvPr/>
        </p:nvSpPr>
        <p:spPr>
          <a:xfrm>
            <a:off x="521108" y="2553721"/>
            <a:ext cx="1917291" cy="684000"/>
          </a:xfrm>
          <a:prstGeom prst="roundRect">
            <a:avLst>
              <a:gd name="adj" fmla="val 9091"/>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Proprietary </a:t>
            </a:r>
            <a:br>
              <a:rPr lang="en-US" sz="1200" b="1">
                <a:solidFill>
                  <a:schemeClr val="bg1"/>
                </a:solidFill>
              </a:rPr>
            </a:br>
            <a:r>
              <a:rPr lang="en-US" sz="1200" b="1">
                <a:solidFill>
                  <a:schemeClr val="bg1"/>
                </a:solidFill>
              </a:rPr>
              <a:t>Wallet NFC</a:t>
            </a:r>
          </a:p>
        </p:txBody>
      </p:sp>
      <p:sp>
        <p:nvSpPr>
          <p:cNvPr id="19" name="Rectangle: Rounded Corners 18">
            <a:extLst>
              <a:ext uri="{FF2B5EF4-FFF2-40B4-BE49-F238E27FC236}">
                <a16:creationId xmlns:a16="http://schemas.microsoft.com/office/drawing/2014/main" id="{FC6F1980-7D41-5837-B846-EE8C9EACCE1D}"/>
              </a:ext>
            </a:extLst>
          </p:cNvPr>
          <p:cNvSpPr/>
          <p:nvPr/>
        </p:nvSpPr>
        <p:spPr>
          <a:xfrm>
            <a:off x="521108" y="3315638"/>
            <a:ext cx="1917291" cy="684000"/>
          </a:xfrm>
          <a:prstGeom prst="roundRect">
            <a:avLst>
              <a:gd name="adj" fmla="val 7576"/>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az-Latn-AZ" sz="1200" b="1">
                <a:solidFill>
                  <a:schemeClr val="bg1"/>
                </a:solidFill>
              </a:rPr>
              <a:t>Contactless Payment Stickers</a:t>
            </a:r>
            <a:endParaRPr lang="en-US" sz="1200" b="1">
              <a:solidFill>
                <a:schemeClr val="bg1"/>
              </a:solidFill>
            </a:endParaRPr>
          </a:p>
        </p:txBody>
      </p:sp>
      <p:sp>
        <p:nvSpPr>
          <p:cNvPr id="20" name="Rectangle: Rounded Corners 19">
            <a:extLst>
              <a:ext uri="{FF2B5EF4-FFF2-40B4-BE49-F238E27FC236}">
                <a16:creationId xmlns:a16="http://schemas.microsoft.com/office/drawing/2014/main" id="{D5DA6F0E-5371-E490-275B-0162E3CAD235}"/>
              </a:ext>
            </a:extLst>
          </p:cNvPr>
          <p:cNvSpPr/>
          <p:nvPr/>
        </p:nvSpPr>
        <p:spPr>
          <a:xfrm>
            <a:off x="521108" y="4087387"/>
            <a:ext cx="1917291" cy="684000"/>
          </a:xfrm>
          <a:prstGeom prst="roundRect">
            <a:avLst>
              <a:gd name="adj" fmla="val 6061"/>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err="1">
                <a:solidFill>
                  <a:schemeClr val="bg1"/>
                </a:solidFill>
              </a:rPr>
              <a:t>BioPOS</a:t>
            </a:r>
            <a:endParaRPr lang="en-US" sz="1200" b="1">
              <a:solidFill>
                <a:schemeClr val="bg1"/>
              </a:solidFill>
            </a:endParaRPr>
          </a:p>
        </p:txBody>
      </p:sp>
      <p:sp>
        <p:nvSpPr>
          <p:cNvPr id="21" name="Rectangle: Rounded Corners 20">
            <a:extLst>
              <a:ext uri="{FF2B5EF4-FFF2-40B4-BE49-F238E27FC236}">
                <a16:creationId xmlns:a16="http://schemas.microsoft.com/office/drawing/2014/main" id="{0A53839E-86E6-2A4B-BA02-5554148DE39D}"/>
              </a:ext>
            </a:extLst>
          </p:cNvPr>
          <p:cNvSpPr/>
          <p:nvPr/>
        </p:nvSpPr>
        <p:spPr>
          <a:xfrm>
            <a:off x="521108" y="4878800"/>
            <a:ext cx="1917291" cy="684000"/>
          </a:xfrm>
          <a:prstGeom prst="roundRect">
            <a:avLst>
              <a:gd name="adj" fmla="val 13637"/>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a:solidFill>
                  <a:schemeClr val="bg1"/>
                </a:solidFill>
              </a:rPr>
              <a:t>Alternative</a:t>
            </a:r>
            <a:r>
              <a:rPr lang="az-Latn-AZ" sz="1200" b="1">
                <a:solidFill>
                  <a:schemeClr val="bg1"/>
                </a:solidFill>
              </a:rPr>
              <a:t> </a:t>
            </a:r>
            <a:r>
              <a:rPr lang="en-US" sz="1200" b="1">
                <a:solidFill>
                  <a:schemeClr val="bg1"/>
                </a:solidFill>
              </a:rPr>
              <a:t>Card</a:t>
            </a:r>
            <a:r>
              <a:rPr lang="az-Latn-AZ" sz="1200" b="1">
                <a:solidFill>
                  <a:schemeClr val="bg1"/>
                </a:solidFill>
              </a:rPr>
              <a:t> </a:t>
            </a:r>
            <a:r>
              <a:rPr lang="en-US" sz="1200" b="1">
                <a:solidFill>
                  <a:schemeClr val="bg1"/>
                </a:solidFill>
              </a:rPr>
              <a:t>Schemes</a:t>
            </a:r>
          </a:p>
        </p:txBody>
      </p:sp>
      <p:sp>
        <p:nvSpPr>
          <p:cNvPr id="22" name="Rectangle: Rounded Corners 21">
            <a:extLst>
              <a:ext uri="{FF2B5EF4-FFF2-40B4-BE49-F238E27FC236}">
                <a16:creationId xmlns:a16="http://schemas.microsoft.com/office/drawing/2014/main" id="{78169A45-62D1-4891-0853-69B1FDF17A67}"/>
              </a:ext>
            </a:extLst>
          </p:cNvPr>
          <p:cNvSpPr/>
          <p:nvPr/>
        </p:nvSpPr>
        <p:spPr>
          <a:xfrm>
            <a:off x="521108" y="5683045"/>
            <a:ext cx="1917291" cy="684000"/>
          </a:xfrm>
          <a:prstGeom prst="roundRect">
            <a:avLst>
              <a:gd name="adj" fmla="val 10606"/>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az-Latn-AZ" sz="1200" b="1">
                <a:solidFill>
                  <a:schemeClr val="bg1"/>
                </a:solidFill>
                <a:latin typeface="Arial" panose="020B0604020202020204" pitchFamily="34" charset="0"/>
              </a:rPr>
              <a:t>Real-Time Account-to-Account (A2A)</a:t>
            </a:r>
            <a:endParaRPr lang="en-US" sz="1200" b="1">
              <a:solidFill>
                <a:schemeClr val="bg1"/>
              </a:solidFill>
            </a:endParaRPr>
          </a:p>
        </p:txBody>
      </p:sp>
      <p:pic>
        <p:nvPicPr>
          <p:cNvPr id="23" name="Picture 2">
            <a:extLst>
              <a:ext uri="{FF2B5EF4-FFF2-40B4-BE49-F238E27FC236}">
                <a16:creationId xmlns:a16="http://schemas.microsoft.com/office/drawing/2014/main" id="{CF63D84B-BB62-740D-9F93-0A8539433D7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46491" y="1739718"/>
            <a:ext cx="418416" cy="41841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a:extLst>
              <a:ext uri="{FF2B5EF4-FFF2-40B4-BE49-F238E27FC236}">
                <a16:creationId xmlns:a16="http://schemas.microsoft.com/office/drawing/2014/main" id="{0355832B-6A13-4D0B-3D76-C637D0FF401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646491" y="4970103"/>
            <a:ext cx="705659" cy="21169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0">
            <a:extLst>
              <a:ext uri="{FF2B5EF4-FFF2-40B4-BE49-F238E27FC236}">
                <a16:creationId xmlns:a16="http://schemas.microsoft.com/office/drawing/2014/main" id="{131AA718-ACE6-EB58-A4E3-12020131BC2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46491" y="5702710"/>
            <a:ext cx="589943" cy="32063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2">
            <a:extLst>
              <a:ext uri="{FF2B5EF4-FFF2-40B4-BE49-F238E27FC236}">
                <a16:creationId xmlns:a16="http://schemas.microsoft.com/office/drawing/2014/main" id="{7E889444-4E8A-EFA7-182A-3C6CA6CD288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58989" y="1787026"/>
            <a:ext cx="702796" cy="23040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4">
            <a:extLst>
              <a:ext uri="{FF2B5EF4-FFF2-40B4-BE49-F238E27FC236}">
                <a16:creationId xmlns:a16="http://schemas.microsoft.com/office/drawing/2014/main" id="{CAF034CB-3CD5-0275-37A0-8B0A2F974D1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46491" y="4209228"/>
            <a:ext cx="1027274" cy="20545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a:extLst>
              <a:ext uri="{FF2B5EF4-FFF2-40B4-BE49-F238E27FC236}">
                <a16:creationId xmlns:a16="http://schemas.microsoft.com/office/drawing/2014/main" id="{16366031-BB15-2F48-4EB6-09FB4A92015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82466" y="2526891"/>
            <a:ext cx="1288025" cy="326268"/>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BF929F89-4234-9CB9-52D6-E03C97055B0B}"/>
              </a:ext>
            </a:extLst>
          </p:cNvPr>
          <p:cNvSpPr txBox="1"/>
          <p:nvPr/>
        </p:nvSpPr>
        <p:spPr>
          <a:xfrm>
            <a:off x="4580358" y="1787588"/>
            <a:ext cx="4274273"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000000"/>
                </a:solidFill>
                <a:latin typeface="+mn-lt"/>
              </a:rPr>
              <a:t>Establishing </a:t>
            </a:r>
            <a:r>
              <a:rPr lang="en-US" b="1">
                <a:solidFill>
                  <a:srgbClr val="000000"/>
                </a:solidFill>
                <a:latin typeface="+mn-lt"/>
              </a:rPr>
              <a:t>proprietary, closed-loop QR payment </a:t>
            </a:r>
            <a:r>
              <a:rPr lang="en-US">
                <a:solidFill>
                  <a:srgbClr val="000000"/>
                </a:solidFill>
                <a:latin typeface="+mn-lt"/>
              </a:rPr>
              <a:t>networks that bypass card scheme fees (Visa/Mastercard) and simplify merchant acquiring</a:t>
            </a:r>
            <a:endParaRPr lang="en-US">
              <a:latin typeface="+mn-lt"/>
            </a:endParaRPr>
          </a:p>
        </p:txBody>
      </p:sp>
      <p:sp>
        <p:nvSpPr>
          <p:cNvPr id="30" name="TextBox 29">
            <a:extLst>
              <a:ext uri="{FF2B5EF4-FFF2-40B4-BE49-F238E27FC236}">
                <a16:creationId xmlns:a16="http://schemas.microsoft.com/office/drawing/2014/main" id="{BF1CC84D-D41E-CCC7-1A27-73975C9BB0D2}"/>
              </a:ext>
            </a:extLst>
          </p:cNvPr>
          <p:cNvSpPr txBox="1"/>
          <p:nvPr/>
        </p:nvSpPr>
        <p:spPr>
          <a:xfrm>
            <a:off x="4580359" y="2574667"/>
            <a:ext cx="4285848"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fontAlgn="b">
              <a:buNone/>
            </a:pPr>
            <a:r>
              <a:rPr lang="en-US">
                <a:latin typeface="+mn-lt"/>
              </a:rPr>
              <a:t>Deploying </a:t>
            </a:r>
            <a:r>
              <a:rPr lang="en-US" b="1">
                <a:latin typeface="+mn-lt"/>
              </a:rPr>
              <a:t>native 'tap-to-pay' capabilities </a:t>
            </a:r>
            <a:r>
              <a:rPr lang="en-US">
                <a:latin typeface="+mn-lt"/>
              </a:rPr>
              <a:t>directly within the institution's own mobile application, </a:t>
            </a:r>
            <a:r>
              <a:rPr lang="en-US" b="1">
                <a:latin typeface="+mn-lt"/>
              </a:rPr>
              <a:t>bypassing third-party </a:t>
            </a:r>
            <a:r>
              <a:rPr lang="en-US">
                <a:latin typeface="+mn-lt"/>
              </a:rPr>
              <a:t>OS wallets and card systems</a:t>
            </a:r>
            <a:endParaRPr lang="en-US">
              <a:solidFill>
                <a:srgbClr val="000000"/>
              </a:solidFill>
              <a:latin typeface="+mn-lt"/>
            </a:endParaRPr>
          </a:p>
        </p:txBody>
      </p:sp>
      <p:sp>
        <p:nvSpPr>
          <p:cNvPr id="31" name="TextBox 30">
            <a:extLst>
              <a:ext uri="{FF2B5EF4-FFF2-40B4-BE49-F238E27FC236}">
                <a16:creationId xmlns:a16="http://schemas.microsoft.com/office/drawing/2014/main" id="{4B1A7BBA-6E54-C461-E8DD-48665C54A29D}"/>
              </a:ext>
            </a:extLst>
          </p:cNvPr>
          <p:cNvSpPr txBox="1"/>
          <p:nvPr/>
        </p:nvSpPr>
        <p:spPr>
          <a:xfrm>
            <a:off x="4580358" y="4891736"/>
            <a:ext cx="4343723"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000000"/>
                </a:solidFill>
                <a:latin typeface="+mn-lt"/>
              </a:rPr>
              <a:t>Leveraging </a:t>
            </a:r>
            <a:r>
              <a:rPr lang="en-US" b="1">
                <a:solidFill>
                  <a:srgbClr val="000000"/>
                </a:solidFill>
                <a:latin typeface="+mn-lt"/>
              </a:rPr>
              <a:t>domestic, non-Visa/MasterCard clearing networks </a:t>
            </a:r>
            <a:r>
              <a:rPr lang="en-US">
                <a:solidFill>
                  <a:srgbClr val="000000"/>
                </a:solidFill>
                <a:latin typeface="+mn-lt"/>
              </a:rPr>
              <a:t>to ensure operational resilience, financial sovereignty, and reduced interchange fees</a:t>
            </a:r>
            <a:endParaRPr lang="en-US">
              <a:latin typeface="+mn-lt"/>
            </a:endParaRPr>
          </a:p>
        </p:txBody>
      </p:sp>
      <p:sp>
        <p:nvSpPr>
          <p:cNvPr id="32" name="TextBox 31">
            <a:extLst>
              <a:ext uri="{FF2B5EF4-FFF2-40B4-BE49-F238E27FC236}">
                <a16:creationId xmlns:a16="http://schemas.microsoft.com/office/drawing/2014/main" id="{6FB59DA8-0C91-4D36-0ABE-139C4B365400}"/>
              </a:ext>
            </a:extLst>
          </p:cNvPr>
          <p:cNvSpPr txBox="1"/>
          <p:nvPr/>
        </p:nvSpPr>
        <p:spPr>
          <a:xfrm>
            <a:off x="4580358" y="5673322"/>
            <a:ext cx="3892309"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fontAlgn="b">
              <a:buNone/>
            </a:pPr>
            <a:r>
              <a:rPr lang="en-US">
                <a:solidFill>
                  <a:srgbClr val="000000"/>
                </a:solidFill>
                <a:latin typeface="+mn-lt"/>
              </a:rPr>
              <a:t>Bypassing the card network rail to </a:t>
            </a:r>
            <a:r>
              <a:rPr lang="en-US" b="1">
                <a:solidFill>
                  <a:srgbClr val="000000"/>
                </a:solidFill>
                <a:latin typeface="+mn-lt"/>
              </a:rPr>
              <a:t>settle funds </a:t>
            </a:r>
            <a:r>
              <a:rPr lang="en-US">
                <a:solidFill>
                  <a:srgbClr val="000000"/>
                </a:solidFill>
                <a:latin typeface="+mn-lt"/>
              </a:rPr>
              <a:t>instantly from the consumer's bank account </a:t>
            </a:r>
            <a:r>
              <a:rPr lang="en-US" b="1">
                <a:solidFill>
                  <a:srgbClr val="000000"/>
                </a:solidFill>
                <a:latin typeface="+mn-lt"/>
              </a:rPr>
              <a:t>directly to the merchant</a:t>
            </a:r>
          </a:p>
        </p:txBody>
      </p:sp>
      <p:sp>
        <p:nvSpPr>
          <p:cNvPr id="33" name="TextBox 32">
            <a:extLst>
              <a:ext uri="{FF2B5EF4-FFF2-40B4-BE49-F238E27FC236}">
                <a16:creationId xmlns:a16="http://schemas.microsoft.com/office/drawing/2014/main" id="{F6767631-2578-AC4E-123A-23E5266F134B}"/>
              </a:ext>
            </a:extLst>
          </p:cNvPr>
          <p:cNvSpPr txBox="1"/>
          <p:nvPr/>
        </p:nvSpPr>
        <p:spPr>
          <a:xfrm>
            <a:off x="4580359" y="4121730"/>
            <a:ext cx="4355296"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000000"/>
                </a:solidFill>
                <a:latin typeface="+mn-lt"/>
              </a:rPr>
              <a:t>Eliminating physical payment instruments by utilizing </a:t>
            </a:r>
            <a:r>
              <a:rPr lang="en-US" b="1">
                <a:solidFill>
                  <a:srgbClr val="000000"/>
                </a:solidFill>
                <a:latin typeface="+mn-lt"/>
              </a:rPr>
              <a:t>facial recognition and biometric templates</a:t>
            </a:r>
            <a:r>
              <a:rPr lang="en-US">
                <a:solidFill>
                  <a:srgbClr val="000000"/>
                </a:solidFill>
                <a:latin typeface="+mn-lt"/>
              </a:rPr>
              <a:t> to </a:t>
            </a:r>
            <a:br>
              <a:rPr lang="en-US">
                <a:solidFill>
                  <a:srgbClr val="000000"/>
                </a:solidFill>
                <a:latin typeface="+mn-lt"/>
              </a:rPr>
            </a:br>
            <a:r>
              <a:rPr lang="en-US">
                <a:solidFill>
                  <a:srgbClr val="000000"/>
                </a:solidFill>
                <a:latin typeface="+mn-lt"/>
              </a:rPr>
              <a:t>minimize checkout friction and enhance security</a:t>
            </a:r>
            <a:endParaRPr lang="en-US">
              <a:latin typeface="+mn-lt"/>
            </a:endParaRPr>
          </a:p>
        </p:txBody>
      </p:sp>
      <p:pic>
        <p:nvPicPr>
          <p:cNvPr id="34" name="Picture 20">
            <a:extLst>
              <a:ext uri="{FF2B5EF4-FFF2-40B4-BE49-F238E27FC236}">
                <a16:creationId xmlns:a16="http://schemas.microsoft.com/office/drawing/2014/main" id="{04358919-0623-C8BC-891C-5230AE33EB0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46491" y="3351653"/>
            <a:ext cx="965426" cy="34619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A4920A47-FFA8-8F2A-DF19-F1C3CC967F13}"/>
              </a:ext>
            </a:extLst>
          </p:cNvPr>
          <p:cNvSpPr txBox="1"/>
          <p:nvPr/>
        </p:nvSpPr>
        <p:spPr>
          <a:xfrm>
            <a:off x="4580359" y="3340149"/>
            <a:ext cx="4123801"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solidFill>
                  <a:srgbClr val="000000"/>
                </a:solidFill>
                <a:latin typeface="+mn-lt"/>
              </a:rPr>
              <a:t>Providing </a:t>
            </a:r>
            <a:r>
              <a:rPr lang="en-US" b="1">
                <a:solidFill>
                  <a:srgbClr val="000000"/>
                </a:solidFill>
                <a:latin typeface="+mn-lt"/>
              </a:rPr>
              <a:t>physical NFC-enabled micro-stickers </a:t>
            </a:r>
            <a:r>
              <a:rPr lang="en-US">
                <a:solidFill>
                  <a:srgbClr val="000000"/>
                </a:solidFill>
                <a:latin typeface="+mn-lt"/>
              </a:rPr>
              <a:t>to bypass mobile operating system wallet restrictions and maintain brand visibility on devices</a:t>
            </a:r>
            <a:endParaRPr lang="en-US">
              <a:latin typeface="+mn-lt"/>
            </a:endParaRPr>
          </a:p>
        </p:txBody>
      </p:sp>
      <p:cxnSp>
        <p:nvCxnSpPr>
          <p:cNvPr id="36" name="LineBasicStrong 36">
            <a:extLst>
              <a:ext uri="{FF2B5EF4-FFF2-40B4-BE49-F238E27FC236}">
                <a16:creationId xmlns:a16="http://schemas.microsoft.com/office/drawing/2014/main" id="{2BC3D8B2-BC2A-4565-A6F8-FCFE65224316}"/>
              </a:ext>
            </a:extLst>
          </p:cNvPr>
          <p:cNvCxnSpPr>
            <a:cxnSpLocks/>
          </p:cNvCxnSpPr>
          <p:nvPr>
            <p:custDataLst>
              <p:tags r:id="rId5"/>
            </p:custDataLst>
          </p:nvPr>
        </p:nvCxnSpPr>
        <p:spPr>
          <a:xfrm>
            <a:off x="521108" y="2487396"/>
            <a:ext cx="11107012"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LineBasicStrong 36">
            <a:extLst>
              <a:ext uri="{FF2B5EF4-FFF2-40B4-BE49-F238E27FC236}">
                <a16:creationId xmlns:a16="http://schemas.microsoft.com/office/drawing/2014/main" id="{EEA69C8C-27A3-5857-F4AB-03E542CA79E8}"/>
              </a:ext>
            </a:extLst>
          </p:cNvPr>
          <p:cNvCxnSpPr>
            <a:cxnSpLocks/>
          </p:cNvCxnSpPr>
          <p:nvPr>
            <p:custDataLst>
              <p:tags r:id="rId6"/>
            </p:custDataLst>
          </p:nvPr>
        </p:nvCxnSpPr>
        <p:spPr>
          <a:xfrm>
            <a:off x="521108" y="3268977"/>
            <a:ext cx="11107012"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LineBasicStrong 36">
            <a:extLst>
              <a:ext uri="{FF2B5EF4-FFF2-40B4-BE49-F238E27FC236}">
                <a16:creationId xmlns:a16="http://schemas.microsoft.com/office/drawing/2014/main" id="{BFBD7596-58BD-C08B-228A-EEC6FFA3716A}"/>
              </a:ext>
            </a:extLst>
          </p:cNvPr>
          <p:cNvCxnSpPr>
            <a:cxnSpLocks/>
          </p:cNvCxnSpPr>
          <p:nvPr>
            <p:custDataLst>
              <p:tags r:id="rId7"/>
            </p:custDataLst>
          </p:nvPr>
        </p:nvCxnSpPr>
        <p:spPr>
          <a:xfrm>
            <a:off x="521108" y="4050558"/>
            <a:ext cx="11107012"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LineBasicStrong 36">
            <a:extLst>
              <a:ext uri="{FF2B5EF4-FFF2-40B4-BE49-F238E27FC236}">
                <a16:creationId xmlns:a16="http://schemas.microsoft.com/office/drawing/2014/main" id="{E79167F3-ECDD-A14F-4DF1-1875F5B7D78E}"/>
              </a:ext>
            </a:extLst>
          </p:cNvPr>
          <p:cNvCxnSpPr>
            <a:cxnSpLocks/>
          </p:cNvCxnSpPr>
          <p:nvPr>
            <p:custDataLst>
              <p:tags r:id="rId8"/>
            </p:custDataLst>
          </p:nvPr>
        </p:nvCxnSpPr>
        <p:spPr>
          <a:xfrm>
            <a:off x="521108" y="4832139"/>
            <a:ext cx="11107012"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LineBasicStrong 36">
            <a:extLst>
              <a:ext uri="{FF2B5EF4-FFF2-40B4-BE49-F238E27FC236}">
                <a16:creationId xmlns:a16="http://schemas.microsoft.com/office/drawing/2014/main" id="{12E0F8C8-B91B-034C-0043-813F58B03C63}"/>
              </a:ext>
            </a:extLst>
          </p:cNvPr>
          <p:cNvCxnSpPr>
            <a:cxnSpLocks/>
          </p:cNvCxnSpPr>
          <p:nvPr>
            <p:custDataLst>
              <p:tags r:id="rId9"/>
            </p:custDataLst>
          </p:nvPr>
        </p:nvCxnSpPr>
        <p:spPr>
          <a:xfrm>
            <a:off x="521108" y="5613720"/>
            <a:ext cx="11107012"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9F05E3DB-6C60-BD0F-1311-BCEB79D2DA9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31129" y="2784416"/>
            <a:ext cx="1209866" cy="49024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4A25CF0-F01E-5D30-48EB-521BD8339243}"/>
              </a:ext>
            </a:extLst>
          </p:cNvPr>
          <p:cNvPicPr>
            <a:picLocks noChangeAspect="1"/>
          </p:cNvPicPr>
          <p:nvPr/>
        </p:nvPicPr>
        <p:blipFill>
          <a:blip r:embed="rId24"/>
          <a:stretch>
            <a:fillRect/>
          </a:stretch>
        </p:blipFill>
        <p:spPr>
          <a:xfrm>
            <a:off x="3346945" y="5840127"/>
            <a:ext cx="965745" cy="342286"/>
          </a:xfrm>
          <a:prstGeom prst="rect">
            <a:avLst/>
          </a:prstGeom>
        </p:spPr>
      </p:pic>
      <p:cxnSp>
        <p:nvCxnSpPr>
          <p:cNvPr id="6" name="LineBasicStrong 36">
            <a:extLst>
              <a:ext uri="{FF2B5EF4-FFF2-40B4-BE49-F238E27FC236}">
                <a16:creationId xmlns:a16="http://schemas.microsoft.com/office/drawing/2014/main" id="{F8BF98E2-5C79-4CA5-3346-5EE56F5D618E}"/>
              </a:ext>
            </a:extLst>
          </p:cNvPr>
          <p:cNvCxnSpPr>
            <a:cxnSpLocks/>
          </p:cNvCxnSpPr>
          <p:nvPr>
            <p:custDataLst>
              <p:tags r:id="rId10"/>
            </p:custDataLst>
          </p:nvPr>
        </p:nvCxnSpPr>
        <p:spPr>
          <a:xfrm>
            <a:off x="521108" y="1705815"/>
            <a:ext cx="11107012"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8" name="object 5">
            <a:extLst>
              <a:ext uri="{FF2B5EF4-FFF2-40B4-BE49-F238E27FC236}">
                <a16:creationId xmlns:a16="http://schemas.microsoft.com/office/drawing/2014/main" id="{9B2467B8-E33E-E4E7-F867-9E902E7A8C3A}"/>
              </a:ext>
            </a:extLst>
          </p:cNvPr>
          <p:cNvPicPr/>
          <p:nvPr/>
        </p:nvPicPr>
        <p:blipFill>
          <a:blip r:embed="rId25" cstate="print"/>
          <a:stretch>
            <a:fillRect/>
          </a:stretch>
        </p:blipFill>
        <p:spPr>
          <a:xfrm>
            <a:off x="2763164" y="3735693"/>
            <a:ext cx="955044" cy="250818"/>
          </a:xfrm>
          <a:prstGeom prst="rect">
            <a:avLst/>
          </a:prstGeom>
        </p:spPr>
      </p:pic>
      <p:pic>
        <p:nvPicPr>
          <p:cNvPr id="11" name="object 6">
            <a:extLst>
              <a:ext uri="{FF2B5EF4-FFF2-40B4-BE49-F238E27FC236}">
                <a16:creationId xmlns:a16="http://schemas.microsoft.com/office/drawing/2014/main" id="{A7BDC517-233B-6654-64CD-7A0A30C7F080}"/>
              </a:ext>
            </a:extLst>
          </p:cNvPr>
          <p:cNvPicPr/>
          <p:nvPr/>
        </p:nvPicPr>
        <p:blipFill>
          <a:blip r:embed="rId26" cstate="print"/>
          <a:stretch>
            <a:fillRect/>
          </a:stretch>
        </p:blipFill>
        <p:spPr>
          <a:xfrm>
            <a:off x="3708407" y="3470881"/>
            <a:ext cx="764519" cy="276354"/>
          </a:xfrm>
          <a:prstGeom prst="rect">
            <a:avLst/>
          </a:prstGeom>
        </p:spPr>
      </p:pic>
      <p:pic>
        <p:nvPicPr>
          <p:cNvPr id="38" name="Picture 37">
            <a:extLst>
              <a:ext uri="{FF2B5EF4-FFF2-40B4-BE49-F238E27FC236}">
                <a16:creationId xmlns:a16="http://schemas.microsoft.com/office/drawing/2014/main" id="{E3B07F8C-D42D-04FB-088C-AEFF9524A82D}"/>
              </a:ext>
            </a:extLst>
          </p:cNvPr>
          <p:cNvPicPr>
            <a:picLocks noChangeAspect="1"/>
          </p:cNvPicPr>
          <p:nvPr/>
        </p:nvPicPr>
        <p:blipFill>
          <a:blip r:embed="rId27"/>
          <a:stretch>
            <a:fillRect/>
          </a:stretch>
        </p:blipFill>
        <p:spPr>
          <a:xfrm>
            <a:off x="2833681" y="5300831"/>
            <a:ext cx="986412" cy="261548"/>
          </a:xfrm>
          <a:prstGeom prst="rect">
            <a:avLst/>
          </a:prstGeom>
        </p:spPr>
      </p:pic>
      <p:pic>
        <p:nvPicPr>
          <p:cNvPr id="44" name="Picture 43">
            <a:extLst>
              <a:ext uri="{FF2B5EF4-FFF2-40B4-BE49-F238E27FC236}">
                <a16:creationId xmlns:a16="http://schemas.microsoft.com/office/drawing/2014/main" id="{C3146C10-49F2-C8FE-CFF0-D6A9BEBFE61F}"/>
              </a:ext>
            </a:extLst>
          </p:cNvPr>
          <p:cNvPicPr>
            <a:picLocks noChangeAspect="1"/>
          </p:cNvPicPr>
          <p:nvPr/>
        </p:nvPicPr>
        <p:blipFill>
          <a:blip r:embed="rId28"/>
          <a:stretch>
            <a:fillRect/>
          </a:stretch>
        </p:blipFill>
        <p:spPr>
          <a:xfrm>
            <a:off x="3313241" y="4465535"/>
            <a:ext cx="985069" cy="301527"/>
          </a:xfrm>
          <a:prstGeom prst="rect">
            <a:avLst/>
          </a:prstGeom>
        </p:spPr>
      </p:pic>
      <p:pic>
        <p:nvPicPr>
          <p:cNvPr id="46" name="Picture 45">
            <a:extLst>
              <a:ext uri="{FF2B5EF4-FFF2-40B4-BE49-F238E27FC236}">
                <a16:creationId xmlns:a16="http://schemas.microsoft.com/office/drawing/2014/main" id="{009B3873-2446-A9DE-66F7-FF53D0BCB6A5}"/>
              </a:ext>
            </a:extLst>
          </p:cNvPr>
          <p:cNvPicPr>
            <a:picLocks noChangeAspect="1"/>
          </p:cNvPicPr>
          <p:nvPr/>
        </p:nvPicPr>
        <p:blipFill>
          <a:blip r:embed="rId29"/>
          <a:stretch>
            <a:fillRect/>
          </a:stretch>
        </p:blipFill>
        <p:spPr>
          <a:xfrm>
            <a:off x="2762246" y="1932798"/>
            <a:ext cx="1597290" cy="652329"/>
          </a:xfrm>
          <a:prstGeom prst="rect">
            <a:avLst/>
          </a:prstGeom>
        </p:spPr>
      </p:pic>
      <p:cxnSp>
        <p:nvCxnSpPr>
          <p:cNvPr id="48" name="LineBasicStrong 36">
            <a:extLst>
              <a:ext uri="{FF2B5EF4-FFF2-40B4-BE49-F238E27FC236}">
                <a16:creationId xmlns:a16="http://schemas.microsoft.com/office/drawing/2014/main" id="{7DB17E1D-3BC7-5C72-C6E3-88E08A4AE998}"/>
              </a:ext>
            </a:extLst>
          </p:cNvPr>
          <p:cNvCxnSpPr>
            <a:cxnSpLocks/>
          </p:cNvCxnSpPr>
          <p:nvPr>
            <p:custDataLst>
              <p:tags r:id="rId11"/>
            </p:custDataLst>
          </p:nvPr>
        </p:nvCxnSpPr>
        <p:spPr>
          <a:xfrm>
            <a:off x="521108" y="6406200"/>
            <a:ext cx="11107012" cy="0"/>
          </a:xfrm>
          <a:prstGeom prst="straightConnector1">
            <a:avLst/>
          </a:prstGeom>
          <a:ln w="12700" cap="sq">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53" name="Picture 52">
            <a:extLst>
              <a:ext uri="{FF2B5EF4-FFF2-40B4-BE49-F238E27FC236}">
                <a16:creationId xmlns:a16="http://schemas.microsoft.com/office/drawing/2014/main" id="{9281C5C0-3588-43FD-7888-D660DF0F5761}"/>
              </a:ext>
            </a:extLst>
          </p:cNvPr>
          <p:cNvPicPr>
            <a:picLocks noChangeAspect="1"/>
          </p:cNvPicPr>
          <p:nvPr/>
        </p:nvPicPr>
        <p:blipFill>
          <a:blip r:embed="rId30"/>
          <a:stretch>
            <a:fillRect/>
          </a:stretch>
        </p:blipFill>
        <p:spPr>
          <a:xfrm>
            <a:off x="3550454" y="4920148"/>
            <a:ext cx="650315" cy="311609"/>
          </a:xfrm>
          <a:prstGeom prst="rect">
            <a:avLst/>
          </a:prstGeom>
        </p:spPr>
      </p:pic>
      <p:sp>
        <p:nvSpPr>
          <p:cNvPr id="61" name="TextBox 60">
            <a:extLst>
              <a:ext uri="{FF2B5EF4-FFF2-40B4-BE49-F238E27FC236}">
                <a16:creationId xmlns:a16="http://schemas.microsoft.com/office/drawing/2014/main" id="{3CF16786-E40A-6E60-2E9C-CB27CB121FB3}"/>
              </a:ext>
            </a:extLst>
          </p:cNvPr>
          <p:cNvSpPr txBox="1"/>
          <p:nvPr/>
        </p:nvSpPr>
        <p:spPr>
          <a:xfrm>
            <a:off x="9000901" y="1462876"/>
            <a:ext cx="1926843" cy="215444"/>
          </a:xfrm>
          <a:prstGeom prst="rect">
            <a:avLst/>
          </a:prstGeom>
        </p:spPr>
        <p:txBody>
          <a:bodyPr vert="horz" wrap="square" lIns="0" tIns="0" rIns="0" bIns="0" rtlCol="0">
            <a:spAutoFit/>
          </a:bodyPr>
          <a:lstStyle>
            <a:defPPr>
              <a:defRPr lang="en-US"/>
            </a:defPPr>
            <a:lvl1pPr lvl="0" indent="0">
              <a:lnSpc>
                <a:spcPct val="100000"/>
              </a:lnSpc>
              <a:spcBef>
                <a:spcPts val="300"/>
              </a:spcBef>
              <a:spcAft>
                <a:spcPts val="300"/>
              </a:spcAft>
              <a:buFont typeface="Segoe UI" panose="020B0502040204020203" pitchFamily="34" charset="0"/>
              <a:buChar char="​"/>
              <a:defRPr sz="1400" b="1">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sz="140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de-DE"/>
              <a:t>Considerations</a:t>
            </a:r>
          </a:p>
        </p:txBody>
      </p:sp>
      <p:sp>
        <p:nvSpPr>
          <p:cNvPr id="62" name="TextBox 61">
            <a:extLst>
              <a:ext uri="{FF2B5EF4-FFF2-40B4-BE49-F238E27FC236}">
                <a16:creationId xmlns:a16="http://schemas.microsoft.com/office/drawing/2014/main" id="{5272415D-991E-7031-71FE-F984327616CE}"/>
              </a:ext>
            </a:extLst>
          </p:cNvPr>
          <p:cNvSpPr txBox="1"/>
          <p:nvPr/>
        </p:nvSpPr>
        <p:spPr>
          <a:xfrm>
            <a:off x="9000901" y="1752863"/>
            <a:ext cx="2701102" cy="68480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t>More complicated journey </a:t>
            </a:r>
            <a:br>
              <a:rPr lang="en-US"/>
            </a:br>
            <a:r>
              <a:rPr lang="en-US"/>
              <a:t>than Apple/Samsung pay</a:t>
            </a:r>
          </a:p>
          <a:p>
            <a:pPr lvl="1"/>
            <a:r>
              <a:rPr lang="en-US"/>
              <a:t>Requires merchant acquisition</a:t>
            </a:r>
          </a:p>
        </p:txBody>
      </p:sp>
      <p:sp>
        <p:nvSpPr>
          <p:cNvPr id="63" name="TextBox 62">
            <a:extLst>
              <a:ext uri="{FF2B5EF4-FFF2-40B4-BE49-F238E27FC236}">
                <a16:creationId xmlns:a16="http://schemas.microsoft.com/office/drawing/2014/main" id="{624D26D2-F55C-20D5-825A-14744D80DDD0}"/>
              </a:ext>
            </a:extLst>
          </p:cNvPr>
          <p:cNvSpPr txBox="1"/>
          <p:nvPr/>
        </p:nvSpPr>
        <p:spPr>
          <a:xfrm>
            <a:off x="9000901" y="2574667"/>
            <a:ext cx="2587587"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t>Requires complex app and POS terminal development</a:t>
            </a:r>
          </a:p>
        </p:txBody>
      </p:sp>
      <p:sp>
        <p:nvSpPr>
          <p:cNvPr id="1024" name="TextBox 1023">
            <a:extLst>
              <a:ext uri="{FF2B5EF4-FFF2-40B4-BE49-F238E27FC236}">
                <a16:creationId xmlns:a16="http://schemas.microsoft.com/office/drawing/2014/main" id="{DF026502-1E26-030E-59A1-492860C42F86}"/>
              </a:ext>
            </a:extLst>
          </p:cNvPr>
          <p:cNvSpPr txBox="1"/>
          <p:nvPr/>
        </p:nvSpPr>
        <p:spPr>
          <a:xfrm>
            <a:off x="9000901" y="3340149"/>
            <a:ext cx="2587587"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t>Involves physical hardware logistics (manufacturing, inventory, distribution)</a:t>
            </a:r>
          </a:p>
        </p:txBody>
      </p:sp>
      <p:sp>
        <p:nvSpPr>
          <p:cNvPr id="1025" name="TextBox 1024">
            <a:extLst>
              <a:ext uri="{FF2B5EF4-FFF2-40B4-BE49-F238E27FC236}">
                <a16:creationId xmlns:a16="http://schemas.microsoft.com/office/drawing/2014/main" id="{D359A7E7-B39D-68D9-9717-4D1804CD836C}"/>
              </a:ext>
            </a:extLst>
          </p:cNvPr>
          <p:cNvSpPr txBox="1"/>
          <p:nvPr/>
        </p:nvSpPr>
        <p:spPr>
          <a:xfrm>
            <a:off x="9000902" y="4110155"/>
            <a:ext cx="2587586" cy="68480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t>Significant CAPEX required for terminal upgrades</a:t>
            </a:r>
          </a:p>
          <a:p>
            <a:pPr lvl="1"/>
            <a:r>
              <a:rPr lang="en-US"/>
              <a:t>Needs strong data protection</a:t>
            </a:r>
          </a:p>
        </p:txBody>
      </p:sp>
      <p:sp>
        <p:nvSpPr>
          <p:cNvPr id="1028" name="TextBox 1027">
            <a:extLst>
              <a:ext uri="{FF2B5EF4-FFF2-40B4-BE49-F238E27FC236}">
                <a16:creationId xmlns:a16="http://schemas.microsoft.com/office/drawing/2014/main" id="{D6897E8A-7F9A-3F70-4128-10360EC67210}"/>
              </a:ext>
            </a:extLst>
          </p:cNvPr>
          <p:cNvSpPr txBox="1"/>
          <p:nvPr/>
        </p:nvSpPr>
        <p:spPr>
          <a:xfrm>
            <a:off x="9000902" y="4885659"/>
            <a:ext cx="2816850" cy="46935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t>Dependent on POS upgrades</a:t>
            </a:r>
          </a:p>
          <a:p>
            <a:pPr lvl="1"/>
            <a:r>
              <a:rPr lang="en-US"/>
              <a:t>Often needs govt support</a:t>
            </a:r>
          </a:p>
        </p:txBody>
      </p:sp>
      <p:sp>
        <p:nvSpPr>
          <p:cNvPr id="1029" name="TextBox 1028">
            <a:extLst>
              <a:ext uri="{FF2B5EF4-FFF2-40B4-BE49-F238E27FC236}">
                <a16:creationId xmlns:a16="http://schemas.microsoft.com/office/drawing/2014/main" id="{594E6984-C154-ACB8-AB90-AC6A7C1B71AF}"/>
              </a:ext>
            </a:extLst>
          </p:cNvPr>
          <p:cNvSpPr txBox="1"/>
          <p:nvPr/>
        </p:nvSpPr>
        <p:spPr>
          <a:xfrm>
            <a:off x="9000902" y="5673322"/>
            <a:ext cx="2636362" cy="6463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1pPr>
            <a:lvl2pPr marL="230396" lvl="1" indent="-226796">
              <a:lnSpc>
                <a:spcPct val="100000"/>
              </a:lnSpc>
              <a:spcBef>
                <a:spcPts val="0"/>
              </a:spcBef>
              <a:spcAft>
                <a:spcPts val="300"/>
              </a:spcAft>
              <a:buClr>
                <a:schemeClr val="tx1"/>
              </a:buClr>
              <a:buSzPct val="110000"/>
              <a:buFont typeface="Wingdings" panose="05000000000000000000" pitchFamily="2" charset="2"/>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2pPr>
            <a:lvl3pPr marL="442793" lvl="2" indent="-215997">
              <a:lnSpc>
                <a:spcPct val="100000"/>
              </a:lnSpc>
              <a:spcBef>
                <a:spcPts val="0"/>
              </a:spcBef>
              <a:spcAft>
                <a:spcPts val="300"/>
              </a:spcAft>
              <a:buClr>
                <a:schemeClr val="tx1"/>
              </a:buClr>
              <a:buSzPct val="11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3pPr>
            <a:lvl4pPr marL="597590" lvl="3" indent="-1511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4pPr>
            <a:lvl5pPr marL="817187" lvl="4" indent="-147598">
              <a:lnSpc>
                <a:spcPct val="100000"/>
              </a:lnSpc>
              <a:spcBef>
                <a:spcPts val="0"/>
              </a:spcBef>
              <a:spcAft>
                <a:spcPts val="300"/>
              </a:spcAft>
              <a:buClr>
                <a:schemeClr val="tx1"/>
              </a:buClr>
              <a:buSzPct val="100000"/>
              <a:buFont typeface="Arial" panose="020B0604020202020204" pitchFamily="34" charset="0"/>
              <a:buChar char="̶"/>
              <a:defRPr lang="en-US" sz="1400" dirty="0">
                <a:solidFill>
                  <a:srgbClr val="191C1E"/>
                </a:solidFill>
                <a:latin typeface="Tahoma" panose="020B0604030504040204" pitchFamily="34" charset="0"/>
                <a:ea typeface="Tahoma" panose="020B0604030504040204" pitchFamily="34" charset="0"/>
                <a:cs typeface="Tahom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a:t>Direct bank transfers eliminates card swipe fees requiring new monetization</a:t>
            </a:r>
          </a:p>
        </p:txBody>
      </p:sp>
    </p:spTree>
    <p:extLst>
      <p:ext uri="{BB962C8B-B14F-4D97-AF65-F5344CB8AC3E}">
        <p14:creationId xmlns:p14="http://schemas.microsoft.com/office/powerpoint/2010/main" val="736584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BF8E6-96A1-977F-D462-75DE32003317}"/>
            </a:ext>
          </a:extLst>
        </p:cNvPr>
        <p:cNvGrpSpPr/>
        <p:nvPr/>
      </p:nvGrpSpPr>
      <p:grpSpPr>
        <a:xfrm>
          <a:off x="0" y="0"/>
          <a:ext cx="0" cy="0"/>
          <a:chOff x="0" y="0"/>
          <a:chExt cx="0" cy="0"/>
        </a:xfrm>
      </p:grpSpPr>
      <p:graphicFrame>
        <p:nvGraphicFramePr>
          <p:cNvPr id="24" name="Object 2" hidden="1">
            <a:extLst>
              <a:ext uri="{FF2B5EF4-FFF2-40B4-BE49-F238E27FC236}">
                <a16:creationId xmlns:a16="http://schemas.microsoft.com/office/drawing/2014/main" id="{24AEE09A-2255-03BD-3154-DC72C6890C7B}"/>
              </a:ext>
            </a:extLst>
          </p:cNvPr>
          <p:cNvGraphicFramePr>
            <a:graphicFrameLocks noChangeAspect="1"/>
          </p:cNvGraphicFramePr>
          <p:nvPr>
            <p:custDataLst>
              <p:tags r:id="rId1"/>
            </p:custDataLst>
            <p:extLst>
              <p:ext uri="{D42A27DB-BD31-4B8C-83A1-F6EECF244321}">
                <p14:modId xmlns:p14="http://schemas.microsoft.com/office/powerpoint/2010/main" val="6291447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04" imgH="405" progId="TCLayout.ActiveDocument.1">
                  <p:embed/>
                </p:oleObj>
              </mc:Choice>
              <mc:Fallback>
                <p:oleObj name="think-cell Slide" r:id="rId12" imgW="404" imgH="405" progId="TCLayout.ActiveDocument.1">
                  <p:embed/>
                  <p:pic>
                    <p:nvPicPr>
                      <p:cNvPr id="24" name="Object 2" hidden="1">
                        <a:extLst>
                          <a:ext uri="{FF2B5EF4-FFF2-40B4-BE49-F238E27FC236}">
                            <a16:creationId xmlns:a16="http://schemas.microsoft.com/office/drawing/2014/main" id="{24AEE09A-2255-03BD-3154-DC72C6890C7B}"/>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4" name="2. Slide Title">
            <a:extLst>
              <a:ext uri="{FF2B5EF4-FFF2-40B4-BE49-F238E27FC236}">
                <a16:creationId xmlns:a16="http://schemas.microsoft.com/office/drawing/2014/main" id="{599D89AE-68ED-7C63-021E-120EDDB9EA98}"/>
              </a:ext>
            </a:extLst>
          </p:cNvPr>
          <p:cNvSpPr>
            <a:spLocks noGrp="1"/>
          </p:cNvSpPr>
          <p:nvPr>
            <p:ph type="title"/>
            <p:custDataLst>
              <p:tags r:id="rId2"/>
            </p:custDataLst>
          </p:nvPr>
        </p:nvSpPr>
        <p:spPr>
          <a:xfrm>
            <a:off x="547688" y="226624"/>
            <a:ext cx="6967728" cy="677108"/>
          </a:xfrm>
          <a:noFill/>
          <a:ln/>
          <a:extLst>
            <a:ext uri="{909E8E84-426E-40DD-AFC4-6F175D3DCCD1}">
              <a14:hiddenFill xmlns:a14="http://schemas.microsoft.com/office/drawing/2010/main">
                <a:solidFill>
                  <a:srgbClr val="FFFFFF"/>
                </a:solidFill>
              </a14:hiddenFill>
            </a:ext>
          </a:extLst>
        </p:spPr>
        <p:txBody>
          <a:bodyPr vert="horz"/>
          <a:lstStyle/>
          <a:p>
            <a:r>
              <a:rPr lang="en-US" dirty="0"/>
              <a:t>Alipay embeds payments, services, and finance within its wallet service</a:t>
            </a:r>
            <a:endParaRPr lang="de-DE" dirty="0"/>
          </a:p>
        </p:txBody>
      </p:sp>
      <p:sp>
        <p:nvSpPr>
          <p:cNvPr id="2" name="Subtitle 1">
            <a:extLst>
              <a:ext uri="{FF2B5EF4-FFF2-40B4-BE49-F238E27FC236}">
                <a16:creationId xmlns:a16="http://schemas.microsoft.com/office/drawing/2014/main" id="{5384894C-E1F2-2D4B-2D89-172B466A03C6}"/>
              </a:ext>
            </a:extLst>
          </p:cNvPr>
          <p:cNvSpPr>
            <a:spLocks noGrp="1"/>
          </p:cNvSpPr>
          <p:nvPr>
            <p:ph type="subTitle" idx="1"/>
          </p:nvPr>
        </p:nvSpPr>
        <p:spPr/>
        <p:txBody>
          <a:bodyPr/>
          <a:lstStyle/>
          <a:p>
            <a:endParaRPr lang="en-GB"/>
          </a:p>
        </p:txBody>
      </p:sp>
      <p:sp>
        <p:nvSpPr>
          <p:cNvPr id="3" name="Text Placeholder 2">
            <a:extLst>
              <a:ext uri="{FF2B5EF4-FFF2-40B4-BE49-F238E27FC236}">
                <a16:creationId xmlns:a16="http://schemas.microsoft.com/office/drawing/2014/main" id="{8181D37E-0306-0172-7CDB-D4CB81CFFFC4}"/>
              </a:ext>
            </a:extLst>
          </p:cNvPr>
          <p:cNvSpPr>
            <a:spLocks noGrp="1"/>
          </p:cNvSpPr>
          <p:nvPr>
            <p:ph type="body" sz="quarter" idx="10"/>
          </p:nvPr>
        </p:nvSpPr>
        <p:spPr/>
        <p:txBody>
          <a:bodyPr/>
          <a:lstStyle/>
          <a:p>
            <a:endParaRPr lang="en-GB"/>
          </a:p>
        </p:txBody>
      </p:sp>
      <p:pic>
        <p:nvPicPr>
          <p:cNvPr id="21" name="Picture 6">
            <a:extLst>
              <a:ext uri="{FF2B5EF4-FFF2-40B4-BE49-F238E27FC236}">
                <a16:creationId xmlns:a16="http://schemas.microsoft.com/office/drawing/2014/main" id="{6E8AD729-BEC8-1F52-B504-AA898C65C8C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33745" y="706447"/>
            <a:ext cx="1206231" cy="305549"/>
          </a:xfrm>
          <a:prstGeom prst="rect">
            <a:avLst/>
          </a:prstGeom>
          <a:noFill/>
          <a:extLst>
            <a:ext uri="{909E8E84-426E-40DD-AFC4-6F175D3DCCD1}">
              <a14:hiddenFill xmlns:a14="http://schemas.microsoft.com/office/drawing/2010/main">
                <a:solidFill>
                  <a:srgbClr val="FFFFFF"/>
                </a:solidFill>
              </a14:hiddenFill>
            </a:ext>
          </a:extLst>
        </p:spPr>
      </p:pic>
      <p:sp>
        <p:nvSpPr>
          <p:cNvPr id="22" name="5. Source">
            <a:extLst>
              <a:ext uri="{FF2B5EF4-FFF2-40B4-BE49-F238E27FC236}">
                <a16:creationId xmlns:a16="http://schemas.microsoft.com/office/drawing/2014/main" id="{2B0676B3-5889-4BFF-F33F-F7DB0B9E7FB5}"/>
              </a:ext>
            </a:extLst>
          </p:cNvPr>
          <p:cNvSpPr txBox="1"/>
          <p:nvPr>
            <p:custDataLst>
              <p:tags r:id="rId3"/>
            </p:custDataLst>
          </p:nvPr>
        </p:nvSpPr>
        <p:spPr>
          <a:xfrm>
            <a:off x="554735" y="6536453"/>
            <a:ext cx="6967729"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effectLst/>
                <a:uLnTx/>
                <a:uFillTx/>
                <a:ea typeface="+mn-ea"/>
                <a:cs typeface="Arial" panose="020B0604020202020204" pitchFamily="34" charset="0"/>
              </a:rPr>
              <a:t>Source: Expert interviews, press search, web search</a:t>
            </a:r>
          </a:p>
        </p:txBody>
      </p:sp>
      <p:sp>
        <p:nvSpPr>
          <p:cNvPr id="60" name="TextBox 59">
            <a:extLst>
              <a:ext uri="{FF2B5EF4-FFF2-40B4-BE49-F238E27FC236}">
                <a16:creationId xmlns:a16="http://schemas.microsoft.com/office/drawing/2014/main" id="{155E8F0A-88EC-1AF6-46A9-B4273AE7DB96}"/>
              </a:ext>
            </a:extLst>
          </p:cNvPr>
          <p:cNvSpPr txBox="1">
            <a:spLocks/>
          </p:cNvSpPr>
          <p:nvPr/>
        </p:nvSpPr>
        <p:spPr>
          <a:xfrm>
            <a:off x="1225296" y="2873805"/>
            <a:ext cx="6297166" cy="60016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chemeClr val="tx1"/>
              </a:buClr>
              <a:buNone/>
            </a:pPr>
            <a:r>
              <a:rPr lang="en-US" sz="1300" b="1"/>
              <a:t>Payments: </a:t>
            </a:r>
            <a:r>
              <a:rPr lang="en-US" sz="1300"/>
              <a:t>Alipay allows users to </a:t>
            </a:r>
            <a:r>
              <a:rPr lang="en-US" sz="1300" b="1"/>
              <a:t>make payments within their Alipay app, web, and / or mobile channels</a:t>
            </a:r>
            <a:r>
              <a:rPr lang="en-US" sz="1300"/>
              <a:t>, without charging MDR. </a:t>
            </a:r>
          </a:p>
          <a:p>
            <a:pPr>
              <a:buClr>
                <a:schemeClr val="tx1"/>
              </a:buClr>
              <a:buNone/>
            </a:pPr>
            <a:r>
              <a:rPr lang="en-US" sz="1300"/>
              <a:t>The app mainly leverages </a:t>
            </a:r>
            <a:r>
              <a:rPr lang="en-US" sz="1300" b="1"/>
              <a:t>QR code and own tap-to-pay capabilities</a:t>
            </a:r>
            <a:r>
              <a:rPr lang="en-US" sz="1300"/>
              <a:t> to enable most in-person transactions in China</a:t>
            </a:r>
          </a:p>
        </p:txBody>
      </p:sp>
      <p:grpSp>
        <p:nvGrpSpPr>
          <p:cNvPr id="75" name="CustomIcon">
            <a:extLst>
              <a:ext uri="{FF2B5EF4-FFF2-40B4-BE49-F238E27FC236}">
                <a16:creationId xmlns:a16="http://schemas.microsoft.com/office/drawing/2014/main" id="{3B17A663-E333-A1E3-A3CE-DDB6117E11D9}"/>
              </a:ext>
            </a:extLst>
          </p:cNvPr>
          <p:cNvGrpSpPr>
            <a:grpSpLocks/>
          </p:cNvGrpSpPr>
          <p:nvPr>
            <p:custDataLst>
              <p:tags r:id="rId4"/>
            </p:custDataLst>
          </p:nvPr>
        </p:nvGrpSpPr>
        <p:grpSpPr>
          <a:xfrm>
            <a:off x="554735" y="2931694"/>
            <a:ext cx="484387" cy="484387"/>
            <a:chOff x="-205105" y="-205105"/>
            <a:chExt cx="1019810" cy="1019810"/>
          </a:xfrm>
          <a:solidFill>
            <a:schemeClr val="bg1"/>
          </a:solidFill>
        </p:grpSpPr>
        <p:sp>
          <p:nvSpPr>
            <p:cNvPr id="72" name="Oval 71">
              <a:extLst>
                <a:ext uri="{FF2B5EF4-FFF2-40B4-BE49-F238E27FC236}">
                  <a16:creationId xmlns:a16="http://schemas.microsoft.com/office/drawing/2014/main" id="{DC5E9C31-E634-DB36-AFE6-7695E3740408}"/>
                </a:ext>
              </a:extLst>
            </p:cNvPr>
            <p:cNvSpPr>
              <a:spLocks noChangeAspect="1"/>
            </p:cNvSpPr>
            <p:nvPr/>
          </p:nvSpPr>
          <p:spPr>
            <a:xfrm>
              <a:off x="-205105" y="-205105"/>
              <a:ext cx="1019810" cy="1019810"/>
            </a:xfrm>
            <a:prstGeom prst="ellipse">
              <a:avLst/>
            </a:prstGeom>
            <a:grp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300" err="1">
                <a:solidFill>
                  <a:schemeClr val="bg1"/>
                </a:solidFill>
              </a:endParaRPr>
            </a:p>
          </p:txBody>
        </p:sp>
        <p:pic>
          <p:nvPicPr>
            <p:cNvPr id="74" name="Graphic 73">
              <a:extLst>
                <a:ext uri="{FF2B5EF4-FFF2-40B4-BE49-F238E27FC236}">
                  <a16:creationId xmlns:a16="http://schemas.microsoft.com/office/drawing/2014/main" id="{DAC1794D-EAC2-C552-F363-88B86133B47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0" y="0"/>
              <a:ext cx="609600" cy="609600"/>
            </a:xfrm>
            <a:prstGeom prst="rect">
              <a:avLst/>
            </a:prstGeom>
          </p:spPr>
        </p:pic>
      </p:grpSp>
      <p:sp>
        <p:nvSpPr>
          <p:cNvPr id="62" name="TextBox 61">
            <a:extLst>
              <a:ext uri="{FF2B5EF4-FFF2-40B4-BE49-F238E27FC236}">
                <a16:creationId xmlns:a16="http://schemas.microsoft.com/office/drawing/2014/main" id="{1A58298E-FB23-979C-26A8-4ACC47774384}"/>
              </a:ext>
            </a:extLst>
          </p:cNvPr>
          <p:cNvSpPr txBox="1">
            <a:spLocks/>
          </p:cNvSpPr>
          <p:nvPr/>
        </p:nvSpPr>
        <p:spPr>
          <a:xfrm>
            <a:off x="1225296" y="4045689"/>
            <a:ext cx="6297166" cy="60016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chemeClr val="tx1"/>
              </a:buClr>
              <a:buNone/>
            </a:pPr>
            <a:r>
              <a:rPr lang="en-US" sz="1300" b="1"/>
              <a:t>Life services: </a:t>
            </a:r>
            <a:r>
              <a:rPr lang="en-US" sz="1300"/>
              <a:t>Users can </a:t>
            </a:r>
            <a:r>
              <a:rPr lang="en-US" sz="1300" b="1"/>
              <a:t>access 1,000+ </a:t>
            </a:r>
            <a:r>
              <a:rPr lang="en-US" sz="1300" b="1" i="0">
                <a:effectLst/>
              </a:rPr>
              <a:t>services</a:t>
            </a:r>
            <a:r>
              <a:rPr lang="en-US" sz="1300"/>
              <a:t>. </a:t>
            </a:r>
            <a:r>
              <a:rPr lang="en-US" sz="1300" b="0" i="0">
                <a:effectLst/>
              </a:rPr>
              <a:t>Alipay </a:t>
            </a:r>
            <a:r>
              <a:rPr lang="en-US" sz="1300" b="1" i="0">
                <a:effectLst/>
              </a:rPr>
              <a:t>integrates with 3</a:t>
            </a:r>
            <a:r>
              <a:rPr lang="en-US" sz="1300" b="1" i="0" baseline="30000">
                <a:effectLst/>
              </a:rPr>
              <a:t>rd</a:t>
            </a:r>
            <a:r>
              <a:rPr lang="en-US" sz="1300" b="1" i="0">
                <a:effectLst/>
              </a:rPr>
              <a:t> party offerings </a:t>
            </a:r>
            <a:r>
              <a:rPr lang="en-US" sz="1300" b="0" i="0">
                <a:effectLst/>
              </a:rPr>
              <a:t>such as Uber, </a:t>
            </a:r>
            <a:r>
              <a:rPr lang="en-US" sz="1300" b="0" i="0" err="1">
                <a:effectLst/>
              </a:rPr>
              <a:t>TMall</a:t>
            </a:r>
            <a:r>
              <a:rPr lang="en-US" sz="1300" b="0" i="0">
                <a:effectLst/>
              </a:rPr>
              <a:t>, and Taobao </a:t>
            </a:r>
            <a:r>
              <a:rPr lang="en-US" sz="1300" i="0">
                <a:effectLst/>
              </a:rPr>
              <a:t>through APIs</a:t>
            </a:r>
          </a:p>
        </p:txBody>
      </p:sp>
      <p:grpSp>
        <p:nvGrpSpPr>
          <p:cNvPr id="79" name="CustomIcon">
            <a:extLst>
              <a:ext uri="{FF2B5EF4-FFF2-40B4-BE49-F238E27FC236}">
                <a16:creationId xmlns:a16="http://schemas.microsoft.com/office/drawing/2014/main" id="{19A6CEC4-330F-E79C-5B37-E18E89054C2F}"/>
              </a:ext>
            </a:extLst>
          </p:cNvPr>
          <p:cNvGrpSpPr>
            <a:grpSpLocks/>
          </p:cNvGrpSpPr>
          <p:nvPr>
            <p:custDataLst>
              <p:tags r:id="rId5"/>
            </p:custDataLst>
          </p:nvPr>
        </p:nvGrpSpPr>
        <p:grpSpPr>
          <a:xfrm>
            <a:off x="554735" y="4054418"/>
            <a:ext cx="484387" cy="484387"/>
            <a:chOff x="-205105" y="-205105"/>
            <a:chExt cx="1019810" cy="1019810"/>
          </a:xfrm>
          <a:solidFill>
            <a:schemeClr val="bg1"/>
          </a:solidFill>
        </p:grpSpPr>
        <p:sp>
          <p:nvSpPr>
            <p:cNvPr id="76" name="Oval 75">
              <a:extLst>
                <a:ext uri="{FF2B5EF4-FFF2-40B4-BE49-F238E27FC236}">
                  <a16:creationId xmlns:a16="http://schemas.microsoft.com/office/drawing/2014/main" id="{F2507DA5-D95E-6EEC-21C0-6FD6CD6BFEF3}"/>
                </a:ext>
              </a:extLst>
            </p:cNvPr>
            <p:cNvSpPr>
              <a:spLocks noChangeAspect="1"/>
            </p:cNvSpPr>
            <p:nvPr/>
          </p:nvSpPr>
          <p:spPr>
            <a:xfrm>
              <a:off x="-205105" y="-205105"/>
              <a:ext cx="1019810" cy="1019810"/>
            </a:xfrm>
            <a:prstGeom prst="ellipse">
              <a:avLst/>
            </a:prstGeom>
            <a:grp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300" err="1">
                <a:solidFill>
                  <a:schemeClr val="bg1"/>
                </a:solidFill>
              </a:endParaRPr>
            </a:p>
          </p:txBody>
        </p:sp>
        <p:pic>
          <p:nvPicPr>
            <p:cNvPr id="78" name="Graphic 77">
              <a:extLst>
                <a:ext uri="{FF2B5EF4-FFF2-40B4-BE49-F238E27FC236}">
                  <a16:creationId xmlns:a16="http://schemas.microsoft.com/office/drawing/2014/main" id="{C7DB09FA-DF82-274D-3CCE-31521008BBB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0" y="0"/>
              <a:ext cx="609600" cy="609600"/>
            </a:xfrm>
            <a:prstGeom prst="rect">
              <a:avLst/>
            </a:prstGeom>
          </p:spPr>
        </p:pic>
      </p:grpSp>
      <p:sp>
        <p:nvSpPr>
          <p:cNvPr id="63" name="TextBox 62">
            <a:extLst>
              <a:ext uri="{FF2B5EF4-FFF2-40B4-BE49-F238E27FC236}">
                <a16:creationId xmlns:a16="http://schemas.microsoft.com/office/drawing/2014/main" id="{782C0F37-D7C5-72C3-8289-F4DA8560DD8B}"/>
              </a:ext>
            </a:extLst>
          </p:cNvPr>
          <p:cNvSpPr txBox="1">
            <a:spLocks/>
          </p:cNvSpPr>
          <p:nvPr/>
        </p:nvSpPr>
        <p:spPr>
          <a:xfrm>
            <a:off x="1225296" y="4745624"/>
            <a:ext cx="6297166" cy="60016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chemeClr val="tx1"/>
              </a:buClr>
              <a:buNone/>
            </a:pPr>
            <a:r>
              <a:rPr lang="en-US" sz="1300" b="1" i="0">
                <a:effectLst/>
              </a:rPr>
              <a:t>Financial services: </a:t>
            </a:r>
            <a:r>
              <a:rPr lang="en-US" sz="1300" i="0">
                <a:effectLst/>
              </a:rPr>
              <a:t>Users can access </a:t>
            </a:r>
            <a:r>
              <a:rPr lang="en-US" sz="1300" b="1" i="0">
                <a:effectLst/>
              </a:rPr>
              <a:t>financial management products </a:t>
            </a:r>
            <a:r>
              <a:rPr lang="en-US" sz="1300" b="0" i="0">
                <a:effectLst/>
              </a:rPr>
              <a:t>(e.g., wealth management products, lending). Alipay also provides advanced encryption, risk management, and real-time transaction monitoring</a:t>
            </a:r>
          </a:p>
        </p:txBody>
      </p:sp>
      <p:grpSp>
        <p:nvGrpSpPr>
          <p:cNvPr id="83" name="CustomIcon">
            <a:extLst>
              <a:ext uri="{FF2B5EF4-FFF2-40B4-BE49-F238E27FC236}">
                <a16:creationId xmlns:a16="http://schemas.microsoft.com/office/drawing/2014/main" id="{786BCE94-2951-9B17-8B10-B3BACB92A0C7}"/>
              </a:ext>
            </a:extLst>
          </p:cNvPr>
          <p:cNvGrpSpPr>
            <a:grpSpLocks/>
          </p:cNvGrpSpPr>
          <p:nvPr>
            <p:custDataLst>
              <p:tags r:id="rId6"/>
            </p:custDataLst>
          </p:nvPr>
        </p:nvGrpSpPr>
        <p:grpSpPr>
          <a:xfrm>
            <a:off x="554735" y="4803513"/>
            <a:ext cx="484387" cy="484387"/>
            <a:chOff x="-205105" y="-205105"/>
            <a:chExt cx="1019810" cy="1019810"/>
          </a:xfrm>
          <a:solidFill>
            <a:schemeClr val="bg1"/>
          </a:solidFill>
        </p:grpSpPr>
        <p:sp>
          <p:nvSpPr>
            <p:cNvPr id="80" name="Oval 79">
              <a:extLst>
                <a:ext uri="{FF2B5EF4-FFF2-40B4-BE49-F238E27FC236}">
                  <a16:creationId xmlns:a16="http://schemas.microsoft.com/office/drawing/2014/main" id="{9831E2EE-A1E5-AEBD-1A91-9B3CA729496D}"/>
                </a:ext>
              </a:extLst>
            </p:cNvPr>
            <p:cNvSpPr>
              <a:spLocks noChangeAspect="1"/>
            </p:cNvSpPr>
            <p:nvPr/>
          </p:nvSpPr>
          <p:spPr>
            <a:xfrm>
              <a:off x="-205105" y="-205105"/>
              <a:ext cx="1019810" cy="1019810"/>
            </a:xfrm>
            <a:prstGeom prst="ellipse">
              <a:avLst/>
            </a:prstGeom>
            <a:grp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GB" sz="1300" err="1">
                <a:solidFill>
                  <a:schemeClr val="bg1"/>
                </a:solidFill>
              </a:endParaRPr>
            </a:p>
          </p:txBody>
        </p:sp>
        <p:pic>
          <p:nvPicPr>
            <p:cNvPr id="82" name="Graphic 81">
              <a:extLst>
                <a:ext uri="{FF2B5EF4-FFF2-40B4-BE49-F238E27FC236}">
                  <a16:creationId xmlns:a16="http://schemas.microsoft.com/office/drawing/2014/main" id="{5D7C73CA-B258-56A3-B09A-FB7F5BBC951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0" y="0"/>
              <a:ext cx="609600" cy="609600"/>
            </a:xfrm>
            <a:prstGeom prst="rect">
              <a:avLst/>
            </a:prstGeom>
          </p:spPr>
        </p:pic>
      </p:grpSp>
      <p:sp>
        <p:nvSpPr>
          <p:cNvPr id="12" name="TextBox 11">
            <a:extLst>
              <a:ext uri="{FF2B5EF4-FFF2-40B4-BE49-F238E27FC236}">
                <a16:creationId xmlns:a16="http://schemas.microsoft.com/office/drawing/2014/main" id="{AE4B5FC4-FBAA-42C3-F0BC-DD424521199D}"/>
              </a:ext>
            </a:extLst>
          </p:cNvPr>
          <p:cNvSpPr txBox="1"/>
          <p:nvPr/>
        </p:nvSpPr>
        <p:spPr>
          <a:xfrm>
            <a:off x="8101214" y="1454062"/>
            <a:ext cx="3533574" cy="255454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300">
                <a:cs typeface="Arial" panose="020B0604020202020204" pitchFamily="34" charset="0"/>
              </a:rPr>
              <a:t>Alipay enables users to top up their account with cash, bank transfers, or card enabling the wallet to serve as </a:t>
            </a:r>
            <a:r>
              <a:rPr lang="en-US" sz="1300" b="1">
                <a:cs typeface="Arial" panose="020B0604020202020204" pitchFamily="34" charset="0"/>
              </a:rPr>
              <a:t>closed-loop payment ecosystem</a:t>
            </a:r>
          </a:p>
          <a:p>
            <a:pPr lvl="1"/>
            <a:r>
              <a:rPr lang="en-US" sz="1300">
                <a:cs typeface="Arial" panose="020B0604020202020204" pitchFamily="34" charset="0"/>
              </a:rPr>
              <a:t>The app can </a:t>
            </a:r>
            <a:r>
              <a:rPr lang="en-US" sz="1300" b="1">
                <a:cs typeface="Arial" panose="020B0604020202020204" pitchFamily="34" charset="0"/>
              </a:rPr>
              <a:t>control the transaction process</a:t>
            </a:r>
            <a:r>
              <a:rPr lang="en-US" sz="1300">
                <a:cs typeface="Arial" panose="020B0604020202020204" pitchFamily="34" charset="0"/>
              </a:rPr>
              <a:t> from payment initiation to settlement, </a:t>
            </a:r>
            <a:r>
              <a:rPr lang="en-US" sz="1300" b="1">
                <a:cs typeface="Arial" panose="020B0604020202020204" pitchFamily="34" charset="0"/>
              </a:rPr>
              <a:t>without relying on external payment networks</a:t>
            </a:r>
            <a:r>
              <a:rPr lang="en-US" sz="1300">
                <a:cs typeface="Arial" panose="020B0604020202020204" pitchFamily="34" charset="0"/>
              </a:rPr>
              <a:t>, delivering positive unit economics while also driving:</a:t>
            </a:r>
          </a:p>
          <a:p>
            <a:pPr lvl="2"/>
            <a:r>
              <a:rPr lang="en-US" sz="1300">
                <a:cs typeface="Arial" panose="020B0604020202020204" pitchFamily="34" charset="0"/>
              </a:rPr>
              <a:t>Contained liquidity within the ecosystem</a:t>
            </a:r>
          </a:p>
          <a:p>
            <a:pPr lvl="2"/>
            <a:r>
              <a:rPr lang="en-US" sz="1300">
                <a:cs typeface="Arial" panose="020B0604020202020204" pitchFamily="34" charset="0"/>
              </a:rPr>
              <a:t>Full ownership of transaction data</a:t>
            </a:r>
          </a:p>
          <a:p>
            <a:pPr lvl="2"/>
            <a:r>
              <a:rPr lang="en-GB" sz="1300">
                <a:cs typeface="Arial" panose="020B0604020202020204" pitchFamily="34" charset="0"/>
              </a:rPr>
              <a:t>High cross-selling conversion</a:t>
            </a:r>
          </a:p>
        </p:txBody>
      </p:sp>
      <p:cxnSp>
        <p:nvCxnSpPr>
          <p:cNvPr id="11" name="Straight Connector 10">
            <a:extLst>
              <a:ext uri="{FF2B5EF4-FFF2-40B4-BE49-F238E27FC236}">
                <a16:creationId xmlns:a16="http://schemas.microsoft.com/office/drawing/2014/main" id="{FDE5DE2F-762C-3DAB-F3C2-60B7190E777B}"/>
              </a:ext>
            </a:extLst>
          </p:cNvPr>
          <p:cNvCxnSpPr>
            <a:cxnSpLocks/>
          </p:cNvCxnSpPr>
          <p:nvPr/>
        </p:nvCxnSpPr>
        <p:spPr>
          <a:xfrm>
            <a:off x="554734" y="1388415"/>
            <a:ext cx="6967728"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78DD174-63A7-AF16-089A-2CFC263A2043}"/>
              </a:ext>
            </a:extLst>
          </p:cNvPr>
          <p:cNvSpPr txBox="1">
            <a:spLocks/>
          </p:cNvSpPr>
          <p:nvPr/>
        </p:nvSpPr>
        <p:spPr>
          <a:xfrm>
            <a:off x="554734" y="1105935"/>
            <a:ext cx="6967728" cy="246221"/>
          </a:xfrm>
          <a:prstGeom prst="rect">
            <a:avLst/>
          </a:prstGeom>
        </p:spPr>
        <p:txBody>
          <a:bodyPr vert="horz" wrap="square" lIns="0" tIns="0" rIns="0" bIns="0" rtlCol="0" anchor="b"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a:buClr>
                <a:schemeClr val="tx1"/>
              </a:buClr>
            </a:pPr>
            <a:r>
              <a:rPr lang="en-US" b="1"/>
              <a:t>Summary</a:t>
            </a:r>
          </a:p>
        </p:txBody>
      </p:sp>
      <p:sp>
        <p:nvSpPr>
          <p:cNvPr id="15" name="TextBox 14">
            <a:extLst>
              <a:ext uri="{FF2B5EF4-FFF2-40B4-BE49-F238E27FC236}">
                <a16:creationId xmlns:a16="http://schemas.microsoft.com/office/drawing/2014/main" id="{B03A269F-A82F-0BC3-8840-BC590FEE8531}"/>
              </a:ext>
            </a:extLst>
          </p:cNvPr>
          <p:cNvSpPr txBox="1">
            <a:spLocks/>
          </p:cNvSpPr>
          <p:nvPr/>
        </p:nvSpPr>
        <p:spPr>
          <a:xfrm>
            <a:off x="8097169" y="1105935"/>
            <a:ext cx="3540095" cy="246221"/>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r>
              <a:rPr lang="en-US" b="1"/>
              <a:t>Implications</a:t>
            </a:r>
          </a:p>
        </p:txBody>
      </p:sp>
      <p:cxnSp>
        <p:nvCxnSpPr>
          <p:cNvPr id="16" name="Straight Connector 15">
            <a:extLst>
              <a:ext uri="{FF2B5EF4-FFF2-40B4-BE49-F238E27FC236}">
                <a16:creationId xmlns:a16="http://schemas.microsoft.com/office/drawing/2014/main" id="{F0CDBEAE-36B9-58C3-6A9F-348A063A2EA9}"/>
              </a:ext>
            </a:extLst>
          </p:cNvPr>
          <p:cNvCxnSpPr>
            <a:cxnSpLocks/>
          </p:cNvCxnSpPr>
          <p:nvPr/>
        </p:nvCxnSpPr>
        <p:spPr>
          <a:xfrm>
            <a:off x="8097169" y="1388415"/>
            <a:ext cx="3540095"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9C0D9B5-DC9E-CB2A-1AC9-BC3F58284CC5}"/>
              </a:ext>
            </a:extLst>
          </p:cNvPr>
          <p:cNvSpPr txBox="1"/>
          <p:nvPr>
            <p:custDataLst>
              <p:tags r:id="rId7"/>
            </p:custDataLst>
          </p:nvPr>
        </p:nvSpPr>
        <p:spPr>
          <a:xfrm>
            <a:off x="554735" y="1454062"/>
            <a:ext cx="6711304" cy="12772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SzPct val="110000"/>
              <a:buFont typeface="Arial" panose="020B0604020202020204" pitchFamily="34" charset="0"/>
              <a:buChar char="‒"/>
              <a:defRPr lang="en-US" sz="1600" dirty="0"/>
            </a:lvl3pPr>
            <a:lvl4pPr marL="594360" lvl="3" indent="-155448">
              <a:lnSpc>
                <a:spcPct val="100000"/>
              </a:lnSpc>
              <a:spcBef>
                <a:spcPts val="0"/>
              </a:spcBef>
              <a:spcAft>
                <a:spcPts val="300"/>
              </a:spcAft>
              <a:buSzPct val="100000"/>
              <a:buFont typeface="Arial" panose="020B0604020202020204" pitchFamily="34" charset="0"/>
              <a:buChar char="•"/>
              <a:defRPr lang="en-US" sz="1600" dirty="0"/>
            </a:lvl4pPr>
            <a:lvl5pPr marL="813816" lvl="4"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pPr>
            <a:r>
              <a:rPr lang="en-US" sz="1300"/>
              <a:t>Alipay launched its digital wallet offering which has </a:t>
            </a:r>
            <a:r>
              <a:rPr lang="en-US" sz="1300" b="1"/>
              <a:t>reached 1.3B active users across the globe</a:t>
            </a:r>
            <a:endParaRPr lang="en-US" sz="1300"/>
          </a:p>
          <a:p>
            <a:pPr>
              <a:spcBef>
                <a:spcPts val="0"/>
              </a:spcBef>
            </a:pPr>
            <a:r>
              <a:rPr lang="en-US" sz="1300"/>
              <a:t>Alipay started as an online payment service provider, before creating its </a:t>
            </a:r>
            <a:r>
              <a:rPr lang="en-US" sz="1300" b="1"/>
              <a:t>own rails to enable payments while evolving into a comprehensive digital financial ecosystem</a:t>
            </a:r>
            <a:endParaRPr lang="en-US" sz="1300"/>
          </a:p>
          <a:p>
            <a:pPr>
              <a:spcBef>
                <a:spcPts val="0"/>
              </a:spcBef>
            </a:pPr>
            <a:r>
              <a:rPr lang="en-GB" sz="1300"/>
              <a:t>Its offering includes:</a:t>
            </a:r>
          </a:p>
        </p:txBody>
      </p:sp>
      <p:pic>
        <p:nvPicPr>
          <p:cNvPr id="27" name="Picture 26">
            <a:extLst>
              <a:ext uri="{FF2B5EF4-FFF2-40B4-BE49-F238E27FC236}">
                <a16:creationId xmlns:a16="http://schemas.microsoft.com/office/drawing/2014/main" id="{AED923F5-B7A9-C197-0F6E-248B43E8165C}"/>
              </a:ext>
            </a:extLst>
          </p:cNvPr>
          <p:cNvPicPr>
            <a:picLocks noChangeAspect="1"/>
          </p:cNvPicPr>
          <p:nvPr/>
        </p:nvPicPr>
        <p:blipFill>
          <a:blip r:embed="rId18"/>
          <a:stretch>
            <a:fillRect/>
          </a:stretch>
        </p:blipFill>
        <p:spPr>
          <a:xfrm>
            <a:off x="8464347" y="4277033"/>
            <a:ext cx="2713703" cy="1809135"/>
          </a:xfrm>
          <a:prstGeom prst="roundRect">
            <a:avLst/>
          </a:prstGeom>
          <a:solidFill>
            <a:schemeClr val="accent2"/>
          </a:solidFill>
          <a:ln w="12700">
            <a:solidFill>
              <a:schemeClr val="accent4"/>
            </a:solidFill>
          </a:ln>
        </p:spPr>
      </p:pic>
      <p:cxnSp>
        <p:nvCxnSpPr>
          <p:cNvPr id="9" name="LineBasicDefault 127">
            <a:extLst>
              <a:ext uri="{FF2B5EF4-FFF2-40B4-BE49-F238E27FC236}">
                <a16:creationId xmlns:a16="http://schemas.microsoft.com/office/drawing/2014/main" id="{A487E7E2-80C5-623C-5C4D-30782950BD6E}"/>
              </a:ext>
            </a:extLst>
          </p:cNvPr>
          <p:cNvCxnSpPr>
            <a:cxnSpLocks/>
          </p:cNvCxnSpPr>
          <p:nvPr>
            <p:custDataLst>
              <p:tags r:id="rId8"/>
            </p:custDataLst>
          </p:nvPr>
        </p:nvCxnSpPr>
        <p:spPr>
          <a:xfrm>
            <a:off x="591820" y="3878580"/>
            <a:ext cx="6951980"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LineBasicDefault 127">
            <a:extLst>
              <a:ext uri="{FF2B5EF4-FFF2-40B4-BE49-F238E27FC236}">
                <a16:creationId xmlns:a16="http://schemas.microsoft.com/office/drawing/2014/main" id="{0A906E98-CB79-9E32-2BE4-79468C80CC72}"/>
              </a:ext>
            </a:extLst>
          </p:cNvPr>
          <p:cNvCxnSpPr>
            <a:cxnSpLocks/>
          </p:cNvCxnSpPr>
          <p:nvPr>
            <p:custDataLst>
              <p:tags r:id="rId9"/>
            </p:custDataLst>
          </p:nvPr>
        </p:nvCxnSpPr>
        <p:spPr>
          <a:xfrm>
            <a:off x="591820" y="4640580"/>
            <a:ext cx="6951980" cy="0"/>
          </a:xfrm>
          <a:prstGeom prst="straightConnector1">
            <a:avLst/>
          </a:prstGeom>
          <a:ln w="6350" cap="sq">
            <a:solidFill>
              <a:schemeClr val="bg1">
                <a:lumMod val="85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383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6D54D563-AA89-8847-90FF-317CBA46EEE9}"/>
              </a:ext>
            </a:extLst>
          </p:cNvPr>
          <p:cNvGraphicFramePr>
            <a:graphicFrameLocks noChangeAspect="1"/>
          </p:cNvGraphicFramePr>
          <p:nvPr>
            <p:custDataLst>
              <p:tags r:id="rId1"/>
            </p:custDataLst>
            <p:extLst>
              <p:ext uri="{D42A27DB-BD31-4B8C-83A1-F6EECF244321}">
                <p14:modId xmlns:p14="http://schemas.microsoft.com/office/powerpoint/2010/main" val="40278683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23" name="think-cell data - do not delete" hidden="1">
                        <a:extLst>
                          <a:ext uri="{FF2B5EF4-FFF2-40B4-BE49-F238E27FC236}">
                            <a16:creationId xmlns:a16="http://schemas.microsoft.com/office/drawing/2014/main" id="{6D54D563-AA89-8847-90FF-317CBA46EEE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object 2"/>
          <p:cNvSpPr txBox="1"/>
          <p:nvPr/>
        </p:nvSpPr>
        <p:spPr>
          <a:xfrm>
            <a:off x="3502533" y="1282700"/>
            <a:ext cx="7783830" cy="574040"/>
          </a:xfrm>
          <a:prstGeom prst="rect">
            <a:avLst/>
          </a:prstGeom>
        </p:spPr>
        <p:txBody>
          <a:bodyPr vert="horz" wrap="square" lIns="0" tIns="12700" rIns="0" bIns="0" rtlCol="0">
            <a:spAutoFit/>
          </a:bodyPr>
          <a:lstStyle/>
          <a:p>
            <a:pPr marL="12700" marR="5080">
              <a:lnSpc>
                <a:spcPct val="100000"/>
              </a:lnSpc>
              <a:spcBef>
                <a:spcPts val="100"/>
              </a:spcBef>
            </a:pPr>
            <a:r>
              <a:rPr sz="1800">
                <a:latin typeface="Arial"/>
                <a:cs typeface="Arial"/>
              </a:rPr>
              <a:t>A</a:t>
            </a:r>
            <a:r>
              <a:rPr sz="1800" spc="-130">
                <a:latin typeface="Arial"/>
                <a:cs typeface="Arial"/>
              </a:rPr>
              <a:t> </a:t>
            </a:r>
            <a:r>
              <a:rPr sz="1800">
                <a:latin typeface="Arial"/>
                <a:cs typeface="Arial"/>
              </a:rPr>
              <a:t>small</a:t>
            </a:r>
            <a:r>
              <a:rPr sz="1800" spc="-5">
                <a:latin typeface="Arial"/>
                <a:cs typeface="Arial"/>
              </a:rPr>
              <a:t> </a:t>
            </a:r>
            <a:r>
              <a:rPr sz="1800" spc="-10">
                <a:latin typeface="Arial"/>
                <a:cs typeface="Arial"/>
              </a:rPr>
              <a:t>stick-</a:t>
            </a:r>
            <a:r>
              <a:rPr sz="1800">
                <a:latin typeface="Arial"/>
                <a:cs typeface="Arial"/>
              </a:rPr>
              <a:t>on</a:t>
            </a:r>
            <a:r>
              <a:rPr sz="1800" spc="-20">
                <a:latin typeface="Arial"/>
                <a:cs typeface="Arial"/>
              </a:rPr>
              <a:t> </a:t>
            </a:r>
            <a:r>
              <a:rPr sz="1800">
                <a:latin typeface="Arial"/>
                <a:cs typeface="Arial"/>
              </a:rPr>
              <a:t>card</a:t>
            </a:r>
            <a:r>
              <a:rPr sz="1800" spc="-10">
                <a:latin typeface="Arial"/>
                <a:cs typeface="Arial"/>
              </a:rPr>
              <a:t> </a:t>
            </a:r>
            <a:r>
              <a:rPr sz="1800">
                <a:latin typeface="Arial"/>
                <a:cs typeface="Arial"/>
              </a:rPr>
              <a:t>that</a:t>
            </a:r>
            <a:r>
              <a:rPr sz="1800" spc="-10">
                <a:latin typeface="Arial"/>
                <a:cs typeface="Arial"/>
              </a:rPr>
              <a:t> </a:t>
            </a:r>
            <a:r>
              <a:rPr sz="1800">
                <a:latin typeface="Arial"/>
                <a:cs typeface="Arial"/>
              </a:rPr>
              <a:t>can</a:t>
            </a:r>
            <a:r>
              <a:rPr sz="1800" spc="-10">
                <a:latin typeface="Arial"/>
                <a:cs typeface="Arial"/>
              </a:rPr>
              <a:t> </a:t>
            </a:r>
            <a:r>
              <a:rPr sz="1800">
                <a:latin typeface="Arial"/>
                <a:cs typeface="Arial"/>
              </a:rPr>
              <a:t>be</a:t>
            </a:r>
            <a:r>
              <a:rPr sz="1800" spc="-20">
                <a:latin typeface="Arial"/>
                <a:cs typeface="Arial"/>
              </a:rPr>
              <a:t> </a:t>
            </a:r>
            <a:r>
              <a:rPr sz="1800">
                <a:latin typeface="Arial"/>
                <a:cs typeface="Arial"/>
              </a:rPr>
              <a:t>stuck</a:t>
            </a:r>
            <a:r>
              <a:rPr sz="1800" spc="-10">
                <a:latin typeface="Arial"/>
                <a:cs typeface="Arial"/>
              </a:rPr>
              <a:t> </a:t>
            </a:r>
            <a:r>
              <a:rPr sz="1800">
                <a:latin typeface="Arial"/>
                <a:cs typeface="Arial"/>
              </a:rPr>
              <a:t>on</a:t>
            </a:r>
            <a:r>
              <a:rPr sz="1800" spc="-15">
                <a:latin typeface="Arial"/>
                <a:cs typeface="Arial"/>
              </a:rPr>
              <a:t> </a:t>
            </a:r>
            <a:r>
              <a:rPr sz="1800">
                <a:latin typeface="Arial"/>
                <a:cs typeface="Arial"/>
              </a:rPr>
              <a:t>any</a:t>
            </a:r>
            <a:r>
              <a:rPr sz="1800" spc="-15">
                <a:latin typeface="Arial"/>
                <a:cs typeface="Arial"/>
              </a:rPr>
              <a:t> </a:t>
            </a:r>
            <a:r>
              <a:rPr sz="1800">
                <a:latin typeface="Arial"/>
                <a:cs typeface="Arial"/>
              </a:rPr>
              <a:t>frequently</a:t>
            </a:r>
            <a:r>
              <a:rPr sz="1800" spc="-10">
                <a:latin typeface="Arial"/>
                <a:cs typeface="Arial"/>
              </a:rPr>
              <a:t> </a:t>
            </a:r>
            <a:r>
              <a:rPr sz="1800">
                <a:latin typeface="Arial"/>
                <a:cs typeface="Arial"/>
              </a:rPr>
              <a:t>carried</a:t>
            </a:r>
            <a:r>
              <a:rPr sz="1800" spc="-5">
                <a:latin typeface="Arial"/>
                <a:cs typeface="Arial"/>
              </a:rPr>
              <a:t> </a:t>
            </a:r>
            <a:r>
              <a:rPr sz="1800">
                <a:latin typeface="Arial"/>
                <a:cs typeface="Arial"/>
              </a:rPr>
              <a:t>object,</a:t>
            </a:r>
            <a:r>
              <a:rPr sz="1800" spc="10">
                <a:latin typeface="Arial"/>
                <a:cs typeface="Arial"/>
              </a:rPr>
              <a:t> </a:t>
            </a:r>
            <a:r>
              <a:rPr sz="1800" spc="-20">
                <a:latin typeface="Arial"/>
                <a:cs typeface="Arial"/>
              </a:rPr>
              <a:t>used </a:t>
            </a:r>
            <a:r>
              <a:rPr sz="1800">
                <a:latin typeface="Arial"/>
                <a:cs typeface="Arial"/>
              </a:rPr>
              <a:t>like</a:t>
            </a:r>
            <a:r>
              <a:rPr sz="1800" spc="-30">
                <a:latin typeface="Arial"/>
                <a:cs typeface="Arial"/>
              </a:rPr>
              <a:t> </a:t>
            </a:r>
            <a:r>
              <a:rPr sz="1800">
                <a:latin typeface="Arial"/>
                <a:cs typeface="Arial"/>
              </a:rPr>
              <a:t>an</a:t>
            </a:r>
            <a:r>
              <a:rPr sz="1800" spc="-40">
                <a:latin typeface="Arial"/>
                <a:cs typeface="Arial"/>
              </a:rPr>
              <a:t> </a:t>
            </a:r>
            <a:r>
              <a:rPr sz="1800">
                <a:latin typeface="Arial"/>
                <a:cs typeface="Arial"/>
              </a:rPr>
              <a:t>NFC</a:t>
            </a:r>
            <a:r>
              <a:rPr sz="1800" spc="-30">
                <a:latin typeface="Arial"/>
                <a:cs typeface="Arial"/>
              </a:rPr>
              <a:t> </a:t>
            </a:r>
            <a:r>
              <a:rPr sz="1800">
                <a:latin typeface="Arial"/>
                <a:cs typeface="Arial"/>
              </a:rPr>
              <a:t>enabled</a:t>
            </a:r>
            <a:r>
              <a:rPr sz="1800" spc="-10">
                <a:latin typeface="Arial"/>
                <a:cs typeface="Arial"/>
              </a:rPr>
              <a:t> </a:t>
            </a:r>
            <a:r>
              <a:rPr sz="1800" spc="-20">
                <a:latin typeface="Arial"/>
                <a:cs typeface="Arial"/>
              </a:rPr>
              <a:t>card</a:t>
            </a:r>
            <a:endParaRPr sz="1800">
              <a:latin typeface="Arial"/>
              <a:cs typeface="Arial"/>
            </a:endParaRPr>
          </a:p>
        </p:txBody>
      </p:sp>
      <p:pic>
        <p:nvPicPr>
          <p:cNvPr id="5" name="object 5"/>
          <p:cNvPicPr/>
          <p:nvPr/>
        </p:nvPicPr>
        <p:blipFill>
          <a:blip r:embed="rId5" cstate="print"/>
          <a:stretch>
            <a:fillRect/>
          </a:stretch>
        </p:blipFill>
        <p:spPr>
          <a:xfrm>
            <a:off x="7072785" y="4846880"/>
            <a:ext cx="1647386" cy="432645"/>
          </a:xfrm>
          <a:prstGeom prst="rect">
            <a:avLst/>
          </a:prstGeom>
        </p:spPr>
      </p:pic>
      <p:pic>
        <p:nvPicPr>
          <p:cNvPr id="6" name="object 6"/>
          <p:cNvPicPr/>
          <p:nvPr/>
        </p:nvPicPr>
        <p:blipFill>
          <a:blip r:embed="rId6" cstate="print"/>
          <a:stretch>
            <a:fillRect/>
          </a:stretch>
        </p:blipFill>
        <p:spPr>
          <a:xfrm>
            <a:off x="5176021" y="4782354"/>
            <a:ext cx="1519418" cy="549231"/>
          </a:xfrm>
          <a:prstGeom prst="rect">
            <a:avLst/>
          </a:prstGeom>
        </p:spPr>
      </p:pic>
      <p:sp>
        <p:nvSpPr>
          <p:cNvPr id="7" name="object 7"/>
          <p:cNvSpPr txBox="1"/>
          <p:nvPr/>
        </p:nvSpPr>
        <p:spPr>
          <a:xfrm>
            <a:off x="3502533" y="2270251"/>
            <a:ext cx="1311275" cy="756920"/>
          </a:xfrm>
          <a:prstGeom prst="rect">
            <a:avLst/>
          </a:prstGeom>
        </p:spPr>
        <p:txBody>
          <a:bodyPr vert="horz" wrap="square" lIns="0" tIns="12065" rIns="0" bIns="0" rtlCol="0">
            <a:spAutoFit/>
          </a:bodyPr>
          <a:lstStyle/>
          <a:p>
            <a:pPr marL="12700" marR="5080">
              <a:lnSpc>
                <a:spcPct val="100000"/>
              </a:lnSpc>
              <a:spcBef>
                <a:spcPts val="95"/>
              </a:spcBef>
            </a:pPr>
            <a:r>
              <a:rPr sz="1600" b="1">
                <a:latin typeface="Arial"/>
                <a:cs typeface="Arial"/>
              </a:rPr>
              <a:t>How</a:t>
            </a:r>
            <a:r>
              <a:rPr sz="1600" b="1" spc="-20">
                <a:latin typeface="Arial"/>
                <a:cs typeface="Arial"/>
              </a:rPr>
              <a:t> </a:t>
            </a:r>
            <a:r>
              <a:rPr sz="1600" b="1">
                <a:latin typeface="Arial"/>
                <a:cs typeface="Arial"/>
              </a:rPr>
              <a:t>it</a:t>
            </a:r>
            <a:r>
              <a:rPr sz="1600" b="1" spc="-10">
                <a:latin typeface="Arial"/>
                <a:cs typeface="Arial"/>
              </a:rPr>
              <a:t> </a:t>
            </a:r>
            <a:r>
              <a:rPr sz="1600" b="1" spc="-20">
                <a:latin typeface="Arial"/>
                <a:cs typeface="Arial"/>
              </a:rPr>
              <a:t>Works </a:t>
            </a:r>
            <a:r>
              <a:rPr sz="1600" b="1" spc="-10">
                <a:latin typeface="Arial"/>
                <a:cs typeface="Arial"/>
              </a:rPr>
              <a:t>(IDFC</a:t>
            </a:r>
            <a:endParaRPr sz="1600">
              <a:latin typeface="Arial"/>
              <a:cs typeface="Arial"/>
            </a:endParaRPr>
          </a:p>
          <a:p>
            <a:pPr marL="12700">
              <a:lnSpc>
                <a:spcPct val="100000"/>
              </a:lnSpc>
            </a:pPr>
            <a:r>
              <a:rPr sz="1600" b="1" spc="-10">
                <a:latin typeface="Arial"/>
                <a:cs typeface="Arial"/>
              </a:rPr>
              <a:t>Firstap)</a:t>
            </a:r>
            <a:endParaRPr sz="1600">
              <a:latin typeface="Arial"/>
              <a:cs typeface="Arial"/>
            </a:endParaRPr>
          </a:p>
        </p:txBody>
      </p:sp>
      <p:sp>
        <p:nvSpPr>
          <p:cNvPr id="8" name="object 8"/>
          <p:cNvSpPr/>
          <p:nvPr/>
        </p:nvSpPr>
        <p:spPr>
          <a:xfrm>
            <a:off x="3514725" y="4610227"/>
            <a:ext cx="8114030" cy="0"/>
          </a:xfrm>
          <a:custGeom>
            <a:avLst/>
            <a:gdLst/>
            <a:ahLst/>
            <a:cxnLst/>
            <a:rect l="l" t="t" r="r" b="b"/>
            <a:pathLst>
              <a:path w="8114030">
                <a:moveTo>
                  <a:pt x="0" y="0"/>
                </a:moveTo>
                <a:lnTo>
                  <a:pt x="8113522" y="0"/>
                </a:lnTo>
              </a:path>
            </a:pathLst>
          </a:custGeom>
          <a:ln w="6350">
            <a:solidFill>
              <a:srgbClr val="757575"/>
            </a:solidFill>
          </a:ln>
        </p:spPr>
        <p:txBody>
          <a:bodyPr wrap="square" lIns="0" tIns="0" rIns="0" bIns="0" rtlCol="0"/>
          <a:lstStyle/>
          <a:p>
            <a:endParaRPr/>
          </a:p>
        </p:txBody>
      </p:sp>
      <p:grpSp>
        <p:nvGrpSpPr>
          <p:cNvPr id="9" name="object 9"/>
          <p:cNvGrpSpPr/>
          <p:nvPr/>
        </p:nvGrpSpPr>
        <p:grpSpPr>
          <a:xfrm>
            <a:off x="5166867" y="2841879"/>
            <a:ext cx="6461760" cy="415925"/>
            <a:chOff x="5166867" y="2841879"/>
            <a:chExt cx="6461760" cy="415925"/>
          </a:xfrm>
        </p:grpSpPr>
        <p:pic>
          <p:nvPicPr>
            <p:cNvPr id="10" name="object 10"/>
            <p:cNvPicPr/>
            <p:nvPr/>
          </p:nvPicPr>
          <p:blipFill>
            <a:blip r:embed="rId7" cstate="print"/>
            <a:stretch>
              <a:fillRect/>
            </a:stretch>
          </p:blipFill>
          <p:spPr>
            <a:xfrm>
              <a:off x="5166867" y="2949956"/>
              <a:ext cx="6461379" cy="307467"/>
            </a:xfrm>
            <a:prstGeom prst="rect">
              <a:avLst/>
            </a:prstGeom>
          </p:spPr>
        </p:pic>
        <p:sp>
          <p:nvSpPr>
            <p:cNvPr id="11" name="object 11"/>
            <p:cNvSpPr/>
            <p:nvPr/>
          </p:nvSpPr>
          <p:spPr>
            <a:xfrm>
              <a:off x="5245861" y="2841879"/>
              <a:ext cx="4617720" cy="349250"/>
            </a:xfrm>
            <a:custGeom>
              <a:avLst/>
              <a:gdLst/>
              <a:ahLst/>
              <a:cxnLst/>
              <a:rect l="l" t="t" r="r" b="b"/>
              <a:pathLst>
                <a:path w="4617720" h="349250">
                  <a:moveTo>
                    <a:pt x="0" y="0"/>
                  </a:moveTo>
                  <a:lnTo>
                    <a:pt x="0" y="348996"/>
                  </a:lnTo>
                </a:path>
                <a:path w="4617720" h="349250">
                  <a:moveTo>
                    <a:pt x="2504947" y="0"/>
                  </a:moveTo>
                  <a:lnTo>
                    <a:pt x="2504947" y="261747"/>
                  </a:lnTo>
                </a:path>
                <a:path w="4617720" h="349250">
                  <a:moveTo>
                    <a:pt x="4617212" y="0"/>
                  </a:moveTo>
                  <a:lnTo>
                    <a:pt x="4617212" y="161417"/>
                  </a:lnTo>
                </a:path>
              </a:pathLst>
            </a:custGeom>
            <a:ln w="6350">
              <a:solidFill>
                <a:srgbClr val="000000"/>
              </a:solidFill>
            </a:ln>
          </p:spPr>
          <p:txBody>
            <a:bodyPr wrap="square" lIns="0" tIns="0" rIns="0" bIns="0" rtlCol="0"/>
            <a:lstStyle/>
            <a:p>
              <a:endParaRPr/>
            </a:p>
          </p:txBody>
        </p:sp>
      </p:grpSp>
      <p:sp>
        <p:nvSpPr>
          <p:cNvPr id="12" name="object 12"/>
          <p:cNvSpPr txBox="1"/>
          <p:nvPr/>
        </p:nvSpPr>
        <p:spPr>
          <a:xfrm>
            <a:off x="5154929" y="2259583"/>
            <a:ext cx="1549400" cy="513080"/>
          </a:xfrm>
          <a:prstGeom prst="rect">
            <a:avLst/>
          </a:prstGeom>
        </p:spPr>
        <p:txBody>
          <a:bodyPr vert="horz" wrap="square" lIns="0" tIns="12065" rIns="0" bIns="0" rtlCol="0">
            <a:spAutoFit/>
          </a:bodyPr>
          <a:lstStyle/>
          <a:p>
            <a:pPr marL="12700">
              <a:lnSpc>
                <a:spcPct val="100000"/>
              </a:lnSpc>
              <a:spcBef>
                <a:spcPts val="95"/>
              </a:spcBef>
            </a:pPr>
            <a:r>
              <a:rPr sz="1600" b="1">
                <a:latin typeface="Arial"/>
                <a:cs typeface="Arial"/>
              </a:rPr>
              <a:t>Application</a:t>
            </a:r>
            <a:r>
              <a:rPr sz="1600" b="1" spc="-85">
                <a:latin typeface="Arial"/>
                <a:cs typeface="Arial"/>
              </a:rPr>
              <a:t> </a:t>
            </a:r>
            <a:r>
              <a:rPr sz="1600" b="1" spc="-25">
                <a:latin typeface="Arial"/>
                <a:cs typeface="Arial"/>
              </a:rPr>
              <a:t>and</a:t>
            </a:r>
            <a:endParaRPr sz="1600">
              <a:latin typeface="Arial"/>
              <a:cs typeface="Arial"/>
            </a:endParaRPr>
          </a:p>
          <a:p>
            <a:pPr marL="12700">
              <a:lnSpc>
                <a:spcPct val="100000"/>
              </a:lnSpc>
            </a:pPr>
            <a:r>
              <a:rPr sz="1600" b="1" spc="-10">
                <a:latin typeface="Arial"/>
                <a:cs typeface="Arial"/>
              </a:rPr>
              <a:t>Payment</a:t>
            </a:r>
            <a:endParaRPr sz="1600">
              <a:latin typeface="Arial"/>
              <a:cs typeface="Arial"/>
            </a:endParaRPr>
          </a:p>
        </p:txBody>
      </p:sp>
      <p:sp>
        <p:nvSpPr>
          <p:cNvPr id="13" name="object 13"/>
          <p:cNvSpPr txBox="1"/>
          <p:nvPr/>
        </p:nvSpPr>
        <p:spPr>
          <a:xfrm>
            <a:off x="7660385" y="2259583"/>
            <a:ext cx="1593850" cy="513080"/>
          </a:xfrm>
          <a:prstGeom prst="rect">
            <a:avLst/>
          </a:prstGeom>
        </p:spPr>
        <p:txBody>
          <a:bodyPr vert="horz" wrap="square" lIns="0" tIns="12065" rIns="0" bIns="0" rtlCol="0">
            <a:spAutoFit/>
          </a:bodyPr>
          <a:lstStyle/>
          <a:p>
            <a:pPr marL="12700">
              <a:lnSpc>
                <a:spcPct val="100000"/>
              </a:lnSpc>
              <a:spcBef>
                <a:spcPts val="95"/>
              </a:spcBef>
            </a:pPr>
            <a:r>
              <a:rPr sz="1600" b="1">
                <a:latin typeface="Arial"/>
                <a:cs typeface="Arial"/>
              </a:rPr>
              <a:t>Stick</a:t>
            </a:r>
            <a:r>
              <a:rPr sz="1600" b="1" spc="-30">
                <a:latin typeface="Arial"/>
                <a:cs typeface="Arial"/>
              </a:rPr>
              <a:t> </a:t>
            </a:r>
            <a:r>
              <a:rPr sz="1600" b="1">
                <a:latin typeface="Arial"/>
                <a:cs typeface="Arial"/>
              </a:rPr>
              <a:t>on</a:t>
            </a:r>
            <a:r>
              <a:rPr sz="1600" b="1" spc="-40">
                <a:latin typeface="Arial"/>
                <a:cs typeface="Arial"/>
              </a:rPr>
              <a:t> </a:t>
            </a:r>
            <a:r>
              <a:rPr sz="1600" b="1" spc="-10">
                <a:latin typeface="Arial"/>
                <a:cs typeface="Arial"/>
              </a:rPr>
              <a:t>desired</a:t>
            </a:r>
            <a:endParaRPr sz="1600">
              <a:latin typeface="Arial"/>
              <a:cs typeface="Arial"/>
            </a:endParaRPr>
          </a:p>
          <a:p>
            <a:pPr marL="12700">
              <a:lnSpc>
                <a:spcPct val="100000"/>
              </a:lnSpc>
            </a:pPr>
            <a:r>
              <a:rPr sz="1600" b="1" spc="-10">
                <a:latin typeface="Arial"/>
                <a:cs typeface="Arial"/>
              </a:rPr>
              <a:t>surface</a:t>
            </a:r>
            <a:endParaRPr sz="1600">
              <a:latin typeface="Arial"/>
              <a:cs typeface="Arial"/>
            </a:endParaRPr>
          </a:p>
        </p:txBody>
      </p:sp>
      <p:sp>
        <p:nvSpPr>
          <p:cNvPr id="14" name="object 14"/>
          <p:cNvSpPr txBox="1"/>
          <p:nvPr/>
        </p:nvSpPr>
        <p:spPr>
          <a:xfrm>
            <a:off x="7660385" y="3347465"/>
            <a:ext cx="1671320" cy="1093470"/>
          </a:xfrm>
          <a:prstGeom prst="rect">
            <a:avLst/>
          </a:prstGeom>
        </p:spPr>
        <p:txBody>
          <a:bodyPr vert="horz" wrap="square" lIns="0" tIns="13335" rIns="0" bIns="0" rtlCol="0">
            <a:spAutoFit/>
          </a:bodyPr>
          <a:lstStyle/>
          <a:p>
            <a:pPr marL="12700" marR="5080">
              <a:lnSpc>
                <a:spcPct val="100000"/>
              </a:lnSpc>
              <a:spcBef>
                <a:spcPts val="105"/>
              </a:spcBef>
            </a:pPr>
            <a:r>
              <a:rPr sz="1400">
                <a:latin typeface="Arial"/>
                <a:cs typeface="Arial"/>
              </a:rPr>
              <a:t>The</a:t>
            </a:r>
            <a:r>
              <a:rPr sz="1400" spc="-40">
                <a:latin typeface="Arial"/>
                <a:cs typeface="Arial"/>
              </a:rPr>
              <a:t> </a:t>
            </a:r>
            <a:r>
              <a:rPr sz="1400">
                <a:latin typeface="Arial"/>
                <a:cs typeface="Arial"/>
              </a:rPr>
              <a:t>card</a:t>
            </a:r>
            <a:r>
              <a:rPr sz="1400" spc="-30">
                <a:latin typeface="Arial"/>
                <a:cs typeface="Arial"/>
              </a:rPr>
              <a:t> </a:t>
            </a:r>
            <a:r>
              <a:rPr sz="1400">
                <a:latin typeface="Arial"/>
                <a:cs typeface="Arial"/>
              </a:rPr>
              <a:t>is</a:t>
            </a:r>
            <a:r>
              <a:rPr sz="1400" spc="-20">
                <a:latin typeface="Arial"/>
                <a:cs typeface="Arial"/>
              </a:rPr>
              <a:t> </a:t>
            </a:r>
            <a:r>
              <a:rPr sz="1400" spc="-10">
                <a:latin typeface="Arial"/>
                <a:cs typeface="Arial"/>
              </a:rPr>
              <a:t>delivered </a:t>
            </a:r>
            <a:r>
              <a:rPr sz="1400">
                <a:latin typeface="Arial"/>
                <a:cs typeface="Arial"/>
              </a:rPr>
              <a:t>to</a:t>
            </a:r>
            <a:r>
              <a:rPr sz="1400" spc="-20">
                <a:latin typeface="Arial"/>
                <a:cs typeface="Arial"/>
              </a:rPr>
              <a:t> </a:t>
            </a:r>
            <a:r>
              <a:rPr sz="1400">
                <a:latin typeface="Arial"/>
                <a:cs typeface="Arial"/>
              </a:rPr>
              <a:t>the</a:t>
            </a:r>
            <a:r>
              <a:rPr sz="1400" spc="-20">
                <a:latin typeface="Arial"/>
                <a:cs typeface="Arial"/>
              </a:rPr>
              <a:t> user.</a:t>
            </a:r>
            <a:r>
              <a:rPr sz="1400" spc="-65">
                <a:latin typeface="Arial"/>
                <a:cs typeface="Arial"/>
              </a:rPr>
              <a:t> </a:t>
            </a:r>
            <a:r>
              <a:rPr sz="1400">
                <a:latin typeface="Arial"/>
                <a:cs typeface="Arial"/>
              </a:rPr>
              <a:t>The</a:t>
            </a:r>
            <a:r>
              <a:rPr sz="1400" spc="-15">
                <a:latin typeface="Arial"/>
                <a:cs typeface="Arial"/>
              </a:rPr>
              <a:t> </a:t>
            </a:r>
            <a:r>
              <a:rPr sz="1400" spc="-20">
                <a:latin typeface="Arial"/>
                <a:cs typeface="Arial"/>
              </a:rPr>
              <a:t>user </a:t>
            </a:r>
            <a:r>
              <a:rPr sz="1400">
                <a:latin typeface="Arial"/>
                <a:cs typeface="Arial"/>
              </a:rPr>
              <a:t>can</a:t>
            </a:r>
            <a:r>
              <a:rPr sz="1400" spc="-40">
                <a:latin typeface="Arial"/>
                <a:cs typeface="Arial"/>
              </a:rPr>
              <a:t> </a:t>
            </a:r>
            <a:r>
              <a:rPr sz="1400">
                <a:latin typeface="Arial"/>
                <a:cs typeface="Arial"/>
              </a:rPr>
              <a:t>stick</a:t>
            </a:r>
            <a:r>
              <a:rPr sz="1400" spc="-40">
                <a:latin typeface="Arial"/>
                <a:cs typeface="Arial"/>
              </a:rPr>
              <a:t> </a:t>
            </a:r>
            <a:r>
              <a:rPr sz="1400">
                <a:latin typeface="Arial"/>
                <a:cs typeface="Arial"/>
              </a:rPr>
              <a:t>the</a:t>
            </a:r>
            <a:r>
              <a:rPr sz="1400" spc="-25">
                <a:latin typeface="Arial"/>
                <a:cs typeface="Arial"/>
              </a:rPr>
              <a:t> </a:t>
            </a:r>
            <a:r>
              <a:rPr sz="1400">
                <a:latin typeface="Arial"/>
                <a:cs typeface="Arial"/>
              </a:rPr>
              <a:t>card</a:t>
            </a:r>
            <a:r>
              <a:rPr sz="1400" spc="-35">
                <a:latin typeface="Arial"/>
                <a:cs typeface="Arial"/>
              </a:rPr>
              <a:t> </a:t>
            </a:r>
            <a:r>
              <a:rPr sz="1400" spc="-25">
                <a:latin typeface="Arial"/>
                <a:cs typeface="Arial"/>
              </a:rPr>
              <a:t>on </a:t>
            </a:r>
            <a:r>
              <a:rPr sz="1400">
                <a:latin typeface="Arial"/>
                <a:cs typeface="Arial"/>
              </a:rPr>
              <a:t>any</a:t>
            </a:r>
            <a:r>
              <a:rPr sz="1400" spc="-25">
                <a:latin typeface="Arial"/>
                <a:cs typeface="Arial"/>
              </a:rPr>
              <a:t> </a:t>
            </a:r>
            <a:r>
              <a:rPr sz="1400">
                <a:latin typeface="Arial"/>
                <a:cs typeface="Arial"/>
              </a:rPr>
              <a:t>desired</a:t>
            </a:r>
            <a:r>
              <a:rPr sz="1400" spc="-50">
                <a:latin typeface="Arial"/>
                <a:cs typeface="Arial"/>
              </a:rPr>
              <a:t> </a:t>
            </a:r>
            <a:r>
              <a:rPr sz="1400" spc="-10">
                <a:latin typeface="Arial"/>
                <a:cs typeface="Arial"/>
              </a:rPr>
              <a:t>device/ surface</a:t>
            </a:r>
            <a:endParaRPr sz="1400">
              <a:latin typeface="Arial"/>
              <a:cs typeface="Arial"/>
            </a:endParaRPr>
          </a:p>
        </p:txBody>
      </p:sp>
      <p:sp>
        <p:nvSpPr>
          <p:cNvPr id="15" name="object 15"/>
          <p:cNvSpPr txBox="1"/>
          <p:nvPr/>
        </p:nvSpPr>
        <p:spPr>
          <a:xfrm>
            <a:off x="9789668" y="2259583"/>
            <a:ext cx="1636395" cy="513080"/>
          </a:xfrm>
          <a:prstGeom prst="rect">
            <a:avLst/>
          </a:prstGeom>
        </p:spPr>
        <p:txBody>
          <a:bodyPr vert="horz" wrap="square" lIns="0" tIns="12065" rIns="0" bIns="0" rtlCol="0">
            <a:spAutoFit/>
          </a:bodyPr>
          <a:lstStyle/>
          <a:p>
            <a:pPr marL="12700">
              <a:lnSpc>
                <a:spcPct val="100000"/>
              </a:lnSpc>
              <a:spcBef>
                <a:spcPts val="95"/>
              </a:spcBef>
            </a:pPr>
            <a:r>
              <a:rPr sz="1600" b="1">
                <a:latin typeface="Arial"/>
                <a:cs typeface="Arial"/>
              </a:rPr>
              <a:t>Activate</a:t>
            </a:r>
            <a:r>
              <a:rPr sz="1600" b="1" spc="-40">
                <a:latin typeface="Arial"/>
                <a:cs typeface="Arial"/>
              </a:rPr>
              <a:t> </a:t>
            </a:r>
            <a:r>
              <a:rPr sz="1600" b="1" spc="-10">
                <a:latin typeface="Arial"/>
                <a:cs typeface="Arial"/>
              </a:rPr>
              <a:t>through</a:t>
            </a:r>
            <a:endParaRPr sz="1600">
              <a:latin typeface="Arial"/>
              <a:cs typeface="Arial"/>
            </a:endParaRPr>
          </a:p>
          <a:p>
            <a:pPr marL="12700">
              <a:lnSpc>
                <a:spcPct val="100000"/>
              </a:lnSpc>
            </a:pPr>
            <a:r>
              <a:rPr sz="1600" b="1" spc="-25">
                <a:latin typeface="Arial"/>
                <a:cs typeface="Arial"/>
              </a:rPr>
              <a:t>App</a:t>
            </a:r>
            <a:endParaRPr sz="1600">
              <a:latin typeface="Arial"/>
              <a:cs typeface="Arial"/>
            </a:endParaRPr>
          </a:p>
        </p:txBody>
      </p:sp>
      <p:sp>
        <p:nvSpPr>
          <p:cNvPr id="16" name="object 16"/>
          <p:cNvSpPr txBox="1"/>
          <p:nvPr/>
        </p:nvSpPr>
        <p:spPr>
          <a:xfrm>
            <a:off x="5154929" y="3347465"/>
            <a:ext cx="2207260" cy="659796"/>
          </a:xfrm>
          <a:prstGeom prst="rect">
            <a:avLst/>
          </a:prstGeom>
        </p:spPr>
        <p:txBody>
          <a:bodyPr vert="horz" wrap="square" lIns="0" tIns="13335" rIns="0" bIns="0" rtlCol="0">
            <a:spAutoFit/>
          </a:bodyPr>
          <a:lstStyle/>
          <a:p>
            <a:pPr marL="12700" marR="5080">
              <a:lnSpc>
                <a:spcPct val="100000"/>
              </a:lnSpc>
              <a:spcBef>
                <a:spcPts val="105"/>
              </a:spcBef>
            </a:pPr>
            <a:r>
              <a:rPr sz="1400">
                <a:latin typeface="Arial"/>
                <a:cs typeface="Arial"/>
              </a:rPr>
              <a:t>The</a:t>
            </a:r>
            <a:r>
              <a:rPr sz="1400" spc="-25">
                <a:latin typeface="Arial"/>
                <a:cs typeface="Arial"/>
              </a:rPr>
              <a:t> </a:t>
            </a:r>
            <a:r>
              <a:rPr sz="1400">
                <a:latin typeface="Arial"/>
                <a:cs typeface="Arial"/>
              </a:rPr>
              <a:t>user</a:t>
            </a:r>
            <a:r>
              <a:rPr sz="1400" spc="-25">
                <a:latin typeface="Arial"/>
                <a:cs typeface="Arial"/>
              </a:rPr>
              <a:t> </a:t>
            </a:r>
            <a:r>
              <a:rPr sz="1400">
                <a:latin typeface="Arial"/>
                <a:cs typeface="Arial"/>
              </a:rPr>
              <a:t>has</a:t>
            </a:r>
            <a:r>
              <a:rPr sz="1400" spc="-30">
                <a:latin typeface="Arial"/>
                <a:cs typeface="Arial"/>
              </a:rPr>
              <a:t> </a:t>
            </a:r>
            <a:r>
              <a:rPr sz="1400">
                <a:latin typeface="Arial"/>
                <a:cs typeface="Arial"/>
              </a:rPr>
              <a:t>to</a:t>
            </a:r>
            <a:r>
              <a:rPr sz="1400" spc="-10">
                <a:latin typeface="Arial"/>
                <a:cs typeface="Arial"/>
              </a:rPr>
              <a:t> </a:t>
            </a:r>
            <a:r>
              <a:rPr sz="1400">
                <a:latin typeface="Arial"/>
                <a:cs typeface="Arial"/>
              </a:rPr>
              <a:t>apply</a:t>
            </a:r>
            <a:r>
              <a:rPr sz="1400" spc="-25">
                <a:latin typeface="Arial"/>
                <a:cs typeface="Arial"/>
              </a:rPr>
              <a:t> for </a:t>
            </a:r>
            <a:r>
              <a:rPr sz="1400">
                <a:latin typeface="Arial"/>
                <a:cs typeface="Arial"/>
              </a:rPr>
              <a:t>the</a:t>
            </a:r>
            <a:r>
              <a:rPr sz="1400" spc="-45">
                <a:latin typeface="Arial"/>
                <a:cs typeface="Arial"/>
              </a:rPr>
              <a:t> </a:t>
            </a:r>
            <a:r>
              <a:rPr sz="1400">
                <a:latin typeface="Arial"/>
                <a:cs typeface="Arial"/>
              </a:rPr>
              <a:t>card</a:t>
            </a:r>
            <a:r>
              <a:rPr sz="1400" spc="-45">
                <a:latin typeface="Arial"/>
                <a:cs typeface="Arial"/>
              </a:rPr>
              <a:t> </a:t>
            </a:r>
            <a:r>
              <a:rPr sz="1400">
                <a:latin typeface="Arial"/>
                <a:cs typeface="Arial"/>
              </a:rPr>
              <a:t>through</a:t>
            </a:r>
            <a:r>
              <a:rPr sz="1400" spc="-55">
                <a:latin typeface="Arial"/>
                <a:cs typeface="Arial"/>
              </a:rPr>
              <a:t> </a:t>
            </a:r>
            <a:r>
              <a:rPr sz="1400" spc="-20">
                <a:latin typeface="Arial"/>
                <a:cs typeface="Arial"/>
              </a:rPr>
              <a:t>IDFC </a:t>
            </a:r>
            <a:r>
              <a:rPr sz="1400">
                <a:latin typeface="Arial"/>
                <a:cs typeface="Arial"/>
              </a:rPr>
              <a:t>First’s</a:t>
            </a:r>
            <a:r>
              <a:rPr sz="1400" spc="-50">
                <a:latin typeface="Arial"/>
                <a:cs typeface="Arial"/>
              </a:rPr>
              <a:t> </a:t>
            </a:r>
            <a:r>
              <a:rPr sz="1400">
                <a:latin typeface="Arial"/>
                <a:cs typeface="Arial"/>
              </a:rPr>
              <a:t>mobile</a:t>
            </a:r>
            <a:r>
              <a:rPr sz="1400" spc="-40">
                <a:latin typeface="Arial"/>
                <a:cs typeface="Arial"/>
              </a:rPr>
              <a:t> </a:t>
            </a:r>
            <a:r>
              <a:rPr sz="1400">
                <a:latin typeface="Arial"/>
                <a:cs typeface="Arial"/>
              </a:rPr>
              <a:t>app</a:t>
            </a:r>
            <a:endParaRPr lang="az-Latn-AZ" sz="1400">
              <a:latin typeface="Arial"/>
              <a:cs typeface="Arial"/>
            </a:endParaRPr>
          </a:p>
        </p:txBody>
      </p:sp>
      <p:sp>
        <p:nvSpPr>
          <p:cNvPr id="17" name="object 17"/>
          <p:cNvSpPr txBox="1"/>
          <p:nvPr/>
        </p:nvSpPr>
        <p:spPr>
          <a:xfrm>
            <a:off x="9789668" y="3347465"/>
            <a:ext cx="1821814" cy="1093470"/>
          </a:xfrm>
          <a:prstGeom prst="rect">
            <a:avLst/>
          </a:prstGeom>
        </p:spPr>
        <p:txBody>
          <a:bodyPr vert="horz" wrap="square" lIns="0" tIns="13335" rIns="0" bIns="0" rtlCol="0">
            <a:spAutoFit/>
          </a:bodyPr>
          <a:lstStyle/>
          <a:p>
            <a:pPr marL="12700" marR="5080">
              <a:lnSpc>
                <a:spcPct val="100000"/>
              </a:lnSpc>
              <a:spcBef>
                <a:spcPts val="105"/>
              </a:spcBef>
            </a:pPr>
            <a:r>
              <a:rPr sz="1400">
                <a:latin typeface="Arial"/>
                <a:cs typeface="Arial"/>
              </a:rPr>
              <a:t>The</a:t>
            </a:r>
            <a:r>
              <a:rPr sz="1400" spc="-35">
                <a:latin typeface="Arial"/>
                <a:cs typeface="Arial"/>
              </a:rPr>
              <a:t> </a:t>
            </a:r>
            <a:r>
              <a:rPr sz="1400">
                <a:latin typeface="Arial"/>
                <a:cs typeface="Arial"/>
              </a:rPr>
              <a:t>card</a:t>
            </a:r>
            <a:r>
              <a:rPr sz="1400" spc="-30">
                <a:latin typeface="Arial"/>
                <a:cs typeface="Arial"/>
              </a:rPr>
              <a:t> </a:t>
            </a:r>
            <a:r>
              <a:rPr sz="1400">
                <a:latin typeface="Arial"/>
                <a:cs typeface="Arial"/>
              </a:rPr>
              <a:t>can</a:t>
            </a:r>
            <a:r>
              <a:rPr sz="1400" spc="-35">
                <a:latin typeface="Arial"/>
                <a:cs typeface="Arial"/>
              </a:rPr>
              <a:t> </a:t>
            </a:r>
            <a:r>
              <a:rPr sz="1400" spc="-25">
                <a:latin typeface="Arial"/>
                <a:cs typeface="Arial"/>
              </a:rPr>
              <a:t>be </a:t>
            </a:r>
            <a:r>
              <a:rPr sz="1400">
                <a:latin typeface="Arial"/>
                <a:cs typeface="Arial"/>
              </a:rPr>
              <a:t>activated</a:t>
            </a:r>
            <a:r>
              <a:rPr sz="1400" spc="-60">
                <a:latin typeface="Arial"/>
                <a:cs typeface="Arial"/>
              </a:rPr>
              <a:t> </a:t>
            </a:r>
            <a:r>
              <a:rPr sz="1400">
                <a:latin typeface="Arial"/>
                <a:cs typeface="Arial"/>
              </a:rPr>
              <a:t>through</a:t>
            </a:r>
            <a:r>
              <a:rPr sz="1400" spc="-65">
                <a:latin typeface="Arial"/>
                <a:cs typeface="Arial"/>
              </a:rPr>
              <a:t> </a:t>
            </a:r>
            <a:r>
              <a:rPr sz="1400" spc="-25">
                <a:latin typeface="Arial"/>
                <a:cs typeface="Arial"/>
              </a:rPr>
              <a:t>the </a:t>
            </a:r>
            <a:r>
              <a:rPr sz="1400">
                <a:latin typeface="Arial"/>
                <a:cs typeface="Arial"/>
              </a:rPr>
              <a:t>bank’s</a:t>
            </a:r>
            <a:r>
              <a:rPr sz="1400" spc="-50">
                <a:latin typeface="Arial"/>
                <a:cs typeface="Arial"/>
              </a:rPr>
              <a:t> </a:t>
            </a:r>
            <a:r>
              <a:rPr sz="1400">
                <a:latin typeface="Arial"/>
                <a:cs typeface="Arial"/>
              </a:rPr>
              <a:t>app/</a:t>
            </a:r>
            <a:r>
              <a:rPr sz="1400" spc="-45">
                <a:latin typeface="Arial"/>
                <a:cs typeface="Arial"/>
              </a:rPr>
              <a:t> </a:t>
            </a:r>
            <a:r>
              <a:rPr sz="1400">
                <a:latin typeface="Arial"/>
                <a:cs typeface="Arial"/>
              </a:rPr>
              <a:t>INB,</a:t>
            </a:r>
            <a:r>
              <a:rPr sz="1400" spc="-30">
                <a:latin typeface="Arial"/>
                <a:cs typeface="Arial"/>
              </a:rPr>
              <a:t> </a:t>
            </a:r>
            <a:r>
              <a:rPr sz="1400" spc="-20">
                <a:latin typeface="Arial"/>
                <a:cs typeface="Arial"/>
              </a:rPr>
              <a:t>after </a:t>
            </a:r>
            <a:r>
              <a:rPr sz="1400">
                <a:latin typeface="Arial"/>
                <a:cs typeface="Arial"/>
              </a:rPr>
              <a:t>which</a:t>
            </a:r>
            <a:r>
              <a:rPr sz="1400" spc="-15">
                <a:latin typeface="Arial"/>
                <a:cs typeface="Arial"/>
              </a:rPr>
              <a:t> </a:t>
            </a:r>
            <a:r>
              <a:rPr sz="1400">
                <a:latin typeface="Arial"/>
                <a:cs typeface="Arial"/>
              </a:rPr>
              <a:t>it</a:t>
            </a:r>
            <a:r>
              <a:rPr sz="1400" spc="-5">
                <a:latin typeface="Arial"/>
                <a:cs typeface="Arial"/>
              </a:rPr>
              <a:t> </a:t>
            </a:r>
            <a:r>
              <a:rPr sz="1400">
                <a:latin typeface="Arial"/>
                <a:cs typeface="Arial"/>
              </a:rPr>
              <a:t>is</a:t>
            </a:r>
            <a:r>
              <a:rPr sz="1400" spc="-20">
                <a:latin typeface="Arial"/>
                <a:cs typeface="Arial"/>
              </a:rPr>
              <a:t> </a:t>
            </a:r>
            <a:r>
              <a:rPr sz="1400">
                <a:latin typeface="Arial"/>
                <a:cs typeface="Arial"/>
              </a:rPr>
              <a:t>ready</a:t>
            </a:r>
            <a:r>
              <a:rPr sz="1400" spc="-30">
                <a:latin typeface="Arial"/>
                <a:cs typeface="Arial"/>
              </a:rPr>
              <a:t> </a:t>
            </a:r>
            <a:r>
              <a:rPr sz="1400">
                <a:latin typeface="Arial"/>
                <a:cs typeface="Arial"/>
              </a:rPr>
              <a:t>to</a:t>
            </a:r>
            <a:r>
              <a:rPr sz="1400" spc="-10">
                <a:latin typeface="Arial"/>
                <a:cs typeface="Arial"/>
              </a:rPr>
              <a:t> </a:t>
            </a:r>
            <a:r>
              <a:rPr sz="1400" spc="-25">
                <a:latin typeface="Arial"/>
                <a:cs typeface="Arial"/>
              </a:rPr>
              <a:t>use </a:t>
            </a:r>
            <a:r>
              <a:rPr sz="1400">
                <a:latin typeface="Arial"/>
                <a:cs typeface="Arial"/>
              </a:rPr>
              <a:t>for</a:t>
            </a:r>
            <a:r>
              <a:rPr sz="1400" spc="-25">
                <a:latin typeface="Arial"/>
                <a:cs typeface="Arial"/>
              </a:rPr>
              <a:t> </a:t>
            </a:r>
            <a:r>
              <a:rPr sz="1400">
                <a:latin typeface="Arial"/>
                <a:cs typeface="Arial"/>
              </a:rPr>
              <a:t>tap</a:t>
            </a:r>
            <a:r>
              <a:rPr sz="1400" spc="-35">
                <a:latin typeface="Arial"/>
                <a:cs typeface="Arial"/>
              </a:rPr>
              <a:t> </a:t>
            </a:r>
            <a:r>
              <a:rPr sz="1400">
                <a:latin typeface="Arial"/>
                <a:cs typeface="Arial"/>
              </a:rPr>
              <a:t>and</a:t>
            </a:r>
            <a:r>
              <a:rPr sz="1400" spc="-25">
                <a:latin typeface="Arial"/>
                <a:cs typeface="Arial"/>
              </a:rPr>
              <a:t> pay</a:t>
            </a:r>
            <a:endParaRPr sz="1400">
              <a:latin typeface="Arial"/>
              <a:cs typeface="Arial"/>
            </a:endParaRPr>
          </a:p>
        </p:txBody>
      </p:sp>
      <p:sp>
        <p:nvSpPr>
          <p:cNvPr id="18" name="object 18"/>
          <p:cNvSpPr txBox="1"/>
          <p:nvPr/>
        </p:nvSpPr>
        <p:spPr>
          <a:xfrm>
            <a:off x="3502533" y="4761052"/>
            <a:ext cx="1238885" cy="269240"/>
          </a:xfrm>
          <a:prstGeom prst="rect">
            <a:avLst/>
          </a:prstGeom>
        </p:spPr>
        <p:txBody>
          <a:bodyPr vert="horz" wrap="square" lIns="0" tIns="12065" rIns="0" bIns="0" rtlCol="0">
            <a:spAutoFit/>
          </a:bodyPr>
          <a:lstStyle/>
          <a:p>
            <a:pPr marL="12700">
              <a:lnSpc>
                <a:spcPct val="100000"/>
              </a:lnSpc>
              <a:spcBef>
                <a:spcPts val="95"/>
              </a:spcBef>
            </a:pPr>
            <a:r>
              <a:rPr sz="1600" b="1">
                <a:latin typeface="Arial"/>
                <a:cs typeface="Arial"/>
              </a:rPr>
              <a:t>Key</a:t>
            </a:r>
            <a:r>
              <a:rPr sz="1600" b="1" spc="-20">
                <a:latin typeface="Arial"/>
                <a:cs typeface="Arial"/>
              </a:rPr>
              <a:t> </a:t>
            </a:r>
            <a:r>
              <a:rPr sz="1600" b="1" spc="-10">
                <a:latin typeface="Arial"/>
                <a:cs typeface="Arial"/>
              </a:rPr>
              <a:t>Players:</a:t>
            </a:r>
            <a:endParaRPr sz="1600">
              <a:latin typeface="Arial"/>
              <a:cs typeface="Arial"/>
            </a:endParaRPr>
          </a:p>
        </p:txBody>
      </p:sp>
      <p:sp>
        <p:nvSpPr>
          <p:cNvPr id="19" name="Title 1" descr="$PPTXTitle"/>
          <p:cNvSpPr txBox="1">
            <a:spLocks noGrp="1"/>
          </p:cNvSpPr>
          <p:nvPr>
            <p:ph type="title"/>
          </p:nvPr>
        </p:nvSpPr>
        <p:spPr>
          <a:xfrm>
            <a:off x="547688" y="149893"/>
            <a:ext cx="10526220" cy="763671"/>
          </a:xfrm>
          <a:prstGeom prst="rect">
            <a:avLst/>
          </a:prstGeom>
        </p:spPr>
        <p:txBody>
          <a:bodyPr vert="horz" wrap="square" lIns="0" tIns="45085" rIns="0" bIns="0" rtlCol="0">
            <a:spAutoFit/>
          </a:bodyPr>
          <a:lstStyle/>
          <a:p>
            <a:pPr marL="12700" marR="5080">
              <a:lnSpc>
                <a:spcPts val="2800"/>
              </a:lnSpc>
              <a:spcBef>
                <a:spcPts val="355"/>
              </a:spcBef>
            </a:pPr>
            <a:r>
              <a:rPr lang="en-GB" spc="-20" dirty="0"/>
              <a:t>L</a:t>
            </a:r>
            <a:r>
              <a:rPr spc="-20" dirty="0"/>
              <a:t>ow-</a:t>
            </a:r>
            <a:r>
              <a:rPr dirty="0"/>
              <a:t>cost</a:t>
            </a:r>
            <a:r>
              <a:rPr spc="-60" dirty="0"/>
              <a:t> </a:t>
            </a:r>
            <a:r>
              <a:rPr spc="-10" dirty="0"/>
              <a:t>stick-</a:t>
            </a:r>
            <a:r>
              <a:rPr dirty="0"/>
              <a:t>on</a:t>
            </a:r>
            <a:r>
              <a:rPr spc="-60" dirty="0"/>
              <a:t> </a:t>
            </a:r>
            <a:r>
              <a:rPr dirty="0"/>
              <a:t>card</a:t>
            </a:r>
            <a:r>
              <a:rPr spc="-65" dirty="0"/>
              <a:t> </a:t>
            </a:r>
            <a:r>
              <a:rPr dirty="0"/>
              <a:t>enables</a:t>
            </a:r>
            <a:r>
              <a:rPr spc="-60" dirty="0"/>
              <a:t> </a:t>
            </a:r>
            <a:r>
              <a:rPr dirty="0"/>
              <a:t>a</a:t>
            </a:r>
            <a:r>
              <a:rPr spc="-60" dirty="0"/>
              <a:t> </a:t>
            </a:r>
            <a:r>
              <a:rPr dirty="0"/>
              <a:t>seamless</a:t>
            </a:r>
            <a:r>
              <a:rPr spc="-45" dirty="0"/>
              <a:t> </a:t>
            </a:r>
            <a:r>
              <a:rPr dirty="0"/>
              <a:t>payment</a:t>
            </a:r>
            <a:r>
              <a:rPr spc="-65" dirty="0"/>
              <a:t> </a:t>
            </a:r>
            <a:r>
              <a:rPr dirty="0"/>
              <a:t>experience</a:t>
            </a:r>
            <a:r>
              <a:rPr spc="-65" dirty="0"/>
              <a:t> </a:t>
            </a:r>
            <a:r>
              <a:rPr spc="-25" dirty="0"/>
              <a:t>for </a:t>
            </a:r>
            <a:r>
              <a:rPr spc="-10" dirty="0"/>
              <a:t>users</a:t>
            </a:r>
          </a:p>
        </p:txBody>
      </p:sp>
      <p:pic>
        <p:nvPicPr>
          <p:cNvPr id="20" name="object 20"/>
          <p:cNvPicPr/>
          <p:nvPr/>
        </p:nvPicPr>
        <p:blipFill>
          <a:blip r:embed="rId8" cstate="print"/>
          <a:stretch>
            <a:fillRect/>
          </a:stretch>
        </p:blipFill>
        <p:spPr>
          <a:xfrm>
            <a:off x="540638" y="1132957"/>
            <a:ext cx="2438536" cy="5163814"/>
          </a:xfrm>
          <a:prstGeom prst="rect">
            <a:avLst/>
          </a:prstGeom>
        </p:spPr>
      </p:pic>
      <p:sp>
        <p:nvSpPr>
          <p:cNvPr id="21" name="object 21"/>
          <p:cNvSpPr txBox="1">
            <a:spLocks noGrp="1"/>
          </p:cNvSpPr>
          <p:nvPr>
            <p:ph type="ftr" sz="quarter" idx="5"/>
          </p:nvPr>
        </p:nvSpPr>
        <p:spPr>
          <a:xfrm>
            <a:off x="10134981" y="6497072"/>
            <a:ext cx="1151890" cy="153670"/>
          </a:xfrm>
          <a:prstGeom prst="rect">
            <a:avLst/>
          </a:prstGeom>
        </p:spPr>
        <p:txBody>
          <a:bodyPr vert="horz" wrap="square" lIns="0" tIns="0" rIns="0" bIns="0" rtlCol="0">
            <a:spAutoFit/>
          </a:bodyPr>
          <a:lstStyle>
            <a:defPPr>
              <a:defRPr kern="0"/>
            </a:defPPr>
            <a:lvl1pPr>
              <a:defRPr sz="900" b="0" i="0">
                <a:solidFill>
                  <a:schemeClr val="tx1"/>
                </a:solidFill>
                <a:latin typeface="Arial"/>
                <a:cs typeface="Arial"/>
              </a:defRPr>
            </a:lvl1pPr>
          </a:lstStyle>
          <a:p>
            <a:pPr marL="12700">
              <a:lnSpc>
                <a:spcPct val="100000"/>
              </a:lnSpc>
              <a:spcBef>
                <a:spcPts val="15"/>
              </a:spcBef>
            </a:pPr>
            <a:r>
              <a:rPr lang="az-Latn-AZ"/>
              <a:t>McKinsey</a:t>
            </a:r>
            <a:r>
              <a:rPr lang="az-Latn-AZ" spc="-25"/>
              <a:t> </a:t>
            </a:r>
            <a:r>
              <a:rPr lang="az-Latn-AZ"/>
              <a:t>&amp;</a:t>
            </a:r>
            <a:r>
              <a:rPr lang="az-Latn-AZ" spc="-10"/>
              <a:t> Company</a:t>
            </a:r>
            <a:endParaRPr spc="-10"/>
          </a:p>
        </p:txBody>
      </p:sp>
      <p:sp>
        <p:nvSpPr>
          <p:cNvPr id="22" name="object 22"/>
          <p:cNvSpPr txBox="1">
            <a:spLocks noGrp="1"/>
          </p:cNvSpPr>
          <p:nvPr>
            <p:ph type="sldNum" sz="quarter" idx="7"/>
          </p:nvPr>
        </p:nvSpPr>
        <p:spPr>
          <a:xfrm>
            <a:off x="11499342" y="6496463"/>
            <a:ext cx="191770" cy="153670"/>
          </a:xfrm>
          <a:prstGeom prst="rect">
            <a:avLst/>
          </a:prstGeom>
        </p:spPr>
        <p:txBody>
          <a:bodyPr vert="horz" wrap="square" lIns="0" tIns="0" rIns="0" bIns="0" rtlCol="0">
            <a:spAutoFit/>
          </a:bodyPr>
          <a:lstStyle>
            <a:defPPr>
              <a:defRPr kern="0"/>
            </a:defPPr>
            <a:lvl1pPr>
              <a:defRPr sz="900" b="0" i="0">
                <a:solidFill>
                  <a:schemeClr val="tx1"/>
                </a:solidFill>
                <a:latin typeface="Arial"/>
                <a:cs typeface="Arial"/>
              </a:defRPr>
            </a:lvl1pPr>
          </a:lstStyle>
          <a:p>
            <a:pPr marL="12700">
              <a:lnSpc>
                <a:spcPct val="100000"/>
              </a:lnSpc>
              <a:spcBef>
                <a:spcPts val="15"/>
              </a:spcBef>
            </a:pPr>
            <a:fld id="{81D60167-4931-47E6-BA6A-407CBD079E47}" type="slidenum">
              <a:rPr lang="az-Latn-AZ" spc="-25" smtClean="0"/>
              <a:pPr marL="12700">
                <a:lnSpc>
                  <a:spcPct val="100000"/>
                </a:lnSpc>
                <a:spcBef>
                  <a:spcPts val="15"/>
                </a:spcBef>
              </a:pPr>
              <a:t>35</a:t>
            </a:fld>
            <a:endParaRPr spc="-25"/>
          </a:p>
        </p:txBody>
      </p:sp>
      <p:pic>
        <p:nvPicPr>
          <p:cNvPr id="24" name="Picture 20">
            <a:extLst>
              <a:ext uri="{FF2B5EF4-FFF2-40B4-BE49-F238E27FC236}">
                <a16:creationId xmlns:a16="http://schemas.microsoft.com/office/drawing/2014/main" id="{97C886DB-58FF-8570-8B0D-602A83C0F06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41779" y="4808409"/>
            <a:ext cx="1150384" cy="412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HINKCELLUNDODONOTDELETE" val="0"/>
  <p:tag name="TEMPLATELASTEDITED" val="2024-05-30 01:34 PM"/>
  <p:tag name="LINKEDPICTURESLINKREMOVED" val="True"/>
  <p:tag name="ICONLINEFILL" val="Color [A=255, R=10, G=86, B=55]"/>
  <p:tag name="ICONLINEFILLTHEME" val="Accent 4"/>
  <p:tag name="ICONFILLBACKGROUND" val="Color [A=255, R=255, G=255, B=255]"/>
  <p:tag name="ICONFILLBACKGROUNDTHEME" val="Accent 4"/>
  <p:tag name="ICONENCLOSURE" val="False"/>
  <p:tag name="THINKCELLPRESENTATIONDONOTDELETE" val="&lt;?xml version=&quot;1.0&quot; encoding=&quot;UTF-16&quot; standalone=&quot;yes&quot;?&gt;&lt;root reqver=&quot;28224&quot;&gt;&lt;version val=&quot;358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2&quot;&gt;&lt;elem m_fUsage=&quot;4.17624823094767805287E+00&quot;&gt;&lt;m_msothmcolidx val=&quot;0&quot;/&gt;&lt;m_rgb r=&quot;82&quot; g=&quot;82&quot; b=&quot;82&quot;/&gt;&lt;/elem&gt;&lt;elem m_fUsage=&quot;2.57981050093707420245E+00&quot;&gt;&lt;m_msothmcolidx val=&quot;0&quot;/&gt;&lt;m_rgb r=&quot;B0&quot; g=&quot;B0&quot; b=&quot;B0&quot;/&gt;&lt;/elem&gt;&lt;elem m_fUsage=&quot;1.40784777884686795879E+00&quot;&gt;&lt;m_msothmcolidx val=&quot;0&quot;/&gt;&lt;m_rgb r=&quot;A6&quot; g=&quot;A6&quot; b=&quot;A6&quot;/&gt;&lt;/elem&gt;&lt;elem m_fUsage=&quot;1.15658076349397953564E+00&quot;&gt;&lt;m_msothmcolidx val=&quot;0&quot;/&gt;&lt;m_rgb r=&quot;B1&quot; g=&quot;B1&quot; b=&quot;B1&quot;/&gt;&lt;/elem&gt;&lt;elem m_fUsage=&quot;3.28868636430079519517E-01&quot;&gt;&lt;m_msothmcolidx val=&quot;0&quot;/&gt;&lt;m_rgb r=&quot;CE&quot; g=&quot;10&quot; b=&quot;25&quot;/&gt;&lt;/elem&gt;&lt;elem m_fUsage=&quot;3.04287613164003434285E-01&quot;&gt;&lt;m_msothmcolidx val=&quot;0&quot;/&gt;&lt;m_rgb r=&quot;D9&quot; g=&quot;D9&quot; b=&quot;D9&quot;/&gt;&lt;/elem&gt;&lt;elem m_fUsage=&quot;2.49789788573267883265E-02&quot;&gt;&lt;m_msothmcolidx val=&quot;0&quot;/&gt;&lt;m_rgb r=&quot;FF&quot; g=&quot;AC&quot; b=&quot;A3&quot;/&gt;&lt;/elem&gt;&lt;elem m_fUsage=&quot;9.00723040409630998360E-03&quot;&gt;&lt;m_msothmcolidx val=&quot;0&quot;/&gt;&lt;m_rgb r=&quot;C5&quot; g=&quot;F3&quot; b=&quot;D4&quot;/&gt;&lt;/elem&gt;&lt;elem m_fUsage=&quot;4.63839768658810738117E-03&quot;&gt;&lt;m_msothmcolidx val=&quot;0&quot;/&gt;&lt;m_rgb r=&quot;1A&quot; g=&quot;50&quot; b=&quot;3A&quot;/&gt;&lt;/elem&gt;&lt;elem m_fUsage=&quot;1.31002050863762210288E-03&quot;&gt;&lt;m_msothmcolidx val=&quot;0&quot;/&gt;&lt;m_rgb r=&quot;FB&quot; g=&quot;ED&quot; b=&quot;B7&quot;/&gt;&lt;/elem&gt;&lt;elem m_fUsage=&quot;1.06111661199647386647E-03&quot;&gt;&lt;m_msothmcolidx val=&quot;0&quot;/&gt;&lt;m_rgb r=&quot;F2&quot; g=&quot;F2&quot; b=&quot;F2&quot;/&gt;&lt;/elem&gt;&lt;elem m_fUsage=&quot;9.55004950796826544875E-04&quot;&gt;&lt;m_msothmcolidx val=&quot;0&quot;/&gt;&lt;m_rgb r=&quot;85&quot; g=&quot;14&quot; b=&quot;36&quot;/&gt;&lt;/elem&gt;&lt;elem m_fUsage=&quot;7.81086801740824834481E-04&quot;&gt;&lt;m_msothmcolidx val=&quot;0&quot;/&gt;&lt;m_rgb r=&quot;E9&quot; g=&quot;DA&quot; b=&quot;69&quot;/&gt;&lt;/elem&gt;&lt;elem m_fUsage=&quot;7.60878666313954846005E-04&quot;&gt;&lt;m_msothmcolidx val=&quot;0&quot;/&gt;&lt;m_rgb r=&quot;FB&quot; g=&quot;CA&quot; b=&quot;D1&quot;/&gt;&lt;/elem&gt;&lt;elem m_fUsage=&quot;5.63920873396018141471E-04&quot;&gt;&lt;m_msothmcolidx val=&quot;0&quot;/&gt;&lt;m_rgb r=&quot;59&quot; g=&quot;59&quot; b=&quot;59&quot;/&gt;&lt;/elem&gt;&lt;elem m_fUsage=&quot;4.61223945559939725852E-04&quot;&gt;&lt;m_msothmcolidx val=&quot;0&quot;/&gt;&lt;m_rgb r=&quot;1E&quot; g=&quot;00&quot; b=&quot;FD&quot;/&gt;&lt;/elem&gt;&lt;elem m_fUsage=&quot;4.56775907450774763981E-04&quot;&gt;&lt;m_msothmcolidx val=&quot;0&quot;/&gt;&lt;m_rgb r=&quot;00&quot; g=&quot;00&quot; b=&quot;00&quot;/&gt;&lt;/elem&gt;&lt;elem m_fUsage=&quot;3.32989636531614858345E-04&quot;&gt;&lt;m_msothmcolidx val=&quot;0&quot;/&gt;&lt;m_rgb r=&quot;E5&quot; g=&quot;F5&quot; b=&quot;FB&quot;/&gt;&lt;/elem&gt;&lt;elem m_fUsage=&quot;2.99690672878453394194E-04&quot;&gt;&lt;m_msothmcolidx val=&quot;0&quot;/&gt;&lt;m_rgb r=&quot;F3&quot; g=&quot;E5&quot; b=&quot;FB&quot;/&gt;&lt;/elem&gt;&lt;elem m_fUsage=&quot;1.96627050475553261533E-04&quot;&gt;&lt;m_msothmcolidx val=&quot;0&quot;/&gt;&lt;m_rgb r=&quot;66&quot; g=&quot;FF&quot; b=&quot;AC&quot;/&gt;&lt;/elem&gt;&lt;elem m_fUsage=&quot;1.59267910885198152142E-04&quot;&gt;&lt;m_msothmcolidx val=&quot;0&quot;/&gt;&lt;m_rgb r=&quot;89&quot; g=&quot;89&quot; b=&quot;9C&quot;/&gt;&lt;/elem&gt;&lt;elem m_fUsage=&quot;9.81390413377109405851E-05&quot;&gt;&lt;m_msothmcolidx val=&quot;0&quot;/&gt;&lt;m_rgb r=&quot;AF&quot; g=&quot;F4&quot; b=&quot;75&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4.xml><?xml version="1.0" encoding="utf-8"?>
<p:tagLst xmlns:a="http://schemas.openxmlformats.org/drawingml/2006/main" xmlns:r="http://schemas.openxmlformats.org/officeDocument/2006/relationships" xmlns:p="http://schemas.openxmlformats.org/presentationml/2006/main">
  <p:tag name="SHAPENAME" val="4. Footnote"/>
</p:tagLst>
</file>

<file path=ppt/tags/tag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xml><?xml version="1.0" encoding="utf-8"?>
<p:tagLst xmlns:a="http://schemas.openxmlformats.org/drawingml/2006/main" xmlns:r="http://schemas.openxmlformats.org/officeDocument/2006/relationships" xmlns:p="http://schemas.openxmlformats.org/presentationml/2006/main">
  <p:tag name="NAME" val="ACET"/>
</p:tagLst>
</file>

<file path=ppt/tags/tag7.xml><?xml version="1.0" encoding="utf-8"?>
<p:tagLst xmlns:a="http://schemas.openxmlformats.org/drawingml/2006/main" xmlns:r="http://schemas.openxmlformats.org/officeDocument/2006/relationships" xmlns:p="http://schemas.openxmlformats.org/presentationml/2006/main">
  <p:tag name="SHAPENAME" val="5. Source"/>
</p:tagLst>
</file>

<file path=ppt/tags/tag8.xml><?xml version="1.0" encoding="utf-8"?>
<p:tagLst xmlns:a="http://schemas.openxmlformats.org/drawingml/2006/main" xmlns:r="http://schemas.openxmlformats.org/officeDocument/2006/relationships" xmlns:p="http://schemas.openxmlformats.org/presentationml/2006/main">
  <p:tag name="NAME" val="MoonEmpty"/>
</p:tagLst>
</file>

<file path=ppt/tags/tag9.xml><?xml version="1.0" encoding="utf-8"?>
<p:tagLst xmlns:a="http://schemas.openxmlformats.org/drawingml/2006/main" xmlns:r="http://schemas.openxmlformats.org/officeDocument/2006/relationships" xmlns:p="http://schemas.openxmlformats.org/presentationml/2006/main">
  <p:tag name="NAME" val="MoonQuater"/>
</p:tagLst>
</file>

<file path=ppt/tags/tag10.xml><?xml version="1.0" encoding="utf-8"?>
<p:tagLst xmlns:a="http://schemas.openxmlformats.org/drawingml/2006/main" xmlns:r="http://schemas.openxmlformats.org/officeDocument/2006/relationships" xmlns:p="http://schemas.openxmlformats.org/presentationml/2006/main">
  <p:tag name="NAME" val="MoonHalf"/>
</p:tagLst>
</file>

<file path=ppt/tags/tag11.xml><?xml version="1.0" encoding="utf-8"?>
<p:tagLst xmlns:a="http://schemas.openxmlformats.org/drawingml/2006/main" xmlns:r="http://schemas.openxmlformats.org/officeDocument/2006/relationships" xmlns:p="http://schemas.openxmlformats.org/presentationml/2006/main">
  <p:tag name="NAME" val="Moon3Quater"/>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2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6.xml><?xml version="1.0" encoding="utf-8"?>
<p:tagLst xmlns:a="http://schemas.openxmlformats.org/drawingml/2006/main" xmlns:r="http://schemas.openxmlformats.org/officeDocument/2006/relationships" xmlns:p="http://schemas.openxmlformats.org/presentationml/2006/main">
  <p:tag name="SHAPENAME" val="Subtitle"/>
</p:tagLst>
</file>

<file path=ppt/tags/tag27.xml><?xml version="1.0" encoding="utf-8"?>
<p:tagLst xmlns:a="http://schemas.openxmlformats.org/drawingml/2006/main" xmlns:r="http://schemas.openxmlformats.org/officeDocument/2006/relationships" xmlns:p="http://schemas.openxmlformats.org/presentationml/2006/main">
  <p:tag name="SHAPENAME" val="Titl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2.xml><?xml version="1.0" encoding="utf-8"?>
<p:tagLst xmlns:a="http://schemas.openxmlformats.org/drawingml/2006/main" xmlns:r="http://schemas.openxmlformats.org/officeDocument/2006/relationships" xmlns:p="http://schemas.openxmlformats.org/presentationml/2006/main">
  <p:tag name="SHAPENAME" val="5. Source"/>
</p:tagLst>
</file>

<file path=ppt/tags/tag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5.xml><?xml version="1.0" encoding="utf-8"?>
<p:tagLst xmlns:a="http://schemas.openxmlformats.org/drawingml/2006/main" xmlns:r="http://schemas.openxmlformats.org/officeDocument/2006/relationships" xmlns:p="http://schemas.openxmlformats.org/presentationml/2006/main">
  <p:tag name="SHAPENAME" val="4. Footno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xml><?xml version="1.0" encoding="utf-8"?>
<p:tagLst xmlns:a="http://schemas.openxmlformats.org/drawingml/2006/main" xmlns:r="http://schemas.openxmlformats.org/officeDocument/2006/relationships" xmlns:p="http://schemas.openxmlformats.org/presentationml/2006/main">
  <p:tag name="SHAPENAME" val="5. Source"/>
</p:tagLst>
</file>

<file path=ppt/tags/tag41.xml><?xml version="1.0" encoding="utf-8"?>
<p:tagLst xmlns:a="http://schemas.openxmlformats.org/drawingml/2006/main" xmlns:r="http://schemas.openxmlformats.org/officeDocument/2006/relationships" xmlns:p="http://schemas.openxmlformats.org/presentationml/2006/main">
  <p:tag name="SHAPENAME" val="4. Footno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4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6.xml><?xml version="1.0" encoding="utf-8"?>
<p:tagLst xmlns:a="http://schemas.openxmlformats.org/drawingml/2006/main" xmlns:r="http://schemas.openxmlformats.org/officeDocument/2006/relationships" xmlns:p="http://schemas.openxmlformats.org/presentationml/2006/main">
  <p:tag name="SHAPENAME" val="5. Source"/>
</p:tagLst>
</file>

<file path=ppt/tags/tag47.xml><?xml version="1.0" encoding="utf-8"?>
<p:tagLst xmlns:a="http://schemas.openxmlformats.org/drawingml/2006/main" xmlns:r="http://schemas.openxmlformats.org/officeDocument/2006/relationships" xmlns:p="http://schemas.openxmlformats.org/presentationml/2006/main">
  <p:tag name="SHAPENAME" val="4. Footno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1.xml><?xml version="1.0" encoding="utf-8"?>
<p:tagLst xmlns:a="http://schemas.openxmlformats.org/drawingml/2006/main" xmlns:r="http://schemas.openxmlformats.org/officeDocument/2006/relationships" xmlns:p="http://schemas.openxmlformats.org/presentationml/2006/main">
  <p:tag name="SHAPENAME" val="3. Subtitle"/>
</p:tagLst>
</file>

<file path=ppt/tags/tag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xml><?xml version="1.0" encoding="utf-8"?>
<p:tagLst xmlns:a="http://schemas.openxmlformats.org/drawingml/2006/main" xmlns:r="http://schemas.openxmlformats.org/officeDocument/2006/relationships" xmlns:p="http://schemas.openxmlformats.org/presentationml/2006/main">
  <p:tag name="SHAPENAME" val="4. Footnote"/>
</p:tagLst>
</file>

<file path=ppt/tags/tag55.xml><?xml version="1.0" encoding="utf-8"?>
<p:tagLst xmlns:a="http://schemas.openxmlformats.org/drawingml/2006/main" xmlns:r="http://schemas.openxmlformats.org/officeDocument/2006/relationships" xmlns:p="http://schemas.openxmlformats.org/presentationml/2006/main">
  <p:tag name="SHAPENAME" val="5. Sourc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5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1.xml><?xml version="1.0" encoding="utf-8"?>
<p:tagLst xmlns:a="http://schemas.openxmlformats.org/drawingml/2006/main" xmlns:r="http://schemas.openxmlformats.org/officeDocument/2006/relationships" xmlns:p="http://schemas.openxmlformats.org/presentationml/2006/main">
  <p:tag name="SHAPENAME" val="3. Subtitl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SHAPENAME" val="4. Footnote"/>
</p:tagLst>
</file>

<file path=ppt/tags/tag64.xml><?xml version="1.0" encoding="utf-8"?>
<p:tagLst xmlns:a="http://schemas.openxmlformats.org/drawingml/2006/main" xmlns:r="http://schemas.openxmlformats.org/officeDocument/2006/relationships" xmlns:p="http://schemas.openxmlformats.org/presentationml/2006/main">
  <p:tag name="SHAPENAME" val="5. Sourc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6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xml><?xml version="1.0" encoding="utf-8"?>
<p:tagLst xmlns:a="http://schemas.openxmlformats.org/drawingml/2006/main" xmlns:r="http://schemas.openxmlformats.org/officeDocument/2006/relationships" xmlns:p="http://schemas.openxmlformats.org/presentationml/2006/main">
  <p:tag name="SHAPENAME" val="3. Subtitle"/>
</p:tagLst>
</file>

<file path=ppt/tags/tag7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2.xml><?xml version="1.0" encoding="utf-8"?>
<p:tagLst xmlns:a="http://schemas.openxmlformats.org/drawingml/2006/main" xmlns:r="http://schemas.openxmlformats.org/officeDocument/2006/relationships" xmlns:p="http://schemas.openxmlformats.org/presentationml/2006/main">
  <p:tag name="SHAPENAME" val="4. Footnote"/>
</p:tagLst>
</file>

<file path=ppt/tags/tag73.xml><?xml version="1.0" encoding="utf-8"?>
<p:tagLst xmlns:a="http://schemas.openxmlformats.org/drawingml/2006/main" xmlns:r="http://schemas.openxmlformats.org/officeDocument/2006/relationships" xmlns:p="http://schemas.openxmlformats.org/presentationml/2006/main">
  <p:tag name="SHAPENAME" val="5. Sourc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7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9.xml><?xml version="1.0" encoding="utf-8"?>
<p:tagLst xmlns:a="http://schemas.openxmlformats.org/drawingml/2006/main" xmlns:r="http://schemas.openxmlformats.org/officeDocument/2006/relationships" xmlns:p="http://schemas.openxmlformats.org/presentationml/2006/main">
  <p:tag name="SHAPENAME" val="3. Subtitle"/>
</p:tagLst>
</file>

<file path=ppt/tags/tag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1.xml><?xml version="1.0" encoding="utf-8"?>
<p:tagLst xmlns:a="http://schemas.openxmlformats.org/drawingml/2006/main" xmlns:r="http://schemas.openxmlformats.org/officeDocument/2006/relationships" xmlns:p="http://schemas.openxmlformats.org/presentationml/2006/main">
  <p:tag name="SHAPENAME" val="4. Footnote"/>
</p:tagLst>
</file>

<file path=ppt/tags/tag82.xml><?xml version="1.0" encoding="utf-8"?>
<p:tagLst xmlns:a="http://schemas.openxmlformats.org/drawingml/2006/main" xmlns:r="http://schemas.openxmlformats.org/officeDocument/2006/relationships" xmlns:p="http://schemas.openxmlformats.org/presentationml/2006/main">
  <p:tag name="SHAPENAME" val="5. Sourc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8.xml><?xml version="1.0" encoding="utf-8"?>
<p:tagLst xmlns:a="http://schemas.openxmlformats.org/drawingml/2006/main" xmlns:r="http://schemas.openxmlformats.org/officeDocument/2006/relationships" xmlns:p="http://schemas.openxmlformats.org/presentationml/2006/main">
  <p:tag name="SHAPENAME" val="3. Subtitle"/>
</p:tagLst>
</file>

<file path=ppt/tags/tag8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0.xml><?xml version="1.0" encoding="utf-8"?>
<p:tagLst xmlns:a="http://schemas.openxmlformats.org/drawingml/2006/main" xmlns:r="http://schemas.openxmlformats.org/officeDocument/2006/relationships" xmlns:p="http://schemas.openxmlformats.org/presentationml/2006/main">
  <p:tag name="SHAPENAME" val="4. Footnote"/>
</p:tagLst>
</file>

<file path=ppt/tags/tag91.xml><?xml version="1.0" encoding="utf-8"?>
<p:tagLst xmlns:a="http://schemas.openxmlformats.org/drawingml/2006/main" xmlns:r="http://schemas.openxmlformats.org/officeDocument/2006/relationships" xmlns:p="http://schemas.openxmlformats.org/presentationml/2006/main">
  <p:tag name="SHAPENAME" val="5. Sourc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9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7.xml><?xml version="1.0" encoding="utf-8"?>
<p:tagLst xmlns:a="http://schemas.openxmlformats.org/drawingml/2006/main" xmlns:r="http://schemas.openxmlformats.org/officeDocument/2006/relationships" xmlns:p="http://schemas.openxmlformats.org/presentationml/2006/main">
  <p:tag name="SHAPENAME" val="3. Subtitle"/>
</p:tagLst>
</file>

<file path=ppt/tags/tag9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9.xml><?xml version="1.0" encoding="utf-8"?>
<p:tagLst xmlns:a="http://schemas.openxmlformats.org/drawingml/2006/main" xmlns:r="http://schemas.openxmlformats.org/officeDocument/2006/relationships" xmlns:p="http://schemas.openxmlformats.org/presentationml/2006/main">
  <p:tag name="SHAPENAME" val="4. Footnote"/>
</p:tagLst>
</file>

<file path=ppt/tags/tag100.xml><?xml version="1.0" encoding="utf-8"?>
<p:tagLst xmlns:a="http://schemas.openxmlformats.org/drawingml/2006/main" xmlns:r="http://schemas.openxmlformats.org/officeDocument/2006/relationships" xmlns:p="http://schemas.openxmlformats.org/presentationml/2006/main">
  <p:tag name="SHAPENAME" val="5. Sourc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SHAPENAME" val="4. Footnote"/>
</p:tagLst>
</file>

<file path=ppt/tags/tag103.xml><?xml version="1.0" encoding="utf-8"?>
<p:tagLst xmlns:a="http://schemas.openxmlformats.org/drawingml/2006/main" xmlns:r="http://schemas.openxmlformats.org/officeDocument/2006/relationships" xmlns:p="http://schemas.openxmlformats.org/presentationml/2006/main">
  <p:tag name="SHAPENAME" val="5. Sourc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0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2.xml><?xml version="1.0" encoding="utf-8"?>
<p:tagLst xmlns:a="http://schemas.openxmlformats.org/drawingml/2006/main" xmlns:r="http://schemas.openxmlformats.org/officeDocument/2006/relationships" xmlns:p="http://schemas.openxmlformats.org/presentationml/2006/main">
  <p:tag name="SHAPENAME" val="4. Footnote"/>
</p:tagLst>
</file>

<file path=ppt/tags/tag113.xml><?xml version="1.0" encoding="utf-8"?>
<p:tagLst xmlns:a="http://schemas.openxmlformats.org/drawingml/2006/main" xmlns:r="http://schemas.openxmlformats.org/officeDocument/2006/relationships" xmlns:p="http://schemas.openxmlformats.org/presentationml/2006/main">
  <p:tag name="SHAPENAME" val="5. Source"/>
</p:tagLst>
</file>

<file path=ppt/tags/tag11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21.xml><?xml version="1.0" encoding="utf-8"?>
<p:tagLst xmlns:a="http://schemas.openxmlformats.org/drawingml/2006/main" xmlns:r="http://schemas.openxmlformats.org/officeDocument/2006/relationships" xmlns:p="http://schemas.openxmlformats.org/presentationml/2006/main">
  <p:tag name="SHAPENAME" val="Subtitle"/>
</p:tagLst>
</file>

<file path=ppt/tags/tag122.xml><?xml version="1.0" encoding="utf-8"?>
<p:tagLst xmlns:a="http://schemas.openxmlformats.org/drawingml/2006/main" xmlns:r="http://schemas.openxmlformats.org/officeDocument/2006/relationships" xmlns:p="http://schemas.openxmlformats.org/presentationml/2006/main">
  <p:tag name="SHAPENAME" val="Titl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rSlLRINbI_NB8fQR3e5cS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dLhsUh79dGWQS_OX.6_1Lw"/>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NAME" val="LineBasicStrong"/>
</p:tagLst>
</file>

<file path=ppt/tags/tag12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9.xml><?xml version="1.0" encoding="utf-8"?>
<p:tagLst xmlns:a="http://schemas.openxmlformats.org/drawingml/2006/main" xmlns:r="http://schemas.openxmlformats.org/officeDocument/2006/relationships" xmlns:p="http://schemas.openxmlformats.org/presentationml/2006/main">
  <p:tag name="NAME" val="TrackerNumBlue"/>
</p:tagLst>
</file>

<file path=ppt/tags/tag130.xml><?xml version="1.0" encoding="utf-8"?>
<p:tagLst xmlns:a="http://schemas.openxmlformats.org/drawingml/2006/main" xmlns:r="http://schemas.openxmlformats.org/officeDocument/2006/relationships" xmlns:p="http://schemas.openxmlformats.org/presentationml/2006/main">
  <p:tag name="NAME" val="TrackerNumBlue"/>
</p:tagLst>
</file>

<file path=ppt/tags/tag131.xml><?xml version="1.0" encoding="utf-8"?>
<p:tagLst xmlns:a="http://schemas.openxmlformats.org/drawingml/2006/main" xmlns:r="http://schemas.openxmlformats.org/officeDocument/2006/relationships" xmlns:p="http://schemas.openxmlformats.org/presentationml/2006/main">
  <p:tag name="NAME" val="TrackerNumBlue"/>
</p:tagLst>
</file>

<file path=ppt/tags/tag132.xml><?xml version="1.0" encoding="utf-8"?>
<p:tagLst xmlns:a="http://schemas.openxmlformats.org/drawingml/2006/main" xmlns:r="http://schemas.openxmlformats.org/officeDocument/2006/relationships" xmlns:p="http://schemas.openxmlformats.org/presentationml/2006/main">
  <p:tag name="NAME" val="TrackerNumBlue"/>
</p:tagLst>
</file>

<file path=ppt/tags/tag133.xml><?xml version="1.0" encoding="utf-8"?>
<p:tagLst xmlns:a="http://schemas.openxmlformats.org/drawingml/2006/main" xmlns:r="http://schemas.openxmlformats.org/officeDocument/2006/relationships" xmlns:p="http://schemas.openxmlformats.org/presentationml/2006/main">
  <p:tag name="NAME" val="TrackerNumBlue"/>
</p:tagLst>
</file>

<file path=ppt/tags/tag134.xml><?xml version="1.0" encoding="utf-8"?>
<p:tagLst xmlns:a="http://schemas.openxmlformats.org/drawingml/2006/main" xmlns:r="http://schemas.openxmlformats.org/officeDocument/2006/relationships" xmlns:p="http://schemas.openxmlformats.org/presentationml/2006/main">
  <p:tag name="NAME" val="TrackerNumBlue"/>
</p:tagLst>
</file>

<file path=ppt/tags/tag135.xml><?xml version="1.0" encoding="utf-8"?>
<p:tagLst xmlns:a="http://schemas.openxmlformats.org/drawingml/2006/main" xmlns:r="http://schemas.openxmlformats.org/officeDocument/2006/relationships" xmlns:p="http://schemas.openxmlformats.org/presentationml/2006/main">
  <p:tag name="NAME" val="TrackerNumBlue"/>
</p:tagLst>
</file>

<file path=ppt/tags/tag136.xml><?xml version="1.0" encoding="utf-8"?>
<p:tagLst xmlns:a="http://schemas.openxmlformats.org/drawingml/2006/main" xmlns:r="http://schemas.openxmlformats.org/officeDocument/2006/relationships" xmlns:p="http://schemas.openxmlformats.org/presentationml/2006/main">
  <p:tag name="NAME" val="TrackerNumBlue"/>
</p:tagLst>
</file>

<file path=ppt/tags/tag137.xml><?xml version="1.0" encoding="utf-8"?>
<p:tagLst xmlns:a="http://schemas.openxmlformats.org/drawingml/2006/main" xmlns:r="http://schemas.openxmlformats.org/officeDocument/2006/relationships" xmlns:p="http://schemas.openxmlformats.org/presentationml/2006/main">
  <p:tag name="NAME" val="TrackerNumBlue"/>
</p:tagLst>
</file>

<file path=ppt/tags/tag138.xml><?xml version="1.0" encoding="utf-8"?>
<p:tagLst xmlns:a="http://schemas.openxmlformats.org/drawingml/2006/main" xmlns:r="http://schemas.openxmlformats.org/officeDocument/2006/relationships" xmlns:p="http://schemas.openxmlformats.org/presentationml/2006/main">
  <p:tag name="LOGOFINDERIMAGE" val="1"/>
</p:tagLst>
</file>

<file path=ppt/tags/tag139.xml><?xml version="1.0" encoding="utf-8"?>
<p:tagLst xmlns:a="http://schemas.openxmlformats.org/drawingml/2006/main" xmlns:r="http://schemas.openxmlformats.org/officeDocument/2006/relationships" xmlns:p="http://schemas.openxmlformats.org/presentationml/2006/main">
  <p:tag name="LOGOFINDERIMAGE" val="1"/>
</p:tagLst>
</file>

<file path=ppt/tags/tag140.xml><?xml version="1.0" encoding="utf-8"?>
<p:tagLst xmlns:a="http://schemas.openxmlformats.org/drawingml/2006/main" xmlns:r="http://schemas.openxmlformats.org/officeDocument/2006/relationships" xmlns:p="http://schemas.openxmlformats.org/presentationml/2006/main">
  <p:tag name="LOGOFINDERIMAGE" val="1"/>
</p:tagLst>
</file>

<file path=ppt/tags/tag141.xml><?xml version="1.0" encoding="utf-8"?>
<p:tagLst xmlns:a="http://schemas.openxmlformats.org/drawingml/2006/main" xmlns:r="http://schemas.openxmlformats.org/officeDocument/2006/relationships" xmlns:p="http://schemas.openxmlformats.org/presentationml/2006/main">
  <p:tag name="LOGOFINDERIMAGE" val="1"/>
</p:tagLst>
</file>

<file path=ppt/tags/tag142.xml><?xml version="1.0" encoding="utf-8"?>
<p:tagLst xmlns:a="http://schemas.openxmlformats.org/drawingml/2006/main" xmlns:r="http://schemas.openxmlformats.org/officeDocument/2006/relationships" xmlns:p="http://schemas.openxmlformats.org/presentationml/2006/main">
  <p:tag name="LOGOFINDERIMAGE" val="1"/>
</p:tagLst>
</file>

<file path=ppt/tags/tag143.xml><?xml version="1.0" encoding="utf-8"?>
<p:tagLst xmlns:a="http://schemas.openxmlformats.org/drawingml/2006/main" xmlns:r="http://schemas.openxmlformats.org/officeDocument/2006/relationships" xmlns:p="http://schemas.openxmlformats.org/presentationml/2006/main">
  <p:tag name="LOGOFINDERIMAGE" val="1"/>
</p:tagLst>
</file>

<file path=ppt/tags/tag144.xml><?xml version="1.0" encoding="utf-8"?>
<p:tagLst xmlns:a="http://schemas.openxmlformats.org/drawingml/2006/main" xmlns:r="http://schemas.openxmlformats.org/officeDocument/2006/relationships" xmlns:p="http://schemas.openxmlformats.org/presentationml/2006/main">
  <p:tag name="LOGOFINDERIMAGE" val="1"/>
</p:tagLst>
</file>

<file path=ppt/tags/tag145.xml><?xml version="1.0" encoding="utf-8"?>
<p:tagLst xmlns:a="http://schemas.openxmlformats.org/drawingml/2006/main" xmlns:r="http://schemas.openxmlformats.org/officeDocument/2006/relationships" xmlns:p="http://schemas.openxmlformats.org/presentationml/2006/main">
  <p:tag name="LOGOFINDERIMAGE" val="1"/>
</p:tagLst>
</file>

<file path=ppt/tags/tag146.xml><?xml version="1.0" encoding="utf-8"?>
<p:tagLst xmlns:a="http://schemas.openxmlformats.org/drawingml/2006/main" xmlns:r="http://schemas.openxmlformats.org/officeDocument/2006/relationships" xmlns:p="http://schemas.openxmlformats.org/presentationml/2006/main">
  <p:tag name="LOGOFINDERIMAGE" val="1"/>
</p:tagLst>
</file>

<file path=ppt/tags/tag147.xml><?xml version="1.0" encoding="utf-8"?>
<p:tagLst xmlns:a="http://schemas.openxmlformats.org/drawingml/2006/main" xmlns:r="http://schemas.openxmlformats.org/officeDocument/2006/relationships" xmlns:p="http://schemas.openxmlformats.org/presentationml/2006/main">
  <p:tag name="LOGOFINDERIMAGE" val="1"/>
</p:tagLst>
</file>

<file path=ppt/tags/tag148.xml><?xml version="1.0" encoding="utf-8"?>
<p:tagLst xmlns:a="http://schemas.openxmlformats.org/drawingml/2006/main" xmlns:r="http://schemas.openxmlformats.org/officeDocument/2006/relationships" xmlns:p="http://schemas.openxmlformats.org/presentationml/2006/main">
  <p:tag name="LOGOFINDERIMAGE" val="1"/>
</p:tagLst>
</file>

<file path=ppt/tags/tag149.xml><?xml version="1.0" encoding="utf-8"?>
<p:tagLst xmlns:a="http://schemas.openxmlformats.org/drawingml/2006/main" xmlns:r="http://schemas.openxmlformats.org/officeDocument/2006/relationships" xmlns:p="http://schemas.openxmlformats.org/presentationml/2006/main">
  <p:tag name="LOGOFINDERIMAGE" val="1"/>
</p:tagLst>
</file>

<file path=ppt/tags/tag150.xml><?xml version="1.0" encoding="utf-8"?>
<p:tagLst xmlns:a="http://schemas.openxmlformats.org/drawingml/2006/main" xmlns:r="http://schemas.openxmlformats.org/officeDocument/2006/relationships" xmlns:p="http://schemas.openxmlformats.org/presentationml/2006/main">
  <p:tag name="LOGOFINDERIMAGE" val="1"/>
</p:tagLst>
</file>

<file path=ppt/tags/tag151.xml><?xml version="1.0" encoding="utf-8"?>
<p:tagLst xmlns:a="http://schemas.openxmlformats.org/drawingml/2006/main" xmlns:r="http://schemas.openxmlformats.org/officeDocument/2006/relationships" xmlns:p="http://schemas.openxmlformats.org/presentationml/2006/main">
  <p:tag name="LOGOFINDERIMAGE" val="1"/>
</p:tagLst>
</file>

<file path=ppt/tags/tag152.xml><?xml version="1.0" encoding="utf-8"?>
<p:tagLst xmlns:a="http://schemas.openxmlformats.org/drawingml/2006/main" xmlns:r="http://schemas.openxmlformats.org/officeDocument/2006/relationships" xmlns:p="http://schemas.openxmlformats.org/presentationml/2006/main">
  <p:tag name="LOGOFINDERIMAGE" val="1"/>
</p:tagLst>
</file>

<file path=ppt/tags/tag153.xml><?xml version="1.0" encoding="utf-8"?>
<p:tagLst xmlns:a="http://schemas.openxmlformats.org/drawingml/2006/main" xmlns:r="http://schemas.openxmlformats.org/officeDocument/2006/relationships" xmlns:p="http://schemas.openxmlformats.org/presentationml/2006/main">
  <p:tag name="LOGOFINDERIMAGE" val="1"/>
</p:tagLst>
</file>

<file path=ppt/tags/tag154.xml><?xml version="1.0" encoding="utf-8"?>
<p:tagLst xmlns:a="http://schemas.openxmlformats.org/drawingml/2006/main" xmlns:r="http://schemas.openxmlformats.org/officeDocument/2006/relationships" xmlns:p="http://schemas.openxmlformats.org/presentationml/2006/main">
  <p:tag name="LOGOFINDERIMAGE" val="1"/>
</p:tagLst>
</file>

<file path=ppt/tags/tag155.xml><?xml version="1.0" encoding="utf-8"?>
<p:tagLst xmlns:a="http://schemas.openxmlformats.org/drawingml/2006/main" xmlns:r="http://schemas.openxmlformats.org/officeDocument/2006/relationships" xmlns:p="http://schemas.openxmlformats.org/presentationml/2006/main">
  <p:tag name="LOGOFINDERIMAGE" val="1"/>
</p:tagLst>
</file>

<file path=ppt/tags/tag156.xml><?xml version="1.0" encoding="utf-8"?>
<p:tagLst xmlns:a="http://schemas.openxmlformats.org/drawingml/2006/main" xmlns:r="http://schemas.openxmlformats.org/officeDocument/2006/relationships" xmlns:p="http://schemas.openxmlformats.org/presentationml/2006/main">
  <p:tag name="LOGOFINDERIMAGE" val="1"/>
</p:tagLst>
</file>

<file path=ppt/tags/tag157.xml><?xml version="1.0" encoding="utf-8"?>
<p:tagLst xmlns:a="http://schemas.openxmlformats.org/drawingml/2006/main" xmlns:r="http://schemas.openxmlformats.org/officeDocument/2006/relationships" xmlns:p="http://schemas.openxmlformats.org/presentationml/2006/main">
  <p:tag name="LOGOFINDERIMAGE" val="1"/>
</p:tagLst>
</file>

<file path=ppt/tags/tag158.xml><?xml version="1.0" encoding="utf-8"?>
<p:tagLst xmlns:a="http://schemas.openxmlformats.org/drawingml/2006/main" xmlns:r="http://schemas.openxmlformats.org/officeDocument/2006/relationships" xmlns:p="http://schemas.openxmlformats.org/presentationml/2006/main">
  <p:tag name="LOGOFINDERIMAGE" val="1"/>
</p:tagLst>
</file>

<file path=ppt/tags/tag159.xml><?xml version="1.0" encoding="utf-8"?>
<p:tagLst xmlns:a="http://schemas.openxmlformats.org/drawingml/2006/main" xmlns:r="http://schemas.openxmlformats.org/officeDocument/2006/relationships" xmlns:p="http://schemas.openxmlformats.org/presentationml/2006/main">
  <p:tag name="LOGOFINDERIMAGE" val="1"/>
</p:tagLst>
</file>

<file path=ppt/tags/tag160.xml><?xml version="1.0" encoding="utf-8"?>
<p:tagLst xmlns:a="http://schemas.openxmlformats.org/drawingml/2006/main" xmlns:r="http://schemas.openxmlformats.org/officeDocument/2006/relationships" xmlns:p="http://schemas.openxmlformats.org/presentationml/2006/main">
  <p:tag name="LOGOFINDERIMAGE" val="1"/>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4.xml><?xml version="1.0" encoding="utf-8"?>
<p:tagLst xmlns:a="http://schemas.openxmlformats.org/drawingml/2006/main" xmlns:r="http://schemas.openxmlformats.org/officeDocument/2006/relationships" xmlns:p="http://schemas.openxmlformats.org/presentationml/2006/main">
  <p:tag name="NAME" val="CustomIcon"/>
</p:tagLst>
</file>

<file path=ppt/tags/tag165.xml><?xml version="1.0" encoding="utf-8"?>
<p:tagLst xmlns:a="http://schemas.openxmlformats.org/drawingml/2006/main" xmlns:r="http://schemas.openxmlformats.org/officeDocument/2006/relationships" xmlns:p="http://schemas.openxmlformats.org/presentationml/2006/main">
  <p:tag name="NAME" val="CustomIcon"/>
</p:tagLst>
</file>

<file path=ppt/tags/tag166.xml><?xml version="1.0" encoding="utf-8"?>
<p:tagLst xmlns:a="http://schemas.openxmlformats.org/drawingml/2006/main" xmlns:r="http://schemas.openxmlformats.org/officeDocument/2006/relationships" xmlns:p="http://schemas.openxmlformats.org/presentationml/2006/main">
  <p:tag name="NAME" val="CustomIcon"/>
</p:tagLst>
</file>

<file path=ppt/tags/tag167.xml><?xml version="1.0" encoding="utf-8"?>
<p:tagLst xmlns:a="http://schemas.openxmlformats.org/drawingml/2006/main" xmlns:r="http://schemas.openxmlformats.org/officeDocument/2006/relationships" xmlns:p="http://schemas.openxmlformats.org/presentationml/2006/main">
  <p:tag name="LOGOFINDERIMAGE" val="1"/>
</p:tagLst>
</file>

<file path=ppt/tags/tag168.xml><?xml version="1.0" encoding="utf-8"?>
<p:tagLst xmlns:a="http://schemas.openxmlformats.org/drawingml/2006/main" xmlns:r="http://schemas.openxmlformats.org/officeDocument/2006/relationships" xmlns:p="http://schemas.openxmlformats.org/presentationml/2006/main">
  <p:tag name="LOGOFINDERIMAGE" val="1"/>
</p:tagLst>
</file>

<file path=ppt/tags/tag169.xml><?xml version="1.0" encoding="utf-8"?>
<p:tagLst xmlns:a="http://schemas.openxmlformats.org/drawingml/2006/main" xmlns:r="http://schemas.openxmlformats.org/officeDocument/2006/relationships" xmlns:p="http://schemas.openxmlformats.org/presentationml/2006/main">
  <p:tag name="LOGOFINDERIMAGE" val="1"/>
</p:tagLst>
</file>

<file path=ppt/tags/tag170.xml><?xml version="1.0" encoding="utf-8"?>
<p:tagLst xmlns:a="http://schemas.openxmlformats.org/drawingml/2006/main" xmlns:r="http://schemas.openxmlformats.org/officeDocument/2006/relationships" xmlns:p="http://schemas.openxmlformats.org/presentationml/2006/main">
  <p:tag name="LOGOFINDERIMAGE" val="1"/>
</p:tagLst>
</file>

<file path=ppt/tags/tag171.xml><?xml version="1.0" encoding="utf-8"?>
<p:tagLst xmlns:a="http://schemas.openxmlformats.org/drawingml/2006/main" xmlns:r="http://schemas.openxmlformats.org/officeDocument/2006/relationships" xmlns:p="http://schemas.openxmlformats.org/presentationml/2006/main">
  <p:tag name="LOGOFINDERIMAGE" val="1"/>
</p:tagLst>
</file>

<file path=ppt/tags/tag172.xml><?xml version="1.0" encoding="utf-8"?>
<p:tagLst xmlns:a="http://schemas.openxmlformats.org/drawingml/2006/main" xmlns:r="http://schemas.openxmlformats.org/officeDocument/2006/relationships" xmlns:p="http://schemas.openxmlformats.org/presentationml/2006/main">
  <p:tag name="LOGOFINDERIMAGE" val="1"/>
</p:tagLst>
</file>

<file path=ppt/tags/tag17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7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7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76.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77.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78.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7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8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8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8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8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8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85.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86.xml><?xml version="1.0" encoding="utf-8"?>
<p:tagLst xmlns:a="http://schemas.openxmlformats.org/drawingml/2006/main" xmlns:r="http://schemas.openxmlformats.org/officeDocument/2006/relationships" xmlns:p="http://schemas.openxmlformats.org/presentationml/2006/main">
  <p:tag name="1LEVEL" val="10"/>
  <p:tag name="2LEVEL" val="5"/>
  <p:tag name="3LEVEL" val="2.5"/>
  <p:tag name="4LEVEL" val="1.25"/>
  <p:tag name="5LEVEL" val="0.62"/>
</p:tagLst>
</file>

<file path=ppt/tags/tag187.xml><?xml version="1.0" encoding="utf-8"?>
<p:tagLst xmlns:a="http://schemas.openxmlformats.org/drawingml/2006/main" xmlns:r="http://schemas.openxmlformats.org/officeDocument/2006/relationships" xmlns:p="http://schemas.openxmlformats.org/presentationml/2006/main">
  <p:tag name="CIRCLESTATUS" val="Blue"/>
  <p:tag name="NAME" val="PlusSignBlue"/>
  <p:tag name="SYMBOLNAME" val="PlusSign"/>
</p:tagLst>
</file>

<file path=ppt/tags/tag188.xml><?xml version="1.0" encoding="utf-8"?>
<p:tagLst xmlns:a="http://schemas.openxmlformats.org/drawingml/2006/main" xmlns:r="http://schemas.openxmlformats.org/officeDocument/2006/relationships" xmlns:p="http://schemas.openxmlformats.org/presentationml/2006/main">
  <p:tag name="CIRCLESTATUS" val="Blue"/>
  <p:tag name="NAME" val="MinusSignBlue"/>
  <p:tag name="SYMBOLNAME" val="MinusSign"/>
</p:tagLst>
</file>

<file path=ppt/tags/tag189.xml><?xml version="1.0" encoding="utf-8"?>
<p:tagLst xmlns:a="http://schemas.openxmlformats.org/drawingml/2006/main" xmlns:r="http://schemas.openxmlformats.org/officeDocument/2006/relationships" xmlns:p="http://schemas.openxmlformats.org/presentationml/2006/main">
  <p:tag name="CIRCLESTATUS" val="Blue"/>
  <p:tag name="NAME" val="PlusSignBlue"/>
  <p:tag name="SYMBOLNAME" val="PlusSign"/>
</p:tagLst>
</file>

<file path=ppt/tags/tag190.xml><?xml version="1.0" encoding="utf-8"?>
<p:tagLst xmlns:a="http://schemas.openxmlformats.org/drawingml/2006/main" xmlns:r="http://schemas.openxmlformats.org/officeDocument/2006/relationships" xmlns:p="http://schemas.openxmlformats.org/presentationml/2006/main">
  <p:tag name="CIRCLESTATUS" val="Blue"/>
  <p:tag name="NAME" val="PlusSignBlue"/>
  <p:tag name="SYMBOLNAME" val="PlusSign"/>
</p:tagLst>
</file>

<file path=ppt/tags/tag191.xml><?xml version="1.0" encoding="utf-8"?>
<p:tagLst xmlns:a="http://schemas.openxmlformats.org/drawingml/2006/main" xmlns:r="http://schemas.openxmlformats.org/officeDocument/2006/relationships" xmlns:p="http://schemas.openxmlformats.org/presentationml/2006/main">
  <p:tag name="CIRCLESTATUS" val="Blue"/>
  <p:tag name="NAME" val="PlusSignBlue"/>
  <p:tag name="SYMBOLNAME" val="PlusSign"/>
</p:tagLst>
</file>

<file path=ppt/tags/tag192.xml><?xml version="1.0" encoding="utf-8"?>
<p:tagLst xmlns:a="http://schemas.openxmlformats.org/drawingml/2006/main" xmlns:r="http://schemas.openxmlformats.org/officeDocument/2006/relationships" xmlns:p="http://schemas.openxmlformats.org/presentationml/2006/main">
  <p:tag name="CIRCLESTATUS" val="Blue"/>
  <p:tag name="NAME" val="PlusSignBlue"/>
  <p:tag name="SYMBOLNAME" val="PlusSign"/>
</p:tagLst>
</file>

<file path=ppt/tags/tag193.xml><?xml version="1.0" encoding="utf-8"?>
<p:tagLst xmlns:a="http://schemas.openxmlformats.org/drawingml/2006/main" xmlns:r="http://schemas.openxmlformats.org/officeDocument/2006/relationships" xmlns:p="http://schemas.openxmlformats.org/presentationml/2006/main">
  <p:tag name="CIRCLESTATUS" val="Blue"/>
  <p:tag name="NAME" val="PlusSignBlue"/>
  <p:tag name="SYMBOLNAME" val="PlusSign"/>
</p:tagLst>
</file>

<file path=ppt/tags/tag194.xml><?xml version="1.0" encoding="utf-8"?>
<p:tagLst xmlns:a="http://schemas.openxmlformats.org/drawingml/2006/main" xmlns:r="http://schemas.openxmlformats.org/officeDocument/2006/relationships" xmlns:p="http://schemas.openxmlformats.org/presentationml/2006/main">
  <p:tag name="CIRCLESTATUS" val="Blue"/>
  <p:tag name="NAME" val="PlusSignBlue"/>
  <p:tag name="SYMBOLNAME" val="PlusSign"/>
</p:tagLst>
</file>

<file path=ppt/tags/tag195.xml><?xml version="1.0" encoding="utf-8"?>
<p:tagLst xmlns:a="http://schemas.openxmlformats.org/drawingml/2006/main" xmlns:r="http://schemas.openxmlformats.org/officeDocument/2006/relationships" xmlns:p="http://schemas.openxmlformats.org/presentationml/2006/main">
  <p:tag name="CIRCLESTATUS" val="Blue"/>
  <p:tag name="NAME" val="MinusSignBlue"/>
  <p:tag name="SYMBOLNAME" val="MinusSign"/>
</p:tagLst>
</file>

<file path=ppt/tags/tag196.xml><?xml version="1.0" encoding="utf-8"?>
<p:tagLst xmlns:a="http://schemas.openxmlformats.org/drawingml/2006/main" xmlns:r="http://schemas.openxmlformats.org/officeDocument/2006/relationships" xmlns:p="http://schemas.openxmlformats.org/presentationml/2006/main">
  <p:tag name="CIRCLESTATUS" val="Blue"/>
  <p:tag name="NAME" val="MinusSignBlue"/>
  <p:tag name="SYMBOLNAME" val="MinusSign"/>
</p:tagLst>
</file>

<file path=ppt/tags/tag197.xml><?xml version="1.0" encoding="utf-8"?>
<p:tagLst xmlns:a="http://schemas.openxmlformats.org/drawingml/2006/main" xmlns:r="http://schemas.openxmlformats.org/officeDocument/2006/relationships" xmlns:p="http://schemas.openxmlformats.org/presentationml/2006/main">
  <p:tag name="CIRCLESTATUS" val="Blue"/>
  <p:tag name="NAME" val="MinusSignBlue"/>
  <p:tag name="SYMBOLNAME" val="MinusSign"/>
</p:tagLst>
</file>

<file path=ppt/tags/tag198.xml><?xml version="1.0" encoding="utf-8"?>
<p:tagLst xmlns:a="http://schemas.openxmlformats.org/drawingml/2006/main" xmlns:r="http://schemas.openxmlformats.org/officeDocument/2006/relationships" xmlns:p="http://schemas.openxmlformats.org/presentationml/2006/main">
  <p:tag name="CIRCLESTATUS" val="Blue"/>
  <p:tag name="NAME" val="MinusSignBlue"/>
  <p:tag name="SYMBOLNAME" val="MinusSign"/>
</p:tagLst>
</file>

<file path=ppt/tags/tag199.xml><?xml version="1.0" encoding="utf-8"?>
<p:tagLst xmlns:a="http://schemas.openxmlformats.org/drawingml/2006/main" xmlns:r="http://schemas.openxmlformats.org/officeDocument/2006/relationships" xmlns:p="http://schemas.openxmlformats.org/presentationml/2006/main">
  <p:tag name="CIRCLESTATUS" val="Blue"/>
  <p:tag name="NAME" val="MinusSignBlue"/>
  <p:tag name="SYMBOLNAME" val="MinusSign"/>
</p:tagLst>
</file>

<file path=ppt/tags/tag200.xml><?xml version="1.0" encoding="utf-8"?>
<p:tagLst xmlns:a="http://schemas.openxmlformats.org/drawingml/2006/main" xmlns:r="http://schemas.openxmlformats.org/officeDocument/2006/relationships" xmlns:p="http://schemas.openxmlformats.org/presentationml/2006/main">
  <p:tag name="CIRCLESTATUS" val="Blue"/>
  <p:tag name="NAME" val="MinusSignBlue"/>
  <p:tag name="SYMBOLNAME" val="MinusSign"/>
</p:tagLst>
</file>

<file path=ppt/tags/tag201.xml><?xml version="1.0" encoding="utf-8"?>
<p:tagLst xmlns:a="http://schemas.openxmlformats.org/drawingml/2006/main" xmlns:r="http://schemas.openxmlformats.org/officeDocument/2006/relationships" xmlns:p="http://schemas.openxmlformats.org/presentationml/2006/main">
  <p:tag name="SHAPENAME" val="4. Footnote"/>
</p:tagLst>
</file>

<file path=ppt/tags/tag202.xml><?xml version="1.0" encoding="utf-8"?>
<p:tagLst xmlns:a="http://schemas.openxmlformats.org/drawingml/2006/main" xmlns:r="http://schemas.openxmlformats.org/officeDocument/2006/relationships" xmlns:p="http://schemas.openxmlformats.org/presentationml/2006/main">
  <p:tag name="SHAPENAME" val="5. Sourc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5.xml><?xml version="1.0" encoding="utf-8"?>
<p:tagLst xmlns:a="http://schemas.openxmlformats.org/drawingml/2006/main" xmlns:r="http://schemas.openxmlformats.org/officeDocument/2006/relationships" xmlns:p="http://schemas.openxmlformats.org/presentationml/2006/main">
  <p:tag name="SHAPENAME" val="5. Source"/>
</p:tagLst>
</file>

<file path=ppt/tags/tag206.xml><?xml version="1.0" encoding="utf-8"?>
<p:tagLst xmlns:a="http://schemas.openxmlformats.org/drawingml/2006/main" xmlns:r="http://schemas.openxmlformats.org/officeDocument/2006/relationships" xmlns:p="http://schemas.openxmlformats.org/presentationml/2006/main">
  <p:tag name="NAME" val="CustomIcon"/>
</p:tagLst>
</file>

<file path=ppt/tags/tag207.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08.xml><?xml version="1.0" encoding="utf-8"?>
<p:tagLst xmlns:a="http://schemas.openxmlformats.org/drawingml/2006/main" xmlns:r="http://schemas.openxmlformats.org/officeDocument/2006/relationships" xmlns:p="http://schemas.openxmlformats.org/presentationml/2006/main">
  <p:tag name="NAME" val="CustomIcon"/>
</p:tagLst>
</file>

<file path=ppt/tags/tag209.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10.xml><?xml version="1.0" encoding="utf-8"?>
<p:tagLst xmlns:a="http://schemas.openxmlformats.org/drawingml/2006/main" xmlns:r="http://schemas.openxmlformats.org/officeDocument/2006/relationships" xmlns:p="http://schemas.openxmlformats.org/presentationml/2006/main">
  <p:tag name="NAME" val="CustomIcon"/>
</p:tagLst>
</file>

<file path=ppt/tags/tag21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4iInyguvI1ccElNwkfDQtg"/>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sQGel8VF8PN5XCXCbxiB_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UYn2RT10udt4foYDycu3A"/>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O94x5WF9FXtYVkWn8lLQ"/>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JN4TQXfD39xlFdJtmM7qr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yJnjw2AqpoXIgWpeJqZnxg"/>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5HAHHjTaCUhrG446XUQBuQ"/>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qOOu5gidEXTQxrN918FX5A"/>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bwCJLJ9Uyr3KKsWh4cjhG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8cFV2XkecbGurguk8uaPoA"/>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DT11geugM9zPxwgzPemZpQ"/>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I2bT4LF5R0AMAFDSTGwhp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cKjNH9ZrYHsBuDsMKkHb6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e3OvsyfD_ygUF062miM.Vg"/>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4r.g2LAH7cXTf1ARDwPgtQ"/>
</p:tagLst>
</file>

<file path=ppt/tags/tag229.xml><?xml version="1.0" encoding="utf-8"?>
<p:tagLst xmlns:a="http://schemas.openxmlformats.org/drawingml/2006/main" xmlns:r="http://schemas.openxmlformats.org/officeDocument/2006/relationships" xmlns:p="http://schemas.openxmlformats.org/presentationml/2006/main">
  <p:tag name="NAME" val="TrackerAlphaBlue"/>
</p:tagLst>
</file>

<file path=ppt/tags/tag230.xml><?xml version="1.0" encoding="utf-8"?>
<p:tagLst xmlns:a="http://schemas.openxmlformats.org/drawingml/2006/main" xmlns:r="http://schemas.openxmlformats.org/officeDocument/2006/relationships" xmlns:p="http://schemas.openxmlformats.org/presentationml/2006/main">
  <p:tag name="NAME" val="TrackerAlphaBlue"/>
</p:tagLst>
</file>

<file path=ppt/tags/tag231.xml><?xml version="1.0" encoding="utf-8"?>
<p:tagLst xmlns:a="http://schemas.openxmlformats.org/drawingml/2006/main" xmlns:r="http://schemas.openxmlformats.org/officeDocument/2006/relationships" xmlns:p="http://schemas.openxmlformats.org/presentationml/2006/main">
  <p:tag name="SHAPENAME" val="4. Footnote"/>
</p:tagLst>
</file>

<file path=ppt/tags/tag232.xml><?xml version="1.0" encoding="utf-8"?>
<p:tagLst xmlns:a="http://schemas.openxmlformats.org/drawingml/2006/main" xmlns:r="http://schemas.openxmlformats.org/officeDocument/2006/relationships" xmlns:p="http://schemas.openxmlformats.org/presentationml/2006/main">
  <p:tag name="CIRCLESTATUS" val="White"/>
  <p:tag name="NAME" val="ChevronWhite"/>
  <p:tag name="SYMBOLNAME" val="Chevron"/>
</p:tagLst>
</file>

<file path=ppt/tags/tag233.xml><?xml version="1.0" encoding="utf-8"?>
<p:tagLst xmlns:a="http://schemas.openxmlformats.org/drawingml/2006/main" xmlns:r="http://schemas.openxmlformats.org/officeDocument/2006/relationships" xmlns:p="http://schemas.openxmlformats.org/presentationml/2006/main">
  <p:tag name="CIRCLESTATUS" val="White"/>
  <p:tag name="NAME" val="ChevronWhite"/>
  <p:tag name="SYMBOLNAME" val="Chevron"/>
</p:tagLst>
</file>

<file path=ppt/tags/tag234.xml><?xml version="1.0" encoding="utf-8"?>
<p:tagLst xmlns:a="http://schemas.openxmlformats.org/drawingml/2006/main" xmlns:r="http://schemas.openxmlformats.org/officeDocument/2006/relationships" xmlns:p="http://schemas.openxmlformats.org/presentationml/2006/main">
  <p:tag name="NAME" val="TrackerAlphaBlue"/>
</p:tagLst>
</file>

<file path=ppt/tags/tag235.xml><?xml version="1.0" encoding="utf-8"?>
<p:tagLst xmlns:a="http://schemas.openxmlformats.org/drawingml/2006/main" xmlns:r="http://schemas.openxmlformats.org/officeDocument/2006/relationships" xmlns:p="http://schemas.openxmlformats.org/presentationml/2006/main">
  <p:tag name="SHAPENAME" val="4. Footno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SHAPENAME" val="5. Source"/>
</p:tagLst>
</file>

<file path=ppt/tags/tag238.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39.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0.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1.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3.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4.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5.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6.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7.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8.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49.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0.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1.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3.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4.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5.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6.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7.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8.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59.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0.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1.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3.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4.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5.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6.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7.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8.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69.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0.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1.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3.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4.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5.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6.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7.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8.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79.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0.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1.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3.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4.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5.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6.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7.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8.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89.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0.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1.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3.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4.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5.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6.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7.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8.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299.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300.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301.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302.xml><?xml version="1.0" encoding="utf-8"?>
<p:tagLst xmlns:a="http://schemas.openxmlformats.org/drawingml/2006/main" xmlns:r="http://schemas.openxmlformats.org/officeDocument/2006/relationships" xmlns:p="http://schemas.openxmlformats.org/presentationml/2006/main">
  <p:tag name="CIRCLESTATUS" val="Blue"/>
  <p:tag name="NAME" val="CheckmarkBlue"/>
  <p:tag name="SYMBOLNAME" val="Checkmark"/>
</p:tagLst>
</file>

<file path=ppt/tags/tag303.xml><?xml version="1.0" encoding="utf-8"?>
<p:tagLst xmlns:a="http://schemas.openxmlformats.org/drawingml/2006/main" xmlns:r="http://schemas.openxmlformats.org/officeDocument/2006/relationships" xmlns:p="http://schemas.openxmlformats.org/presentationml/2006/main">
  <p:tag name="NAME" val="MoonHalf"/>
</p:tagLst>
</file>

<file path=ppt/tags/tag304.xml><?xml version="1.0" encoding="utf-8"?>
<p:tagLst xmlns:a="http://schemas.openxmlformats.org/drawingml/2006/main" xmlns:r="http://schemas.openxmlformats.org/officeDocument/2006/relationships" xmlns:p="http://schemas.openxmlformats.org/presentationml/2006/main">
  <p:tag name="NAME" val="MoonHalf"/>
</p:tagLst>
</file>

<file path=ppt/tags/tag305.xml><?xml version="1.0" encoding="utf-8"?>
<p:tagLst xmlns:a="http://schemas.openxmlformats.org/drawingml/2006/main" xmlns:r="http://schemas.openxmlformats.org/officeDocument/2006/relationships" xmlns:p="http://schemas.openxmlformats.org/presentationml/2006/main">
  <p:tag name="NAME" val="MoonHalf"/>
</p:tagLst>
</file>

<file path=ppt/tags/tag306.xml><?xml version="1.0" encoding="utf-8"?>
<p:tagLst xmlns:a="http://schemas.openxmlformats.org/drawingml/2006/main" xmlns:r="http://schemas.openxmlformats.org/officeDocument/2006/relationships" xmlns:p="http://schemas.openxmlformats.org/presentationml/2006/main">
  <p:tag name="NAME" val="MoonHalf"/>
</p:tagLst>
</file>

<file path=ppt/tags/tag307.xml><?xml version="1.0" encoding="utf-8"?>
<p:tagLst xmlns:a="http://schemas.openxmlformats.org/drawingml/2006/main" xmlns:r="http://schemas.openxmlformats.org/officeDocument/2006/relationships" xmlns:p="http://schemas.openxmlformats.org/presentationml/2006/main">
  <p:tag name="NAME" val="MoonHalf"/>
</p:tagLst>
</file>

<file path=ppt/tags/tag308.xml><?xml version="1.0" encoding="utf-8"?>
<p:tagLst xmlns:a="http://schemas.openxmlformats.org/drawingml/2006/main" xmlns:r="http://schemas.openxmlformats.org/officeDocument/2006/relationships" xmlns:p="http://schemas.openxmlformats.org/presentationml/2006/main">
  <p:tag name="NAME" val="MoonHalf"/>
</p:tagLst>
</file>

<file path=ppt/tags/tag309.xml><?xml version="1.0" encoding="utf-8"?>
<p:tagLst xmlns:a="http://schemas.openxmlformats.org/drawingml/2006/main" xmlns:r="http://schemas.openxmlformats.org/officeDocument/2006/relationships" xmlns:p="http://schemas.openxmlformats.org/presentationml/2006/main">
  <p:tag name="NAME" val="MoonHalf"/>
</p:tagLst>
</file>

<file path=ppt/tags/tag310.xml><?xml version="1.0" encoding="utf-8"?>
<p:tagLst xmlns:a="http://schemas.openxmlformats.org/drawingml/2006/main" xmlns:r="http://schemas.openxmlformats.org/officeDocument/2006/relationships" xmlns:p="http://schemas.openxmlformats.org/presentationml/2006/main">
  <p:tag name="NAME" val="MoonHalf"/>
</p:tagLst>
</file>

<file path=ppt/tags/tag311.xml><?xml version="1.0" encoding="utf-8"?>
<p:tagLst xmlns:a="http://schemas.openxmlformats.org/drawingml/2006/main" xmlns:r="http://schemas.openxmlformats.org/officeDocument/2006/relationships" xmlns:p="http://schemas.openxmlformats.org/presentationml/2006/main">
  <p:tag name="NAME" val="MoonHalf"/>
</p:tagLst>
</file>

<file path=ppt/tags/tag312.xml><?xml version="1.0" encoding="utf-8"?>
<p:tagLst xmlns:a="http://schemas.openxmlformats.org/drawingml/2006/main" xmlns:r="http://schemas.openxmlformats.org/officeDocument/2006/relationships" xmlns:p="http://schemas.openxmlformats.org/presentationml/2006/main">
  <p:tag name="NAME" val="MoonHalf"/>
</p:tagLst>
</file>

<file path=ppt/tags/tag313.xml><?xml version="1.0" encoding="utf-8"?>
<p:tagLst xmlns:a="http://schemas.openxmlformats.org/drawingml/2006/main" xmlns:r="http://schemas.openxmlformats.org/officeDocument/2006/relationships" xmlns:p="http://schemas.openxmlformats.org/presentationml/2006/main">
  <p:tag name="NAME" val="MoonHalf"/>
</p:tagLst>
</file>

<file path=ppt/tags/tag314.xml><?xml version="1.0" encoding="utf-8"?>
<p:tagLst xmlns:a="http://schemas.openxmlformats.org/drawingml/2006/main" xmlns:r="http://schemas.openxmlformats.org/officeDocument/2006/relationships" xmlns:p="http://schemas.openxmlformats.org/presentationml/2006/main">
  <p:tag name="NAME" val="MoonHalf"/>
</p:tagLst>
</file>

<file path=ppt/tags/tag315.xml><?xml version="1.0" encoding="utf-8"?>
<p:tagLst xmlns:a="http://schemas.openxmlformats.org/drawingml/2006/main" xmlns:r="http://schemas.openxmlformats.org/officeDocument/2006/relationships" xmlns:p="http://schemas.openxmlformats.org/presentationml/2006/main">
  <p:tag name="NAME" val="MoonHalf"/>
</p:tagLst>
</file>

<file path=ppt/tags/tag316.xml><?xml version="1.0" encoding="utf-8"?>
<p:tagLst xmlns:a="http://schemas.openxmlformats.org/drawingml/2006/main" xmlns:r="http://schemas.openxmlformats.org/officeDocument/2006/relationships" xmlns:p="http://schemas.openxmlformats.org/presentationml/2006/main">
  <p:tag name="NAME" val="MoonHalf"/>
</p:tagLst>
</file>

<file path=ppt/tags/tag317.xml><?xml version="1.0" encoding="utf-8"?>
<p:tagLst xmlns:a="http://schemas.openxmlformats.org/drawingml/2006/main" xmlns:r="http://schemas.openxmlformats.org/officeDocument/2006/relationships" xmlns:p="http://schemas.openxmlformats.org/presentationml/2006/main">
  <p:tag name="NAME" val="MoonHalf"/>
</p:tagLst>
</file>

<file path=ppt/tags/tag318.xml><?xml version="1.0" encoding="utf-8"?>
<p:tagLst xmlns:a="http://schemas.openxmlformats.org/drawingml/2006/main" xmlns:r="http://schemas.openxmlformats.org/officeDocument/2006/relationships" xmlns:p="http://schemas.openxmlformats.org/presentationml/2006/main">
  <p:tag name="NAME" val="MoonHalf"/>
</p:tagLst>
</file>

<file path=ppt/tags/tag319.xml><?xml version="1.0" encoding="utf-8"?>
<p:tagLst xmlns:a="http://schemas.openxmlformats.org/drawingml/2006/main" xmlns:r="http://schemas.openxmlformats.org/officeDocument/2006/relationships" xmlns:p="http://schemas.openxmlformats.org/presentationml/2006/main">
  <p:tag name="NAME" val="MoonHalf"/>
</p:tagLst>
</file>

<file path=ppt/tags/tag320.xml><?xml version="1.0" encoding="utf-8"?>
<p:tagLst xmlns:a="http://schemas.openxmlformats.org/drawingml/2006/main" xmlns:r="http://schemas.openxmlformats.org/officeDocument/2006/relationships" xmlns:p="http://schemas.openxmlformats.org/presentationml/2006/main">
  <p:tag name="NAME" val="MoonHalf"/>
</p:tagLst>
</file>

<file path=ppt/tags/tag321.xml><?xml version="1.0" encoding="utf-8"?>
<p:tagLst xmlns:a="http://schemas.openxmlformats.org/drawingml/2006/main" xmlns:r="http://schemas.openxmlformats.org/officeDocument/2006/relationships" xmlns:p="http://schemas.openxmlformats.org/presentationml/2006/main">
  <p:tag name="NAME" val="MoonHalf"/>
</p:tagLst>
</file>

<file path=ppt/tags/tag322.xml><?xml version="1.0" encoding="utf-8"?>
<p:tagLst xmlns:a="http://schemas.openxmlformats.org/drawingml/2006/main" xmlns:r="http://schemas.openxmlformats.org/officeDocument/2006/relationships" xmlns:p="http://schemas.openxmlformats.org/presentationml/2006/main">
  <p:tag name="NAME" val="MoonHalf"/>
</p:tagLst>
</file>

<file path=ppt/tags/tag323.xml><?xml version="1.0" encoding="utf-8"?>
<p:tagLst xmlns:a="http://schemas.openxmlformats.org/drawingml/2006/main" xmlns:r="http://schemas.openxmlformats.org/officeDocument/2006/relationships" xmlns:p="http://schemas.openxmlformats.org/presentationml/2006/main">
  <p:tag name="NAME" val="MoonHalf"/>
</p:tagLst>
</file>

<file path=ppt/tags/tag324.xml><?xml version="1.0" encoding="utf-8"?>
<p:tagLst xmlns:a="http://schemas.openxmlformats.org/drawingml/2006/main" xmlns:r="http://schemas.openxmlformats.org/officeDocument/2006/relationships" xmlns:p="http://schemas.openxmlformats.org/presentationml/2006/main">
  <p:tag name="NAME" val="MoonHalf"/>
</p:tagLst>
</file>

<file path=ppt/tags/tag325.xml><?xml version="1.0" encoding="utf-8"?>
<p:tagLst xmlns:a="http://schemas.openxmlformats.org/drawingml/2006/main" xmlns:r="http://schemas.openxmlformats.org/officeDocument/2006/relationships" xmlns:p="http://schemas.openxmlformats.org/presentationml/2006/main">
  <p:tag name="NAME" val="MoonHalf"/>
</p:tagLst>
</file>

<file path=ppt/tags/tag326.xml><?xml version="1.0" encoding="utf-8"?>
<p:tagLst xmlns:a="http://schemas.openxmlformats.org/drawingml/2006/main" xmlns:r="http://schemas.openxmlformats.org/officeDocument/2006/relationships" xmlns:p="http://schemas.openxmlformats.org/presentationml/2006/main">
  <p:tag name="NAME" val="MoonHalf"/>
</p:tagLst>
</file>

<file path=ppt/tags/tag327.xml><?xml version="1.0" encoding="utf-8"?>
<p:tagLst xmlns:a="http://schemas.openxmlformats.org/drawingml/2006/main" xmlns:r="http://schemas.openxmlformats.org/officeDocument/2006/relationships" xmlns:p="http://schemas.openxmlformats.org/presentationml/2006/main">
  <p:tag name="NAME" val="MoonHalf"/>
</p:tagLst>
</file>

<file path=ppt/tags/tag328.xml><?xml version="1.0" encoding="utf-8"?>
<p:tagLst xmlns:a="http://schemas.openxmlformats.org/drawingml/2006/main" xmlns:r="http://schemas.openxmlformats.org/officeDocument/2006/relationships" xmlns:p="http://schemas.openxmlformats.org/presentationml/2006/main">
  <p:tag name="NAME" val="MoonHalf"/>
</p:tagLst>
</file>

<file path=ppt/tags/tag329.xml><?xml version="1.0" encoding="utf-8"?>
<p:tagLst xmlns:a="http://schemas.openxmlformats.org/drawingml/2006/main" xmlns:r="http://schemas.openxmlformats.org/officeDocument/2006/relationships" xmlns:p="http://schemas.openxmlformats.org/presentationml/2006/main">
  <p:tag name="1LEVEL" val="10"/>
  <p:tag name="2LEVEL" val="5"/>
  <p:tag name="3LEVEL" val="2.5"/>
  <p:tag name="4LEVEL" val="1.25"/>
  <p:tag name="5LEVEL" val="0.62"/>
</p:tagLst>
</file>

<file path=ppt/tags/tag330.xml><?xml version="1.0" encoding="utf-8"?>
<p:tagLst xmlns:a="http://schemas.openxmlformats.org/drawingml/2006/main" xmlns:r="http://schemas.openxmlformats.org/officeDocument/2006/relationships" xmlns:p="http://schemas.openxmlformats.org/presentationml/2006/main">
  <p:tag name="ANGLE" val="3"/>
</p:tagLst>
</file>

<file path=ppt/tags/tag331.xml><?xml version="1.0" encoding="utf-8"?>
<p:tagLst xmlns:a="http://schemas.openxmlformats.org/drawingml/2006/main" xmlns:r="http://schemas.openxmlformats.org/officeDocument/2006/relationships" xmlns:p="http://schemas.openxmlformats.org/presentationml/2006/main">
  <p:tag name="ANGLE" val="3"/>
</p:tagLst>
</file>

<file path=ppt/tags/tag332.xml><?xml version="1.0" encoding="utf-8"?>
<p:tagLst xmlns:a="http://schemas.openxmlformats.org/drawingml/2006/main" xmlns:r="http://schemas.openxmlformats.org/officeDocument/2006/relationships" xmlns:p="http://schemas.openxmlformats.org/presentationml/2006/main">
  <p:tag name="ANGLE" val="3"/>
</p:tagLst>
</file>

<file path=ppt/tags/tag333.xml><?xml version="1.0" encoding="utf-8"?>
<p:tagLst xmlns:a="http://schemas.openxmlformats.org/drawingml/2006/main" xmlns:r="http://schemas.openxmlformats.org/officeDocument/2006/relationships" xmlns:p="http://schemas.openxmlformats.org/presentationml/2006/main">
  <p:tag name="ANGLE" val="3"/>
</p:tagLst>
</file>

<file path=ppt/tags/tag334.xml><?xml version="1.0" encoding="utf-8"?>
<p:tagLst xmlns:a="http://schemas.openxmlformats.org/drawingml/2006/main" xmlns:r="http://schemas.openxmlformats.org/officeDocument/2006/relationships" xmlns:p="http://schemas.openxmlformats.org/presentationml/2006/main">
  <p:tag name="ANGLE" val="3"/>
</p:tagLst>
</file>

<file path=ppt/tags/tag335.xml><?xml version="1.0" encoding="utf-8"?>
<p:tagLst xmlns:a="http://schemas.openxmlformats.org/drawingml/2006/main" xmlns:r="http://schemas.openxmlformats.org/officeDocument/2006/relationships" xmlns:p="http://schemas.openxmlformats.org/presentationml/2006/main">
  <p:tag name="ANGLE" val="3"/>
</p:tagLst>
</file>

<file path=ppt/tags/tag336.xml><?xml version="1.0" encoding="utf-8"?>
<p:tagLst xmlns:a="http://schemas.openxmlformats.org/drawingml/2006/main" xmlns:r="http://schemas.openxmlformats.org/officeDocument/2006/relationships" xmlns:p="http://schemas.openxmlformats.org/presentationml/2006/main">
  <p:tag name="ANGLE" val="3"/>
</p:tagLst>
</file>

<file path=ppt/tags/tag337.xml><?xml version="1.0" encoding="utf-8"?>
<p:tagLst xmlns:a="http://schemas.openxmlformats.org/drawingml/2006/main" xmlns:r="http://schemas.openxmlformats.org/officeDocument/2006/relationships" xmlns:p="http://schemas.openxmlformats.org/presentationml/2006/main">
  <p:tag name="ANGLE" val="3"/>
</p:tagLst>
</file>

<file path=ppt/tags/tag338.xml><?xml version="1.0" encoding="utf-8"?>
<p:tagLst xmlns:a="http://schemas.openxmlformats.org/drawingml/2006/main" xmlns:r="http://schemas.openxmlformats.org/officeDocument/2006/relationships" xmlns:p="http://schemas.openxmlformats.org/presentationml/2006/main">
  <p:tag name="ANGLE" val="3"/>
</p:tagLst>
</file>

<file path=ppt/tags/tag339.xml><?xml version="1.0" encoding="utf-8"?>
<p:tagLst xmlns:a="http://schemas.openxmlformats.org/drawingml/2006/main" xmlns:r="http://schemas.openxmlformats.org/officeDocument/2006/relationships" xmlns:p="http://schemas.openxmlformats.org/presentationml/2006/main">
  <p:tag name="ANGLE" val="3"/>
</p:tagLst>
</file>

<file path=ppt/tags/tag340.xml><?xml version="1.0" encoding="utf-8"?>
<p:tagLst xmlns:a="http://schemas.openxmlformats.org/drawingml/2006/main" xmlns:r="http://schemas.openxmlformats.org/officeDocument/2006/relationships" xmlns:p="http://schemas.openxmlformats.org/presentationml/2006/main">
  <p:tag name="ANGLE" val="3"/>
</p:tagLst>
</file>

<file path=ppt/tags/tag341.xml><?xml version="1.0" encoding="utf-8"?>
<p:tagLst xmlns:a="http://schemas.openxmlformats.org/drawingml/2006/main" xmlns:r="http://schemas.openxmlformats.org/officeDocument/2006/relationships" xmlns:p="http://schemas.openxmlformats.org/presentationml/2006/main">
  <p:tag name="ANGLE" val="3"/>
</p:tagLst>
</file>

<file path=ppt/tags/tag342.xml><?xml version="1.0" encoding="utf-8"?>
<p:tagLst xmlns:a="http://schemas.openxmlformats.org/drawingml/2006/main" xmlns:r="http://schemas.openxmlformats.org/officeDocument/2006/relationships" xmlns:p="http://schemas.openxmlformats.org/presentationml/2006/main">
  <p:tag name="ANGLE" val="3"/>
</p:tagLst>
</file>

<file path=ppt/tags/tag343.xml><?xml version="1.0" encoding="utf-8"?>
<p:tagLst xmlns:a="http://schemas.openxmlformats.org/drawingml/2006/main" xmlns:r="http://schemas.openxmlformats.org/officeDocument/2006/relationships" xmlns:p="http://schemas.openxmlformats.org/presentationml/2006/main">
  <p:tag name="ANGLE" val="3"/>
</p:tagLst>
</file>

<file path=ppt/tags/tag344.xml><?xml version="1.0" encoding="utf-8"?>
<p:tagLst xmlns:a="http://schemas.openxmlformats.org/drawingml/2006/main" xmlns:r="http://schemas.openxmlformats.org/officeDocument/2006/relationships" xmlns:p="http://schemas.openxmlformats.org/presentationml/2006/main">
  <p:tag name="ANGLE" val="3"/>
</p:tagLst>
</file>

<file path=ppt/tags/tag345.xml><?xml version="1.0" encoding="utf-8"?>
<p:tagLst xmlns:a="http://schemas.openxmlformats.org/drawingml/2006/main" xmlns:r="http://schemas.openxmlformats.org/officeDocument/2006/relationships" xmlns:p="http://schemas.openxmlformats.org/presentationml/2006/main">
  <p:tag name="ANGLE" val="3"/>
</p:tagLst>
</file>

<file path=ppt/tags/tag346.xml><?xml version="1.0" encoding="utf-8"?>
<p:tagLst xmlns:a="http://schemas.openxmlformats.org/drawingml/2006/main" xmlns:r="http://schemas.openxmlformats.org/officeDocument/2006/relationships" xmlns:p="http://schemas.openxmlformats.org/presentationml/2006/main">
  <p:tag name="ANGLE" val="3"/>
</p:tagLst>
</file>

<file path=ppt/tags/tag347.xml><?xml version="1.0" encoding="utf-8"?>
<p:tagLst xmlns:a="http://schemas.openxmlformats.org/drawingml/2006/main" xmlns:r="http://schemas.openxmlformats.org/officeDocument/2006/relationships" xmlns:p="http://schemas.openxmlformats.org/presentationml/2006/main">
  <p:tag name="ANGLE" val="3"/>
</p:tagLst>
</file>

<file path=ppt/tags/tag348.xml><?xml version="1.0" encoding="utf-8"?>
<p:tagLst xmlns:a="http://schemas.openxmlformats.org/drawingml/2006/main" xmlns:r="http://schemas.openxmlformats.org/officeDocument/2006/relationships" xmlns:p="http://schemas.openxmlformats.org/presentationml/2006/main">
  <p:tag name="ANGLE" val="3"/>
</p:tagLst>
</file>

<file path=ppt/tags/tag349.xml><?xml version="1.0" encoding="utf-8"?>
<p:tagLst xmlns:a="http://schemas.openxmlformats.org/drawingml/2006/main" xmlns:r="http://schemas.openxmlformats.org/officeDocument/2006/relationships" xmlns:p="http://schemas.openxmlformats.org/presentationml/2006/main">
  <p:tag name="ANGLE" val="3"/>
</p:tagLst>
</file>

<file path=ppt/tags/tag350.xml><?xml version="1.0" encoding="utf-8"?>
<p:tagLst xmlns:a="http://schemas.openxmlformats.org/drawingml/2006/main" xmlns:r="http://schemas.openxmlformats.org/officeDocument/2006/relationships" xmlns:p="http://schemas.openxmlformats.org/presentationml/2006/main">
  <p:tag name="ANGLE" val="3"/>
</p:tagLst>
</file>

<file path=ppt/tags/tag351.xml><?xml version="1.0" encoding="utf-8"?>
<p:tagLst xmlns:a="http://schemas.openxmlformats.org/drawingml/2006/main" xmlns:r="http://schemas.openxmlformats.org/officeDocument/2006/relationships" xmlns:p="http://schemas.openxmlformats.org/presentationml/2006/main">
  <p:tag name="ANGLE" val="3"/>
</p:tagLst>
</file>

<file path=ppt/tags/tag352.xml><?xml version="1.0" encoding="utf-8"?>
<p:tagLst xmlns:a="http://schemas.openxmlformats.org/drawingml/2006/main" xmlns:r="http://schemas.openxmlformats.org/officeDocument/2006/relationships" xmlns:p="http://schemas.openxmlformats.org/presentationml/2006/main">
  <p:tag name="ANGLE" val="3"/>
</p:tagLst>
</file>

<file path=ppt/tags/tag353.xml><?xml version="1.0" encoding="utf-8"?>
<p:tagLst xmlns:a="http://schemas.openxmlformats.org/drawingml/2006/main" xmlns:r="http://schemas.openxmlformats.org/officeDocument/2006/relationships" xmlns:p="http://schemas.openxmlformats.org/presentationml/2006/main">
  <p:tag name="ANGLE" val="3"/>
</p:tagLst>
</file>

<file path=ppt/tags/tag354.xml><?xml version="1.0" encoding="utf-8"?>
<p:tagLst xmlns:a="http://schemas.openxmlformats.org/drawingml/2006/main" xmlns:r="http://schemas.openxmlformats.org/officeDocument/2006/relationships" xmlns:p="http://schemas.openxmlformats.org/presentationml/2006/main">
  <p:tag name="ANGLE" val="3"/>
</p:tagLst>
</file>

<file path=ppt/tags/tag355.xml><?xml version="1.0" encoding="utf-8"?>
<p:tagLst xmlns:a="http://schemas.openxmlformats.org/drawingml/2006/main" xmlns:r="http://schemas.openxmlformats.org/officeDocument/2006/relationships" xmlns:p="http://schemas.openxmlformats.org/presentationml/2006/main">
  <p:tag name="ANGLE" val="3"/>
</p:tagLst>
</file>

<file path=ppt/tags/tag356.xml><?xml version="1.0" encoding="utf-8"?>
<p:tagLst xmlns:a="http://schemas.openxmlformats.org/drawingml/2006/main" xmlns:r="http://schemas.openxmlformats.org/officeDocument/2006/relationships" xmlns:p="http://schemas.openxmlformats.org/presentationml/2006/main">
  <p:tag name="ANGLE" val="3"/>
</p:tagLst>
</file>

<file path=ppt/tags/tag357.xml><?xml version="1.0" encoding="utf-8"?>
<p:tagLst xmlns:a="http://schemas.openxmlformats.org/drawingml/2006/main" xmlns:r="http://schemas.openxmlformats.org/officeDocument/2006/relationships" xmlns:p="http://schemas.openxmlformats.org/presentationml/2006/main">
  <p:tag name="ANGLE" val="3"/>
</p:tagLst>
</file>

<file path=ppt/tags/tag358.xml><?xml version="1.0" encoding="utf-8"?>
<p:tagLst xmlns:a="http://schemas.openxmlformats.org/drawingml/2006/main" xmlns:r="http://schemas.openxmlformats.org/officeDocument/2006/relationships" xmlns:p="http://schemas.openxmlformats.org/presentationml/2006/main">
  <p:tag name="ANGLE" val="3"/>
</p:tagLst>
</file>

<file path=ppt/tags/tag359.xml><?xml version="1.0" encoding="utf-8"?>
<p:tagLst xmlns:a="http://schemas.openxmlformats.org/drawingml/2006/main" xmlns:r="http://schemas.openxmlformats.org/officeDocument/2006/relationships" xmlns:p="http://schemas.openxmlformats.org/presentationml/2006/main">
  <p:tag name="ANGLE" val="3"/>
</p:tagLst>
</file>

<file path=ppt/tags/tag360.xml><?xml version="1.0" encoding="utf-8"?>
<p:tagLst xmlns:a="http://schemas.openxmlformats.org/drawingml/2006/main" xmlns:r="http://schemas.openxmlformats.org/officeDocument/2006/relationships" xmlns:p="http://schemas.openxmlformats.org/presentationml/2006/main">
  <p:tag name="ANGLE" val="3"/>
</p:tagLst>
</file>

<file path=ppt/tags/tag361.xml><?xml version="1.0" encoding="utf-8"?>
<p:tagLst xmlns:a="http://schemas.openxmlformats.org/drawingml/2006/main" xmlns:r="http://schemas.openxmlformats.org/officeDocument/2006/relationships" xmlns:p="http://schemas.openxmlformats.org/presentationml/2006/main">
  <p:tag name="ANGLE" val="3"/>
</p:tagLst>
</file>

<file path=ppt/tags/tag362.xml><?xml version="1.0" encoding="utf-8"?>
<p:tagLst xmlns:a="http://schemas.openxmlformats.org/drawingml/2006/main" xmlns:r="http://schemas.openxmlformats.org/officeDocument/2006/relationships" xmlns:p="http://schemas.openxmlformats.org/presentationml/2006/main">
  <p:tag name="ANGLE" val="3"/>
</p:tagLst>
</file>

<file path=ppt/tags/tag363.xml><?xml version="1.0" encoding="utf-8"?>
<p:tagLst xmlns:a="http://schemas.openxmlformats.org/drawingml/2006/main" xmlns:r="http://schemas.openxmlformats.org/officeDocument/2006/relationships" xmlns:p="http://schemas.openxmlformats.org/presentationml/2006/main">
  <p:tag name="ANGLE" val="3"/>
</p:tagLst>
</file>

<file path=ppt/tags/tag364.xml><?xml version="1.0" encoding="utf-8"?>
<p:tagLst xmlns:a="http://schemas.openxmlformats.org/drawingml/2006/main" xmlns:r="http://schemas.openxmlformats.org/officeDocument/2006/relationships" xmlns:p="http://schemas.openxmlformats.org/presentationml/2006/main">
  <p:tag name="ANGLE" val="3"/>
</p:tagLst>
</file>

<file path=ppt/tags/tag365.xml><?xml version="1.0" encoding="utf-8"?>
<p:tagLst xmlns:a="http://schemas.openxmlformats.org/drawingml/2006/main" xmlns:r="http://schemas.openxmlformats.org/officeDocument/2006/relationships" xmlns:p="http://schemas.openxmlformats.org/presentationml/2006/main">
  <p:tag name="ANGLE" val="3"/>
</p:tagLst>
</file>

<file path=ppt/tags/tag366.xml><?xml version="1.0" encoding="utf-8"?>
<p:tagLst xmlns:a="http://schemas.openxmlformats.org/drawingml/2006/main" xmlns:r="http://schemas.openxmlformats.org/officeDocument/2006/relationships" xmlns:p="http://schemas.openxmlformats.org/presentationml/2006/main">
  <p:tag name="ANGLE" val="3"/>
</p:tagLst>
</file>

<file path=ppt/tags/tag367.xml><?xml version="1.0" encoding="utf-8"?>
<p:tagLst xmlns:a="http://schemas.openxmlformats.org/drawingml/2006/main" xmlns:r="http://schemas.openxmlformats.org/officeDocument/2006/relationships" xmlns:p="http://schemas.openxmlformats.org/presentationml/2006/main">
  <p:tag name="ANGLE" val="3"/>
</p:tagLst>
</file>

<file path=ppt/tags/tag368.xml><?xml version="1.0" encoding="utf-8"?>
<p:tagLst xmlns:a="http://schemas.openxmlformats.org/drawingml/2006/main" xmlns:r="http://schemas.openxmlformats.org/officeDocument/2006/relationships" xmlns:p="http://schemas.openxmlformats.org/presentationml/2006/main">
  <p:tag name="ANGLE" val="3"/>
</p:tagLst>
</file>

<file path=ppt/tags/tag369.xml><?xml version="1.0" encoding="utf-8"?>
<p:tagLst xmlns:a="http://schemas.openxmlformats.org/drawingml/2006/main" xmlns:r="http://schemas.openxmlformats.org/officeDocument/2006/relationships" xmlns:p="http://schemas.openxmlformats.org/presentationml/2006/main">
  <p:tag name="ANGLE" val="3"/>
</p:tagLst>
</file>

<file path=ppt/tags/tag370.xml><?xml version="1.0" encoding="utf-8"?>
<p:tagLst xmlns:a="http://schemas.openxmlformats.org/drawingml/2006/main" xmlns:r="http://schemas.openxmlformats.org/officeDocument/2006/relationships" xmlns:p="http://schemas.openxmlformats.org/presentationml/2006/main">
  <p:tag name="ANGLE" val="3"/>
</p:tagLst>
</file>

<file path=ppt/tags/tag371.xml><?xml version="1.0" encoding="utf-8"?>
<p:tagLst xmlns:a="http://schemas.openxmlformats.org/drawingml/2006/main" xmlns:r="http://schemas.openxmlformats.org/officeDocument/2006/relationships" xmlns:p="http://schemas.openxmlformats.org/presentationml/2006/main">
  <p:tag name="ANGLE" val="3"/>
</p:tagLst>
</file>

<file path=ppt/tags/tag372.xml><?xml version="1.0" encoding="utf-8"?>
<p:tagLst xmlns:a="http://schemas.openxmlformats.org/drawingml/2006/main" xmlns:r="http://schemas.openxmlformats.org/officeDocument/2006/relationships" xmlns:p="http://schemas.openxmlformats.org/presentationml/2006/main">
  <p:tag name="ANGLE" val="3"/>
</p:tagLst>
</file>

<file path=ppt/tags/tag373.xml><?xml version="1.0" encoding="utf-8"?>
<p:tagLst xmlns:a="http://schemas.openxmlformats.org/drawingml/2006/main" xmlns:r="http://schemas.openxmlformats.org/officeDocument/2006/relationships" xmlns:p="http://schemas.openxmlformats.org/presentationml/2006/main">
  <p:tag name="ANGLE" val="3"/>
</p:tagLst>
</file>

<file path=ppt/tags/tag374.xml><?xml version="1.0" encoding="utf-8"?>
<p:tagLst xmlns:a="http://schemas.openxmlformats.org/drawingml/2006/main" xmlns:r="http://schemas.openxmlformats.org/officeDocument/2006/relationships" xmlns:p="http://schemas.openxmlformats.org/presentationml/2006/main">
  <p:tag name="ANGLE" val="3"/>
</p:tagLst>
</file>

<file path=ppt/tags/tag375.xml><?xml version="1.0" encoding="utf-8"?>
<p:tagLst xmlns:a="http://schemas.openxmlformats.org/drawingml/2006/main" xmlns:r="http://schemas.openxmlformats.org/officeDocument/2006/relationships" xmlns:p="http://schemas.openxmlformats.org/presentationml/2006/main">
  <p:tag name="ANGLE" val="3"/>
</p:tagLst>
</file>

<file path=ppt/tags/tag376.xml><?xml version="1.0" encoding="utf-8"?>
<p:tagLst xmlns:a="http://schemas.openxmlformats.org/drawingml/2006/main" xmlns:r="http://schemas.openxmlformats.org/officeDocument/2006/relationships" xmlns:p="http://schemas.openxmlformats.org/presentationml/2006/main">
  <p:tag name="ANGLE" val="3"/>
</p:tagLst>
</file>

<file path=ppt/tags/tag377.xml><?xml version="1.0" encoding="utf-8"?>
<p:tagLst xmlns:a="http://schemas.openxmlformats.org/drawingml/2006/main" xmlns:r="http://schemas.openxmlformats.org/officeDocument/2006/relationships" xmlns:p="http://schemas.openxmlformats.org/presentationml/2006/main">
  <p:tag name="ANGLE" val="3"/>
</p:tagLst>
</file>

<file path=ppt/tags/tag378.xml><?xml version="1.0" encoding="utf-8"?>
<p:tagLst xmlns:a="http://schemas.openxmlformats.org/drawingml/2006/main" xmlns:r="http://schemas.openxmlformats.org/officeDocument/2006/relationships" xmlns:p="http://schemas.openxmlformats.org/presentationml/2006/main">
  <p:tag name="ANGLE" val="3"/>
</p:tagLst>
</file>

<file path=ppt/tags/tag379.xml><?xml version="1.0" encoding="utf-8"?>
<p:tagLst xmlns:a="http://schemas.openxmlformats.org/drawingml/2006/main" xmlns:r="http://schemas.openxmlformats.org/officeDocument/2006/relationships" xmlns:p="http://schemas.openxmlformats.org/presentationml/2006/main">
  <p:tag name="ANGLE" val="3"/>
</p:tagLst>
</file>

<file path=ppt/tags/tag380.xml><?xml version="1.0" encoding="utf-8"?>
<p:tagLst xmlns:a="http://schemas.openxmlformats.org/drawingml/2006/main" xmlns:r="http://schemas.openxmlformats.org/officeDocument/2006/relationships" xmlns:p="http://schemas.openxmlformats.org/presentationml/2006/main">
  <p:tag name="ANGLE" val="3"/>
</p:tagLst>
</file>

<file path=ppt/tags/tag381.xml><?xml version="1.0" encoding="utf-8"?>
<p:tagLst xmlns:a="http://schemas.openxmlformats.org/drawingml/2006/main" xmlns:r="http://schemas.openxmlformats.org/officeDocument/2006/relationships" xmlns:p="http://schemas.openxmlformats.org/presentationml/2006/main">
  <p:tag name="ANGLE" val="3"/>
</p:tagLst>
</file>

<file path=ppt/tags/tag3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5.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86.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87.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88.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89.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0.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1.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2.xml><?xml version="1.0" encoding="utf-8"?>
<p:tagLst xmlns:a="http://schemas.openxmlformats.org/drawingml/2006/main" xmlns:r="http://schemas.openxmlformats.org/officeDocument/2006/relationships" xmlns:p="http://schemas.openxmlformats.org/presentationml/2006/main">
  <p:tag name="SHAPENAME" val="5. Source"/>
</p:tagLst>
</file>

<file path=ppt/tags/tag393.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4.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5.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6.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7.xml><?xml version="1.0" encoding="utf-8"?>
<p:tagLst xmlns:a="http://schemas.openxmlformats.org/drawingml/2006/main" xmlns:r="http://schemas.openxmlformats.org/officeDocument/2006/relationships" xmlns:p="http://schemas.openxmlformats.org/presentationml/2006/main">
  <p:tag name="NAME" val="LineSeparatorStrong"/>
</p:tagLst>
</file>

<file path=ppt/tags/tag3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0.xml><?xml version="1.0" encoding="utf-8"?>
<p:tagLst xmlns:a="http://schemas.openxmlformats.org/drawingml/2006/main" xmlns:r="http://schemas.openxmlformats.org/officeDocument/2006/relationships" xmlns:p="http://schemas.openxmlformats.org/presentationml/2006/main">
  <p:tag name="NAME" val="KeyTakeawayOF"/>
</p:tagLst>
</file>

<file path=ppt/tags/tag401.xml><?xml version="1.0" encoding="utf-8"?>
<p:tagLst xmlns:a="http://schemas.openxmlformats.org/drawingml/2006/main" xmlns:r="http://schemas.openxmlformats.org/officeDocument/2006/relationships" xmlns:p="http://schemas.openxmlformats.org/presentationml/2006/main">
  <p:tag name="NAME" val="KeyTakeawayOF"/>
</p:tagLst>
</file>

<file path=ppt/tags/tag402.xml><?xml version="1.0" encoding="utf-8"?>
<p:tagLst xmlns:a="http://schemas.openxmlformats.org/drawingml/2006/main" xmlns:r="http://schemas.openxmlformats.org/officeDocument/2006/relationships" xmlns:p="http://schemas.openxmlformats.org/presentationml/2006/main">
  <p:tag name="NAME" val="KeyTakeawayOF"/>
</p:tagLst>
</file>

<file path=ppt/tags/tag403.xml><?xml version="1.0" encoding="utf-8"?>
<p:tagLst xmlns:a="http://schemas.openxmlformats.org/drawingml/2006/main" xmlns:r="http://schemas.openxmlformats.org/officeDocument/2006/relationships" xmlns:p="http://schemas.openxmlformats.org/presentationml/2006/main">
  <p:tag name="NAME" val="KeyTakeawayOF"/>
</p:tagLst>
</file>

<file path=ppt/tags/tag404.xml><?xml version="1.0" encoding="utf-8"?>
<p:tagLst xmlns:a="http://schemas.openxmlformats.org/drawingml/2006/main" xmlns:r="http://schemas.openxmlformats.org/officeDocument/2006/relationships" xmlns:p="http://schemas.openxmlformats.org/presentationml/2006/main">
  <p:tag name="NAME" val="KeyTakeawayOF"/>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csFxl6xNIOvWKq9xXLKuJw"/>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rSlLRINbI_NB8fQR3e5cSg"/>
</p:tagLst>
</file>

<file path=ppt/tags/tag4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1.xml><?xml version="1.0" encoding="utf-8"?>
<p:tagLst xmlns:a="http://schemas.openxmlformats.org/drawingml/2006/main" xmlns:r="http://schemas.openxmlformats.org/officeDocument/2006/relationships" xmlns:p="http://schemas.openxmlformats.org/presentationml/2006/main">
  <p:tag name="NAME" val="TrackerNumBlue"/>
</p:tagLst>
</file>

<file path=ppt/tags/tag412.xml><?xml version="1.0" encoding="utf-8"?>
<p:tagLst xmlns:a="http://schemas.openxmlformats.org/drawingml/2006/main" xmlns:r="http://schemas.openxmlformats.org/officeDocument/2006/relationships" xmlns:p="http://schemas.openxmlformats.org/presentationml/2006/main">
  <p:tag name="NAME" val="LineBasicStrong"/>
</p:tagLst>
</file>

<file path=ppt/tags/tag413.xml><?xml version="1.0" encoding="utf-8"?>
<p:tagLst xmlns:a="http://schemas.openxmlformats.org/drawingml/2006/main" xmlns:r="http://schemas.openxmlformats.org/officeDocument/2006/relationships" xmlns:p="http://schemas.openxmlformats.org/presentationml/2006/main">
  <p:tag name="NAME" val="LineBasicStrong"/>
</p:tagLst>
</file>

<file path=ppt/tags/tag414.xml><?xml version="1.0" encoding="utf-8"?>
<p:tagLst xmlns:a="http://schemas.openxmlformats.org/drawingml/2006/main" xmlns:r="http://schemas.openxmlformats.org/officeDocument/2006/relationships" xmlns:p="http://schemas.openxmlformats.org/presentationml/2006/main">
  <p:tag name="NAME" val="LineBasicStrong"/>
</p:tagLst>
</file>

<file path=ppt/tags/tag415.xml><?xml version="1.0" encoding="utf-8"?>
<p:tagLst xmlns:a="http://schemas.openxmlformats.org/drawingml/2006/main" xmlns:r="http://schemas.openxmlformats.org/officeDocument/2006/relationships" xmlns:p="http://schemas.openxmlformats.org/presentationml/2006/main">
  <p:tag name="NAME" val="LineBasicStrong"/>
</p:tagLst>
</file>

<file path=ppt/tags/tag416.xml><?xml version="1.0" encoding="utf-8"?>
<p:tagLst xmlns:a="http://schemas.openxmlformats.org/drawingml/2006/main" xmlns:r="http://schemas.openxmlformats.org/officeDocument/2006/relationships" xmlns:p="http://schemas.openxmlformats.org/presentationml/2006/main">
  <p:tag name="NAME" val="LineBasicStrong"/>
</p:tagLst>
</file>

<file path=ppt/tags/tag417.xml><?xml version="1.0" encoding="utf-8"?>
<p:tagLst xmlns:a="http://schemas.openxmlformats.org/drawingml/2006/main" xmlns:r="http://schemas.openxmlformats.org/officeDocument/2006/relationships" xmlns:p="http://schemas.openxmlformats.org/presentationml/2006/main">
  <p:tag name="NAME" val="TrackerNumBlue"/>
</p:tagLst>
</file>

<file path=ppt/tags/tag418.xml><?xml version="1.0" encoding="utf-8"?>
<p:tagLst xmlns:a="http://schemas.openxmlformats.org/drawingml/2006/main" xmlns:r="http://schemas.openxmlformats.org/officeDocument/2006/relationships" xmlns:p="http://schemas.openxmlformats.org/presentationml/2006/main">
  <p:tag name="NAME" val="TrackerNumBlue"/>
</p:tagLst>
</file>

<file path=ppt/tags/tag419.xml><?xml version="1.0" encoding="utf-8"?>
<p:tagLst xmlns:a="http://schemas.openxmlformats.org/drawingml/2006/main" xmlns:r="http://schemas.openxmlformats.org/officeDocument/2006/relationships" xmlns:p="http://schemas.openxmlformats.org/presentationml/2006/main">
  <p:tag name="NAME" val="LineBasicStrong"/>
</p:tagLst>
</file>

<file path=ppt/tags/tag420.xml><?xml version="1.0" encoding="utf-8"?>
<p:tagLst xmlns:a="http://schemas.openxmlformats.org/drawingml/2006/main" xmlns:r="http://schemas.openxmlformats.org/officeDocument/2006/relationships" xmlns:p="http://schemas.openxmlformats.org/presentationml/2006/main">
  <p:tag name="NAME" val="TrackerNumBlue"/>
</p:tagLst>
</file>

<file path=ppt/tags/tag421.xml><?xml version="1.0" encoding="utf-8"?>
<p:tagLst xmlns:a="http://schemas.openxmlformats.org/drawingml/2006/main" xmlns:r="http://schemas.openxmlformats.org/officeDocument/2006/relationships" xmlns:p="http://schemas.openxmlformats.org/presentationml/2006/main">
  <p:tag name="NAME" val="LineBasicStrong"/>
</p:tagLst>
</file>

<file path=ppt/tags/tag422.xml><?xml version="1.0" encoding="utf-8"?>
<p:tagLst xmlns:a="http://schemas.openxmlformats.org/drawingml/2006/main" xmlns:r="http://schemas.openxmlformats.org/officeDocument/2006/relationships" xmlns:p="http://schemas.openxmlformats.org/presentationml/2006/main">
  <p:tag name="NAME" val="LineBasicStrong"/>
</p:tagLst>
</file>

<file path=ppt/tags/tag423.xml><?xml version="1.0" encoding="utf-8"?>
<p:tagLst xmlns:a="http://schemas.openxmlformats.org/drawingml/2006/main" xmlns:r="http://schemas.openxmlformats.org/officeDocument/2006/relationships" xmlns:p="http://schemas.openxmlformats.org/presentationml/2006/main">
  <p:tag name="NAME" val="TrackerNumBlue"/>
</p:tagLst>
</file>

<file path=ppt/tags/tag424.xml><?xml version="1.0" encoding="utf-8"?>
<p:tagLst xmlns:a="http://schemas.openxmlformats.org/drawingml/2006/main" xmlns:r="http://schemas.openxmlformats.org/officeDocument/2006/relationships" xmlns:p="http://schemas.openxmlformats.org/presentationml/2006/main">
  <p:tag name="NAME" val="TrackerNumBlue"/>
</p:tagLst>
</file>

<file path=ppt/tags/tag425.xml><?xml version="1.0" encoding="utf-8"?>
<p:tagLst xmlns:a="http://schemas.openxmlformats.org/drawingml/2006/main" xmlns:r="http://schemas.openxmlformats.org/officeDocument/2006/relationships" xmlns:p="http://schemas.openxmlformats.org/presentationml/2006/main">
  <p:tag name="NAME" val="TrackerNumBlue"/>
</p:tagLst>
</file>

<file path=ppt/tags/tag426.xml><?xml version="1.0" encoding="utf-8"?>
<p:tagLst xmlns:a="http://schemas.openxmlformats.org/drawingml/2006/main" xmlns:r="http://schemas.openxmlformats.org/officeDocument/2006/relationships" xmlns:p="http://schemas.openxmlformats.org/presentationml/2006/main">
  <p:tag name="NAME" val="TrackerNumBlue"/>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0.xml><?xml version="1.0" encoding="utf-8"?>
<p:tagLst xmlns:a="http://schemas.openxmlformats.org/drawingml/2006/main" xmlns:r="http://schemas.openxmlformats.org/officeDocument/2006/relationships" xmlns:p="http://schemas.openxmlformats.org/presentationml/2006/main">
  <p:tag name="CIRCLESTATUS" val="Blue"/>
  <p:tag name="NAME" val="ChevronBlue"/>
  <p:tag name="SYMBOLNAME" val="Chevron"/>
</p:tagLst>
</file>

<file path=ppt/tags/tag43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3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3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3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7.xml><?xml version="1.0" encoding="utf-8"?>
<p:tagLst xmlns:a="http://schemas.openxmlformats.org/drawingml/2006/main" xmlns:r="http://schemas.openxmlformats.org/officeDocument/2006/relationships" xmlns:p="http://schemas.openxmlformats.org/presentationml/2006/main">
  <p:tag name="NAME" val="TrackerNumBlue"/>
</p:tagLst>
</file>

<file path=ppt/tags/tag438.xml><?xml version="1.0" encoding="utf-8"?>
<p:tagLst xmlns:a="http://schemas.openxmlformats.org/drawingml/2006/main" xmlns:r="http://schemas.openxmlformats.org/officeDocument/2006/relationships" xmlns:p="http://schemas.openxmlformats.org/presentationml/2006/main">
  <p:tag name="NAME" val="TrackerNumBlue"/>
</p:tagLst>
</file>

<file path=ppt/tags/tag439.xml><?xml version="1.0" encoding="utf-8"?>
<p:tagLst xmlns:a="http://schemas.openxmlformats.org/drawingml/2006/main" xmlns:r="http://schemas.openxmlformats.org/officeDocument/2006/relationships" xmlns:p="http://schemas.openxmlformats.org/presentationml/2006/main">
  <p:tag name="CIRCLESTATUS" val="Blue"/>
  <p:tag name="NAME" val="ChevronBlue"/>
  <p:tag name="SYMBOLNAME" val="Chevron"/>
</p:tagLst>
</file>

<file path=ppt/tags/tag4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2.xml><?xml version="1.0" encoding="utf-8"?>
<p:tagLst xmlns:a="http://schemas.openxmlformats.org/drawingml/2006/main" xmlns:r="http://schemas.openxmlformats.org/officeDocument/2006/relationships" xmlns:p="http://schemas.openxmlformats.org/presentationml/2006/main">
  <p:tag name="SHAPENAME" val="3. Subtitle"/>
</p:tagLst>
</file>

<file path=ppt/tags/tag4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44.xml><?xml version="1.0" encoding="utf-8"?>
<p:tagLst xmlns:a="http://schemas.openxmlformats.org/drawingml/2006/main" xmlns:r="http://schemas.openxmlformats.org/officeDocument/2006/relationships" xmlns:p="http://schemas.openxmlformats.org/presentationml/2006/main">
  <p:tag name="SHAPENAME" val="4. Footnote"/>
</p:tagLst>
</file>

<file path=ppt/tags/tag445.xml><?xml version="1.0" encoding="utf-8"?>
<p:tagLst xmlns:a="http://schemas.openxmlformats.org/drawingml/2006/main" xmlns:r="http://schemas.openxmlformats.org/officeDocument/2006/relationships" xmlns:p="http://schemas.openxmlformats.org/presentationml/2006/main">
  <p:tag name="THINKCELLSHAPEDONOTDELETE" val="ttd4Z37fjPtynLR3xNbLAgg"/>
</p:tagLst>
</file>

<file path=ppt/tags/tag446.xml><?xml version="1.0" encoding="utf-8"?>
<p:tagLst xmlns:a="http://schemas.openxmlformats.org/drawingml/2006/main" xmlns:r="http://schemas.openxmlformats.org/officeDocument/2006/relationships" xmlns:p="http://schemas.openxmlformats.org/presentationml/2006/main">
  <p:tag name="THINKCELLSHAPEDONOTDELETE" val="t6QrCUEzXRBKIEkJNf4rQtA"/>
</p:tagLst>
</file>

<file path=ppt/tags/tag447.xml><?xml version="1.0" encoding="utf-8"?>
<p:tagLst xmlns:a="http://schemas.openxmlformats.org/drawingml/2006/main" xmlns:r="http://schemas.openxmlformats.org/officeDocument/2006/relationships" xmlns:p="http://schemas.openxmlformats.org/presentationml/2006/main">
  <p:tag name="THINKCELLSHAPEDONOTDELETE" val="tie0d89OlpGYnr2HsRtR5cQ"/>
</p:tagLst>
</file>

<file path=ppt/tags/tag448.xml><?xml version="1.0" encoding="utf-8"?>
<p:tagLst xmlns:a="http://schemas.openxmlformats.org/drawingml/2006/main" xmlns:r="http://schemas.openxmlformats.org/officeDocument/2006/relationships" xmlns:p="http://schemas.openxmlformats.org/presentationml/2006/main">
  <p:tag name="THINKCELLSHAPEDONOTDELETE" val="t3Ajk1.Fngjab5lQlP5AB4g"/>
</p:tagLst>
</file>

<file path=ppt/tags/tag449.xml><?xml version="1.0" encoding="utf-8"?>
<p:tagLst xmlns:a="http://schemas.openxmlformats.org/drawingml/2006/main" xmlns:r="http://schemas.openxmlformats.org/officeDocument/2006/relationships" xmlns:p="http://schemas.openxmlformats.org/presentationml/2006/main">
  <p:tag name="THINKCELLSHAPEDONOTDELETE" val="tVCGpiZbQViSKctj6NxxPcQ"/>
</p:tagLst>
</file>

<file path=ppt/tags/tag450.xml><?xml version="1.0" encoding="utf-8"?>
<p:tagLst xmlns:a="http://schemas.openxmlformats.org/drawingml/2006/main" xmlns:r="http://schemas.openxmlformats.org/officeDocument/2006/relationships" xmlns:p="http://schemas.openxmlformats.org/presentationml/2006/main">
  <p:tag name="THINKCELLSHAPEDONOTDELETE" val="t_Yohx_g1PaDSK6m43ivwZg"/>
</p:tagLst>
</file>

<file path=ppt/tags/tag451.xml><?xml version="1.0" encoding="utf-8"?>
<p:tagLst xmlns:a="http://schemas.openxmlformats.org/drawingml/2006/main" xmlns:r="http://schemas.openxmlformats.org/officeDocument/2006/relationships" xmlns:p="http://schemas.openxmlformats.org/presentationml/2006/main">
  <p:tag name="THINKCELLSHAPEDONOTDELETE" val="tsL4jX8FSmvFN92S9x5rC3w"/>
</p:tagLst>
</file>

<file path=ppt/tags/tag452.xml><?xml version="1.0" encoding="utf-8"?>
<p:tagLst xmlns:a="http://schemas.openxmlformats.org/drawingml/2006/main" xmlns:r="http://schemas.openxmlformats.org/officeDocument/2006/relationships" xmlns:p="http://schemas.openxmlformats.org/presentationml/2006/main">
  <p:tag name="THINKCELLSHAPEDONOTDELETE" val="tsQS8QcOzTFfNxkLppScjYQ"/>
</p:tagLst>
</file>

<file path=ppt/tags/tag453.xml><?xml version="1.0" encoding="utf-8"?>
<p:tagLst xmlns:a="http://schemas.openxmlformats.org/drawingml/2006/main" xmlns:r="http://schemas.openxmlformats.org/officeDocument/2006/relationships" xmlns:p="http://schemas.openxmlformats.org/presentationml/2006/main">
  <p:tag name="THINKCELLSHAPEDONOTDELETE" val="trlKsWVO2saIzpgebLdd0Fg"/>
</p:tagLst>
</file>

<file path=ppt/tags/tag454.xml><?xml version="1.0" encoding="utf-8"?>
<p:tagLst xmlns:a="http://schemas.openxmlformats.org/drawingml/2006/main" xmlns:r="http://schemas.openxmlformats.org/officeDocument/2006/relationships" xmlns:p="http://schemas.openxmlformats.org/presentationml/2006/main">
  <p:tag name="THINKCELLSHAPEDONOTDELETE" val="tIu.Wkk7Yx0szG2Oold05sw"/>
</p:tagLst>
</file>

<file path=ppt/tags/tag455.xml><?xml version="1.0" encoding="utf-8"?>
<p:tagLst xmlns:a="http://schemas.openxmlformats.org/drawingml/2006/main" xmlns:r="http://schemas.openxmlformats.org/officeDocument/2006/relationships" xmlns:p="http://schemas.openxmlformats.org/presentationml/2006/main">
  <p:tag name="THINKCELLSHAPEDONOTDELETE" val="tSPBxsCpX9jpxvozakJxcAw"/>
</p:tagLst>
</file>

<file path=ppt/tags/tag456.xml><?xml version="1.0" encoding="utf-8"?>
<p:tagLst xmlns:a="http://schemas.openxmlformats.org/drawingml/2006/main" xmlns:r="http://schemas.openxmlformats.org/officeDocument/2006/relationships" xmlns:p="http://schemas.openxmlformats.org/presentationml/2006/main">
  <p:tag name="THINKCELLSHAPEDONOTDELETE" val="tWzV9zddYv37148oiWc2NqA"/>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pfmMygKk28ErY948zbihng"/>
</p:tagLst>
</file>

<file path=ppt/tags/tag458.xml><?xml version="1.0" encoding="utf-8"?>
<p:tagLst xmlns:a="http://schemas.openxmlformats.org/drawingml/2006/main" xmlns:r="http://schemas.openxmlformats.org/officeDocument/2006/relationships" xmlns:p="http://schemas.openxmlformats.org/presentationml/2006/main">
  <p:tag name="THINKCELLSHAPEDONOTDELETE" val="tv9tJIcz_MgNgiLfWGxHI4w"/>
</p:tagLst>
</file>

<file path=ppt/tags/tag459.xml><?xml version="1.0" encoding="utf-8"?>
<p:tagLst xmlns:a="http://schemas.openxmlformats.org/drawingml/2006/main" xmlns:r="http://schemas.openxmlformats.org/officeDocument/2006/relationships" xmlns:p="http://schemas.openxmlformats.org/presentationml/2006/main">
  <p:tag name="THINKCELLSHAPEDONOTDELETE" val="tKj2r0EVII0ouCMFhnP7i2g"/>
</p:tagLst>
</file>

<file path=ppt/tags/tag460.xml><?xml version="1.0" encoding="utf-8"?>
<p:tagLst xmlns:a="http://schemas.openxmlformats.org/drawingml/2006/main" xmlns:r="http://schemas.openxmlformats.org/officeDocument/2006/relationships" xmlns:p="http://schemas.openxmlformats.org/presentationml/2006/main">
  <p:tag name="THINKCELLSHAPEDONOTDELETE" val="ta5RUBn8coA3kdCrtH.FPLw"/>
</p:tagLst>
</file>

<file path=ppt/tags/tag461.xml><?xml version="1.0" encoding="utf-8"?>
<p:tagLst xmlns:a="http://schemas.openxmlformats.org/drawingml/2006/main" xmlns:r="http://schemas.openxmlformats.org/officeDocument/2006/relationships" xmlns:p="http://schemas.openxmlformats.org/presentationml/2006/main">
  <p:tag name="THINKCELLSHAPEDONOTDELETE" val="tvkQZ5DOBk9CkiBwJs4Ecdw"/>
</p:tagLst>
</file>

<file path=ppt/tags/tag462.xml><?xml version="1.0" encoding="utf-8"?>
<p:tagLst xmlns:a="http://schemas.openxmlformats.org/drawingml/2006/main" xmlns:r="http://schemas.openxmlformats.org/officeDocument/2006/relationships" xmlns:p="http://schemas.openxmlformats.org/presentationml/2006/main">
  <p:tag name="THINKCELLSHAPEDONOTDELETE" val="tIsEfmVHqt9Qr8N783Tjz0A"/>
</p:tagLst>
</file>

<file path=ppt/tags/tag463.xml><?xml version="1.0" encoding="utf-8"?>
<p:tagLst xmlns:a="http://schemas.openxmlformats.org/drawingml/2006/main" xmlns:r="http://schemas.openxmlformats.org/officeDocument/2006/relationships" xmlns:p="http://schemas.openxmlformats.org/presentationml/2006/main">
  <p:tag name="THINKCELLSHAPEDONOTDELETE" val="t9.toklwARbgWK7rHSdTwaA"/>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tvdqAwhFmQGPNu.rj0jy07w"/>
</p:tagLst>
</file>

<file path=ppt/tags/tag465.xml><?xml version="1.0" encoding="utf-8"?>
<p:tagLst xmlns:a="http://schemas.openxmlformats.org/drawingml/2006/main" xmlns:r="http://schemas.openxmlformats.org/officeDocument/2006/relationships" xmlns:p="http://schemas.openxmlformats.org/presentationml/2006/main">
  <p:tag name="THINKCELLSHAPEDONOTDELETE" val="t.paMOwPhqUB8fQX1RNQZjg"/>
</p:tagLst>
</file>

<file path=ppt/tags/tag466.xml><?xml version="1.0" encoding="utf-8"?>
<p:tagLst xmlns:a="http://schemas.openxmlformats.org/drawingml/2006/main" xmlns:r="http://schemas.openxmlformats.org/officeDocument/2006/relationships" xmlns:p="http://schemas.openxmlformats.org/presentationml/2006/main">
  <p:tag name="THINKCELLSHAPEDONOTDELETE" val="t9OkIA.J7lDYtH.BJVxOxJQ"/>
</p:tagLst>
</file>

<file path=ppt/tags/tag467.xml><?xml version="1.0" encoding="utf-8"?>
<p:tagLst xmlns:a="http://schemas.openxmlformats.org/drawingml/2006/main" xmlns:r="http://schemas.openxmlformats.org/officeDocument/2006/relationships" xmlns:p="http://schemas.openxmlformats.org/presentationml/2006/main">
  <p:tag name="THINKCELLSHAPEDONOTDELETE" val="tbgPMdmPIXCjMNZ3NdgEhMQ"/>
</p:tagLst>
</file>

<file path=ppt/tags/tag468.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1.xml><?xml version="1.0" encoding="utf-8"?>
<p:tagLst xmlns:a="http://schemas.openxmlformats.org/drawingml/2006/main" xmlns:r="http://schemas.openxmlformats.org/officeDocument/2006/relationships" xmlns:p="http://schemas.openxmlformats.org/presentationml/2006/main">
  <p:tag name="SHAPENAME" val="3. Subtitle"/>
</p:tagLst>
</file>

<file path=ppt/tags/tag47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3.xml><?xml version="1.0" encoding="utf-8"?>
<p:tagLst xmlns:a="http://schemas.openxmlformats.org/drawingml/2006/main" xmlns:r="http://schemas.openxmlformats.org/officeDocument/2006/relationships" xmlns:p="http://schemas.openxmlformats.org/presentationml/2006/main">
  <p:tag name="THINKCELLSHAPEDONOTDELETE" val="t62JDQpsr58yT4KJNdUaFHg"/>
</p:tagLst>
</file>

<file path=ppt/tags/tag474.xml><?xml version="1.0" encoding="utf-8"?>
<p:tagLst xmlns:a="http://schemas.openxmlformats.org/drawingml/2006/main" xmlns:r="http://schemas.openxmlformats.org/officeDocument/2006/relationships" xmlns:p="http://schemas.openxmlformats.org/presentationml/2006/main">
  <p:tag name="THINKCELLSHAPEDONOTDELETE" val="tuJfPFXSOxZoO2UQ9h3Bm1Q"/>
</p:tagLst>
</file>

<file path=ppt/tags/tag475.xml><?xml version="1.0" encoding="utf-8"?>
<p:tagLst xmlns:a="http://schemas.openxmlformats.org/drawingml/2006/main" xmlns:r="http://schemas.openxmlformats.org/officeDocument/2006/relationships" xmlns:p="http://schemas.openxmlformats.org/presentationml/2006/main">
  <p:tag name="THINKCELLSHAPEDONOTDELETE" val="tRqg5RFgpwFazBSpTuTkEsQ"/>
</p:tagLst>
</file>

<file path=ppt/tags/tag476.xml><?xml version="1.0" encoding="utf-8"?>
<p:tagLst xmlns:a="http://schemas.openxmlformats.org/drawingml/2006/main" xmlns:r="http://schemas.openxmlformats.org/officeDocument/2006/relationships" xmlns:p="http://schemas.openxmlformats.org/presentationml/2006/main">
  <p:tag name="THINKCELLSHAPEDONOTDELETE" val="t9R96NjvIpVFYLoG_nxo.1Q"/>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ObtfnxktOc28PE1T4nEOrQ"/>
</p:tagLst>
</file>

<file path=ppt/tags/tag478.xml><?xml version="1.0" encoding="utf-8"?>
<p:tagLst xmlns:a="http://schemas.openxmlformats.org/drawingml/2006/main" xmlns:r="http://schemas.openxmlformats.org/officeDocument/2006/relationships" xmlns:p="http://schemas.openxmlformats.org/presentationml/2006/main">
  <p:tag name="THINKCELLSHAPEDONOTDELETE" val="tRD31rOLHWnCg8r2NXWv.QA"/>
</p:tagLst>
</file>

<file path=ppt/tags/tag479.xml><?xml version="1.0" encoding="utf-8"?>
<p:tagLst xmlns:a="http://schemas.openxmlformats.org/drawingml/2006/main" xmlns:r="http://schemas.openxmlformats.org/officeDocument/2006/relationships" xmlns:p="http://schemas.openxmlformats.org/presentationml/2006/main">
  <p:tag name="THINKCELLSHAPEDONOTDELETE" val="t54kBsH4eZCZhaRO1kgyK4Q"/>
</p:tagLst>
</file>

<file path=ppt/tags/tag480.xml><?xml version="1.0" encoding="utf-8"?>
<p:tagLst xmlns:a="http://schemas.openxmlformats.org/drawingml/2006/main" xmlns:r="http://schemas.openxmlformats.org/officeDocument/2006/relationships" xmlns:p="http://schemas.openxmlformats.org/presentationml/2006/main">
  <p:tag name="THINKCELLSHAPEDONOTDELETE" val="txAo5LFE9V_iprlBru2FZmw"/>
</p:tagLst>
</file>

<file path=ppt/tags/tag481.xml><?xml version="1.0" encoding="utf-8"?>
<p:tagLst xmlns:a="http://schemas.openxmlformats.org/drawingml/2006/main" xmlns:r="http://schemas.openxmlformats.org/officeDocument/2006/relationships" xmlns:p="http://schemas.openxmlformats.org/presentationml/2006/main">
  <p:tag name="THINKCELLSHAPEDONOTDELETE" val="tcjtZoOPNJ4ddHASrJRm1tg"/>
</p:tagLst>
</file>

<file path=ppt/tags/tag482.xml><?xml version="1.0" encoding="utf-8"?>
<p:tagLst xmlns:a="http://schemas.openxmlformats.org/drawingml/2006/main" xmlns:r="http://schemas.openxmlformats.org/officeDocument/2006/relationships" xmlns:p="http://schemas.openxmlformats.org/presentationml/2006/main">
  <p:tag name="THINKCELLSHAPEDONOTDELETE" val="tVG.h7ldGmhKaSZkeroxxxg"/>
</p:tagLst>
</file>

<file path=ppt/tags/tag483.xml><?xml version="1.0" encoding="utf-8"?>
<p:tagLst xmlns:a="http://schemas.openxmlformats.org/drawingml/2006/main" xmlns:r="http://schemas.openxmlformats.org/officeDocument/2006/relationships" xmlns:p="http://schemas.openxmlformats.org/presentationml/2006/main">
  <p:tag name="THINKCELLSHAPEDONOTDELETE" val="tzs3Ak5KZCOb57wFzaHTL1Q"/>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t1VQpE8HrJRbaWpr9phIZ_g"/>
</p:tagLst>
</file>

<file path=ppt/tags/tag485.xml><?xml version="1.0" encoding="utf-8"?>
<p:tagLst xmlns:a="http://schemas.openxmlformats.org/drawingml/2006/main" xmlns:r="http://schemas.openxmlformats.org/officeDocument/2006/relationships" xmlns:p="http://schemas.openxmlformats.org/presentationml/2006/main">
  <p:tag name="THINKCELLSHAPEDONOTDELETE" val="tw0A.6NHVQC2uSqiNuY3J2g"/>
</p:tagLst>
</file>

<file path=ppt/tags/tag486.xml><?xml version="1.0" encoding="utf-8"?>
<p:tagLst xmlns:a="http://schemas.openxmlformats.org/drawingml/2006/main" xmlns:r="http://schemas.openxmlformats.org/officeDocument/2006/relationships" xmlns:p="http://schemas.openxmlformats.org/presentationml/2006/main">
  <p:tag name="THINKCELLSHAPEDONOTDELETE" val="tCvJxImdvpkCbz3NOKAww5g"/>
</p:tagLst>
</file>

<file path=ppt/tags/tag487.xml><?xml version="1.0" encoding="utf-8"?>
<p:tagLst xmlns:a="http://schemas.openxmlformats.org/drawingml/2006/main" xmlns:r="http://schemas.openxmlformats.org/officeDocument/2006/relationships" xmlns:p="http://schemas.openxmlformats.org/presentationml/2006/main">
  <p:tag name="THINKCELLSHAPEDONOTDELETE" val="ti.yUJnUNqJsvDXIoVWTvIg"/>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QxgBMOBiEZ7D0aZROS0M8w"/>
</p:tagLst>
</file>

<file path=ppt/tags/tag489.xml><?xml version="1.0" encoding="utf-8"?>
<p:tagLst xmlns:a="http://schemas.openxmlformats.org/drawingml/2006/main" xmlns:r="http://schemas.openxmlformats.org/officeDocument/2006/relationships" xmlns:p="http://schemas.openxmlformats.org/presentationml/2006/main">
  <p:tag name="THINKCELLSHAPEDONOTDELETE" val="tLlG2JGpqg.zl3rvK7DhpNQ"/>
</p:tagLst>
</file>

<file path=ppt/tags/tag490.xml><?xml version="1.0" encoding="utf-8"?>
<p:tagLst xmlns:a="http://schemas.openxmlformats.org/drawingml/2006/main" xmlns:r="http://schemas.openxmlformats.org/officeDocument/2006/relationships" xmlns:p="http://schemas.openxmlformats.org/presentationml/2006/main">
  <p:tag name="THINKCELLSHAPEDONOTDELETE" val="tQOieFAXuINIq0N3.J9I0GA"/>
</p:tagLst>
</file>

<file path=ppt/tags/tag491.xml><?xml version="1.0" encoding="utf-8"?>
<p:tagLst xmlns:a="http://schemas.openxmlformats.org/drawingml/2006/main" xmlns:r="http://schemas.openxmlformats.org/officeDocument/2006/relationships" xmlns:p="http://schemas.openxmlformats.org/presentationml/2006/main">
  <p:tag name="THINKCELLSHAPEDONOTDELETE" val="tpwrHWz69D4YB9uFNIG7LDg"/>
</p:tagLst>
</file>

<file path=ppt/tags/tag492.xml><?xml version="1.0" encoding="utf-8"?>
<p:tagLst xmlns:a="http://schemas.openxmlformats.org/drawingml/2006/main" xmlns:r="http://schemas.openxmlformats.org/officeDocument/2006/relationships" xmlns:p="http://schemas.openxmlformats.org/presentationml/2006/main">
  <p:tag name="THINKCELLSHAPEDONOTDELETE" val="tH.ZhY1eMJyHuuTxr4WjkDg"/>
</p:tagLst>
</file>

<file path=ppt/tags/tag493.xml><?xml version="1.0" encoding="utf-8"?>
<p:tagLst xmlns:a="http://schemas.openxmlformats.org/drawingml/2006/main" xmlns:r="http://schemas.openxmlformats.org/officeDocument/2006/relationships" xmlns:p="http://schemas.openxmlformats.org/presentationml/2006/main">
  <p:tag name="THINKCELLSHAPEDONOTDELETE" val="tS9L8.CYe5cj6x4pVZ2Q1PQ"/>
</p:tagLst>
</file>

<file path=ppt/tags/tag494.xml><?xml version="1.0" encoding="utf-8"?>
<p:tagLst xmlns:a="http://schemas.openxmlformats.org/drawingml/2006/main" xmlns:r="http://schemas.openxmlformats.org/officeDocument/2006/relationships" xmlns:p="http://schemas.openxmlformats.org/presentationml/2006/main">
  <p:tag name="THINKCELLSHAPEDONOTDELETE" val="tnG0DLv5VhqsDGARtI51Efw"/>
</p:tagLst>
</file>

<file path=ppt/tags/tag495.xml><?xml version="1.0" encoding="utf-8"?>
<p:tagLst xmlns:a="http://schemas.openxmlformats.org/drawingml/2006/main" xmlns:r="http://schemas.openxmlformats.org/officeDocument/2006/relationships" xmlns:p="http://schemas.openxmlformats.org/presentationml/2006/main">
  <p:tag name="THINKCELLSHAPEDONOTDELETE" val="taJCxZGvXw3Kc.dd7LsRUaA"/>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Lz8jakvz8BwErzPfYsqKwA"/>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tsVDHAuyUQhAHpuRZlHot3A"/>
</p:tagLst>
</file>

<file path=ppt/tags/tag498.xml><?xml version="1.0" encoding="utf-8"?>
<p:tagLst xmlns:a="http://schemas.openxmlformats.org/drawingml/2006/main" xmlns:r="http://schemas.openxmlformats.org/officeDocument/2006/relationships" xmlns:p="http://schemas.openxmlformats.org/presentationml/2006/main">
  <p:tag name="THINKCELLSHAPEDONOTDELETE" val="tGiAHMcbXWhfKvHh4SDAygA"/>
</p:tagLst>
</file>

<file path=ppt/tags/tag499.xml><?xml version="1.0" encoding="utf-8"?>
<p:tagLst xmlns:a="http://schemas.openxmlformats.org/drawingml/2006/main" xmlns:r="http://schemas.openxmlformats.org/officeDocument/2006/relationships" xmlns:p="http://schemas.openxmlformats.org/presentationml/2006/main">
  <p:tag name="THINKCELLSHAPEDONOTDELETE" val="trbYpCht_DpBJiwOgYPlYyQ"/>
</p:tagLst>
</file>

<file path=ppt/tags/tag500.xml><?xml version="1.0" encoding="utf-8"?>
<p:tagLst xmlns:a="http://schemas.openxmlformats.org/drawingml/2006/main" xmlns:r="http://schemas.openxmlformats.org/officeDocument/2006/relationships" xmlns:p="http://schemas.openxmlformats.org/presentationml/2006/main">
  <p:tag name="THINKCELLSHAPEDONOTDELETE" val="td1LaGD58DccTp_wCCKIcZw"/>
</p:tagLst>
</file>

<file path=ppt/tags/tag501.xml><?xml version="1.0" encoding="utf-8"?>
<p:tagLst xmlns:a="http://schemas.openxmlformats.org/drawingml/2006/main" xmlns:r="http://schemas.openxmlformats.org/officeDocument/2006/relationships" xmlns:p="http://schemas.openxmlformats.org/presentationml/2006/main">
  <p:tag name="THINKCELLSHAPEDONOTDELETE" val="t88hL3mkEXU2aa95YSD09sw"/>
</p:tagLst>
</file>

<file path=ppt/tags/tag502.xml><?xml version="1.0" encoding="utf-8"?>
<p:tagLst xmlns:a="http://schemas.openxmlformats.org/drawingml/2006/main" xmlns:r="http://schemas.openxmlformats.org/officeDocument/2006/relationships" xmlns:p="http://schemas.openxmlformats.org/presentationml/2006/main">
  <p:tag name="THINKCELLSHAPEDONOTDELETE" val="tqKgroKYTWvCs6eouJk.cWg"/>
</p:tagLst>
</file>

<file path=ppt/tags/tag503.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5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5.xml><?xml version="1.0" encoding="utf-8"?>
<p:tagLst xmlns:a="http://schemas.openxmlformats.org/drawingml/2006/main" xmlns:r="http://schemas.openxmlformats.org/officeDocument/2006/relationships" xmlns:p="http://schemas.openxmlformats.org/presentationml/2006/main">
  <p:tag name="SHAPENAME" val="3. Subtitle"/>
</p:tagLst>
</file>

<file path=ppt/tags/tag5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07.xml><?xml version="1.0" encoding="utf-8"?>
<p:tagLst xmlns:a="http://schemas.openxmlformats.org/drawingml/2006/main" xmlns:r="http://schemas.openxmlformats.org/officeDocument/2006/relationships" xmlns:p="http://schemas.openxmlformats.org/presentationml/2006/main">
  <p:tag name="HEIGHT" val="16.96409"/>
  <p:tag name="LEFT" val="67.41763"/>
  <p:tag name="MTNUMBER" val="0.990480823903569"/>
  <p:tag name="MTTABLE" val="Cell"/>
  <p:tag name="TOP" val="149.3331"/>
  <p:tag name="WIDTH" val="157.7215"/>
</p:tagLst>
</file>

<file path=ppt/tags/tag508.xml><?xml version="1.0" encoding="utf-8"?>
<p:tagLst xmlns:a="http://schemas.openxmlformats.org/drawingml/2006/main" xmlns:r="http://schemas.openxmlformats.org/officeDocument/2006/relationships" xmlns:p="http://schemas.openxmlformats.org/presentationml/2006/main">
  <p:tag name="HEIGHT" val="59.52492"/>
  <p:tag name="LEFT" val="67.41763"/>
  <p:tag name="MTNUMBER" val="0.990480823903569"/>
  <p:tag name="MTTABLE" val="Cell"/>
  <p:tag name="TOP" val="176.2972"/>
  <p:tag name="WIDTH" val="157.7215"/>
</p:tagLst>
</file>

<file path=ppt/tags/tag509.xml><?xml version="1.0" encoding="utf-8"?>
<p:tagLst xmlns:a="http://schemas.openxmlformats.org/drawingml/2006/main" xmlns:r="http://schemas.openxmlformats.org/officeDocument/2006/relationships" xmlns:p="http://schemas.openxmlformats.org/presentationml/2006/main">
  <p:tag name="HEIGHT" val="59.52492"/>
  <p:tag name="LEFT" val="67.41763"/>
  <p:tag name="MTNUMBER" val="0.990480823903569"/>
  <p:tag name="MTTABLE" val="Cell"/>
  <p:tag name="TOP" val="315.3471"/>
  <p:tag name="WIDTH" val="157.7215"/>
</p:tagLst>
</file>

<file path=ppt/tags/tag510.xml><?xml version="1.0" encoding="utf-8"?>
<p:tagLst xmlns:a="http://schemas.openxmlformats.org/drawingml/2006/main" xmlns:r="http://schemas.openxmlformats.org/officeDocument/2006/relationships" xmlns:p="http://schemas.openxmlformats.org/presentationml/2006/main">
  <p:tag name="HEIGHT" val="59.52492"/>
  <p:tag name="LEFT" val="67.41763"/>
  <p:tag name="MTNUMBER" val="0.990480823903569"/>
  <p:tag name="MTTABLE" val="Cell"/>
  <p:tag name="TOP" val="384.872"/>
  <p:tag name="WIDTH" val="157.7215"/>
</p:tagLst>
</file>

<file path=ppt/tags/tag511.xml><?xml version="1.0" encoding="utf-8"?>
<p:tagLst xmlns:a="http://schemas.openxmlformats.org/drawingml/2006/main" xmlns:r="http://schemas.openxmlformats.org/officeDocument/2006/relationships" xmlns:p="http://schemas.openxmlformats.org/presentationml/2006/main">
  <p:tag name="HEIGHT" val="16.96409"/>
  <p:tag name="LEFT" val="245.1391"/>
  <p:tag name="MTNUMBER" val="0.990480823903569"/>
  <p:tag name="MTTABLE" val="Cell"/>
  <p:tag name="TOP" val="149.3331"/>
  <p:tag name="WIDTH" val="157.7215"/>
</p:tagLst>
</file>

<file path=ppt/tags/tag512.xml><?xml version="1.0" encoding="utf-8"?>
<p:tagLst xmlns:a="http://schemas.openxmlformats.org/drawingml/2006/main" xmlns:r="http://schemas.openxmlformats.org/officeDocument/2006/relationships" xmlns:p="http://schemas.openxmlformats.org/presentationml/2006/main">
  <p:tag name="HEIGHT" val="59.52492"/>
  <p:tag name="LEFT" val="245.1391"/>
  <p:tag name="MTNUMBER" val="0.990480823903569"/>
  <p:tag name="MTTABLE" val="Cell"/>
  <p:tag name="TOP" val="176.2972"/>
  <p:tag name="WIDTH" val="157.7215"/>
</p:tagLst>
</file>

<file path=ppt/tags/tag513.xml><?xml version="1.0" encoding="utf-8"?>
<p:tagLst xmlns:a="http://schemas.openxmlformats.org/drawingml/2006/main" xmlns:r="http://schemas.openxmlformats.org/officeDocument/2006/relationships" xmlns:p="http://schemas.openxmlformats.org/presentationml/2006/main">
  <p:tag name="HEIGHT" val="59.52492"/>
  <p:tag name="LEFT" val="245.1391"/>
  <p:tag name="MTNUMBER" val="0.990480823903569"/>
  <p:tag name="MTTABLE" val="Cell"/>
  <p:tag name="TOP" val="315.3471"/>
  <p:tag name="WIDTH" val="157.7215"/>
</p:tagLst>
</file>

<file path=ppt/tags/tag514.xml><?xml version="1.0" encoding="utf-8"?>
<p:tagLst xmlns:a="http://schemas.openxmlformats.org/drawingml/2006/main" xmlns:r="http://schemas.openxmlformats.org/officeDocument/2006/relationships" xmlns:p="http://schemas.openxmlformats.org/presentationml/2006/main">
  <p:tag name="HEIGHT" val="59.52492"/>
  <p:tag name="LEFT" val="245.1391"/>
  <p:tag name="MTNUMBER" val="0.990480823903569"/>
  <p:tag name="MTTABLE" val="Cell"/>
  <p:tag name="TOP" val="384.872"/>
  <p:tag name="WIDTH" val="157.7215"/>
</p:tagLst>
</file>

<file path=ppt/tags/tag515.xml><?xml version="1.0" encoding="utf-8"?>
<p:tagLst xmlns:a="http://schemas.openxmlformats.org/drawingml/2006/main" xmlns:r="http://schemas.openxmlformats.org/officeDocument/2006/relationships" xmlns:p="http://schemas.openxmlformats.org/presentationml/2006/main">
  <p:tag name="HEIGHT" val="16.96409"/>
  <p:tag name="LEFT" val="422.8607"/>
  <p:tag name="MTNUMBER" val="0.990480823903569"/>
  <p:tag name="MTTABLE" val="Cell"/>
  <p:tag name="TOP" val="149.3331"/>
  <p:tag name="WIDTH" val="157.7215"/>
</p:tagLst>
</file>

<file path=ppt/tags/tag516.xml><?xml version="1.0" encoding="utf-8"?>
<p:tagLst xmlns:a="http://schemas.openxmlformats.org/drawingml/2006/main" xmlns:r="http://schemas.openxmlformats.org/officeDocument/2006/relationships" xmlns:p="http://schemas.openxmlformats.org/presentationml/2006/main">
  <p:tag name="HEIGHT" val="59.52492"/>
  <p:tag name="LEFT" val="422.8607"/>
  <p:tag name="MTNUMBER" val="0.990480823903569"/>
  <p:tag name="MTTABLE" val="Cell"/>
  <p:tag name="TOP" val="176.2972"/>
  <p:tag name="WIDTH" val="157.7215"/>
</p:tagLst>
</file>

<file path=ppt/tags/tag517.xml><?xml version="1.0" encoding="utf-8"?>
<p:tagLst xmlns:a="http://schemas.openxmlformats.org/drawingml/2006/main" xmlns:r="http://schemas.openxmlformats.org/officeDocument/2006/relationships" xmlns:p="http://schemas.openxmlformats.org/presentationml/2006/main">
  <p:tag name="HEIGHT" val="59.52492"/>
  <p:tag name="LEFT" val="422.8607"/>
  <p:tag name="MTNUMBER" val="0.990480823903569"/>
  <p:tag name="MTTABLE" val="Cell"/>
  <p:tag name="TOP" val="315.3471"/>
  <p:tag name="WIDTH" val="157.7215"/>
</p:tagLst>
</file>

<file path=ppt/tags/tag518.xml><?xml version="1.0" encoding="utf-8"?>
<p:tagLst xmlns:a="http://schemas.openxmlformats.org/drawingml/2006/main" xmlns:r="http://schemas.openxmlformats.org/officeDocument/2006/relationships" xmlns:p="http://schemas.openxmlformats.org/presentationml/2006/main">
  <p:tag name="HEIGHT" val="59.52492"/>
  <p:tag name="LEFT" val="422.8607"/>
  <p:tag name="MTNUMBER" val="0.990480823903569"/>
  <p:tag name="MTTABLE" val="Cell"/>
  <p:tag name="TOP" val="384.872"/>
  <p:tag name="WIDTH" val="157.7215"/>
</p:tagLst>
</file>

<file path=ppt/tags/tag519.xml><?xml version="1.0" encoding="utf-8"?>
<p:tagLst xmlns:a="http://schemas.openxmlformats.org/drawingml/2006/main" xmlns:r="http://schemas.openxmlformats.org/officeDocument/2006/relationships" xmlns:p="http://schemas.openxmlformats.org/presentationml/2006/main">
  <p:tag name="MTNUMBER" val="0.990480823903569"/>
  <p:tag name="MTTABLE" val="HTitleDiv"/>
</p:tagLst>
</file>

<file path=ppt/tags/tag520.xml><?xml version="1.0" encoding="utf-8"?>
<p:tagLst xmlns:a="http://schemas.openxmlformats.org/drawingml/2006/main" xmlns:r="http://schemas.openxmlformats.org/officeDocument/2006/relationships" xmlns:p="http://schemas.openxmlformats.org/presentationml/2006/main">
  <p:tag name="HEIGHT" val="59.52492"/>
  <p:tag name="LEFT" val="245.1391"/>
  <p:tag name="MTNUMBER" val="0.990480823903569"/>
  <p:tag name="MTTABLE" val="Cell"/>
  <p:tag name="TOP" val="245.8221"/>
  <p:tag name="WIDTH" val="157.7215"/>
</p:tagLst>
</file>

<file path=ppt/tags/tag521.xml><?xml version="1.0" encoding="utf-8"?>
<p:tagLst xmlns:a="http://schemas.openxmlformats.org/drawingml/2006/main" xmlns:r="http://schemas.openxmlformats.org/officeDocument/2006/relationships" xmlns:p="http://schemas.openxmlformats.org/presentationml/2006/main">
  <p:tag name="HEIGHT" val="59.52492"/>
  <p:tag name="LEFT" val="422.8607"/>
  <p:tag name="MTNUMBER" val="0.990480823903569"/>
  <p:tag name="MTTABLE" val="Cell"/>
  <p:tag name="TOP" val="245.8221"/>
  <p:tag name="WIDTH" val="157.7215"/>
</p:tagLst>
</file>

<file path=ppt/tags/tag52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2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2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25.xml><?xml version="1.0" encoding="utf-8"?>
<p:tagLst xmlns:a="http://schemas.openxmlformats.org/drawingml/2006/main" xmlns:r="http://schemas.openxmlformats.org/officeDocument/2006/relationships" xmlns:p="http://schemas.openxmlformats.org/presentationml/2006/main">
  <p:tag name="NAME" val="TrackerNumBlue"/>
</p:tagLst>
</file>

<file path=ppt/tags/tag526.xml><?xml version="1.0" encoding="utf-8"?>
<p:tagLst xmlns:a="http://schemas.openxmlformats.org/drawingml/2006/main" xmlns:r="http://schemas.openxmlformats.org/officeDocument/2006/relationships" xmlns:p="http://schemas.openxmlformats.org/presentationml/2006/main">
  <p:tag name="HEIGHT" val="59.52492"/>
  <p:tag name="LEFT" val="67.41763"/>
  <p:tag name="MTNUMBER" val="0.990480823903569"/>
  <p:tag name="MTTABLE" val="Cell"/>
  <p:tag name="TOP" val="245.8221"/>
  <p:tag name="WIDTH" val="157.7215"/>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29.xml><?xml version="1.0" encoding="utf-8"?>
<p:tagLst xmlns:a="http://schemas.openxmlformats.org/drawingml/2006/main" xmlns:r="http://schemas.openxmlformats.org/officeDocument/2006/relationships" xmlns:p="http://schemas.openxmlformats.org/presentationml/2006/main">
  <p:tag name="NAME" val="TrackerNumBlue"/>
</p:tagLst>
</file>

<file path=ppt/tags/tag53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3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3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3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3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3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3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37.xml><?xml version="1.0" encoding="utf-8"?>
<p:tagLst xmlns:a="http://schemas.openxmlformats.org/drawingml/2006/main" xmlns:r="http://schemas.openxmlformats.org/officeDocument/2006/relationships" xmlns:p="http://schemas.openxmlformats.org/presentationml/2006/main">
  <p:tag name="CIRCLESTATUS" val="White"/>
  <p:tag name="NAME" val="AsteriskWhite"/>
  <p:tag name="SYMBOLNAME" val="Asterisk"/>
</p:tagLst>
</file>

<file path=ppt/tags/tag538.xml><?xml version="1.0" encoding="utf-8"?>
<p:tagLst xmlns:a="http://schemas.openxmlformats.org/drawingml/2006/main" xmlns:r="http://schemas.openxmlformats.org/officeDocument/2006/relationships" xmlns:p="http://schemas.openxmlformats.org/presentationml/2006/main">
  <p:tag name="CIRCLESTATUS" val="White"/>
  <p:tag name="NAME" val="AsteriskWhite"/>
  <p:tag name="SYMBOLNAME" val="Asterisk"/>
</p:tagLst>
</file>

<file path=ppt/tags/tag539.xml><?xml version="1.0" encoding="utf-8"?>
<p:tagLst xmlns:a="http://schemas.openxmlformats.org/drawingml/2006/main" xmlns:r="http://schemas.openxmlformats.org/officeDocument/2006/relationships" xmlns:p="http://schemas.openxmlformats.org/presentationml/2006/main">
  <p:tag name="CIRCLESTATUS" val="White"/>
  <p:tag name="NAME" val="AsteriskWhite"/>
  <p:tag name="SYMBOLNAME" val="Asterisk"/>
</p:tagLst>
</file>

<file path=ppt/tags/tag540.xml><?xml version="1.0" encoding="utf-8"?>
<p:tagLst xmlns:a="http://schemas.openxmlformats.org/drawingml/2006/main" xmlns:r="http://schemas.openxmlformats.org/officeDocument/2006/relationships" xmlns:p="http://schemas.openxmlformats.org/presentationml/2006/main">
  <p:tag name="CIRCLESTATUS" val="White"/>
  <p:tag name="NAME" val="AsteriskWhite"/>
  <p:tag name="SYMBOLNAME" val="Asterisk"/>
</p:tagLst>
</file>

<file path=ppt/tags/tag54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4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47.xml><?xml version="1.0" encoding="utf-8"?>
<p:tagLst xmlns:a="http://schemas.openxmlformats.org/drawingml/2006/main" xmlns:r="http://schemas.openxmlformats.org/officeDocument/2006/relationships" xmlns:p="http://schemas.openxmlformats.org/presentationml/2006/main">
  <p:tag name="NAME" val="TrackerNumBlue"/>
</p:tagLst>
</file>

<file path=ppt/tags/tag548.xml><?xml version="1.0" encoding="utf-8"?>
<p:tagLst xmlns:a="http://schemas.openxmlformats.org/drawingml/2006/main" xmlns:r="http://schemas.openxmlformats.org/officeDocument/2006/relationships" xmlns:p="http://schemas.openxmlformats.org/presentationml/2006/main">
  <p:tag name="NAME" val="LineBasicStrong"/>
</p:tagLst>
</file>

<file path=ppt/tags/tag54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1.xml><?xml version="1.0" encoding="utf-8"?>
<p:tagLst xmlns:a="http://schemas.openxmlformats.org/drawingml/2006/main" xmlns:r="http://schemas.openxmlformats.org/officeDocument/2006/relationships" xmlns:p="http://schemas.openxmlformats.org/presentationml/2006/main">
  <p:tag name="SHAPENAME" val="4. Footnote"/>
</p:tagLst>
</file>

<file path=ppt/tags/tag562.xml><?xml version="1.0" encoding="utf-8"?>
<p:tagLst xmlns:a="http://schemas.openxmlformats.org/drawingml/2006/main" xmlns:r="http://schemas.openxmlformats.org/officeDocument/2006/relationships" xmlns:p="http://schemas.openxmlformats.org/presentationml/2006/main">
  <p:tag name="NAME" val="TrackerNumBlue"/>
</p:tagLst>
</file>

<file path=ppt/tags/tag563.xml><?xml version="1.0" encoding="utf-8"?>
<p:tagLst xmlns:a="http://schemas.openxmlformats.org/drawingml/2006/main" xmlns:r="http://schemas.openxmlformats.org/officeDocument/2006/relationships" xmlns:p="http://schemas.openxmlformats.org/presentationml/2006/main">
  <p:tag name="THINKCELLSHAPEDONOTDELETE" val="tH8qfiw7tZNprt3jIuIgfLA"/>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t9SvAEzb832GqM2Bo_OiMRA"/>
</p:tagLst>
</file>

<file path=ppt/tags/tag565.xml><?xml version="1.0" encoding="utf-8"?>
<p:tagLst xmlns:a="http://schemas.openxmlformats.org/drawingml/2006/main" xmlns:r="http://schemas.openxmlformats.org/officeDocument/2006/relationships" xmlns:p="http://schemas.openxmlformats.org/presentationml/2006/main">
  <p:tag name="THINKCELLSHAPEDONOTDELETE" val="tm61svHuZAqhwZ3q6qezgnQ"/>
</p:tagLst>
</file>

<file path=ppt/tags/tag566.xml><?xml version="1.0" encoding="utf-8"?>
<p:tagLst xmlns:a="http://schemas.openxmlformats.org/drawingml/2006/main" xmlns:r="http://schemas.openxmlformats.org/officeDocument/2006/relationships" xmlns:p="http://schemas.openxmlformats.org/presentationml/2006/main">
  <p:tag name="THINKCELLSHAPEDONOTDELETE" val="tRQ.26IbUtDv8a_AS1xwm9Q"/>
</p:tagLst>
</file>

<file path=ppt/tags/tag567.xml><?xml version="1.0" encoding="utf-8"?>
<p:tagLst xmlns:a="http://schemas.openxmlformats.org/drawingml/2006/main" xmlns:r="http://schemas.openxmlformats.org/officeDocument/2006/relationships" xmlns:p="http://schemas.openxmlformats.org/presentationml/2006/main">
  <p:tag name="THINKCELLSHAPEDONOTDELETE" val="tzBSiYoOuX_kKu5NPYd6OSg"/>
</p:tagLst>
</file>

<file path=ppt/tags/tag568.xml><?xml version="1.0" encoding="utf-8"?>
<p:tagLst xmlns:a="http://schemas.openxmlformats.org/drawingml/2006/main" xmlns:r="http://schemas.openxmlformats.org/officeDocument/2006/relationships" xmlns:p="http://schemas.openxmlformats.org/presentationml/2006/main">
  <p:tag name="THINKCELLSHAPEDONOTDELETE" val="t_CrpIJ6lWjxsJnJvB9uyig"/>
</p:tagLst>
</file>

<file path=ppt/tags/tag569.xml><?xml version="1.0" encoding="utf-8"?>
<p:tagLst xmlns:a="http://schemas.openxmlformats.org/drawingml/2006/main" xmlns:r="http://schemas.openxmlformats.org/officeDocument/2006/relationships" xmlns:p="http://schemas.openxmlformats.org/presentationml/2006/main">
  <p:tag name="THINKCELLSHAPEDONOTDELETE" val="taZKP1AdA_mdHrE1mJSaRqw"/>
</p:tagLst>
</file>

<file path=ppt/tags/tag570.xml><?xml version="1.0" encoding="utf-8"?>
<p:tagLst xmlns:a="http://schemas.openxmlformats.org/drawingml/2006/main" xmlns:r="http://schemas.openxmlformats.org/officeDocument/2006/relationships" xmlns:p="http://schemas.openxmlformats.org/presentationml/2006/main">
  <p:tag name="THINKCELLSHAPEDONOTDELETE" val="t1DbIFWOs2jO8ZmufxKEx9g"/>
</p:tagLst>
</file>

<file path=ppt/tags/tag571.xml><?xml version="1.0" encoding="utf-8"?>
<p:tagLst xmlns:a="http://schemas.openxmlformats.org/drawingml/2006/main" xmlns:r="http://schemas.openxmlformats.org/officeDocument/2006/relationships" xmlns:p="http://schemas.openxmlformats.org/presentationml/2006/main">
  <p:tag name="THINKCELLSHAPEDONOTDELETE" val="t.Jygn9Zk7LbBp2_DnjbYLg"/>
</p:tagLst>
</file>

<file path=ppt/tags/tag572.xml><?xml version="1.0" encoding="utf-8"?>
<p:tagLst xmlns:a="http://schemas.openxmlformats.org/drawingml/2006/main" xmlns:r="http://schemas.openxmlformats.org/officeDocument/2006/relationships" xmlns:p="http://schemas.openxmlformats.org/presentationml/2006/main">
  <p:tag name="THINKCELLSHAPEDONOTDELETE" val="tSrw9PTecFLdlaVxkCn8ijQ"/>
</p:tagLst>
</file>

<file path=ppt/tags/tag573.xml><?xml version="1.0" encoding="utf-8"?>
<p:tagLst xmlns:a="http://schemas.openxmlformats.org/drawingml/2006/main" xmlns:r="http://schemas.openxmlformats.org/officeDocument/2006/relationships" xmlns:p="http://schemas.openxmlformats.org/presentationml/2006/main">
  <p:tag name="THINKCELLSHAPEDONOTDELETE" val="ts_DJyZsf5PBdIAqAJo.eQA"/>
</p:tagLst>
</file>

<file path=ppt/tags/tag574.xml><?xml version="1.0" encoding="utf-8"?>
<p:tagLst xmlns:a="http://schemas.openxmlformats.org/drawingml/2006/main" xmlns:r="http://schemas.openxmlformats.org/officeDocument/2006/relationships" xmlns:p="http://schemas.openxmlformats.org/presentationml/2006/main">
  <p:tag name="THINKCELLSHAPEDONOTDELETE" val="tX3oU4XYluvhzZv8u0gZugg"/>
</p:tagLst>
</file>

<file path=ppt/tags/tag575.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576.xml><?xml version="1.0" encoding="utf-8"?>
<p:tagLst xmlns:a="http://schemas.openxmlformats.org/drawingml/2006/main" xmlns:r="http://schemas.openxmlformats.org/officeDocument/2006/relationships" xmlns:p="http://schemas.openxmlformats.org/presentationml/2006/main">
  <p:tag name="THINKCELLSHAPEDONOTDELETE" val="tlSE3Y2K00Mg5pd8pSXm2dA"/>
</p:tagLst>
</file>

<file path=ppt/tags/tag577.xml><?xml version="1.0" encoding="utf-8"?>
<p:tagLst xmlns:a="http://schemas.openxmlformats.org/drawingml/2006/main" xmlns:r="http://schemas.openxmlformats.org/officeDocument/2006/relationships" xmlns:p="http://schemas.openxmlformats.org/presentationml/2006/main">
  <p:tag name="THINKCELLSHAPEDONOTDELETE" val="t0yOTJL2wnwhVSH6arSHTug"/>
</p:tagLst>
</file>

<file path=ppt/tags/tag578.xml><?xml version="1.0" encoding="utf-8"?>
<p:tagLst xmlns:a="http://schemas.openxmlformats.org/drawingml/2006/main" xmlns:r="http://schemas.openxmlformats.org/officeDocument/2006/relationships" xmlns:p="http://schemas.openxmlformats.org/presentationml/2006/main">
  <p:tag name="THINKCELLSHAPEDONOTDELETE" val="t2VdKLrgtmzMM_u.c77eDOg"/>
</p:tagLst>
</file>

<file path=ppt/tags/tag579.xml><?xml version="1.0" encoding="utf-8"?>
<p:tagLst xmlns:a="http://schemas.openxmlformats.org/drawingml/2006/main" xmlns:r="http://schemas.openxmlformats.org/officeDocument/2006/relationships" xmlns:p="http://schemas.openxmlformats.org/presentationml/2006/main">
  <p:tag name="THINKCELLSHAPEDONOTDELETE" val="thM58v9ja.Q1Z_XWxhufNiQ"/>
</p:tagLst>
</file>

<file path=ppt/tags/tag580.xml><?xml version="1.0" encoding="utf-8"?>
<p:tagLst xmlns:a="http://schemas.openxmlformats.org/drawingml/2006/main" xmlns:r="http://schemas.openxmlformats.org/officeDocument/2006/relationships" xmlns:p="http://schemas.openxmlformats.org/presentationml/2006/main">
  <p:tag name="THINKCELLSHAPEDONOTDELETE" val="tx.a1eren3mAsRvNDwFpPpw"/>
</p:tagLst>
</file>

<file path=ppt/tags/tag581.xml><?xml version="1.0" encoding="utf-8"?>
<p:tagLst xmlns:a="http://schemas.openxmlformats.org/drawingml/2006/main" xmlns:r="http://schemas.openxmlformats.org/officeDocument/2006/relationships" xmlns:p="http://schemas.openxmlformats.org/presentationml/2006/main">
  <p:tag name="THINKCELLSHAPEDONOTDELETE" val="tSTVYEHVHcFXM5ZYPLr_b0Q"/>
</p:tagLst>
</file>

<file path=ppt/tags/tag582.xml><?xml version="1.0" encoding="utf-8"?>
<p:tagLst xmlns:a="http://schemas.openxmlformats.org/drawingml/2006/main" xmlns:r="http://schemas.openxmlformats.org/officeDocument/2006/relationships" xmlns:p="http://schemas.openxmlformats.org/presentationml/2006/main">
  <p:tag name="THINKCELLSHAPEDONOTDELETE" val="tkLP8N42D2ivO23ky6OB28g"/>
</p:tagLst>
</file>

<file path=ppt/tags/tag58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8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8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8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8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8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59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9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9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9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9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598.xml><?xml version="1.0" encoding="utf-8"?>
<p:tagLst xmlns:a="http://schemas.openxmlformats.org/drawingml/2006/main" xmlns:r="http://schemas.openxmlformats.org/officeDocument/2006/relationships" xmlns:p="http://schemas.openxmlformats.org/presentationml/2006/main">
  <p:tag name="NAME" val="TrackerNumBlue"/>
</p:tagLst>
</file>

<file path=ppt/tags/tag5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2.xml><?xml version="1.0" encoding="utf-8"?>
<p:tagLst xmlns:a="http://schemas.openxmlformats.org/drawingml/2006/main" xmlns:r="http://schemas.openxmlformats.org/officeDocument/2006/relationships" xmlns:p="http://schemas.openxmlformats.org/presentationml/2006/main">
  <p:tag name="NAME" val="TrackerNumBlue"/>
</p:tagLst>
</file>

<file path=ppt/tags/tag603.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04.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0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0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07.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08.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09.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10.xml><?xml version="1.0" encoding="utf-8"?>
<p:tagLst xmlns:a="http://schemas.openxmlformats.org/drawingml/2006/main" xmlns:r="http://schemas.openxmlformats.org/officeDocument/2006/relationships" xmlns:p="http://schemas.openxmlformats.org/presentationml/2006/main">
  <p:tag name="NAME" val="CustomIcon"/>
</p:tagLst>
</file>

<file path=ppt/tags/tag611.xml><?xml version="1.0" encoding="utf-8"?>
<p:tagLst xmlns:a="http://schemas.openxmlformats.org/drawingml/2006/main" xmlns:r="http://schemas.openxmlformats.org/officeDocument/2006/relationships" xmlns:p="http://schemas.openxmlformats.org/presentationml/2006/main">
  <p:tag name="NAME" val="LineBasicStrong"/>
</p:tagLst>
</file>

<file path=ppt/tags/tag612.xml><?xml version="1.0" encoding="utf-8"?>
<p:tagLst xmlns:a="http://schemas.openxmlformats.org/drawingml/2006/main" xmlns:r="http://schemas.openxmlformats.org/officeDocument/2006/relationships" xmlns:p="http://schemas.openxmlformats.org/presentationml/2006/main">
  <p:tag name="NAME" val="LineBasicStrong"/>
</p:tagLst>
</file>

<file path=ppt/tags/tag6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15.xml><?xml version="1.0" encoding="utf-8"?>
<p:tagLst xmlns:a="http://schemas.openxmlformats.org/drawingml/2006/main" xmlns:r="http://schemas.openxmlformats.org/officeDocument/2006/relationships" xmlns:p="http://schemas.openxmlformats.org/presentationml/2006/main">
  <p:tag name="NAME" val="KeyTakeawayOF"/>
</p:tagLst>
</file>

<file path=ppt/tags/tag61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9.xml><?xml version="1.0" encoding="utf-8"?>
<p:tagLst xmlns:a="http://schemas.openxmlformats.org/drawingml/2006/main" xmlns:r="http://schemas.openxmlformats.org/officeDocument/2006/relationships" xmlns:p="http://schemas.openxmlformats.org/presentationml/2006/main">
  <p:tag name="NAME" val="TrackerNumBlue"/>
</p:tagLst>
</file>

<file path=ppt/tags/tag620.xml><?xml version="1.0" encoding="utf-8"?>
<p:tagLst xmlns:a="http://schemas.openxmlformats.org/drawingml/2006/main" xmlns:r="http://schemas.openxmlformats.org/officeDocument/2006/relationships" xmlns:p="http://schemas.openxmlformats.org/presentationml/2006/main">
  <p:tag name="SHAPENAME" val="5. Source"/>
</p:tagLst>
</file>

<file path=ppt/tags/tag621.xml><?xml version="1.0" encoding="utf-8"?>
<p:tagLst xmlns:a="http://schemas.openxmlformats.org/drawingml/2006/main" xmlns:r="http://schemas.openxmlformats.org/officeDocument/2006/relationships" xmlns:p="http://schemas.openxmlformats.org/presentationml/2006/main">
  <p:tag name="SHAPENAME" val="4. Footnote"/>
</p:tagLst>
</file>

<file path=ppt/tags/tag622.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623.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624.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625.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26.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27.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28.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29.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30.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31.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32.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33.xml><?xml version="1.0" encoding="utf-8"?>
<p:tagLst xmlns:a="http://schemas.openxmlformats.org/drawingml/2006/main" xmlns:r="http://schemas.openxmlformats.org/officeDocument/2006/relationships" xmlns:p="http://schemas.openxmlformats.org/presentationml/2006/main">
  <p:tag name="CIRCLESTATUS" val="White"/>
  <p:tag name="NAME" val="CheckmarkWhite"/>
  <p:tag name="SYMBOLNAME" val="Checkmark"/>
</p:tagLst>
</file>

<file path=ppt/tags/tag634.xml><?xml version="1.0" encoding="utf-8"?>
<p:tagLst xmlns:a="http://schemas.openxmlformats.org/drawingml/2006/main" xmlns:r="http://schemas.openxmlformats.org/officeDocument/2006/relationships" xmlns:p="http://schemas.openxmlformats.org/presentationml/2006/main">
  <p:tag name="LOGOFINDERIMAGE" val="1"/>
</p:tagLst>
</file>

<file path=ppt/tags/tag635.xml><?xml version="1.0" encoding="utf-8"?>
<p:tagLst xmlns:a="http://schemas.openxmlformats.org/drawingml/2006/main" xmlns:r="http://schemas.openxmlformats.org/officeDocument/2006/relationships" xmlns:p="http://schemas.openxmlformats.org/presentationml/2006/main">
  <p:tag name="LOGOFINDERIMAGE" val="1"/>
</p:tagLst>
</file>

<file path=ppt/tags/tag636.xml><?xml version="1.0" encoding="utf-8"?>
<p:tagLst xmlns:a="http://schemas.openxmlformats.org/drawingml/2006/main" xmlns:r="http://schemas.openxmlformats.org/officeDocument/2006/relationships" xmlns:p="http://schemas.openxmlformats.org/presentationml/2006/main">
  <p:tag name="LOGOFINDERIMAGE" val="1"/>
</p:tagLst>
</file>

<file path=ppt/tags/tag637.xml><?xml version="1.0" encoding="utf-8"?>
<p:tagLst xmlns:a="http://schemas.openxmlformats.org/drawingml/2006/main" xmlns:r="http://schemas.openxmlformats.org/officeDocument/2006/relationships" xmlns:p="http://schemas.openxmlformats.org/presentationml/2006/main">
  <p:tag name="LOGOFINDERIMAGE" val="1"/>
</p:tagLst>
</file>

<file path=ppt/tags/tag638.xml><?xml version="1.0" encoding="utf-8"?>
<p:tagLst xmlns:a="http://schemas.openxmlformats.org/drawingml/2006/main" xmlns:r="http://schemas.openxmlformats.org/officeDocument/2006/relationships" xmlns:p="http://schemas.openxmlformats.org/presentationml/2006/main">
  <p:tag name="LOGOFINDERIMAGE" val="1"/>
</p:tagLst>
</file>

<file path=ppt/tags/tag639.xml><?xml version="1.0" encoding="utf-8"?>
<p:tagLst xmlns:a="http://schemas.openxmlformats.org/drawingml/2006/main" xmlns:r="http://schemas.openxmlformats.org/officeDocument/2006/relationships" xmlns:p="http://schemas.openxmlformats.org/presentationml/2006/main">
  <p:tag name="LOGOFINDERIMAGE" val="1"/>
</p:tagLst>
</file>

<file path=ppt/tags/tag640.xml><?xml version="1.0" encoding="utf-8"?>
<p:tagLst xmlns:a="http://schemas.openxmlformats.org/drawingml/2006/main" xmlns:r="http://schemas.openxmlformats.org/officeDocument/2006/relationships" xmlns:p="http://schemas.openxmlformats.org/presentationml/2006/main">
  <p:tag name="LOGOFINDERIMAGE" val="1"/>
</p:tagLst>
</file>

<file path=ppt/tags/tag641.xml><?xml version="1.0" encoding="utf-8"?>
<p:tagLst xmlns:a="http://schemas.openxmlformats.org/drawingml/2006/main" xmlns:r="http://schemas.openxmlformats.org/officeDocument/2006/relationships" xmlns:p="http://schemas.openxmlformats.org/presentationml/2006/main">
  <p:tag name="LOGOFINDERIMAGE" val="1"/>
</p:tagLst>
</file>

<file path=ppt/tags/tag6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48.xml><?xml version="1.0" encoding="utf-8"?>
<p:tagLst xmlns:a="http://schemas.openxmlformats.org/drawingml/2006/main" xmlns:r="http://schemas.openxmlformats.org/officeDocument/2006/relationships" xmlns:p="http://schemas.openxmlformats.org/presentationml/2006/main">
  <p:tag name="NAME" val="TrackerNumBlue"/>
</p:tagLst>
</file>

<file path=ppt/tags/tag649.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650.xml><?xml version="1.0" encoding="utf-8"?>
<p:tagLst xmlns:a="http://schemas.openxmlformats.org/drawingml/2006/main" xmlns:r="http://schemas.openxmlformats.org/officeDocument/2006/relationships" xmlns:p="http://schemas.openxmlformats.org/presentationml/2006/main">
  <p:tag name="THINKCELLSHAPEDONOTDELETE" val="tAp6xcQ4kc5or5TpaILjz0A"/>
</p:tagLst>
</file>

<file path=ppt/tags/tag651.xml><?xml version="1.0" encoding="utf-8"?>
<p:tagLst xmlns:a="http://schemas.openxmlformats.org/drawingml/2006/main" xmlns:r="http://schemas.openxmlformats.org/officeDocument/2006/relationships" xmlns:p="http://schemas.openxmlformats.org/presentationml/2006/main">
  <p:tag name="THINKCELLSHAPEDONOTDELETE" val="tfH7JNkvRhHmOYaWC4.UdJA"/>
</p:tagLst>
</file>

<file path=ppt/tags/tag652.xml><?xml version="1.0" encoding="utf-8"?>
<p:tagLst xmlns:a="http://schemas.openxmlformats.org/drawingml/2006/main" xmlns:r="http://schemas.openxmlformats.org/officeDocument/2006/relationships" xmlns:p="http://schemas.openxmlformats.org/presentationml/2006/main">
  <p:tag name="THINKCELLSHAPEDONOTDELETE" val="tcpu5XpkNsDl7qmfC.ELv4w"/>
</p:tagLst>
</file>

<file path=ppt/tags/tag653.xml><?xml version="1.0" encoding="utf-8"?>
<p:tagLst xmlns:a="http://schemas.openxmlformats.org/drawingml/2006/main" xmlns:r="http://schemas.openxmlformats.org/officeDocument/2006/relationships" xmlns:p="http://schemas.openxmlformats.org/presentationml/2006/main">
  <p:tag name="THINKCELLSHAPEDONOTDELETE" val="tmISWZcM188B0IPwFrSmx1w"/>
</p:tagLst>
</file>

<file path=ppt/tags/tag654.xml><?xml version="1.0" encoding="utf-8"?>
<p:tagLst xmlns:a="http://schemas.openxmlformats.org/drawingml/2006/main" xmlns:r="http://schemas.openxmlformats.org/officeDocument/2006/relationships" xmlns:p="http://schemas.openxmlformats.org/presentationml/2006/main">
  <p:tag name="THINKCELLSHAPEDONOTDELETE" val="tsUaVtR5re60vm58zSN1IZg"/>
</p:tagLst>
</file>

<file path=ppt/tags/tag655.xml><?xml version="1.0" encoding="utf-8"?>
<p:tagLst xmlns:a="http://schemas.openxmlformats.org/drawingml/2006/main" xmlns:r="http://schemas.openxmlformats.org/officeDocument/2006/relationships" xmlns:p="http://schemas.openxmlformats.org/presentationml/2006/main">
  <p:tag name="THINKCELLSHAPEDONOTDELETE" val="taaBAqijYHhtlUO7BUHEItg"/>
</p:tagLst>
</file>

<file path=ppt/tags/tag656.xml><?xml version="1.0" encoding="utf-8"?>
<p:tagLst xmlns:a="http://schemas.openxmlformats.org/drawingml/2006/main" xmlns:r="http://schemas.openxmlformats.org/officeDocument/2006/relationships" xmlns:p="http://schemas.openxmlformats.org/presentationml/2006/main">
  <p:tag name="THINKCELLSHAPEDONOTDELETE" val="tCNwO.t9bvIIN.HKg.YQd1g"/>
</p:tagLst>
</file>

<file path=ppt/tags/tag657.xml><?xml version="1.0" encoding="utf-8"?>
<p:tagLst xmlns:a="http://schemas.openxmlformats.org/drawingml/2006/main" xmlns:r="http://schemas.openxmlformats.org/officeDocument/2006/relationships" xmlns:p="http://schemas.openxmlformats.org/presentationml/2006/main">
  <p:tag name="THINKCELLSHAPEDONOTDELETE" val="tXDTdBjzdwR7ZPFzZuk10JA"/>
</p:tagLst>
</file>

<file path=ppt/tags/tag658.xml><?xml version="1.0" encoding="utf-8"?>
<p:tagLst xmlns:a="http://schemas.openxmlformats.org/drawingml/2006/main" xmlns:r="http://schemas.openxmlformats.org/officeDocument/2006/relationships" xmlns:p="http://schemas.openxmlformats.org/presentationml/2006/main">
  <p:tag name="THINKCELLSHAPEDONOTDELETE" val="t9y1oGYqkCiFvTCFZbxAjMA"/>
</p:tagLst>
</file>

<file path=ppt/tags/tag659.xml><?xml version="1.0" encoding="utf-8"?>
<p:tagLst xmlns:a="http://schemas.openxmlformats.org/drawingml/2006/main" xmlns:r="http://schemas.openxmlformats.org/officeDocument/2006/relationships" xmlns:p="http://schemas.openxmlformats.org/presentationml/2006/main">
  <p:tag name="SHAPENAME" val="4. Footnote"/>
</p:tagLst>
</file>

<file path=ppt/tags/tag660.xml><?xml version="1.0" encoding="utf-8"?>
<p:tagLst xmlns:a="http://schemas.openxmlformats.org/drawingml/2006/main" xmlns:r="http://schemas.openxmlformats.org/officeDocument/2006/relationships" xmlns:p="http://schemas.openxmlformats.org/presentationml/2006/main">
  <p:tag name="NAME" val="TrackerNumBlue"/>
</p:tagLst>
</file>

<file path=ppt/tags/tag661.xml><?xml version="1.0" encoding="utf-8"?>
<p:tagLst xmlns:a="http://schemas.openxmlformats.org/drawingml/2006/main" xmlns:r="http://schemas.openxmlformats.org/officeDocument/2006/relationships" xmlns:p="http://schemas.openxmlformats.org/presentationml/2006/main">
  <p:tag name="NAME" val="TrackerNumBlue"/>
</p:tagLst>
</file>

<file path=ppt/tags/tag6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4.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66.xml><?xml version="1.0" encoding="utf-8"?>
<p:tagLst xmlns:a="http://schemas.openxmlformats.org/drawingml/2006/main" xmlns:r="http://schemas.openxmlformats.org/officeDocument/2006/relationships" xmlns:p="http://schemas.openxmlformats.org/presentationml/2006/main">
  <p:tag name="SHAPENAME" val="5. Source"/>
</p:tagLst>
</file>

<file path=ppt/tags/tag667.xml><?xml version="1.0" encoding="utf-8"?>
<p:tagLst xmlns:a="http://schemas.openxmlformats.org/drawingml/2006/main" xmlns:r="http://schemas.openxmlformats.org/officeDocument/2006/relationships" xmlns:p="http://schemas.openxmlformats.org/presentationml/2006/main">
  <p:tag name="NAME" val="TrackerNumBlue"/>
</p:tagLst>
</file>

<file path=ppt/tags/tag668.xml><?xml version="1.0" encoding="utf-8"?>
<p:tagLst xmlns:a="http://schemas.openxmlformats.org/drawingml/2006/main" xmlns:r="http://schemas.openxmlformats.org/officeDocument/2006/relationships" xmlns:p="http://schemas.openxmlformats.org/presentationml/2006/main">
  <p:tag name="NAME" val="CustomIcon"/>
</p:tagLst>
</file>

<file path=ppt/tags/tag66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7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7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7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7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7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75.xml><?xml version="1.0" encoding="utf-8"?>
<p:tagLst xmlns:a="http://schemas.openxmlformats.org/drawingml/2006/main" xmlns:r="http://schemas.openxmlformats.org/officeDocument/2006/relationships" xmlns:p="http://schemas.openxmlformats.org/presentationml/2006/main">
  <p:tag name="NAME" val="CustomIcon"/>
</p:tagLst>
</file>

<file path=ppt/tags/tag676.xml><?xml version="1.0" encoding="utf-8"?>
<p:tagLst xmlns:a="http://schemas.openxmlformats.org/drawingml/2006/main" xmlns:r="http://schemas.openxmlformats.org/officeDocument/2006/relationships" xmlns:p="http://schemas.openxmlformats.org/presentationml/2006/main">
  <p:tag name="NAME" val="CustomIcon"/>
</p:tagLst>
</file>

<file path=ppt/tags/tag6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79.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680.xml><?xml version="1.0" encoding="utf-8"?>
<p:tagLst xmlns:a="http://schemas.openxmlformats.org/drawingml/2006/main" xmlns:r="http://schemas.openxmlformats.org/officeDocument/2006/relationships" xmlns:p="http://schemas.openxmlformats.org/presentationml/2006/main">
  <p:tag name="NAME" val="TrackerNumBlue"/>
</p:tagLst>
</file>

<file path=ppt/tags/tag681.xml><?xml version="1.0" encoding="utf-8"?>
<p:tagLst xmlns:a="http://schemas.openxmlformats.org/drawingml/2006/main" xmlns:r="http://schemas.openxmlformats.org/officeDocument/2006/relationships" xmlns:p="http://schemas.openxmlformats.org/presentationml/2006/main">
  <p:tag name="NAME" val="LineBasicStrong"/>
</p:tagLst>
</file>

<file path=ppt/tags/tag682.xml><?xml version="1.0" encoding="utf-8"?>
<p:tagLst xmlns:a="http://schemas.openxmlformats.org/drawingml/2006/main" xmlns:r="http://schemas.openxmlformats.org/officeDocument/2006/relationships" xmlns:p="http://schemas.openxmlformats.org/presentationml/2006/main">
  <p:tag name="NAME" val="LineBasicStrong"/>
</p:tagLst>
</file>

<file path=ppt/tags/tag68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84.xml><?xml version="1.0" encoding="utf-8"?>
<p:tagLst xmlns:a="http://schemas.openxmlformats.org/drawingml/2006/main" xmlns:r="http://schemas.openxmlformats.org/officeDocument/2006/relationships" xmlns:p="http://schemas.openxmlformats.org/presentationml/2006/main">
  <p:tag name="THINKCELLSHAPEDONOTDELETE" val="tFGbaLkVQN2gBwypbuAxcmA"/>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twhBH2y3w7xKjv1GBzOjweg"/>
</p:tagLst>
</file>

<file path=ppt/tags/tag686.xml><?xml version="1.0" encoding="utf-8"?>
<p:tagLst xmlns:a="http://schemas.openxmlformats.org/drawingml/2006/main" xmlns:r="http://schemas.openxmlformats.org/officeDocument/2006/relationships" xmlns:p="http://schemas.openxmlformats.org/presentationml/2006/main">
  <p:tag name="THINKCELLSHAPEDONOTDELETE" val="twuTI_Z19iwfwJCYPW1rnkA"/>
</p:tagLst>
</file>

<file path=ppt/tags/tag687.xml><?xml version="1.0" encoding="utf-8"?>
<p:tagLst xmlns:a="http://schemas.openxmlformats.org/drawingml/2006/main" xmlns:r="http://schemas.openxmlformats.org/officeDocument/2006/relationships" xmlns:p="http://schemas.openxmlformats.org/presentationml/2006/main">
  <p:tag name="THINKCELLSHAPEDONOTDELETE" val="tNC9cuD6wFv1PREfr80crFA"/>
</p:tagLst>
</file>

<file path=ppt/tags/tag688.xml><?xml version="1.0" encoding="utf-8"?>
<p:tagLst xmlns:a="http://schemas.openxmlformats.org/drawingml/2006/main" xmlns:r="http://schemas.openxmlformats.org/officeDocument/2006/relationships" xmlns:p="http://schemas.openxmlformats.org/presentationml/2006/main">
  <p:tag name="THINKCELLSHAPEDONOTDELETE" val="tSNJeEeXZ2EK6lxu19vwxRA"/>
</p:tagLst>
</file>

<file path=ppt/tags/tag689.xml><?xml version="1.0" encoding="utf-8"?>
<p:tagLst xmlns:a="http://schemas.openxmlformats.org/drawingml/2006/main" xmlns:r="http://schemas.openxmlformats.org/officeDocument/2006/relationships" xmlns:p="http://schemas.openxmlformats.org/presentationml/2006/main">
  <p:tag name="THINKCELLSHAPEDONOTDELETE" val="taCV0l9wfE_EWMXaHIaJjbw"/>
</p:tagLst>
</file>

<file path=ppt/tags/tag690.xml><?xml version="1.0" encoding="utf-8"?>
<p:tagLst xmlns:a="http://schemas.openxmlformats.org/drawingml/2006/main" xmlns:r="http://schemas.openxmlformats.org/officeDocument/2006/relationships" xmlns:p="http://schemas.openxmlformats.org/presentationml/2006/main">
  <p:tag name="THINKCELLSHAPEDONOTDELETE" val="ttXQq28MPrJI6wSr3jpKNmg"/>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ttKb6QBX3HV7..EsjV5_j2g"/>
</p:tagLst>
</file>

<file path=ppt/tags/tag692.xml><?xml version="1.0" encoding="utf-8"?>
<p:tagLst xmlns:a="http://schemas.openxmlformats.org/drawingml/2006/main" xmlns:r="http://schemas.openxmlformats.org/officeDocument/2006/relationships" xmlns:p="http://schemas.openxmlformats.org/presentationml/2006/main">
  <p:tag name="THINKCELLSHAPEDONOTDELETE" val="tExspJK9tWSy.B9Oo_Gdy6Q"/>
</p:tagLst>
</file>

<file path=ppt/tags/tag693.xml><?xml version="1.0" encoding="utf-8"?>
<p:tagLst xmlns:a="http://schemas.openxmlformats.org/drawingml/2006/main" xmlns:r="http://schemas.openxmlformats.org/officeDocument/2006/relationships" xmlns:p="http://schemas.openxmlformats.org/presentationml/2006/main">
  <p:tag name="THINKCELLSHAPEDONOTDELETE" val="tMmB5.XNN0TDHjhHuYw7Yww"/>
</p:tagLst>
</file>

<file path=ppt/tags/tag694.xml><?xml version="1.0" encoding="utf-8"?>
<p:tagLst xmlns:a="http://schemas.openxmlformats.org/drawingml/2006/main" xmlns:r="http://schemas.openxmlformats.org/officeDocument/2006/relationships" xmlns:p="http://schemas.openxmlformats.org/presentationml/2006/main">
  <p:tag name="THINKCELLSHAPEDONOTDELETE" val="tuUteQ0qya7nXoF2pb2G2vw"/>
</p:tagLst>
</file>

<file path=ppt/tags/tag695.xml><?xml version="1.0" encoding="utf-8"?>
<p:tagLst xmlns:a="http://schemas.openxmlformats.org/drawingml/2006/main" xmlns:r="http://schemas.openxmlformats.org/officeDocument/2006/relationships" xmlns:p="http://schemas.openxmlformats.org/presentationml/2006/main">
  <p:tag name="THINKCELLSHAPEDONOTDELETE" val="tj1dDvn8XrmFjwgCIh7k2MQ"/>
</p:tagLst>
</file>

<file path=ppt/tags/tag696.xml><?xml version="1.0" encoding="utf-8"?>
<p:tagLst xmlns:a="http://schemas.openxmlformats.org/drawingml/2006/main" xmlns:r="http://schemas.openxmlformats.org/officeDocument/2006/relationships" xmlns:p="http://schemas.openxmlformats.org/presentationml/2006/main">
  <p:tag name="THINKCELLSHAPEDONOTDELETE" val="tN0veIa8tEbg9oGCkgmW4WQ"/>
</p:tagLst>
</file>

<file path=ppt/tags/tag697.xml><?xml version="1.0" encoding="utf-8"?>
<p:tagLst xmlns:a="http://schemas.openxmlformats.org/drawingml/2006/main" xmlns:r="http://schemas.openxmlformats.org/officeDocument/2006/relationships" xmlns:p="http://schemas.openxmlformats.org/presentationml/2006/main">
  <p:tag name="THINKCELLSHAPEDONOTDELETE" val="tGhF6m54UTd6xTAVbOgjSvA"/>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txGXmSirq2W87l164LG7dHA"/>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tmhlOGY16rS62noReAaRmEQ"/>
</p:tagLst>
</file>

<file path=ppt/tags/tag700.xml><?xml version="1.0" encoding="utf-8"?>
<p:tagLst xmlns:a="http://schemas.openxmlformats.org/drawingml/2006/main" xmlns:r="http://schemas.openxmlformats.org/officeDocument/2006/relationships" xmlns:p="http://schemas.openxmlformats.org/presentationml/2006/main">
  <p:tag name="THINKCELLSHAPEDONOTDELETE" val="tpLqlWiaxlfMdR.FweAlQLg"/>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t0SYLi8zrogZeYxCupoSY6A"/>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t4kwL7SZygClSY_lHOj14hg"/>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tM3kwj9SSeaH0CsOV2xpM1Q"/>
</p:tagLst>
</file>

<file path=ppt/tags/tag704.xml><?xml version="1.0" encoding="utf-8"?>
<p:tagLst xmlns:a="http://schemas.openxmlformats.org/drawingml/2006/main" xmlns:r="http://schemas.openxmlformats.org/officeDocument/2006/relationships" xmlns:p="http://schemas.openxmlformats.org/presentationml/2006/main">
  <p:tag name="THINKCELLSHAPEDONOTDELETE" val="tQDm7VQ2JkTQThAPLRGP5zw"/>
</p:tagLst>
</file>

<file path=ppt/tags/tag705.xml><?xml version="1.0" encoding="utf-8"?>
<p:tagLst xmlns:a="http://schemas.openxmlformats.org/drawingml/2006/main" xmlns:r="http://schemas.openxmlformats.org/officeDocument/2006/relationships" xmlns:p="http://schemas.openxmlformats.org/presentationml/2006/main">
  <p:tag name="THINKCELLSHAPEDONOTDELETE" val="tCuHIKihA4T7Vhppp8qpgtg"/>
</p:tagLst>
</file>

<file path=ppt/tags/tag706.xml><?xml version="1.0" encoding="utf-8"?>
<p:tagLst xmlns:a="http://schemas.openxmlformats.org/drawingml/2006/main" xmlns:r="http://schemas.openxmlformats.org/officeDocument/2006/relationships" xmlns:p="http://schemas.openxmlformats.org/presentationml/2006/main">
  <p:tag name="THINKCELLSHAPEDONOTDELETE" val="tSvRdrKDNebH1PR90EpPtzg"/>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tyOBPT_7qiSGl7v2NXbH3UA"/>
</p:tagLst>
</file>

<file path=ppt/tags/tag708.xml><?xml version="1.0" encoding="utf-8"?>
<p:tagLst xmlns:a="http://schemas.openxmlformats.org/drawingml/2006/main" xmlns:r="http://schemas.openxmlformats.org/officeDocument/2006/relationships" xmlns:p="http://schemas.openxmlformats.org/presentationml/2006/main">
  <p:tag name="THINKCELLSHAPEDONOTDELETE" val="tEWeIkRQ2TZ43uN1gsvYrHg"/>
</p:tagLst>
</file>

<file path=ppt/tags/tag709.xml><?xml version="1.0" encoding="utf-8"?>
<p:tagLst xmlns:a="http://schemas.openxmlformats.org/drawingml/2006/main" xmlns:r="http://schemas.openxmlformats.org/officeDocument/2006/relationships" xmlns:p="http://schemas.openxmlformats.org/presentationml/2006/main">
  <p:tag name="THINKCELLSHAPEDONOTDELETE" val="t_vZfVAjptaNx.ghiBk1brQ"/>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tlWfKRDw10wlk3tx9Wz_E0g"/>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tOCzHUc2cmBlZTDav3YGFCg"/>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tn2yEh9xQXKrWc.EISJnquA"/>
</p:tagLst>
</file>

<file path=ppt/tags/tag71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1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tU7RMdKWYJma1sN0ivQWuKw"/>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tyImOyUxWk5g3GlOnVci2mg"/>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tBMaaFlDwPE0s4Led3mtIbg"/>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tTUN8Ig5IoReQ_lJvgWXuow"/>
</p:tagLst>
</file>

<file path=ppt/tags/tag719.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553696626123831"/>
  <p:tag name="MTTABLE" val="Cell"/>
  <p:tag name="TOP" val="110"/>
  <p:tag name="WIDTH" val="425"/>
</p:tagLst>
</file>

<file path=ppt/tags/tag720.xml><?xml version="1.0" encoding="utf-8"?>
<p:tagLst xmlns:a="http://schemas.openxmlformats.org/drawingml/2006/main" xmlns:r="http://schemas.openxmlformats.org/officeDocument/2006/relationships" xmlns:p="http://schemas.openxmlformats.org/presentationml/2006/main">
  <p:tag name="MTNUMBER" val="0,553696626123831"/>
  <p:tag name="MTTABLE" val="HTitleDiv"/>
</p:tagLst>
</file>

<file path=ppt/tags/tag721.xml><?xml version="1.0" encoding="utf-8"?>
<p:tagLst xmlns:a="http://schemas.openxmlformats.org/drawingml/2006/main" xmlns:r="http://schemas.openxmlformats.org/officeDocument/2006/relationships" xmlns:p="http://schemas.openxmlformats.org/presentationml/2006/main">
  <p:tag name="HEIGHT" val="25.07653"/>
  <p:tag name="LEFT" val="45"/>
  <p:tag name="MTNUMBER" val="0,553696626123831"/>
  <p:tag name="MTTABLE" val="Cell"/>
  <p:tag name="TOP" val="139.3875"/>
  <p:tag name="WIDTH" val="425"/>
</p:tagLst>
</file>

<file path=ppt/tags/tag722.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723.xml><?xml version="1.0" encoding="utf-8"?>
<p:tagLst xmlns:a="http://schemas.openxmlformats.org/drawingml/2006/main" xmlns:r="http://schemas.openxmlformats.org/officeDocument/2006/relationships" xmlns:p="http://schemas.openxmlformats.org/presentationml/2006/main">
  <p:tag name="NAME" val="CustomIcon"/>
</p:tagLst>
</file>

<file path=ppt/tags/tag724.xml><?xml version="1.0" encoding="utf-8"?>
<p:tagLst xmlns:a="http://schemas.openxmlformats.org/drawingml/2006/main" xmlns:r="http://schemas.openxmlformats.org/officeDocument/2006/relationships" xmlns:p="http://schemas.openxmlformats.org/presentationml/2006/main">
  <p:tag name="HEIGHT" val="25.07653"/>
  <p:tag name="LEFT" val="45"/>
  <p:tag name="MTNUMBER" val="0,553696626123831"/>
  <p:tag name="MTTABLE" val="Cell"/>
  <p:tag name="TOP" val="139.3875"/>
  <p:tag name="WIDTH" val="425"/>
</p:tagLst>
</file>

<file path=ppt/tags/tag725.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726.xml><?xml version="1.0" encoding="utf-8"?>
<p:tagLst xmlns:a="http://schemas.openxmlformats.org/drawingml/2006/main" xmlns:r="http://schemas.openxmlformats.org/officeDocument/2006/relationships" xmlns:p="http://schemas.openxmlformats.org/presentationml/2006/main">
  <p:tag name="NAME" val="CustomIcon"/>
</p:tagLst>
</file>

<file path=ppt/tags/tag72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28.xml><?xml version="1.0" encoding="utf-8"?>
<p:tagLst xmlns:a="http://schemas.openxmlformats.org/drawingml/2006/main" xmlns:r="http://schemas.openxmlformats.org/officeDocument/2006/relationships" xmlns:p="http://schemas.openxmlformats.org/presentationml/2006/main">
  <p:tag name="HEIGHT" val="25.07653"/>
  <p:tag name="LEFT" val="45"/>
  <p:tag name="MTNUMBER" val="0,553696626123831"/>
  <p:tag name="MTTABLE" val="Cell"/>
  <p:tag name="TOP" val="139.3875"/>
  <p:tag name="WIDTH" val="425"/>
</p:tagLst>
</file>

<file path=ppt/tags/tag729.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730.xml><?xml version="1.0" encoding="utf-8"?>
<p:tagLst xmlns:a="http://schemas.openxmlformats.org/drawingml/2006/main" xmlns:r="http://schemas.openxmlformats.org/officeDocument/2006/relationships" xmlns:p="http://schemas.openxmlformats.org/presentationml/2006/main">
  <p:tag name="NAME" val="CustomIcon"/>
</p:tagLst>
</file>

<file path=ppt/tags/tag73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32.xml><?xml version="1.0" encoding="utf-8"?>
<p:tagLst xmlns:a="http://schemas.openxmlformats.org/drawingml/2006/main" xmlns:r="http://schemas.openxmlformats.org/officeDocument/2006/relationships" xmlns:p="http://schemas.openxmlformats.org/presentationml/2006/main">
  <p:tag name="HEIGHT" val="25.07653"/>
  <p:tag name="LEFT" val="45"/>
  <p:tag name="MTNUMBER" val="0,553696626123831"/>
  <p:tag name="MTTABLE" val="Cell"/>
  <p:tag name="TOP" val="139.3875"/>
  <p:tag name="WIDTH" val="425"/>
</p:tagLst>
</file>

<file path=ppt/tags/tag733.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734.xml><?xml version="1.0" encoding="utf-8"?>
<p:tagLst xmlns:a="http://schemas.openxmlformats.org/drawingml/2006/main" xmlns:r="http://schemas.openxmlformats.org/officeDocument/2006/relationships" xmlns:p="http://schemas.openxmlformats.org/presentationml/2006/main">
  <p:tag name="NAME" val="CustomIcon"/>
</p:tagLst>
</file>

<file path=ppt/tags/tag73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36.xml><?xml version="1.0" encoding="utf-8"?>
<p:tagLst xmlns:a="http://schemas.openxmlformats.org/drawingml/2006/main" xmlns:r="http://schemas.openxmlformats.org/officeDocument/2006/relationships" xmlns:p="http://schemas.openxmlformats.org/presentationml/2006/main">
  <p:tag name="HEIGHT" val="25.07653"/>
  <p:tag name="LEFT" val="45"/>
  <p:tag name="MTNUMBER" val="0,553696626123831"/>
  <p:tag name="MTTABLE" val="Cell"/>
  <p:tag name="TOP" val="139.3875"/>
  <p:tag name="WIDTH" val="425"/>
</p:tagLst>
</file>

<file path=ppt/tags/tag737.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738.xml><?xml version="1.0" encoding="utf-8"?>
<p:tagLst xmlns:a="http://schemas.openxmlformats.org/drawingml/2006/main" xmlns:r="http://schemas.openxmlformats.org/officeDocument/2006/relationships" xmlns:p="http://schemas.openxmlformats.org/presentationml/2006/main">
  <p:tag name="NAME" val="CustomIcon"/>
</p:tagLst>
</file>

<file path=ppt/tags/tag73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40.xml><?xml version="1.0" encoding="utf-8"?>
<p:tagLst xmlns:a="http://schemas.openxmlformats.org/drawingml/2006/main" xmlns:r="http://schemas.openxmlformats.org/officeDocument/2006/relationships" xmlns:p="http://schemas.openxmlformats.org/presentationml/2006/main">
  <p:tag name="HEIGHT" val="25.07653"/>
  <p:tag name="LEFT" val="45"/>
  <p:tag name="MTNUMBER" val="0,553696626123831"/>
  <p:tag name="MTTABLE" val="Cell"/>
  <p:tag name="TOP" val="139.3875"/>
  <p:tag name="WIDTH" val="425"/>
</p:tagLst>
</file>

<file path=ppt/tags/tag741.xml><?xml version="1.0" encoding="utf-8"?>
<p:tagLst xmlns:a="http://schemas.openxmlformats.org/drawingml/2006/main" xmlns:r="http://schemas.openxmlformats.org/officeDocument/2006/relationships" xmlns:p="http://schemas.openxmlformats.org/presentationml/2006/main">
  <p:tag name="NAME" val="LineBasicVerticalDefault"/>
</p:tagLst>
</file>

<file path=ppt/tags/tag742.xml><?xml version="1.0" encoding="utf-8"?>
<p:tagLst xmlns:a="http://schemas.openxmlformats.org/drawingml/2006/main" xmlns:r="http://schemas.openxmlformats.org/officeDocument/2006/relationships" xmlns:p="http://schemas.openxmlformats.org/presentationml/2006/main">
  <p:tag name="NAME" val="CustomIcon"/>
</p:tagLst>
</file>

<file path=ppt/tags/tag74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5.xml><?xml version="1.0" encoding="utf-8"?>
<p:tagLst xmlns:a="http://schemas.openxmlformats.org/drawingml/2006/main" xmlns:r="http://schemas.openxmlformats.org/officeDocument/2006/relationships" xmlns:p="http://schemas.openxmlformats.org/presentationml/2006/main">
  <p:tag name="THINKCELLSHAPEDONOTDELETE" val="tHXclt4MQlx97WG78N6fubQ"/>
</p:tagLst>
</file>

<file path=ppt/tags/tag746.xml><?xml version="1.0" encoding="utf-8"?>
<p:tagLst xmlns:a="http://schemas.openxmlformats.org/drawingml/2006/main" xmlns:r="http://schemas.openxmlformats.org/officeDocument/2006/relationships" xmlns:p="http://schemas.openxmlformats.org/presentationml/2006/main">
  <p:tag name="THINKCELLSHAPEDONOTDELETE" val="t8he9iJx_4uWnQwcrNdhrXA"/>
</p:tagLst>
</file>

<file path=ppt/tags/tag74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48.xml><?xml version="1.0" encoding="utf-8"?>
<p:tagLst xmlns:a="http://schemas.openxmlformats.org/drawingml/2006/main" xmlns:r="http://schemas.openxmlformats.org/officeDocument/2006/relationships" xmlns:p="http://schemas.openxmlformats.org/presentationml/2006/main">
  <p:tag name="NAME" val="CustomIcon"/>
</p:tagLst>
</file>

<file path=ppt/tags/tag749.xml><?xml version="1.0" encoding="utf-8"?>
<p:tagLst xmlns:a="http://schemas.openxmlformats.org/drawingml/2006/main" xmlns:r="http://schemas.openxmlformats.org/officeDocument/2006/relationships" xmlns:p="http://schemas.openxmlformats.org/presentationml/2006/main">
  <p:tag name="NAME" val="CustomIcon"/>
</p:tagLst>
</file>

<file path=ppt/tags/tag750.xml><?xml version="1.0" encoding="utf-8"?>
<p:tagLst xmlns:a="http://schemas.openxmlformats.org/drawingml/2006/main" xmlns:r="http://schemas.openxmlformats.org/officeDocument/2006/relationships" xmlns:p="http://schemas.openxmlformats.org/presentationml/2006/main">
  <p:tag name="NAME" val="CustomIcon"/>
</p:tagLst>
</file>

<file path=ppt/tags/tag751.xml><?xml version="1.0" encoding="utf-8"?>
<p:tagLst xmlns:a="http://schemas.openxmlformats.org/drawingml/2006/main" xmlns:r="http://schemas.openxmlformats.org/officeDocument/2006/relationships" xmlns:p="http://schemas.openxmlformats.org/presentationml/2006/main">
  <p:tag name="SHAPENAME" val="5. Source"/>
</p:tagLst>
</file>

<file path=ppt/tags/tag752.xml><?xml version="1.0" encoding="utf-8"?>
<p:tagLst xmlns:a="http://schemas.openxmlformats.org/drawingml/2006/main" xmlns:r="http://schemas.openxmlformats.org/officeDocument/2006/relationships" xmlns:p="http://schemas.openxmlformats.org/presentationml/2006/main">
  <p:tag name="NAME" val="TrackerNumBlue"/>
</p:tagLst>
</file>

<file path=ppt/tags/tag7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56.xml><?xml version="1.0" encoding="utf-8"?>
<p:tagLst xmlns:a="http://schemas.openxmlformats.org/drawingml/2006/main" xmlns:r="http://schemas.openxmlformats.org/officeDocument/2006/relationships" xmlns:p="http://schemas.openxmlformats.org/presentationml/2006/main">
  <p:tag name="SHAPENAME" val="5. Source"/>
</p:tagLst>
</file>

<file path=ppt/tags/tag757.xml><?xml version="1.0" encoding="utf-8"?>
<p:tagLst xmlns:a="http://schemas.openxmlformats.org/drawingml/2006/main" xmlns:r="http://schemas.openxmlformats.org/officeDocument/2006/relationships" xmlns:p="http://schemas.openxmlformats.org/presentationml/2006/main">
  <p:tag name="NAME" val="CustomIcon"/>
</p:tagLst>
</file>

<file path=ppt/tags/tag758.xml><?xml version="1.0" encoding="utf-8"?>
<p:tagLst xmlns:a="http://schemas.openxmlformats.org/drawingml/2006/main" xmlns:r="http://schemas.openxmlformats.org/officeDocument/2006/relationships" xmlns:p="http://schemas.openxmlformats.org/presentationml/2006/main">
  <p:tag name="NAME" val="CustomIcon"/>
</p:tagLst>
</file>

<file path=ppt/tags/tag759.xml><?xml version="1.0" encoding="utf-8"?>
<p:tagLst xmlns:a="http://schemas.openxmlformats.org/drawingml/2006/main" xmlns:r="http://schemas.openxmlformats.org/officeDocument/2006/relationships" xmlns:p="http://schemas.openxmlformats.org/presentationml/2006/main">
  <p:tag name="NAME" val="CustomIcon"/>
</p:tagLst>
</file>

<file path=ppt/tags/tag760.xml><?xml version="1.0" encoding="utf-8"?>
<p:tagLst xmlns:a="http://schemas.openxmlformats.org/drawingml/2006/main" xmlns:r="http://schemas.openxmlformats.org/officeDocument/2006/relationships" xmlns:p="http://schemas.openxmlformats.org/presentationml/2006/main">
  <p:tag name="NAME" val="CustomIcon"/>
</p:tagLst>
</file>

<file path=ppt/tags/tag761.xml><?xml version="1.0" encoding="utf-8"?>
<p:tagLst xmlns:a="http://schemas.openxmlformats.org/drawingml/2006/main" xmlns:r="http://schemas.openxmlformats.org/officeDocument/2006/relationships" xmlns:p="http://schemas.openxmlformats.org/presentationml/2006/main">
  <p:tag name="SHAPENAME" val="4. Footnote"/>
</p:tagLst>
</file>

<file path=ppt/tags/tag762.xml><?xml version="1.0" encoding="utf-8"?>
<p:tagLst xmlns:a="http://schemas.openxmlformats.org/drawingml/2006/main" xmlns:r="http://schemas.openxmlformats.org/officeDocument/2006/relationships" xmlns:p="http://schemas.openxmlformats.org/presentationml/2006/main">
  <p:tag name="NAME" val="TrackerNumBlue"/>
</p:tagLst>
</file>

<file path=ppt/tags/tag763.xml><?xml version="1.0" encoding="utf-8"?>
<p:tagLst xmlns:a="http://schemas.openxmlformats.org/drawingml/2006/main" xmlns:r="http://schemas.openxmlformats.org/officeDocument/2006/relationships" xmlns:p="http://schemas.openxmlformats.org/presentationml/2006/main">
  <p:tag name="NAME" val="CustomIcon"/>
</p:tagLst>
</file>

<file path=ppt/tags/tag764.xml><?xml version="1.0" encoding="utf-8"?>
<p:tagLst xmlns:a="http://schemas.openxmlformats.org/drawingml/2006/main" xmlns:r="http://schemas.openxmlformats.org/officeDocument/2006/relationships" xmlns:p="http://schemas.openxmlformats.org/presentationml/2006/main">
  <p:tag name="NAME" val="CustomIcon"/>
</p:tagLst>
</file>

<file path=ppt/tags/tag7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69.xml><?xml version="1.0" encoding="utf-8"?>
<p:tagLst xmlns:a="http://schemas.openxmlformats.org/drawingml/2006/main" xmlns:r="http://schemas.openxmlformats.org/officeDocument/2006/relationships" xmlns:p="http://schemas.openxmlformats.org/presentationml/2006/main">
  <p:tag name="NAME" val="LineBasicStrong"/>
</p:tagLst>
</file>

<file path=ppt/tags/tag770.xml><?xml version="1.0" encoding="utf-8"?>
<p:tagLst xmlns:a="http://schemas.openxmlformats.org/drawingml/2006/main" xmlns:r="http://schemas.openxmlformats.org/officeDocument/2006/relationships" xmlns:p="http://schemas.openxmlformats.org/presentationml/2006/main">
  <p:tag name="NAME" val="LineBasicStrong"/>
</p:tagLst>
</file>

<file path=ppt/tags/tag771.xml><?xml version="1.0" encoding="utf-8"?>
<p:tagLst xmlns:a="http://schemas.openxmlformats.org/drawingml/2006/main" xmlns:r="http://schemas.openxmlformats.org/officeDocument/2006/relationships" xmlns:p="http://schemas.openxmlformats.org/presentationml/2006/main">
  <p:tag name="NAME" val="LineBasicStrong"/>
</p:tagLst>
</file>

<file path=ppt/tags/tag772.xml><?xml version="1.0" encoding="utf-8"?>
<p:tagLst xmlns:a="http://schemas.openxmlformats.org/drawingml/2006/main" xmlns:r="http://schemas.openxmlformats.org/officeDocument/2006/relationships" xmlns:p="http://schemas.openxmlformats.org/presentationml/2006/main">
  <p:tag name="NAME" val="LineBasicStrong"/>
</p:tagLst>
</file>

<file path=ppt/tags/tag773.xml><?xml version="1.0" encoding="utf-8"?>
<p:tagLst xmlns:a="http://schemas.openxmlformats.org/drawingml/2006/main" xmlns:r="http://schemas.openxmlformats.org/officeDocument/2006/relationships" xmlns:p="http://schemas.openxmlformats.org/presentationml/2006/main">
  <p:tag name="NAME" val="LineBasicStrong"/>
</p:tagLst>
</file>

<file path=ppt/tags/tag774.xml><?xml version="1.0" encoding="utf-8"?>
<p:tagLst xmlns:a="http://schemas.openxmlformats.org/drawingml/2006/main" xmlns:r="http://schemas.openxmlformats.org/officeDocument/2006/relationships" xmlns:p="http://schemas.openxmlformats.org/presentationml/2006/main">
  <p:tag name="NAME" val="LineBasicStrong"/>
</p:tagLst>
</file>

<file path=ppt/tags/tag775.xml><?xml version="1.0" encoding="utf-8"?>
<p:tagLst xmlns:a="http://schemas.openxmlformats.org/drawingml/2006/main" xmlns:r="http://schemas.openxmlformats.org/officeDocument/2006/relationships" xmlns:p="http://schemas.openxmlformats.org/presentationml/2006/main">
  <p:tag name="NAME" val="LineBasicStrong"/>
</p:tagLst>
</file>

<file path=ppt/tags/tag7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78.xml><?xml version="1.0" encoding="utf-8"?>
<p:tagLst xmlns:a="http://schemas.openxmlformats.org/drawingml/2006/main" xmlns:r="http://schemas.openxmlformats.org/officeDocument/2006/relationships" xmlns:p="http://schemas.openxmlformats.org/presentationml/2006/main">
  <p:tag name="SHAPENAME" val="5. Source"/>
</p:tagLst>
</file>

<file path=ppt/tags/tag779.xml><?xml version="1.0" encoding="utf-8"?>
<p:tagLst xmlns:a="http://schemas.openxmlformats.org/drawingml/2006/main" xmlns:r="http://schemas.openxmlformats.org/officeDocument/2006/relationships" xmlns:p="http://schemas.openxmlformats.org/presentationml/2006/main">
  <p:tag name="NAME" val="CustomIcon"/>
</p:tagLst>
</file>

<file path=ppt/tags/tag780.xml><?xml version="1.0" encoding="utf-8"?>
<p:tagLst xmlns:a="http://schemas.openxmlformats.org/drawingml/2006/main" xmlns:r="http://schemas.openxmlformats.org/officeDocument/2006/relationships" xmlns:p="http://schemas.openxmlformats.org/presentationml/2006/main">
  <p:tag name="NAME" val="CustomIcon"/>
</p:tagLst>
</file>

<file path=ppt/tags/tag781.xml><?xml version="1.0" encoding="utf-8"?>
<p:tagLst xmlns:a="http://schemas.openxmlformats.org/drawingml/2006/main" xmlns:r="http://schemas.openxmlformats.org/officeDocument/2006/relationships" xmlns:p="http://schemas.openxmlformats.org/presentationml/2006/main">
  <p:tag name="NAME" val="CustomIcon"/>
</p:tagLst>
</file>

<file path=ppt/tags/tag782.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78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8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White">
  <a:themeElements>
    <a:clrScheme name="Custom 1">
      <a:dk1>
        <a:srgbClr val="111918"/>
      </a:dk1>
      <a:lt1>
        <a:srgbClr val="FFFFFF"/>
      </a:lt1>
      <a:dk2>
        <a:srgbClr val="111918"/>
      </a:dk2>
      <a:lt2>
        <a:srgbClr val="FFFFFF"/>
      </a:lt2>
      <a:accent1>
        <a:srgbClr val="111918"/>
      </a:accent1>
      <a:accent2>
        <a:srgbClr val="1C863F"/>
      </a:accent2>
      <a:accent3>
        <a:srgbClr val="E9F7EE"/>
      </a:accent3>
      <a:accent4>
        <a:srgbClr val="0A5637"/>
      </a:accent4>
      <a:accent5>
        <a:srgbClr val="E4EAEA"/>
      </a:accent5>
      <a:accent6>
        <a:srgbClr val="F7D147"/>
      </a:accent6>
      <a:hlink>
        <a:srgbClr val="309DE3"/>
      </a:hlink>
      <a:folHlink>
        <a:srgbClr val="B4B4B4"/>
      </a:folHlink>
    </a:clrScheme>
    <a:fontScheme name="Custom 4">
      <a:majorFont>
        <a:latin typeface="Georgia"/>
        <a:ea typeface=""/>
        <a:cs typeface=""/>
      </a:majorFont>
      <a:minorFont>
        <a:latin typeface="Tahoma"/>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Pasha Bank">
        <a:dk1>
          <a:srgbClr val="000000"/>
        </a:dk1>
        <a:lt1>
          <a:srgbClr val="FFFFFF"/>
        </a:lt1>
        <a:dk2>
          <a:srgbClr val="191C1E"/>
        </a:dk2>
        <a:lt2>
          <a:srgbClr val="FFFFFF"/>
        </a:lt2>
        <a:accent1>
          <a:srgbClr val="191C1E"/>
        </a:accent1>
        <a:accent2>
          <a:srgbClr val="CAB597"/>
        </a:accent2>
        <a:accent3>
          <a:srgbClr val="E0D4C2"/>
        </a:accent3>
        <a:accent4>
          <a:srgbClr val="4E3227"/>
        </a:accent4>
        <a:accent5>
          <a:srgbClr val="F3EFD7"/>
        </a:accent5>
        <a:accent6>
          <a:srgbClr val="808080"/>
        </a:accent6>
        <a:hlink>
          <a:srgbClr val="4B8FD2"/>
        </a:hlink>
        <a:folHlink>
          <a:srgbClr val="B6869E"/>
        </a:folHlink>
      </a:clrScheme>
    </a:extraClrScheme>
  </a:extraClrSchemeLst>
  <a:custClrLst>
    <a:custClr name="Custom 1">
      <a:srgbClr val="405F5B"/>
    </a:custClr>
    <a:custClr name="Custom 2">
      <a:srgbClr val="74A09B"/>
    </a:custClr>
    <a:custClr name="Custom 3">
      <a:srgbClr val="B9D0CD"/>
    </a:custClr>
  </a:custClrLst>
  <a:extLst>
    <a:ext uri="{05A4C25C-085E-4340-85A3-A5531E510DB2}">
      <thm15:themeFamily xmlns:thm15="http://schemas.microsoft.com/office/thememl/2012/main" name="Паша Банк Премиум_Pasha Bank Premium_NVI_16x9_(2020)_eng.potx" id="{580EA364-9433-4864-8FB8-AF233E5953FF}" vid="{ACA3B730-9EDB-4893-820D-8578A98D4CFA}"/>
    </a:ext>
  </a:extLst>
</a:theme>
</file>

<file path=ppt/theme/theme2.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1">
    <wetp:webextensionref xmlns:r="http://schemas.openxmlformats.org/officeDocument/2006/relationships" r:id="rId1"/>
  </wetp:taskpane>
  <wetp:taskpane dockstate="right" visibility="0" width="438" row="8">
    <wetp:webextensionref xmlns:r="http://schemas.openxmlformats.org/officeDocument/2006/relationships" r:id="rId2"/>
  </wetp:taskpane>
  <wetp:taskpane dockstate="right" visibility="1" width="525"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C0A698D-5F7E-45E5-A99D-9516E3C867B4}">
  <we:reference id="7888317b-a425-4590-9747-4c188fd7be2e" version="2.40.2.0"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5F5ECE2-7E39-4255-BD47-97E0109E044C}">
  <we:reference id="e74ca2a7-5e50-4ebf-bfa5-bb75c7950374" version="4.0.0.0" store="EXCatalog" storeType="EXCatalog"/>
  <we:alternateReferences/>
  <we:properties>
    <we:property name="srChargeCodeData" value="{&quot;selectedSupportOption&quot;:&quot;SLIDEREQUESTPLUS&quot;,&quot;language&quot;:&quot;English&quot;,&quot;chargeCode&quot;:{&quot;activityCode&quot;:&quot;CE&quot;,&quot;allocation_date&quot;:&quot;2026-04-27T00:30:00.000Z&quot;,&quot;announcements&quot;:{&quot;createdAt&quot;:null,&quot;id&quot;:4,&quot;link&quot;:&quot;https://vgm.intranet.mckinsey.com/capacity-home&quot;,&quot;linkText&quot;:&quot;Learn more&quot;,&quot;longDescription&quot;:&quot;Alert: VG&amp;Media closed Dec 25 &amp; Jan 1. Tokens unavailable, standard delivery only Dec 23-Jan 3&quot;,&quot;shortDescription&quot;:&quot;Due to Values Day on June 19, plan for 24+ hour start times and \&quot;No Token\&quot; delivery option only.&quot;,&quot;showOnAddin&quot;:1,&quot;source&quot;:&quot;cs-web-addin&quot;,&quot;updatedAt&quot;:{},&quot;webAddinAnnouncementText&quot;:{&quot;body&quot;:&quot;Due to Values Day on June 19, plan for 24+ hour start times and \&quot;No Token\&quot; delivery option only.&quot;,&quot;heading&quot;:&quot;VG&amp;Media Capacity Alert&quot;,&quot;primaryAction&quot;:{&quot;label&quot;:&quot;Learn more&quot;,&quot;url&quot;:&quot;https://vgm.intranet.mckinsey.com/capacity-home&quot;},&quot;secondaryAction&quot;:{&quot;label&quot;:&quot;&quot;,&quot;url&quot;:&quot;&quot;},&quot;style&quot;:&quot;warning&quot;}},&quot;chargeCode&quot;:&quot;valid&quot;,&quot;chargeCodeRegistered&quot;:true,&quot;critical&quot;:0,&quot;csProjectId&quot;:1212260532,&quot;eligibleForPlus&quot;:false,&quot;featureFlag&quot;:{&quot;blockRequestsEnabled&quot;:false,&quot;overnightDeliveryEnabled&quot;:false,&quot;searchOfferingEnabled&quot;:false},&quot;forecast_value&quot;:&quot;Usual&quot;,&quot;inScope&quot;:true,&quot;is_mandate&quot;:1,&quot;isBoxDisabled&quot;:false,&quot;isCTEEnabled&quot;:false,&quot;lane&quot;:&quot;Global&quot;,&quot;mandate_date&quot;:&quot;2026-03-16&quot;,&quot;maxStartTime&quot;:480,&quot;message&quot;:&quot;&quot;,&quot;outSourced&quot;:true,&quot;platform&quot;:&quot;GW&quot;,&quot;projectType&quot;:&quot;Client&quot;,&quot;showInternal&quot;:false,&quot;study_end_date&quot;:&quot;2026-09-24&quot;,&quot;subLane&quot;:&quot;&quot;,&quot;teamMembers&quot;:[{&quot;end_date&quot;:&quot;2026-07-03&quot;,&quot;fmno&quot;:344518,&quot;start_date&quot;:&quot;2026-04-13&quot;},{&quot;end_date&quot;:&quot;2026-07-17&quot;,&quot;fmno&quot;:301316,&quot;start_date&quot;:&quot;2026-04-13&quot;},{&quot;end_date&quot;:&quot;2026-07-03&quot;,&quot;fmno&quot;:145759,&quot;start_date&quot;:&quot;2026-04-13&quot;},{&quot;end_date&quot;:&quot;2026-06-30&quot;,&quot;fmno&quot;:189650,&quot;start_date&quot;:&quot;2026-05-13&quot;}],&quot;token_admin&quot;:&quot;Sinan Dundar&quot;,&quot;tokenInfo&quot;:{&quot;allocated&quot;:57,&quot;autoNegotiation&quot;:64,&quot;autoNegotiationAvailCount&quot;:10,&quot;available&quot;:0,&quot;buffer&quot;:7,&quot;eligibleForNegotiation&quot;:true,&quot;escalationCount&quot;:0,&quot;forecast_value&quot;:&quot;Usual&quot;,&quot;manualNegotiation&quot;:9,&quot;manualNegotiationAvailCount&quot;:1,&quot;minimumTokenValue&quot;:30,&quot;negotiated&quot;:0,&quot;spent&quot;:130,&quot;study_end_date&quot;:&quot;2026-09-24&quot;,&quot;teamMembers&quot;:[],&quot;token_admin&quot;:null},&quot;userRegistered&quot;:true,&quot;code&quot;:&quot;8778KH01&quot;,&quot;updatedAt&quot;:&quot;2026-06-18T01:48:16.771Z&quot;}}"/>
  </we:properties>
  <we:bindings/>
  <we:snapshot xmlns:r="http://schemas.openxmlformats.org/officeDocument/2006/relationships"/>
</we:webextension>
</file>

<file path=ppt/webextensions/webextension3.xml><?xml version="1.0" encoding="utf-8"?>
<we:webextension xmlns:we="http://schemas.microsoft.com/office/webextensions/webextension/2010/11" id="{6660691E-05B7-4113-80D3-DDDA2D5E8A09}">
  <we:reference id="5332053f-08b1-4ad5-b936-144d44d33f40" version="2.62.2.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20A6254070E24794FE1579C5A6C6D3" ma:contentTypeVersion="13" ma:contentTypeDescription="Create a new document." ma:contentTypeScope="" ma:versionID="856520005649c6e1a5be1125adfad44c">
  <xsd:schema xmlns:xsd="http://www.w3.org/2001/XMLSchema" xmlns:xs="http://www.w3.org/2001/XMLSchema" xmlns:p="http://schemas.microsoft.com/office/2006/metadata/properties" xmlns:ns2="0be14fa9-6cae-4a6e-8f64-c89653d71d1a" xmlns:ns3="04527f1d-420b-4ae9-8cfd-f1f820dd9ec6" targetNamespace="http://schemas.microsoft.com/office/2006/metadata/properties" ma:root="true" ma:fieldsID="542299730c12770953427dc040bddabb" ns2:_="" ns3:_="">
    <xsd:import namespace="0be14fa9-6cae-4a6e-8f64-c89653d71d1a"/>
    <xsd:import namespace="04527f1d-420b-4ae9-8cfd-f1f820dd9ec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e14fa9-6cae-4a6e-8f64-c89653d71d1a"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0" nillable="true" ma:displayName="Taxonomy Catch All Column" ma:hidden="true" ma:list="{c5f9a80a-5724-4ce0-89cc-e8e2fb0f3bae}" ma:internalName="TaxCatchAll" ma:showField="CatchAllData" ma:web="0be14fa9-6cae-4a6e-8f64-c89653d71d1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4527f1d-420b-4ae9-8cfd-f1f820dd9ec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displayName="Image Tags_0" ma:hidden="true" ma:internalName="lcf76f155ced4ddcb4097134ff3c332f">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4527f1d-420b-4ae9-8cfd-f1f820dd9ec6" xsi:nil="true"/>
    <TaxCatchAll xmlns="0be14fa9-6cae-4a6e-8f64-c89653d71d1a" xsi:nil="true"/>
    <_dlc_DocId xmlns="0be14fa9-6cae-4a6e-8f64-c89653d71d1a">DREYFNV3VPE6-1370595577-2927</_dlc_DocId>
    <_dlc_DocIdUrl xmlns="0be14fa9-6cae-4a6e-8f64-c89653d71d1a">
      <Url>https://mckinsey.sharepoint.com/sites/spe-int-hp2fb3s8gbn/_layouts/15/DocIdRedir.aspx?ID=DREYFNV3VPE6-1370595577-2927</Url>
      <Description>DREYFNV3VPE6-1370595577-2927</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802FF45-338E-40B2-91CC-A5150C6386DD}">
  <ds:schemaRefs>
    <ds:schemaRef ds:uri="04527f1d-420b-4ae9-8cfd-f1f820dd9ec6"/>
    <ds:schemaRef ds:uri="0be14fa9-6cae-4a6e-8f64-c89653d71d1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3.xml><?xml version="1.0" encoding="utf-8"?>
<ds:datastoreItem xmlns:ds="http://schemas.openxmlformats.org/officeDocument/2006/customXml" ds:itemID="{67DF283F-4B82-4892-8EF9-70B9B3E3286B}">
  <ds:schemaRefs>
    <ds:schemaRef ds:uri="04527f1d-420b-4ae9-8cfd-f1f820dd9ec6"/>
    <ds:schemaRef ds:uri="0be14fa9-6cae-4a6e-8f64-c89653d71d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DD9506CC-CDA4-4209-B1FA-6E54A92D5AD1}">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6210</Words>
  <Application>Microsoft Office PowerPoint</Application>
  <PresentationFormat>Widescreen</PresentationFormat>
  <Paragraphs>953</Paragraphs>
  <Slides>35</Slides>
  <Notes>14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5" baseType="lpstr">
      <vt:lpstr>Aptos</vt:lpstr>
      <vt:lpstr>Arial</vt:lpstr>
      <vt:lpstr>Calibri</vt:lpstr>
      <vt:lpstr>Century Gothic</vt:lpstr>
      <vt:lpstr>Georgia</vt:lpstr>
      <vt:lpstr>Segoe UI</vt:lpstr>
      <vt:lpstr>Tahoma</vt:lpstr>
      <vt:lpstr>Wingdings</vt:lpstr>
      <vt:lpstr>3_White</vt:lpstr>
      <vt:lpstr>think-cell Slide</vt:lpstr>
      <vt:lpstr>Private &amp; Retail Segment</vt:lpstr>
      <vt:lpstr>Contents</vt:lpstr>
      <vt:lpstr>Private banking leaders are shifting from broad premium service to selective wealth franchises</vt:lpstr>
      <vt:lpstr>Defining “private banking customers” is critical to understand addressable market size</vt:lpstr>
      <vt:lpstr>Azerbaijan private banking market size is expected to be ~6.2k individuals based on bottom-up census approach</vt:lpstr>
      <vt:lpstr>Leveraging existing CIB relationships, PB can increase its private banking share to 30% by 2029</vt:lpstr>
      <vt:lpstr>Banks focus on enriching product offer and developing complementary services for private banking customers…</vt:lpstr>
      <vt:lpstr>PowerPoint Presentation</vt:lpstr>
      <vt:lpstr>Strategic lever summary – Become local Private Banking benchmark in products and service</vt:lpstr>
      <vt:lpstr>Contents</vt:lpstr>
      <vt:lpstr>Global and regional banks investing in retail banking plays for salaried customers</vt:lpstr>
      <vt:lpstr>Payroll liberalization can be addressed through targeted partnerships with corporates and value proposition upgrade</vt:lpstr>
      <vt:lpstr>PASHA can maximize payroll retention by focusing on dual-side value proposition</vt:lpstr>
      <vt:lpstr>PASHA Bank’s salary business is highly dependent on a concentrated pool of corporate clients</vt:lpstr>
      <vt:lpstr>Low product attachment makes payroll customers vulnerable once salary bank choice is liberalized</vt:lpstr>
      <vt:lpstr>PASHA can ensure corporate lock-in through strategic business-targeted actions</vt:lpstr>
      <vt:lpstr>Local competitive gap spans every dimension of salary card usage </vt:lpstr>
      <vt:lpstr>PASHA Bank can further protect its salary customers through revamping its value proposition and increasing lending limits</vt:lpstr>
      <vt:lpstr>Within salary customers, affluent can offer stronger revenue upside through higher salary volumes and product penetration</vt:lpstr>
      <vt:lpstr>Regional banks differentiate for affluent through service model and product access</vt:lpstr>
      <vt:lpstr>Winning in affluent segment will require differentiated offers and services</vt:lpstr>
      <vt:lpstr>Strategic lever summary – Retail Banking</vt:lpstr>
      <vt:lpstr>PowerPoint Presentation</vt:lpstr>
      <vt:lpstr>Backup</vt:lpstr>
      <vt:lpstr>Private banking</vt:lpstr>
      <vt:lpstr>Most banks define private banking services for customers with assets of USD &gt; 1Mn </vt:lpstr>
      <vt:lpstr>Retail banking</vt:lpstr>
      <vt:lpstr>Existing PASHA Holding limits may block future growth in retail segment</vt:lpstr>
      <vt:lpstr>Banking players offer exclusive incentives for their salary customers</vt:lpstr>
      <vt:lpstr>Unlocking affluent segment is key to expanding funding base</vt:lpstr>
      <vt:lpstr>Banks offer premium customer loyalty programs with a variety of offerings</vt:lpstr>
      <vt:lpstr>DBS’ iWealth1 app is amongst the best customer  engagement apps that provide customers a differentiated  and integrated view on their investment portfolios </vt:lpstr>
      <vt:lpstr>There are several NextGen payment technologies emerging, being built and used by banks, Fintechs, and sophisticated platforms</vt:lpstr>
      <vt:lpstr>Alipay embeds payments, services, and finance within its wallet service</vt:lpstr>
      <vt:lpstr>Low-cost stick-on card enables a seamless payment experience for users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Alexandra Marzan</dc:creator>
  <cp:keywords/>
  <dc:description/>
  <cp:lastModifiedBy>Jamil Guliyev</cp:lastModifiedBy>
  <cp:revision>1</cp:revision>
  <cp:lastPrinted>2018-10-30T20:37:12Z</cp:lastPrinted>
  <dcterms:created xsi:type="dcterms:W3CDTF">2026-04-21T19:35:39Z</dcterms:created>
  <dcterms:modified xsi:type="dcterms:W3CDTF">2026-10-04T11:05:48Z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2024-05-30 01:34 PM</vt:lpwstr>
  </property>
  <property fmtid="{D5CDD505-2E9C-101B-9397-08002B2CF9AE}" pid="8" name="TemplateCreated">
    <vt:lpwstr>2019-02-27 01:18 PM</vt:lpwstr>
  </property>
  <property fmtid="{D5CDD505-2E9C-101B-9397-08002B2CF9AE}" pid="9" name="MSIP_Label_83303d7c-e5a3-4cc8-90eb-69bfd7570ac4_Enabled">
    <vt:lpwstr>true</vt:lpwstr>
  </property>
  <property fmtid="{D5CDD505-2E9C-101B-9397-08002B2CF9AE}" pid="10" name="MSIP_Label_83303d7c-e5a3-4cc8-90eb-69bfd7570ac4_SetDate">
    <vt:lpwstr>2026-04-21T19:36:13Z</vt:lpwstr>
  </property>
  <property fmtid="{D5CDD505-2E9C-101B-9397-08002B2CF9AE}" pid="11" name="MSIP_Label_83303d7c-e5a3-4cc8-90eb-69bfd7570ac4_Method">
    <vt:lpwstr>Standard</vt:lpwstr>
  </property>
  <property fmtid="{D5CDD505-2E9C-101B-9397-08002B2CF9AE}" pid="12" name="MSIP_Label_83303d7c-e5a3-4cc8-90eb-69bfd7570ac4_Name">
    <vt:lpwstr>Client Confidential Information-SLV1</vt:lpwstr>
  </property>
  <property fmtid="{D5CDD505-2E9C-101B-9397-08002B2CF9AE}" pid="13" name="MSIP_Label_83303d7c-e5a3-4cc8-90eb-69bfd7570ac4_SiteId">
    <vt:lpwstr>cc8936bc-9382-4fff-87cb-6f55999549e7</vt:lpwstr>
  </property>
  <property fmtid="{D5CDD505-2E9C-101B-9397-08002B2CF9AE}" pid="14" name="MSIP_Label_83303d7c-e5a3-4cc8-90eb-69bfd7570ac4_ActionId">
    <vt:lpwstr>ed0ebb9b-bc7f-48b2-809c-174b7410e90a</vt:lpwstr>
  </property>
  <property fmtid="{D5CDD505-2E9C-101B-9397-08002B2CF9AE}" pid="15" name="MSIP_Label_83303d7c-e5a3-4cc8-90eb-69bfd7570ac4_ContentBits">
    <vt:lpwstr>0</vt:lpwstr>
  </property>
  <property fmtid="{D5CDD505-2E9C-101B-9397-08002B2CF9AE}" pid="16" name="MSIP_Label_83303d7c-e5a3-4cc8-90eb-69bfd7570ac4_Tag">
    <vt:lpwstr>10, 3, 0, 1</vt:lpwstr>
  </property>
  <property fmtid="{D5CDD505-2E9C-101B-9397-08002B2CF9AE}" pid="17" name="ContentTypeId">
    <vt:lpwstr>0x010100BA20A6254070E24794FE1579C5A6C6D3</vt:lpwstr>
  </property>
  <property fmtid="{D5CDD505-2E9C-101B-9397-08002B2CF9AE}" pid="18" name="_dlc_DocIdItemGuid">
    <vt:lpwstr>f37f663a-2289-4b86-bf48-9ea00419939f</vt:lpwstr>
  </property>
</Properties>
</file>