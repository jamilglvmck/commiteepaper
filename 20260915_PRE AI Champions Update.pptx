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2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3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4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5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6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7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31" r:id="rId5"/>
  </p:sldMasterIdLst>
  <p:notesMasterIdLst>
    <p:notesMasterId r:id="rId21"/>
  </p:notesMasterIdLst>
  <p:handoutMasterIdLst>
    <p:handoutMasterId r:id="rId22"/>
  </p:handoutMasterIdLst>
  <p:sldIdLst>
    <p:sldId id="400" r:id="rId6"/>
    <p:sldId id="539" r:id="rId7"/>
    <p:sldId id="310" r:id="rId8"/>
    <p:sldId id="520" r:id="rId9"/>
    <p:sldId id="537" r:id="rId10"/>
    <p:sldId id="1448943303" r:id="rId11"/>
    <p:sldId id="1448943297" r:id="rId12"/>
    <p:sldId id="1448943104" r:id="rId13"/>
    <p:sldId id="1448943102" r:id="rId14"/>
    <p:sldId id="540" r:id="rId15"/>
    <p:sldId id="416" r:id="rId16"/>
    <p:sldId id="1448943301" r:id="rId17"/>
    <p:sldId id="1448943300" r:id="rId18"/>
    <p:sldId id="1448943302" r:id="rId19"/>
    <p:sldId id="1448943304" r:id="rId20"/>
  </p:sldIdLst>
  <p:sldSz cx="12192000" cy="6858000"/>
  <p:notesSz cx="7102475" cy="9388475"/>
  <p:embeddedFontLs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Segoe UI" panose="020B0502040204020203" pitchFamily="34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C77D"/>
    <a:srgbClr val="E5F0F5"/>
    <a:srgbClr val="DDFFFE"/>
    <a:srgbClr val="2A86B0"/>
    <a:srgbClr val="EFFFFF"/>
    <a:srgbClr val="D1EAE5"/>
    <a:srgbClr val="A88000"/>
    <a:srgbClr val="FFF3CD"/>
    <a:srgbClr val="377A6C"/>
    <a:srgbClr val="EAF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2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na Isayeva" userId="52d003f3-0e97-432e-8ea6-943dae9f8862" providerId="ADAL" clId="{C8ED13E7-1B77-4BF2-8183-42AE0A5D6FF1}"/>
    <pc:docChg chg="custSel addSld modSld">
      <pc:chgData name="Sabina Isayeva" userId="52d003f3-0e97-432e-8ea6-943dae9f8862" providerId="ADAL" clId="{C8ED13E7-1B77-4BF2-8183-42AE0A5D6FF1}" dt="2026-09-25T09:30:21.159" v="20" actId="478"/>
      <pc:docMkLst>
        <pc:docMk/>
      </pc:docMkLst>
      <pc:sldChg chg="addSp delSp modSp new mod">
        <pc:chgData name="Sabina Isayeva" userId="52d003f3-0e97-432e-8ea6-943dae9f8862" providerId="ADAL" clId="{C8ED13E7-1B77-4BF2-8183-42AE0A5D6FF1}" dt="2026-09-25T09:30:21.159" v="20" actId="478"/>
        <pc:sldMkLst>
          <pc:docMk/>
          <pc:sldMk cId="829369572" sldId="1448943304"/>
        </pc:sldMkLst>
        <pc:spChg chg="mod">
          <ac:chgData name="Sabina Isayeva" userId="52d003f3-0e97-432e-8ea6-943dae9f8862" providerId="ADAL" clId="{C8ED13E7-1B77-4BF2-8183-42AE0A5D6FF1}" dt="2026-09-25T09:30:13.233" v="1"/>
          <ac:spMkLst>
            <pc:docMk/>
            <pc:sldMk cId="829369572" sldId="1448943304"/>
            <ac:spMk id="2" creationId="{84522F50-D703-A3EC-03AC-DBA860180F27}"/>
          </ac:spMkLst>
        </pc:spChg>
        <pc:spChg chg="mod">
          <ac:chgData name="Sabina Isayeva" userId="52d003f3-0e97-432e-8ea6-943dae9f8862" providerId="ADAL" clId="{C8ED13E7-1B77-4BF2-8183-42AE0A5D6FF1}" dt="2026-09-25T09:30:13.234" v="2"/>
          <ac:spMkLst>
            <pc:docMk/>
            <pc:sldMk cId="829369572" sldId="1448943304"/>
            <ac:spMk id="3" creationId="{5B9CD685-0999-C0A1-99A1-D0126FEBA74E}"/>
          </ac:spMkLst>
        </pc:spChg>
        <pc:spChg chg="mod">
          <ac:chgData name="Sabina Isayeva" userId="52d003f3-0e97-432e-8ea6-943dae9f8862" providerId="ADAL" clId="{C8ED13E7-1B77-4BF2-8183-42AE0A5D6FF1}" dt="2026-09-25T09:30:13.237" v="3"/>
          <ac:spMkLst>
            <pc:docMk/>
            <pc:sldMk cId="829369572" sldId="1448943304"/>
            <ac:spMk id="4" creationId="{BAF524A7-E218-3029-8601-A7A68F584ADD}"/>
          </ac:spMkLst>
        </pc:spChg>
        <pc:graphicFrameChg chg="add mod ord modVis">
          <ac:chgData name="Sabina Isayeva" userId="52d003f3-0e97-432e-8ea6-943dae9f8862" providerId="ADAL" clId="{C8ED13E7-1B77-4BF2-8183-42AE0A5D6FF1}" dt="2026-09-25T09:30:13.831" v="17"/>
          <ac:graphicFrameMkLst>
            <pc:docMk/>
            <pc:sldMk cId="829369572" sldId="1448943304"/>
            <ac:graphicFrameMk id="5" creationId="{9DB16BAA-B0AB-5BCB-271B-38C598A8EF2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 October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 rtl="0">
              <a:defRPr sz="9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 rtl="0">
              <a:defRPr sz="9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 October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 rtl="0">
              <a:defRPr sz="9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 rtl="0">
              <a:defRPr sz="9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 October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14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 October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78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 October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34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8A33E-E773-61F3-2DFD-58132B3F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0A796-8B2D-29C7-25A8-96CEA24EA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FB278-F461-3A75-9DD3-F2D5CDE7D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BE56D-AB7E-09E0-0257-9EDAC88F8F1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 October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AB475-A936-BF49-48CB-F9748629B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5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FD7A-B992-6F2F-8749-E357E614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45318-91A4-2474-6FFD-C52472790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5C5FE-60A0-9C14-5645-1DB73BACA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4E860-895E-A84A-5AF7-93CDE4AA87D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 October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FF14-8F65-DF31-310F-C997D214D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65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 October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12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2A2A0-5145-3487-40AF-CFDC8759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2BF6B-F184-3AF3-0215-A5AA4EECE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A341F9-3707-8223-A2A3-4DB9A8A7E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A0EB0-BD89-E83A-22D7-8E04DD5619F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 October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B1FCD-A432-1987-2384-C75F7B155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27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4.xml"/><Relationship Id="rId7" Type="http://schemas.openxmlformats.org/officeDocument/2006/relationships/oleObject" Target="../embeddings/oleObject2.bin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10" Type="http://schemas.openxmlformats.org/officeDocument/2006/relationships/image" Target="../media/image5.png"/><Relationship Id="rId4" Type="http://schemas.openxmlformats.org/officeDocument/2006/relationships/tags" Target="../tags/tag25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10" Type="http://schemas.openxmlformats.org/officeDocument/2006/relationships/image" Target="../media/image1.emf"/><Relationship Id="rId4" Type="http://schemas.openxmlformats.org/officeDocument/2006/relationships/tags" Target="../tags/tag30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3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4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image" Target="../media/image3.emf"/><Relationship Id="rId4" Type="http://schemas.openxmlformats.org/officeDocument/2006/relationships/tags" Target="../tags/tag55.xml"/><Relationship Id="rId9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2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1.emf"/><Relationship Id="rId5" Type="http://schemas.openxmlformats.org/officeDocument/2006/relationships/tags" Target="../tags/tag63.xml"/><Relationship Id="rId10" Type="http://schemas.openxmlformats.org/officeDocument/2006/relationships/oleObject" Target="../embeddings/oleObject8.bin"/><Relationship Id="rId4" Type="http://schemas.openxmlformats.org/officeDocument/2006/relationships/tags" Target="../tags/tag62.xml"/><Relationship Id="rId9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2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1.emf"/><Relationship Id="rId5" Type="http://schemas.openxmlformats.org/officeDocument/2006/relationships/tags" Target="../tags/tag71.xml"/><Relationship Id="rId10" Type="http://schemas.openxmlformats.org/officeDocument/2006/relationships/oleObject" Target="../embeddings/oleObject9.bin"/><Relationship Id="rId4" Type="http://schemas.openxmlformats.org/officeDocument/2006/relationships/tags" Target="../tags/tag70.xml"/><Relationship Id="rId9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2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1.emf"/><Relationship Id="rId5" Type="http://schemas.openxmlformats.org/officeDocument/2006/relationships/tags" Target="../tags/tag79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78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2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6.emf"/><Relationship Id="rId5" Type="http://schemas.openxmlformats.org/officeDocument/2006/relationships/tags" Target="../tags/tag87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86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image" Target="../media/image2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1.emf"/><Relationship Id="rId5" Type="http://schemas.openxmlformats.org/officeDocument/2006/relationships/tags" Target="../tags/tag95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94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tags" Target="../tags/tag10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10" Type="http://schemas.openxmlformats.org/officeDocument/2006/relationships/image" Target="../media/image2.png"/><Relationship Id="rId4" Type="http://schemas.openxmlformats.org/officeDocument/2006/relationships/tags" Target="../tags/tag102.xml"/><Relationship Id="rId9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7.xml"/><Relationship Id="rId7" Type="http://schemas.openxmlformats.org/officeDocument/2006/relationships/image" Target="../media/image3.emf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oleObject" Target="../embeddings/oleObject1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10" Type="http://schemas.openxmlformats.org/officeDocument/2006/relationships/image" Target="../media/image1.emf"/><Relationship Id="rId4" Type="http://schemas.openxmlformats.org/officeDocument/2006/relationships/tags" Target="../tags/tag114.xml"/><Relationship Id="rId9" Type="http://schemas.openxmlformats.org/officeDocument/2006/relationships/oleObject" Target="../embeddings/oleObject1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microsoft.com/office/2007/relationships/hdphoto" Target="../media/hdphoto1.wdp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7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9025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object 2">
            <a:extLst>
              <a:ext uri="{FF2B5EF4-FFF2-40B4-BE49-F238E27FC236}">
                <a16:creationId xmlns:a16="http://schemas.microsoft.com/office/drawing/2014/main" id="{5AB9BA8B-6EA8-85FF-FC35-23A97219B291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 bwMode="ltGray">
          <a:xfrm>
            <a:off x="521716" y="416051"/>
            <a:ext cx="2534412" cy="781812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B49FA7B7-98EB-8F14-4ED7-C1C4B9C6578B}"/>
              </a:ext>
            </a:extLst>
          </p:cNvPr>
          <p:cNvPicPr/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495544" y="0"/>
            <a:ext cx="6696456" cy="6857997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C70D36B1-E47A-B0AF-E37C-54FC6540EF97}"/>
              </a:ext>
            </a:extLst>
          </p:cNvPr>
          <p:cNvSpPr/>
          <p:nvPr/>
        </p:nvSpPr>
        <p:spPr bwMode="ltGray">
          <a:xfrm>
            <a:off x="5423915" y="3047"/>
            <a:ext cx="1757680" cy="6855459"/>
          </a:xfrm>
          <a:custGeom>
            <a:avLst/>
            <a:gdLst/>
            <a:ahLst/>
            <a:cxnLst/>
            <a:rect l="l" t="t" r="r" b="b"/>
            <a:pathLst>
              <a:path w="1757679" h="6855459">
                <a:moveTo>
                  <a:pt x="1757172" y="0"/>
                </a:moveTo>
                <a:lnTo>
                  <a:pt x="1638300" y="0"/>
                </a:lnTo>
                <a:lnTo>
                  <a:pt x="0" y="6854951"/>
                </a:lnTo>
                <a:lnTo>
                  <a:pt x="118872" y="6854951"/>
                </a:lnTo>
                <a:lnTo>
                  <a:pt x="175717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1" y="5457228"/>
            <a:ext cx="5032883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1400" dirty="0">
                <a:ea typeface="+mn-ea"/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4"/>
            </p:custDataLst>
          </p:nvPr>
        </p:nvSpPr>
        <p:spPr bwMode="ltGray">
          <a:xfrm>
            <a:off x="551942" y="4728191"/>
            <a:ext cx="5032883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2000" dirty="0">
                <a:ea typeface="+mn-ea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 bwMode="ltGray">
          <a:xfrm>
            <a:off x="551942" y="2583383"/>
            <a:ext cx="5032883" cy="2031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en-US" sz="4400" dirty="0">
                <a:ea typeface="+mj-ea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  <a:br>
              <a:rPr lang="en-US"/>
            </a:br>
            <a:r>
              <a:rPr lang="en-US"/>
              <a:t>style</a:t>
            </a:r>
          </a:p>
        </p:txBody>
      </p:sp>
    </p:spTree>
    <p:extLst>
      <p:ext uri="{BB962C8B-B14F-4D97-AF65-F5344CB8AC3E}">
        <p14:creationId xmlns:p14="http://schemas.microsoft.com/office/powerpoint/2010/main" val="202492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3021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>
                <a:ea typeface="+mn-ea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>
                <a:ea typeface="+mn-ea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ea typeface="+mj-ea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174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8630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78709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2527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39508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5152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21368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898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>
                <a:ea typeface="+mj-ea"/>
              </a:defRPr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408000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6389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n-US">
              <a:solidFill>
                <a:srgbClr val="F0F0F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ea typeface="+mj-ea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3E9CAE59-39AA-DEB0-B3EA-6B6BC9ACAA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88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399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ea typeface="+mj-ea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581B8377-E92E-BE3D-F48A-5B3C0A476628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4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7707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A5430925-1217-A081-5685-033BF347257F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8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42190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1"/>
                </a:solidFill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8BCF32F9-DF16-B2B4-9239-FE9D83E1D01E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8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4908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C8C19A2B-2989-8AFE-C51E-F909E1C7689D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92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22596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989512"/>
          </a:xfrm>
        </p:spPr>
        <p:txBody>
          <a:bodyPr vert="horz">
            <a:noAutofit/>
          </a:bodyPr>
          <a:lstStyle>
            <a:lvl1pPr rtl="0">
              <a:defRPr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5" name="bg object 16">
            <a:extLst>
              <a:ext uri="{FF2B5EF4-FFF2-40B4-BE49-F238E27FC236}">
                <a16:creationId xmlns:a16="http://schemas.microsoft.com/office/drawing/2014/main" id="{A77E2B49-9C87-BD7C-848A-BE47DCB27CAE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45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5215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3" name="bg object 16">
            <a:extLst>
              <a:ext uri="{FF2B5EF4-FFF2-40B4-BE49-F238E27FC236}">
                <a16:creationId xmlns:a16="http://schemas.microsoft.com/office/drawing/2014/main" id="{81A0E02A-444B-20B0-0ED9-0FCEF99DB54B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51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4990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pic>
        <p:nvPicPr>
          <p:cNvPr id="3" name="bg object 16">
            <a:extLst>
              <a:ext uri="{FF2B5EF4-FFF2-40B4-BE49-F238E27FC236}">
                <a16:creationId xmlns:a16="http://schemas.microsoft.com/office/drawing/2014/main" id="{005E2BE4-D970-25A4-7062-B683063762D0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 bwMode="ltGray">
          <a:xfrm>
            <a:off x="4959325" y="3077331"/>
            <a:ext cx="2273350" cy="7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40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41417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11082528" cy="246221"/>
          </a:xfrm>
        </p:spPr>
        <p:txBody>
          <a:bodyPr anchor="ctr" anchorCtr="0"/>
          <a:lstStyle>
            <a:lvl1pPr rtl="0">
              <a:defRPr/>
            </a:lvl1pPr>
          </a:lstStyle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5860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A9CF6F9-3F22-4C1D-8F1F-9500FF412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0627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A9CF6F9-3F22-4C1D-8F1F-9500FF412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pic>
        <p:nvPicPr>
          <p:cNvPr id="28" name="bg object 16">
            <a:extLst>
              <a:ext uri="{FF2B5EF4-FFF2-40B4-BE49-F238E27FC236}">
                <a16:creationId xmlns:a16="http://schemas.microsoft.com/office/drawing/2014/main" id="{201543CF-748E-5F2E-D2A5-8CD1DF8A42BE}"/>
              </a:ext>
            </a:extLst>
          </p:cNvPr>
          <p:cNvPicPr/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68000"/>
                    </a14:imgEffect>
                  </a14:imgLayer>
                </a14:imgProps>
              </a:ext>
            </a:extLst>
          </a:blip>
          <a:srcRect l="699" t="2828" r="770" b="1923"/>
          <a:stretch/>
        </p:blipFill>
        <p:spPr bwMode="ltGray">
          <a:xfrm>
            <a:off x="4975225" y="3097213"/>
            <a:ext cx="2239963" cy="66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5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26" Type="http://schemas.openxmlformats.org/officeDocument/2006/relationships/tags" Target="../tags/tag10.xml"/><Relationship Id="rId39" Type="http://schemas.openxmlformats.org/officeDocument/2006/relationships/image" Target="../media/image1.emf"/><Relationship Id="rId21" Type="http://schemas.openxmlformats.org/officeDocument/2006/relationships/tags" Target="../tags/tag5.xml"/><Relationship Id="rId34" Type="http://schemas.openxmlformats.org/officeDocument/2006/relationships/tags" Target="../tags/tag18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tags" Target="../tags/tag9.xml"/><Relationship Id="rId33" Type="http://schemas.openxmlformats.org/officeDocument/2006/relationships/tags" Target="../tags/tag17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4.xml"/><Relationship Id="rId29" Type="http://schemas.openxmlformats.org/officeDocument/2006/relationships/tags" Target="../tags/tag1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8.xml"/><Relationship Id="rId32" Type="http://schemas.openxmlformats.org/officeDocument/2006/relationships/tags" Target="../tags/tag16.xml"/><Relationship Id="rId37" Type="http://schemas.openxmlformats.org/officeDocument/2006/relationships/tags" Target="../tags/tag21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7.xml"/><Relationship Id="rId28" Type="http://schemas.openxmlformats.org/officeDocument/2006/relationships/tags" Target="../tags/tag12.xml"/><Relationship Id="rId36" Type="http://schemas.openxmlformats.org/officeDocument/2006/relationships/tags" Target="../tags/tag20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31" Type="http://schemas.openxmlformats.org/officeDocument/2006/relationships/tags" Target="../tags/tag1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6.xml"/><Relationship Id="rId27" Type="http://schemas.openxmlformats.org/officeDocument/2006/relationships/tags" Target="../tags/tag11.xml"/><Relationship Id="rId30" Type="http://schemas.openxmlformats.org/officeDocument/2006/relationships/tags" Target="../tags/tag14.xml"/><Relationship Id="rId35" Type="http://schemas.openxmlformats.org/officeDocument/2006/relationships/tags" Target="../tags/tag19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345494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413" imgH="416" progId="TCLayout.ActiveDocument.1">
                  <p:embed/>
                </p:oleObj>
              </mc:Choice>
              <mc:Fallback>
                <p:oleObj name="think-cell Slide" r:id="rId3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>
                <a:ea typeface="+mn-ea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n-US">
                <a:ea typeface="+mn-ea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987738" y="2170800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>
                <a:ea typeface="+mn-ea"/>
              </a:rPr>
              <a:t>Above Chart Exhibit Title</a:t>
            </a:r>
          </a:p>
          <a:p>
            <a:pPr lvl="0" rtl="0"/>
            <a:r>
              <a:rPr lang="en-US" sz="1400" b="0">
                <a:ea typeface="+mn-ea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LegendLines" hidden="1">
            <a:extLst>
              <a:ext uri="{FF2B5EF4-FFF2-40B4-BE49-F238E27FC236}">
                <a16:creationId xmlns:a16="http://schemas.microsoft.com/office/drawing/2014/main" id="{6F4C5333-301C-31CA-5788-F1A11F1895B3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8" name="Legend1" hidden="1">
              <a:extLst>
                <a:ext uri="{FF2B5EF4-FFF2-40B4-BE49-F238E27FC236}">
                  <a16:creationId xmlns:a16="http://schemas.microsoft.com/office/drawing/2014/main" id="{5809D380-5DC6-A0A9-3115-644F5473EE95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9" name="Legend2" hidden="1">
              <a:extLst>
                <a:ext uri="{FF2B5EF4-FFF2-40B4-BE49-F238E27FC236}">
                  <a16:creationId xmlns:a16="http://schemas.microsoft.com/office/drawing/2014/main" id="{17891444-05D8-F53E-E9B6-5A12F2E482AA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0" name="Legend3" hidden="1">
              <a:extLst>
                <a:ext uri="{FF2B5EF4-FFF2-40B4-BE49-F238E27FC236}">
                  <a16:creationId xmlns:a16="http://schemas.microsoft.com/office/drawing/2014/main" id="{A6974435-A3F3-47EF-7028-156087CC20D2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1" name="LineLegend3" hidden="1">
              <a:extLst>
                <a:ext uri="{FF2B5EF4-FFF2-40B4-BE49-F238E27FC236}">
                  <a16:creationId xmlns:a16="http://schemas.microsoft.com/office/drawing/2014/main" id="{FEB0B5F8-5F52-C2CE-B1BD-B6EC715D0EF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US" sz="1400" baseline="0">
                <a:ea typeface="+mn-ea"/>
              </a:endParaRPr>
            </a:p>
          </p:txBody>
        </p:sp>
        <p:sp>
          <p:nvSpPr>
            <p:cNvPr id="12" name="LineLegend2" hidden="1">
              <a:extLst>
                <a:ext uri="{FF2B5EF4-FFF2-40B4-BE49-F238E27FC236}">
                  <a16:creationId xmlns:a16="http://schemas.microsoft.com/office/drawing/2014/main" id="{ED9C229F-4106-35FF-0EBB-721D8C5F8F6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US" sz="1400" baseline="0">
                <a:ea typeface="+mn-ea"/>
              </a:endParaRPr>
            </a:p>
          </p:txBody>
        </p:sp>
        <p:sp>
          <p:nvSpPr>
            <p:cNvPr id="13" name="LineLegend1" hidden="1">
              <a:extLst>
                <a:ext uri="{FF2B5EF4-FFF2-40B4-BE49-F238E27FC236}">
                  <a16:creationId xmlns:a16="http://schemas.microsoft.com/office/drawing/2014/main" id="{F84F193B-6C4E-1AC2-66AF-13436246E26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US" sz="1400" baseline="0">
                <a:ea typeface="+mn-ea"/>
              </a:endParaRPr>
            </a:p>
          </p:txBody>
        </p:sp>
      </p:grpSp>
      <p:grpSp>
        <p:nvGrpSpPr>
          <p:cNvPr id="14" name="LegendMoons" hidden="1">
            <a:extLst>
              <a:ext uri="{FF2B5EF4-FFF2-40B4-BE49-F238E27FC236}">
                <a16:creationId xmlns:a16="http://schemas.microsoft.com/office/drawing/2014/main" id="{F8F083EE-1F71-FD97-A25A-2A01472C4882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5" name="Legend1" hidden="1">
              <a:extLst>
                <a:ext uri="{FF2B5EF4-FFF2-40B4-BE49-F238E27FC236}">
                  <a16:creationId xmlns:a16="http://schemas.microsoft.com/office/drawing/2014/main" id="{F7FCD738-706C-ECB7-1DCE-346AD8108D76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7" name="Legend2" hidden="1">
              <a:extLst>
                <a:ext uri="{FF2B5EF4-FFF2-40B4-BE49-F238E27FC236}">
                  <a16:creationId xmlns:a16="http://schemas.microsoft.com/office/drawing/2014/main" id="{C9637331-955E-9C5A-9A9E-5375D200053A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8" name="Legend3" hidden="1">
              <a:extLst>
                <a:ext uri="{FF2B5EF4-FFF2-40B4-BE49-F238E27FC236}">
                  <a16:creationId xmlns:a16="http://schemas.microsoft.com/office/drawing/2014/main" id="{F93E4B2D-4080-E373-635C-5CA49FA1A053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9" name="Legend4" hidden="1">
              <a:extLst>
                <a:ext uri="{FF2B5EF4-FFF2-40B4-BE49-F238E27FC236}">
                  <a16:creationId xmlns:a16="http://schemas.microsoft.com/office/drawing/2014/main" id="{AF6A4A43-128E-6ACB-E330-07255B068258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20" name="Legend5" hidden="1">
              <a:extLst>
                <a:ext uri="{FF2B5EF4-FFF2-40B4-BE49-F238E27FC236}">
                  <a16:creationId xmlns:a16="http://schemas.microsoft.com/office/drawing/2014/main" id="{59859D06-1170-B39D-68BC-2239AAD94C75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grpSp>
          <p:nvGrpSpPr>
            <p:cNvPr id="21" name="MoonLegend1" hidden="1">
              <a:extLst>
                <a:ext uri="{FF2B5EF4-FFF2-40B4-BE49-F238E27FC236}">
                  <a16:creationId xmlns:a16="http://schemas.microsoft.com/office/drawing/2014/main" id="{91A5F416-99A2-73D7-E7B9-79B186B0F0DD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4" name="Oval 33" hidden="1">
                <a:extLst>
                  <a:ext uri="{FF2B5EF4-FFF2-40B4-BE49-F238E27FC236}">
                    <a16:creationId xmlns:a16="http://schemas.microsoft.com/office/drawing/2014/main" id="{780646D6-675B-B91B-306E-60628E01D958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35" name="Arc 34" hidden="1">
                <a:extLst>
                  <a:ext uri="{FF2B5EF4-FFF2-40B4-BE49-F238E27FC236}">
                    <a16:creationId xmlns:a16="http://schemas.microsoft.com/office/drawing/2014/main" id="{18912D38-27C9-B6DF-ADB1-47602B2DF0B3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  <p:grpSp>
          <p:nvGrpSpPr>
            <p:cNvPr id="22" name="MoonLegend2" hidden="1">
              <a:extLst>
                <a:ext uri="{FF2B5EF4-FFF2-40B4-BE49-F238E27FC236}">
                  <a16:creationId xmlns:a16="http://schemas.microsoft.com/office/drawing/2014/main" id="{961C171B-F4A5-72B4-7EC6-4B0A9E05D637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2" name="Oval 31" hidden="1">
                <a:extLst>
                  <a:ext uri="{FF2B5EF4-FFF2-40B4-BE49-F238E27FC236}">
                    <a16:creationId xmlns:a16="http://schemas.microsoft.com/office/drawing/2014/main" id="{A7A1DBDC-6E02-DDF8-0D86-88C45EDDB849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33" name="Arc 32" hidden="1">
                <a:extLst>
                  <a:ext uri="{FF2B5EF4-FFF2-40B4-BE49-F238E27FC236}">
                    <a16:creationId xmlns:a16="http://schemas.microsoft.com/office/drawing/2014/main" id="{AB3F359B-B4A2-60FE-BFE5-16D057DF0F69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  <p:grpSp>
          <p:nvGrpSpPr>
            <p:cNvPr id="23" name="MoonLegend3" hidden="1">
              <a:extLst>
                <a:ext uri="{FF2B5EF4-FFF2-40B4-BE49-F238E27FC236}">
                  <a16:creationId xmlns:a16="http://schemas.microsoft.com/office/drawing/2014/main" id="{426F7876-FBAC-2EC2-A781-79CBC55B3D80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30" name="Oval 29" hidden="1">
                <a:extLst>
                  <a:ext uri="{FF2B5EF4-FFF2-40B4-BE49-F238E27FC236}">
                    <a16:creationId xmlns:a16="http://schemas.microsoft.com/office/drawing/2014/main" id="{BB256B16-11DF-3D6D-B5A8-D19B4EAB8FD1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31" name="Arc 30" hidden="1">
                <a:extLst>
                  <a:ext uri="{FF2B5EF4-FFF2-40B4-BE49-F238E27FC236}">
                    <a16:creationId xmlns:a16="http://schemas.microsoft.com/office/drawing/2014/main" id="{8444E28C-75CB-006E-5B3B-A817036E7D19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  <p:grpSp>
          <p:nvGrpSpPr>
            <p:cNvPr id="24" name="MoonLegend4" hidden="1">
              <a:extLst>
                <a:ext uri="{FF2B5EF4-FFF2-40B4-BE49-F238E27FC236}">
                  <a16:creationId xmlns:a16="http://schemas.microsoft.com/office/drawing/2014/main" id="{07021886-2C3F-68E1-AF30-24716F0BA996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8" name="Oval 27" hidden="1">
                <a:extLst>
                  <a:ext uri="{FF2B5EF4-FFF2-40B4-BE49-F238E27FC236}">
                    <a16:creationId xmlns:a16="http://schemas.microsoft.com/office/drawing/2014/main" id="{EE4EB6CE-D57F-1344-18FB-6D8249EEEEB5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29" name="Arc 28" hidden="1">
                <a:extLst>
                  <a:ext uri="{FF2B5EF4-FFF2-40B4-BE49-F238E27FC236}">
                    <a16:creationId xmlns:a16="http://schemas.microsoft.com/office/drawing/2014/main" id="{817FC34E-1491-9717-D118-5BF21F17A796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  <p:grpSp>
          <p:nvGrpSpPr>
            <p:cNvPr id="25" name="MoonLegend5" hidden="1">
              <a:extLst>
                <a:ext uri="{FF2B5EF4-FFF2-40B4-BE49-F238E27FC236}">
                  <a16:creationId xmlns:a16="http://schemas.microsoft.com/office/drawing/2014/main" id="{DBC1063F-597B-3CF2-F00C-22D7E5855DA8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6" name="Oval 25" hidden="1">
                <a:extLst>
                  <a:ext uri="{FF2B5EF4-FFF2-40B4-BE49-F238E27FC236}">
                    <a16:creationId xmlns:a16="http://schemas.microsoft.com/office/drawing/2014/main" id="{9A895220-EA8D-317B-6439-1640CDA126CD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27" name="Arc 26" hidden="1">
                <a:extLst>
                  <a:ext uri="{FF2B5EF4-FFF2-40B4-BE49-F238E27FC236}">
                    <a16:creationId xmlns:a16="http://schemas.microsoft.com/office/drawing/2014/main" id="{0D5ACF7C-21DA-5626-4D56-7217811332A1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</p:grpSp>
      <p:grpSp>
        <p:nvGrpSpPr>
          <p:cNvPr id="36" name="LegendBoxes" hidden="1">
            <a:extLst>
              <a:ext uri="{FF2B5EF4-FFF2-40B4-BE49-F238E27FC236}">
                <a16:creationId xmlns:a16="http://schemas.microsoft.com/office/drawing/2014/main" id="{A07373FC-6345-F370-7DAB-B419E0801AE8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37" name="RectangleLegend1" hidden="1">
              <a:extLst>
                <a:ext uri="{FF2B5EF4-FFF2-40B4-BE49-F238E27FC236}">
                  <a16:creationId xmlns:a16="http://schemas.microsoft.com/office/drawing/2014/main" id="{7663E5EA-FD23-10EA-6829-D8581CF86E93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38" name="RectangleLegend2" hidden="1">
              <a:extLst>
                <a:ext uri="{FF2B5EF4-FFF2-40B4-BE49-F238E27FC236}">
                  <a16:creationId xmlns:a16="http://schemas.microsoft.com/office/drawing/2014/main" id="{EFE46594-6FF2-A191-A082-281933F95752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39" name="RectangleLegend3" hidden="1">
              <a:extLst>
                <a:ext uri="{FF2B5EF4-FFF2-40B4-BE49-F238E27FC236}">
                  <a16:creationId xmlns:a16="http://schemas.microsoft.com/office/drawing/2014/main" id="{C56E4517-0F1F-E6FE-4CBF-4FED38A027EA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40" name="RectangleLegend4" hidden="1">
              <a:extLst>
                <a:ext uri="{FF2B5EF4-FFF2-40B4-BE49-F238E27FC236}">
                  <a16:creationId xmlns:a16="http://schemas.microsoft.com/office/drawing/2014/main" id="{0E0975B0-13EA-E395-173A-9F1056BFEA00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41" name="RectangleLegend5" hidden="1">
              <a:extLst>
                <a:ext uri="{FF2B5EF4-FFF2-40B4-BE49-F238E27FC236}">
                  <a16:creationId xmlns:a16="http://schemas.microsoft.com/office/drawing/2014/main" id="{21166FD3-B4A3-DA06-F6F5-F5302A6389DD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42" name="Legend1" hidden="1">
              <a:extLst>
                <a:ext uri="{FF2B5EF4-FFF2-40B4-BE49-F238E27FC236}">
                  <a16:creationId xmlns:a16="http://schemas.microsoft.com/office/drawing/2014/main" id="{5E0B1367-BA6D-E24C-E4B2-6BEA4813E0F8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43" name="Legend2" hidden="1">
              <a:extLst>
                <a:ext uri="{FF2B5EF4-FFF2-40B4-BE49-F238E27FC236}">
                  <a16:creationId xmlns:a16="http://schemas.microsoft.com/office/drawing/2014/main" id="{A10F1E78-BA4C-57A9-D741-DD528D34EB16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44" name="Legend3" hidden="1">
              <a:extLst>
                <a:ext uri="{FF2B5EF4-FFF2-40B4-BE49-F238E27FC236}">
                  <a16:creationId xmlns:a16="http://schemas.microsoft.com/office/drawing/2014/main" id="{7AB1995A-B01C-4F24-C50C-197B97CCB93C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45" name="Legend4" hidden="1">
              <a:extLst>
                <a:ext uri="{FF2B5EF4-FFF2-40B4-BE49-F238E27FC236}">
                  <a16:creationId xmlns:a16="http://schemas.microsoft.com/office/drawing/2014/main" id="{9AF8BDAE-7C0E-15CA-47E4-61138C317AAE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46" name="Legend5" hidden="1">
              <a:extLst>
                <a:ext uri="{FF2B5EF4-FFF2-40B4-BE49-F238E27FC236}">
                  <a16:creationId xmlns:a16="http://schemas.microsoft.com/office/drawing/2014/main" id="{889861C2-A899-CACA-F7C5-7F410A75410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</p:grpSp>
      <p:pic>
        <p:nvPicPr>
          <p:cNvPr id="6" name="bg object 16">
            <a:extLst>
              <a:ext uri="{FF2B5EF4-FFF2-40B4-BE49-F238E27FC236}">
                <a16:creationId xmlns:a16="http://schemas.microsoft.com/office/drawing/2014/main" id="{BC9F2A5E-0F6E-DE2D-7171-1145F557F3F8}"/>
              </a:ext>
            </a:extLst>
          </p:cNvPr>
          <p:cNvPicPr/>
          <p:nvPr userDrawn="1"/>
        </p:nvPicPr>
        <p:blipFill>
          <a:blip r:embed="rId40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2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7" r:id="rId15"/>
    <p:sldLayoutId id="2147484112" r:id="rId1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0.xml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slide" Target="slide10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slide" Target="slide8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slide" Target="slide5.xml"/><Relationship Id="rId5" Type="http://schemas.openxmlformats.org/officeDocument/2006/relationships/tags" Target="../tags/tag125.xml"/><Relationship Id="rId10" Type="http://schemas.openxmlformats.org/officeDocument/2006/relationships/image" Target="../media/image8.emf"/><Relationship Id="rId4" Type="http://schemas.openxmlformats.org/officeDocument/2006/relationships/tags" Target="../tags/tag124.xml"/><Relationship Id="rId9" Type="http://schemas.openxmlformats.org/officeDocument/2006/relationships/oleObject" Target="../embeddings/oleObject18.bin"/><Relationship Id="rId1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tags" Target="../tags/tag130.xml"/><Relationship Id="rId7" Type="http://schemas.openxmlformats.org/officeDocument/2006/relationships/image" Target="../media/image8.emf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oleObject" Target="../embeddings/oleObject19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image" Target="../media/image8.emf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135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134.xml"/><Relationship Id="rId9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13" Type="http://schemas.openxmlformats.org/officeDocument/2006/relationships/slide" Target="slide8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slide" Target="slide2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8.emf"/><Relationship Id="rId5" Type="http://schemas.openxmlformats.org/officeDocument/2006/relationships/tags" Target="../tags/tag143.xml"/><Relationship Id="rId15" Type="http://schemas.openxmlformats.org/officeDocument/2006/relationships/slide" Target="slide13.xml"/><Relationship Id="rId10" Type="http://schemas.openxmlformats.org/officeDocument/2006/relationships/oleObject" Target="../embeddings/oleObject21.bin"/><Relationship Id="rId4" Type="http://schemas.openxmlformats.org/officeDocument/2006/relationships/tags" Target="../tags/tag142.xml"/><Relationship Id="rId9" Type="http://schemas.openxmlformats.org/officeDocument/2006/relationships/notesSlide" Target="../notesSlides/notesSlide3.xml"/><Relationship Id="rId1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svg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3.bin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slide" Target="slide5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slide" Target="slide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image" Target="../media/image8.emf"/><Relationship Id="rId5" Type="http://schemas.openxmlformats.org/officeDocument/2006/relationships/tags" Target="../tags/tag154.xml"/><Relationship Id="rId15" Type="http://schemas.openxmlformats.org/officeDocument/2006/relationships/slide" Target="slide13.xml"/><Relationship Id="rId10" Type="http://schemas.openxmlformats.org/officeDocument/2006/relationships/oleObject" Target="../embeddings/oleObject24.bin"/><Relationship Id="rId4" Type="http://schemas.openxmlformats.org/officeDocument/2006/relationships/tags" Target="../tags/tag153.xml"/><Relationship Id="rId9" Type="http://schemas.openxmlformats.org/officeDocument/2006/relationships/slideLayout" Target="../slideLayouts/slideLayout6.xml"/><Relationship Id="rId1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slide" Target="slide5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slide" Target="slide2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image" Target="../media/image8.emf"/><Relationship Id="rId5" Type="http://schemas.openxmlformats.org/officeDocument/2006/relationships/tags" Target="../tags/tag164.xml"/><Relationship Id="rId15" Type="http://schemas.openxmlformats.org/officeDocument/2006/relationships/slide" Target="slide13.xml"/><Relationship Id="rId10" Type="http://schemas.openxmlformats.org/officeDocument/2006/relationships/oleObject" Target="../embeddings/oleObject26.bin"/><Relationship Id="rId4" Type="http://schemas.openxmlformats.org/officeDocument/2006/relationships/tags" Target="../tags/tag163.xml"/><Relationship Id="rId9" Type="http://schemas.openxmlformats.org/officeDocument/2006/relationships/slideLayout" Target="../slideLayouts/slideLayout6.xml"/><Relationship Id="rId1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8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28.bin"/><Relationship Id="rId4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13" Type="http://schemas.openxmlformats.org/officeDocument/2006/relationships/slide" Target="slide5.xml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slide" Target="slide2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image" Target="../media/image8.emf"/><Relationship Id="rId5" Type="http://schemas.openxmlformats.org/officeDocument/2006/relationships/tags" Target="../tags/tag175.xml"/><Relationship Id="rId15" Type="http://schemas.openxmlformats.org/officeDocument/2006/relationships/slide" Target="slide10.xml"/><Relationship Id="rId10" Type="http://schemas.openxmlformats.org/officeDocument/2006/relationships/oleObject" Target="../embeddings/oleObject29.bin"/><Relationship Id="rId4" Type="http://schemas.openxmlformats.org/officeDocument/2006/relationships/tags" Target="../tags/tag174.xml"/><Relationship Id="rId9" Type="http://schemas.openxmlformats.org/officeDocument/2006/relationships/slideLayout" Target="../slideLayouts/slideLayout6.xml"/><Relationship Id="rId14" Type="http://schemas.openxmlformats.org/officeDocument/2006/relationships/slide" Target="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30.bin"/><Relationship Id="rId4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83.xml"/><Relationship Id="rId7" Type="http://schemas.openxmlformats.org/officeDocument/2006/relationships/image" Target="../media/image16.emf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oleObject" Target="../embeddings/oleObject31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9A19CED-051F-60D4-7095-028F0B425B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54146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A19CED-051F-60D4-7095-028F0B425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>
                <a:latin typeface="Arial"/>
              </a:rPr>
              <a:t>Discussion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latin typeface="Arial"/>
              </a:rPr>
              <a:t>September 2026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1942" y="3629823"/>
            <a:ext cx="5032883" cy="984885"/>
          </a:xfrm>
        </p:spPr>
        <p:txBody>
          <a:bodyPr vert="horz" wrap="square"/>
          <a:lstStyle/>
          <a:p>
            <a:r>
              <a:rPr sz="3200" b="1">
                <a:latin typeface="Arial"/>
              </a:rPr>
              <a:t>AI Champions Program</a:t>
            </a:r>
          </a:p>
          <a:p>
            <a:r>
              <a:rPr sz="3200" b="1">
                <a:latin typeface="Arial"/>
              </a:rPr>
              <a:t>Progress Update</a:t>
            </a:r>
          </a:p>
        </p:txBody>
      </p:sp>
    </p:spTree>
    <p:extLst>
      <p:ext uri="{BB962C8B-B14F-4D97-AF65-F5344CB8AC3E}">
        <p14:creationId xmlns:p14="http://schemas.microsoft.com/office/powerpoint/2010/main" val="72737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26CF4-EEAD-DC89-BD56-E9EFD4BC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5D9CC6F0-268C-56F7-C545-FDA36BE8A3E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0542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5D9CC6F0-268C-56F7-C545-FDA36BE8A3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EF306A0-9766-E3DF-744A-9AA04014BCCB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32450" y="2286000"/>
            <a:ext cx="4178300" cy="4572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cs typeface="+mn-cs"/>
              </a:rPr>
              <a:t>Progress update</a:t>
            </a:r>
          </a:p>
        </p:txBody>
      </p:sp>
      <p:sp>
        <p:nvSpPr>
          <p:cNvPr id="25" name="Text Placeholder 4">
            <a:hlinkClick r:id="rId11" action="ppaction://hlinksldjump"/>
            <a:extLst>
              <a:ext uri="{FF2B5EF4-FFF2-40B4-BE49-F238E27FC236}">
                <a16:creationId xmlns:a16="http://schemas.microsoft.com/office/drawing/2014/main" id="{11FE2A23-FB86-A1F8-3776-02B4950AB76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32450" y="27432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AI engine and core data platform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6" name="Text Placeholder 4">
            <a:hlinkClick r:id="rId12" action="ppaction://hlinksldjump"/>
            <a:extLst>
              <a:ext uri="{FF2B5EF4-FFF2-40B4-BE49-F238E27FC236}">
                <a16:creationId xmlns:a16="http://schemas.microsoft.com/office/drawing/2014/main" id="{69E379B3-0EED-7BE8-6AFA-EC77D4297BD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632450" y="32004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cs typeface="+mn-cs"/>
              </a:rPr>
              <a:t>AI-based unified BoQ 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33" name="Text Placeholder 4">
            <a:hlinkClick r:id="rId13" action="ppaction://hlinksldjump"/>
            <a:extLst>
              <a:ext uri="{FF2B5EF4-FFF2-40B4-BE49-F238E27FC236}">
                <a16:creationId xmlns:a16="http://schemas.microsoft.com/office/drawing/2014/main" id="{4541184A-5720-0593-7CB9-1B1CEB95E37E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32450" y="36576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Cap</a:t>
            </a: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</a:rPr>
              <a:t>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x estimation </a:t>
            </a: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</a:rPr>
              <a:t>solution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Placeholder 4">
            <a:hlinkClick r:id="rId14" action="ppaction://hlinksldjump"/>
            <a:extLst>
              <a:ext uri="{FF2B5EF4-FFF2-40B4-BE49-F238E27FC236}">
                <a16:creationId xmlns:a16="http://schemas.microsoft.com/office/drawing/2014/main" id="{E465AB1A-8CE5-D207-E140-E1020A389E62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5632450" y="4114800"/>
            <a:ext cx="41783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Next steps</a:t>
            </a:r>
          </a:p>
        </p:txBody>
      </p:sp>
      <p:sp>
        <p:nvSpPr>
          <p:cNvPr id="27" name="2. Slide Title">
            <a:extLst>
              <a:ext uri="{FF2B5EF4-FFF2-40B4-BE49-F238E27FC236}">
                <a16:creationId xmlns:a16="http://schemas.microsoft.com/office/drawing/2014/main" id="{89F3CAD8-9011-D312-BF4E-F989A2766E21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286000"/>
            <a:ext cx="5065776" cy="768350"/>
          </a:xfrm>
        </p:spPr>
        <p:txBody>
          <a:bodyPr vert="horz"/>
          <a:lstStyle/>
          <a:p>
            <a:r>
              <a:rPr lang="en-US" sz="2500"/>
              <a:t>Agenda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3BBBA8A-94CC-13A6-D943-CF36E7F19F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6825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Object 6" hidden="1">
            <a:extLst>
              <a:ext uri="{FF2B5EF4-FFF2-40B4-BE49-F238E27FC236}">
                <a16:creationId xmlns:a16="http://schemas.microsoft.com/office/drawing/2014/main" id="{3074A10B-B18F-CD27-30B1-101D8FE900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88496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4" imgH="405" progId="TCLayout.ActiveDocument.1">
                  <p:embed/>
                </p:oleObj>
              </mc:Choice>
              <mc:Fallback>
                <p:oleObj name="think-cell Slide" r:id="rId6" imgW="404" imgH="405" progId="TCLayout.ActiveDocument.1">
                  <p:embed/>
                  <p:pic>
                    <p:nvPicPr>
                      <p:cNvPr id="38" name="Object 6" hidden="1">
                        <a:extLst>
                          <a:ext uri="{FF2B5EF4-FFF2-40B4-BE49-F238E27FC236}">
                            <a16:creationId xmlns:a16="http://schemas.microsoft.com/office/drawing/2014/main" id="{3074A10B-B18F-CD27-30B1-101D8FE900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>
            <a:noAutofit/>
          </a:bodyPr>
          <a:lstStyle/>
          <a:p>
            <a:r>
              <a:rPr lang="tr-TR" sz="2500" b="1">
                <a:solidFill>
                  <a:srgbClr val="333333"/>
                </a:solidFill>
                <a:latin typeface="Arial"/>
              </a:rPr>
              <a:t>Recap: 3 solutions in one connected workflow on a single AI platform</a:t>
            </a:r>
            <a:br>
              <a:rPr lang="tr-TR" sz="2500" b="1">
                <a:solidFill>
                  <a:srgbClr val="333333"/>
                </a:solidFill>
                <a:latin typeface="Arial"/>
              </a:rPr>
            </a:br>
            <a:endParaRPr lang="tr-TR" sz="25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57" name="Rounded Rectangle 26">
            <a:extLst>
              <a:ext uri="{FF2B5EF4-FFF2-40B4-BE49-F238E27FC236}">
                <a16:creationId xmlns:a16="http://schemas.microsoft.com/office/drawing/2014/main" id="{054791EA-43DE-1CC8-0B38-E1641E9EAACF}"/>
              </a:ext>
            </a:extLst>
          </p:cNvPr>
          <p:cNvSpPr/>
          <p:nvPr/>
        </p:nvSpPr>
        <p:spPr>
          <a:xfrm>
            <a:off x="554736" y="4140837"/>
            <a:ext cx="11082528" cy="2284901"/>
          </a:xfrm>
          <a:prstGeom prst="roundRect">
            <a:avLst>
              <a:gd name="adj" fmla="val 0"/>
            </a:avLst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tr-TR" b="1">
                <a:solidFill>
                  <a:schemeClr val="bg1">
                    <a:lumMod val="50000"/>
                  </a:schemeClr>
                </a:solidFill>
                <a:latin typeface="+mj-lt"/>
              </a:rPr>
              <a:t>FOUNDATIONS</a:t>
            </a:r>
            <a:endParaRPr lang="en-US" b="1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54736" y="737419"/>
            <a:ext cx="11082528" cy="3205930"/>
          </a:xfrm>
          <a:prstGeom prst="roundRect">
            <a:avLst>
              <a:gd name="adj" fmla="val 0"/>
            </a:avLst>
          </a:prstGeom>
          <a:solidFill>
            <a:srgbClr val="EAF1F0"/>
          </a:solidFill>
          <a:ln>
            <a:noFill/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tr-TR" b="1">
                <a:solidFill>
                  <a:srgbClr val="377A6C"/>
                </a:solidFill>
                <a:latin typeface="+mj-lt"/>
              </a:rPr>
              <a:t>SINGLE PRE AI PLATFORM FOR ALL IN-HOUSE SOLUTIONS</a:t>
            </a:r>
            <a:endParaRPr lang="en-US" b="1">
              <a:solidFill>
                <a:srgbClr val="377A6C"/>
              </a:solidFill>
              <a:latin typeface="+mj-lt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53A4F6-DD97-CA84-8098-49E157BA4AC6}"/>
              </a:ext>
            </a:extLst>
          </p:cNvPr>
          <p:cNvGrpSpPr/>
          <p:nvPr/>
        </p:nvGrpSpPr>
        <p:grpSpPr>
          <a:xfrm>
            <a:off x="620867" y="1156358"/>
            <a:ext cx="5312145" cy="2636275"/>
            <a:chOff x="620867" y="1485008"/>
            <a:chExt cx="5312145" cy="2471851"/>
          </a:xfrm>
        </p:grpSpPr>
        <p:sp>
          <p:nvSpPr>
            <p:cNvPr id="5" name="Chevron 4"/>
            <p:cNvSpPr/>
            <p:nvPr/>
          </p:nvSpPr>
          <p:spPr>
            <a:xfrm>
              <a:off x="2393301" y="1485008"/>
              <a:ext cx="1767277" cy="660000"/>
            </a:xfrm>
            <a:prstGeom prst="chevron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/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+mj-lt"/>
                </a:rPr>
                <a:t>Concept design</a:t>
              </a:r>
            </a:p>
          </p:txBody>
        </p:sp>
        <p:sp>
          <p:nvSpPr>
            <p:cNvPr id="4" name="Pentagon 3"/>
            <p:cNvSpPr/>
            <p:nvPr/>
          </p:nvSpPr>
          <p:spPr>
            <a:xfrm>
              <a:off x="620867" y="1485008"/>
              <a:ext cx="1767277" cy="660000"/>
            </a:xfrm>
            <a:prstGeom prst="homePlate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/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+mj-lt"/>
                </a:rPr>
                <a:t>Project brief 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4165735" y="1485008"/>
              <a:ext cx="1767277" cy="660000"/>
            </a:xfrm>
            <a:prstGeom prst="chevron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/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+mj-lt"/>
                </a:rPr>
                <a:t>Technical design</a:t>
              </a:r>
            </a:p>
          </p:txBody>
        </p:sp>
        <p:sp>
          <p:nvSpPr>
            <p:cNvPr id="9" name="Rounded Rectangle 8"/>
            <p:cNvSpPr>
              <a:spLocks/>
            </p:cNvSpPr>
            <p:nvPr/>
          </p:nvSpPr>
          <p:spPr>
            <a:xfrm>
              <a:off x="620868" y="2330179"/>
              <a:ext cx="5251170" cy="162668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3E2"/>
              </a:solidFill>
            </a:ln>
            <a:effectLst>
              <a:outerShdw blurRad="70000" dist="25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r>
                <a:rPr lang="en-US" b="1">
                  <a:solidFill>
                    <a:srgbClr val="333333"/>
                  </a:solidFill>
                  <a:latin typeface="+mj-lt"/>
                </a:rPr>
                <a:t>CAPEX estimation</a:t>
              </a:r>
            </a:p>
            <a:p>
              <a:r>
                <a:rPr lang="en-US" sz="1600">
                  <a:solidFill>
                    <a:srgbClr val="444444"/>
                  </a:solidFill>
                  <a:latin typeface="+mj-lt"/>
                </a:rPr>
                <a:t>Estimate project cost in different </a:t>
              </a:r>
              <a:r>
                <a:rPr lang="tr-TR" sz="1600">
                  <a:solidFill>
                    <a:srgbClr val="444444"/>
                  </a:solidFill>
                  <a:latin typeface="+mj-lt"/>
                </a:rPr>
                <a:t>detail </a:t>
              </a:r>
              <a:r>
                <a:rPr lang="en-US" sz="1600">
                  <a:solidFill>
                    <a:srgbClr val="444444"/>
                  </a:solidFill>
                  <a:latin typeface="+mj-lt"/>
                </a:rPr>
                <a:t>levels using historical </a:t>
              </a:r>
              <a:r>
                <a:rPr lang="tr-TR" sz="1600">
                  <a:solidFill>
                    <a:srgbClr val="444444"/>
                  </a:solidFill>
                  <a:latin typeface="+mj-lt"/>
                </a:rPr>
                <a:t>data</a:t>
              </a:r>
              <a:r>
                <a:rPr lang="en-US" sz="1600">
                  <a:solidFill>
                    <a:srgbClr val="444444"/>
                  </a:solidFill>
                  <a:latin typeface="+mj-lt"/>
                </a:rPr>
                <a:t> and item-level price forecasting model</a:t>
              </a:r>
            </a:p>
            <a:p>
              <a:endParaRPr lang="en-US" b="1">
                <a:solidFill>
                  <a:srgbClr val="333333"/>
                </a:solidFill>
                <a:latin typeface="+mj-lt"/>
              </a:endParaRPr>
            </a:p>
          </p:txBody>
        </p:sp>
        <p:sp>
          <p:nvSpPr>
            <p:cNvPr id="10" name="Rounded Rectangle 47">
              <a:extLst>
                <a:ext uri="{FF2B5EF4-FFF2-40B4-BE49-F238E27FC236}">
                  <a16:creationId xmlns:a16="http://schemas.microsoft.com/office/drawing/2014/main" id="{08D72E48-914D-75C5-3C3F-4D684F04814C}"/>
                </a:ext>
              </a:extLst>
            </p:cNvPr>
            <p:cNvSpPr/>
            <p:nvPr/>
          </p:nvSpPr>
          <p:spPr>
            <a:xfrm>
              <a:off x="713053" y="3526462"/>
              <a:ext cx="1740587" cy="299887"/>
            </a:xfrm>
            <a:prstGeom prst="roundRect">
              <a:avLst>
                <a:gd name="adj" fmla="val 35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25400" rIns="63500" bIns="25400" rtlCol="0" anchor="ctr"/>
            <a:lstStyle/>
            <a:p>
              <a:pPr algn="ctr"/>
              <a:r>
                <a:rPr lang="tr-TR" sz="1400" b="1" i="0">
                  <a:solidFill>
                    <a:srgbClr val="FFFFFF"/>
                  </a:solidFill>
                  <a:latin typeface="Arial"/>
                </a:rPr>
                <a:t>Today’s agenda</a:t>
              </a:r>
              <a:endParaRPr sz="1400" b="1" i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" name="Chevron 7"/>
          <p:cNvSpPr>
            <a:spLocks/>
          </p:cNvSpPr>
          <p:nvPr/>
        </p:nvSpPr>
        <p:spPr>
          <a:xfrm>
            <a:off x="8757230" y="1156358"/>
            <a:ext cx="2813903" cy="703902"/>
          </a:xfrm>
          <a:prstGeom prst="chevron">
            <a:avLst>
              <a:gd name="adj" fmla="val 18000"/>
            </a:avLst>
          </a:prstGeom>
          <a:solidFill>
            <a:srgbClr val="37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25400" rIns="63500" bIns="2540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+mj-lt"/>
              </a:rPr>
              <a:t>Construction</a:t>
            </a:r>
          </a:p>
        </p:txBody>
      </p:sp>
      <p:sp>
        <p:nvSpPr>
          <p:cNvPr id="21" name="Rounded Rectangle 20"/>
          <p:cNvSpPr>
            <a:spLocks/>
          </p:cNvSpPr>
          <p:nvPr/>
        </p:nvSpPr>
        <p:spPr>
          <a:xfrm>
            <a:off x="8806886" y="2057749"/>
            <a:ext cx="2714590" cy="17348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Construction </a:t>
            </a:r>
            <a:r>
              <a:rPr kumimoji="0" lang="tr-TR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control tower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Monitor progress and budget in one view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11450E-2E66-BA55-DE3B-4F9FAFBA8F72}"/>
              </a:ext>
            </a:extLst>
          </p:cNvPr>
          <p:cNvGrpSpPr/>
          <p:nvPr/>
        </p:nvGrpSpPr>
        <p:grpSpPr>
          <a:xfrm>
            <a:off x="5938170" y="1156358"/>
            <a:ext cx="2813903" cy="2636275"/>
            <a:chOff x="5938169" y="1485008"/>
            <a:chExt cx="2813903" cy="2471851"/>
          </a:xfrm>
        </p:grpSpPr>
        <p:sp>
          <p:nvSpPr>
            <p:cNvPr id="7" name="Chevron 6"/>
            <p:cNvSpPr>
              <a:spLocks/>
            </p:cNvSpPr>
            <p:nvPr/>
          </p:nvSpPr>
          <p:spPr>
            <a:xfrm>
              <a:off x="5938169" y="1485008"/>
              <a:ext cx="2813903" cy="660000"/>
            </a:xfrm>
            <a:prstGeom prst="chevron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>
              <a:no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+mj-lt"/>
                </a:rPr>
                <a:t>Tender</a:t>
              </a:r>
            </a:p>
          </p:txBody>
        </p:sp>
        <p:sp>
          <p:nvSpPr>
            <p:cNvPr id="15" name="Rounded Rectangle 14"/>
            <p:cNvSpPr>
              <a:spLocks/>
            </p:cNvSpPr>
            <p:nvPr/>
          </p:nvSpPr>
          <p:spPr>
            <a:xfrm>
              <a:off x="5987825" y="2330179"/>
              <a:ext cx="2714590" cy="162668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3E2"/>
              </a:solidFill>
            </a:ln>
            <a:effectLst>
              <a:outerShdw blurRad="70000" dist="25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Tender bid evaluation</a:t>
              </a: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Compare bids on unified </a:t>
              </a:r>
              <a:r>
                <a:rPr kumimoji="0" 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BoQ</a:t>
              </a:r>
              <a:r>
                <a:rPr lang="tr-TR" sz="1600">
                  <a:solidFill>
                    <a:srgbClr val="444444"/>
                  </a:solidFill>
                  <a:latin typeface="+mj-lt"/>
                </a:rPr>
                <a:t> with </a:t>
              </a:r>
              <a:r>
                <a:rPr kumimoji="0" lang="tr-TR" sz="16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AI-suggested prices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and flag</a:t>
              </a:r>
              <a:r>
                <a:rPr lang="tr-TR" sz="1600">
                  <a:solidFill>
                    <a:srgbClr val="444444"/>
                  </a:solidFill>
                  <a:latin typeface="+mj-lt"/>
                </a:rPr>
                <a:t>s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2" name="Rounded Rectangle 47">
              <a:extLst>
                <a:ext uri="{FF2B5EF4-FFF2-40B4-BE49-F238E27FC236}">
                  <a16:creationId xmlns:a16="http://schemas.microsoft.com/office/drawing/2014/main" id="{7376E30C-D2DE-C339-D87C-B6D6447CE6A6}"/>
                </a:ext>
              </a:extLst>
            </p:cNvPr>
            <p:cNvSpPr/>
            <p:nvPr/>
          </p:nvSpPr>
          <p:spPr>
            <a:xfrm>
              <a:off x="6106901" y="3526462"/>
              <a:ext cx="1740587" cy="299887"/>
            </a:xfrm>
            <a:prstGeom prst="roundRect">
              <a:avLst>
                <a:gd name="adj" fmla="val 35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25400" rIns="63500" bIns="25400" rtlCol="0" anchor="ctr"/>
            <a:lstStyle/>
            <a:p>
              <a:pPr algn="ctr"/>
              <a:r>
                <a:rPr lang="tr-TR" sz="1400" b="1" i="0">
                  <a:solidFill>
                    <a:schemeClr val="bg1">
                      <a:lumMod val="65000"/>
                    </a:schemeClr>
                  </a:solidFill>
                  <a:latin typeface="Arial"/>
                </a:rPr>
                <a:t>To start in Oct-26</a:t>
              </a:r>
              <a:endParaRPr sz="1400" b="1" i="0">
                <a:solidFill>
                  <a:schemeClr val="bg1">
                    <a:lumMod val="65000"/>
                  </a:schemeClr>
                </a:solidFill>
                <a:latin typeface="Arial"/>
              </a:endParaRPr>
            </a:p>
          </p:txBody>
        </p:sp>
      </p:grpSp>
      <p:sp>
        <p:nvSpPr>
          <p:cNvPr id="11" name="Rounded Rectangle 29">
            <a:extLst>
              <a:ext uri="{FF2B5EF4-FFF2-40B4-BE49-F238E27FC236}">
                <a16:creationId xmlns:a16="http://schemas.microsoft.com/office/drawing/2014/main" id="{FAF98E28-5A2F-78CB-05B3-C7234B2B6920}"/>
              </a:ext>
            </a:extLst>
          </p:cNvPr>
          <p:cNvSpPr>
            <a:spLocks/>
          </p:cNvSpPr>
          <p:nvPr/>
        </p:nvSpPr>
        <p:spPr>
          <a:xfrm>
            <a:off x="700856" y="5619738"/>
            <a:ext cx="10827052" cy="5057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r>
              <a:rPr lang="tr-TR" b="1">
                <a:solidFill>
                  <a:srgbClr val="333333"/>
                </a:solidFill>
                <a:latin typeface="+mj-lt"/>
              </a:rPr>
              <a:t>Agentic workflow design</a:t>
            </a:r>
            <a:endParaRPr lang="en-US" b="1" i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85911" y="4581677"/>
            <a:ext cx="3441997" cy="9332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tr-TR" b="1">
                <a:solidFill>
                  <a:srgbClr val="333333"/>
                </a:solidFill>
                <a:latin typeface="+mj-lt"/>
              </a:rPr>
              <a:t>PRE </a:t>
            </a:r>
            <a:r>
              <a:rPr b="1" i="0">
                <a:solidFill>
                  <a:srgbClr val="333333"/>
                </a:solidFill>
                <a:latin typeface="+mj-lt"/>
              </a:rPr>
              <a:t>AI stack</a:t>
            </a:r>
            <a:endParaRPr lang="tr-TR" b="1" i="0">
              <a:solidFill>
                <a:srgbClr val="333333"/>
              </a:solidFill>
              <a:latin typeface="+mj-lt"/>
            </a:endParaRPr>
          </a:p>
          <a:p>
            <a:pPr algn="ctr"/>
            <a:endParaRPr lang="tr-TR" b="1" i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00856" y="4581677"/>
            <a:ext cx="3441997" cy="9332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en-US" b="1" i="0">
                <a:solidFill>
                  <a:srgbClr val="333333"/>
                </a:solidFill>
                <a:latin typeface="+mj-lt"/>
              </a:rPr>
              <a:t>PRE </a:t>
            </a:r>
            <a:r>
              <a:rPr lang="tr-TR" b="1" i="0">
                <a:solidFill>
                  <a:srgbClr val="333333"/>
                </a:solidFill>
                <a:latin typeface="+mj-lt"/>
              </a:rPr>
              <a:t>core data platform</a:t>
            </a:r>
          </a:p>
          <a:p>
            <a:pPr algn="ctr"/>
            <a:endParaRPr lang="tr-TR" b="1" i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93385" y="4581677"/>
            <a:ext cx="3441997" cy="9332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tr-TR" b="1" i="0">
                <a:solidFill>
                  <a:srgbClr val="333333"/>
                </a:solidFill>
                <a:latin typeface="+mj-lt"/>
              </a:rPr>
              <a:t>AI-based unified BoQ</a:t>
            </a:r>
          </a:p>
          <a:p>
            <a:pPr algn="ctr"/>
            <a:endParaRPr lang="tr-TR" b="1" i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3" name="Rounded Rectangle 47">
            <a:extLst>
              <a:ext uri="{FF2B5EF4-FFF2-40B4-BE49-F238E27FC236}">
                <a16:creationId xmlns:a16="http://schemas.microsoft.com/office/drawing/2014/main" id="{B815AF72-D6F3-6FF3-4477-C2355C338D5E}"/>
              </a:ext>
            </a:extLst>
          </p:cNvPr>
          <p:cNvSpPr/>
          <p:nvPr/>
        </p:nvSpPr>
        <p:spPr>
          <a:xfrm>
            <a:off x="5225706" y="5100045"/>
            <a:ext cx="1740587" cy="319835"/>
          </a:xfrm>
          <a:prstGeom prst="roundRect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/>
          <a:lstStyle/>
          <a:p>
            <a:pPr algn="ctr"/>
            <a:r>
              <a:rPr lang="tr-TR" sz="1400" b="1" i="0">
                <a:solidFill>
                  <a:srgbClr val="FFFFFF"/>
                </a:solidFill>
                <a:latin typeface="Arial"/>
              </a:rPr>
              <a:t>Today’s agenda</a:t>
            </a:r>
            <a:endParaRPr sz="14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ounded Rectangle 47">
            <a:extLst>
              <a:ext uri="{FF2B5EF4-FFF2-40B4-BE49-F238E27FC236}">
                <a16:creationId xmlns:a16="http://schemas.microsoft.com/office/drawing/2014/main" id="{790B99B7-BE00-03D2-7636-2C7C12DFC9F2}"/>
              </a:ext>
            </a:extLst>
          </p:cNvPr>
          <p:cNvSpPr/>
          <p:nvPr/>
        </p:nvSpPr>
        <p:spPr>
          <a:xfrm>
            <a:off x="8936616" y="5100045"/>
            <a:ext cx="1740587" cy="319835"/>
          </a:xfrm>
          <a:prstGeom prst="roundRect">
            <a:avLst>
              <a:gd name="adj" fmla="val 35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/>
          <a:lstStyle/>
          <a:p>
            <a:pPr algn="ctr"/>
            <a:r>
              <a:rPr lang="tr-TR" sz="1400" b="1" i="0">
                <a:solidFill>
                  <a:schemeClr val="accent6">
                    <a:lumMod val="75000"/>
                  </a:schemeClr>
                </a:solidFill>
                <a:latin typeface="Arial"/>
              </a:rPr>
              <a:t>Ongoing</a:t>
            </a:r>
            <a:endParaRPr sz="1400" b="1" i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7" name="Rounded Rectangle 47">
            <a:extLst>
              <a:ext uri="{FF2B5EF4-FFF2-40B4-BE49-F238E27FC236}">
                <a16:creationId xmlns:a16="http://schemas.microsoft.com/office/drawing/2014/main" id="{9BA51A1D-7FD6-1978-F24A-77A4F1C5C292}"/>
              </a:ext>
            </a:extLst>
          </p:cNvPr>
          <p:cNvSpPr/>
          <p:nvPr/>
        </p:nvSpPr>
        <p:spPr>
          <a:xfrm>
            <a:off x="8940337" y="3331618"/>
            <a:ext cx="1740587" cy="319835"/>
          </a:xfrm>
          <a:prstGeom prst="roundRect">
            <a:avLst>
              <a:gd name="adj" fmla="val 35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/>
          <a:lstStyle/>
          <a:p>
            <a:pPr algn="ctr"/>
            <a:r>
              <a:rPr lang="tr-TR" sz="1400" b="1" i="0">
                <a:solidFill>
                  <a:schemeClr val="accent6">
                    <a:lumMod val="75000"/>
                  </a:schemeClr>
                </a:solidFill>
                <a:latin typeface="Arial"/>
              </a:rPr>
              <a:t>Ongoing</a:t>
            </a:r>
            <a:endParaRPr sz="1400" b="1" i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20" name="Rounded Rectangle 47">
            <a:extLst>
              <a:ext uri="{FF2B5EF4-FFF2-40B4-BE49-F238E27FC236}">
                <a16:creationId xmlns:a16="http://schemas.microsoft.com/office/drawing/2014/main" id="{A2638A1F-285E-5A1A-4237-894F3EB35528}"/>
              </a:ext>
            </a:extLst>
          </p:cNvPr>
          <p:cNvSpPr/>
          <p:nvPr/>
        </p:nvSpPr>
        <p:spPr>
          <a:xfrm>
            <a:off x="1551561" y="5100045"/>
            <a:ext cx="1737360" cy="321824"/>
          </a:xfrm>
          <a:prstGeom prst="roundRect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/>
          <a:lstStyle/>
          <a:p>
            <a:pPr algn="ctr"/>
            <a:r>
              <a:rPr lang="tr-TR" sz="1400" b="1" i="0">
                <a:solidFill>
                  <a:srgbClr val="FFFFFF"/>
                </a:solidFill>
                <a:latin typeface="Arial"/>
              </a:rPr>
              <a:t>Today’s agenda</a:t>
            </a:r>
            <a:endParaRPr sz="1400" b="1" i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" name="CheckmarkBlue 21">
            <a:extLst>
              <a:ext uri="{FF2B5EF4-FFF2-40B4-BE49-F238E27FC236}">
                <a16:creationId xmlns:a16="http://schemas.microsoft.com/office/drawing/2014/main" id="{A8E9254E-2DED-FF5C-C318-F157A9A1E916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7573433" y="5712375"/>
            <a:ext cx="311562" cy="311562"/>
            <a:chOff x="1016000" y="1016000"/>
            <a:chExt cx="396228" cy="396228"/>
          </a:xfrm>
          <a:solidFill>
            <a:schemeClr val="accent2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09749ED-5E00-5435-2CB1-F39942F16C4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3586915-A0C0-72F3-7100-78E333F005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394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30628502-7A94-2091-6F52-941996D3C9B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3462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4" imgH="405" progId="TCLayout.ActiveDocument.1">
                  <p:embed/>
                </p:oleObj>
              </mc:Choice>
              <mc:Fallback>
                <p:oleObj name="think-cell Slide" r:id="rId11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30628502-7A94-2091-6F52-941996D3C9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7ECCA39E-649E-1E3B-7EAA-F950B4E8308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>
            <a:noAutofit/>
          </a:bodyPr>
          <a:lstStyle/>
          <a:p>
            <a:r>
              <a:rPr lang="tr-TR" sz="2500" b="1">
                <a:solidFill>
                  <a:srgbClr val="333333"/>
                </a:solidFill>
                <a:latin typeface="Arial"/>
              </a:rPr>
              <a:t>AI Champions Program Action Plan</a:t>
            </a:r>
            <a:br>
              <a:rPr lang="tr-TR" sz="2500" b="1">
                <a:solidFill>
                  <a:srgbClr val="333333"/>
                </a:solidFill>
                <a:latin typeface="Arial"/>
              </a:rPr>
            </a:br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59AE6ED-C146-5BDB-7BEE-0251D4F781E1}"/>
              </a:ext>
            </a:extLst>
          </p:cNvPr>
          <p:cNvCxnSpPr>
            <a:cxnSpLocks/>
          </p:cNvCxnSpPr>
          <p:nvPr/>
        </p:nvCxnSpPr>
        <p:spPr>
          <a:xfrm>
            <a:off x="1414512" y="5130800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2836BF8-8125-FF80-E50F-72DD0CDE79F9}"/>
              </a:ext>
            </a:extLst>
          </p:cNvPr>
          <p:cNvCxnSpPr>
            <a:cxnSpLocks/>
          </p:cNvCxnSpPr>
          <p:nvPr/>
        </p:nvCxnSpPr>
        <p:spPr>
          <a:xfrm>
            <a:off x="1414512" y="5765800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74DDA4-59C7-97AA-D7BD-F6DCC01FC409}"/>
              </a:ext>
            </a:extLst>
          </p:cNvPr>
          <p:cNvCxnSpPr>
            <a:cxnSpLocks/>
          </p:cNvCxnSpPr>
          <p:nvPr/>
        </p:nvCxnSpPr>
        <p:spPr>
          <a:xfrm>
            <a:off x="1414512" y="2811781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53172C-9CCC-AB01-04CC-76D9E2D19175}"/>
              </a:ext>
            </a:extLst>
          </p:cNvPr>
          <p:cNvCxnSpPr>
            <a:cxnSpLocks/>
          </p:cNvCxnSpPr>
          <p:nvPr/>
        </p:nvCxnSpPr>
        <p:spPr>
          <a:xfrm>
            <a:off x="1414512" y="3538669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5DBF144-53F8-7232-9B10-F21D5045366B}"/>
              </a:ext>
            </a:extLst>
          </p:cNvPr>
          <p:cNvCxnSpPr>
            <a:cxnSpLocks/>
          </p:cNvCxnSpPr>
          <p:nvPr/>
        </p:nvCxnSpPr>
        <p:spPr>
          <a:xfrm>
            <a:off x="1414512" y="2084891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3AF97C2-4F0B-3A1E-E61D-EAB28804C289}"/>
              </a:ext>
            </a:extLst>
          </p:cNvPr>
          <p:cNvSpPr>
            <a:spLocks/>
          </p:cNvSpPr>
          <p:nvPr/>
        </p:nvSpPr>
        <p:spPr>
          <a:xfrm>
            <a:off x="551689" y="4336241"/>
            <a:ext cx="809856" cy="2039297"/>
          </a:xfrm>
          <a:prstGeom prst="rect">
            <a:avLst/>
          </a:prstGeom>
          <a:solidFill>
            <a:srgbClr val="00A8A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100" b="1">
                <a:solidFill>
                  <a:schemeClr val="bg1"/>
                </a:solidFill>
              </a:rPr>
              <a:t>Solutions</a:t>
            </a:r>
            <a:endParaRPr lang="en-US" sz="1100" b="1" err="1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414512" y="288246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 core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platform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14512" y="2159847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 AI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4512" y="5152030"/>
            <a:ext cx="1267000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Tender bid evaluation</a:t>
            </a:r>
          </a:p>
        </p:txBody>
      </p:sp>
      <p:sp>
        <p:nvSpPr>
          <p:cNvPr id="27" name="Rounded Rectangle 26"/>
          <p:cNvSpPr>
            <a:spLocks/>
          </p:cNvSpPr>
          <p:nvPr/>
        </p:nvSpPr>
        <p:spPr>
          <a:xfrm>
            <a:off x="1414512" y="4330700"/>
            <a:ext cx="1269421" cy="762000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CAPEX estimation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4512" y="360935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AI-based </a:t>
            </a:r>
            <a:b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unified BoQ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414512" y="579429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Construction</a:t>
            </a: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control tower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ounded Rectangle 13">
            <a:extLst>
              <a:ext uri="{FF2B5EF4-FFF2-40B4-BE49-F238E27FC236}">
                <a16:creationId xmlns:a16="http://schemas.microsoft.com/office/drawing/2014/main" id="{727864BE-E5D5-5979-6D27-17AD8A3F07E4}"/>
              </a:ext>
            </a:extLst>
          </p:cNvPr>
          <p:cNvSpPr>
            <a:spLocks/>
          </p:cNvSpPr>
          <p:nvPr/>
        </p:nvSpPr>
        <p:spPr>
          <a:xfrm>
            <a:off x="1414512" y="1428684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Agentic workflow design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RectangleLegend1">
            <a:extLst>
              <a:ext uri="{FF2B5EF4-FFF2-40B4-BE49-F238E27FC236}">
                <a16:creationId xmlns:a16="http://schemas.microsoft.com/office/drawing/2014/main" id="{AB09B615-9421-E6A1-D5ED-F29ADB24A8DE}"/>
              </a:ext>
            </a:extLst>
          </p:cNvPr>
          <p:cNvSpPr/>
          <p:nvPr/>
        </p:nvSpPr>
        <p:spPr>
          <a:xfrm>
            <a:off x="8911579" y="278237"/>
            <a:ext cx="172729" cy="172729"/>
          </a:xfrm>
          <a:prstGeom prst="rect">
            <a:avLst/>
          </a:prstGeom>
          <a:solidFill>
            <a:srgbClr val="D1EAE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0" name="Legend1">
            <a:extLst>
              <a:ext uri="{FF2B5EF4-FFF2-40B4-BE49-F238E27FC236}">
                <a16:creationId xmlns:a16="http://schemas.microsoft.com/office/drawing/2014/main" id="{BF198DF3-C9F7-6E27-B364-64028D145A98}"/>
              </a:ext>
            </a:extLst>
          </p:cNvPr>
          <p:cNvSpPr txBox="1"/>
          <p:nvPr/>
        </p:nvSpPr>
        <p:spPr>
          <a:xfrm>
            <a:off x="9237725" y="256879"/>
            <a:ext cx="1074012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>
                <a:ea typeface="+mn-ea"/>
              </a:rPr>
              <a:t>Current focus</a:t>
            </a:r>
          </a:p>
        </p:txBody>
      </p:sp>
      <p:sp>
        <p:nvSpPr>
          <p:cNvPr id="34" name="RectangleLegend2">
            <a:extLst>
              <a:ext uri="{FF2B5EF4-FFF2-40B4-BE49-F238E27FC236}">
                <a16:creationId xmlns:a16="http://schemas.microsoft.com/office/drawing/2014/main" id="{D6B6B5FB-0190-9DE9-45E3-71A76178BA3D}"/>
              </a:ext>
            </a:extLst>
          </p:cNvPr>
          <p:cNvSpPr/>
          <p:nvPr/>
        </p:nvSpPr>
        <p:spPr>
          <a:xfrm>
            <a:off x="10435878" y="278237"/>
            <a:ext cx="172729" cy="17272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1" name="Legend2">
            <a:extLst>
              <a:ext uri="{FF2B5EF4-FFF2-40B4-BE49-F238E27FC236}">
                <a16:creationId xmlns:a16="http://schemas.microsoft.com/office/drawing/2014/main" id="{2BDC1308-82D2-A505-2009-3E9A0A14DE2E}"/>
              </a:ext>
            </a:extLst>
          </p:cNvPr>
          <p:cNvSpPr txBox="1"/>
          <p:nvPr/>
        </p:nvSpPr>
        <p:spPr>
          <a:xfrm>
            <a:off x="10762024" y="256879"/>
            <a:ext cx="875240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>
                <a:ea typeface="+mn-ea"/>
              </a:rPr>
              <a:t>No</a:t>
            </a:r>
            <a:r>
              <a:rPr lang="tr-TR" sz="1400">
                <a:ea typeface="+mn-ea"/>
              </a:rPr>
              <a:t>t</a:t>
            </a:r>
            <a:r>
              <a:rPr lang="en-US" sz="1400">
                <a:ea typeface="+mn-ea"/>
              </a:rPr>
              <a:t> started</a:t>
            </a:r>
          </a:p>
        </p:txBody>
      </p:sp>
      <p:sp>
        <p:nvSpPr>
          <p:cNvPr id="66" name="Chevron 20">
            <a:extLst>
              <a:ext uri="{FF2B5EF4-FFF2-40B4-BE49-F238E27FC236}">
                <a16:creationId xmlns:a16="http://schemas.microsoft.com/office/drawing/2014/main" id="{E14C6F05-E78E-1168-F11A-2BFB087BDBFD}"/>
              </a:ext>
            </a:extLst>
          </p:cNvPr>
          <p:cNvSpPr/>
          <p:nvPr/>
        </p:nvSpPr>
        <p:spPr>
          <a:xfrm>
            <a:off x="9035225" y="976639"/>
            <a:ext cx="2586086" cy="5473371"/>
          </a:xfrm>
          <a:prstGeom prst="rect">
            <a:avLst/>
          </a:prstGeom>
          <a:solidFill>
            <a:srgbClr val="EAF2F1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100">
              <a:solidFill>
                <a:srgbClr val="333333"/>
              </a:solidFill>
              <a:latin typeface="Arial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6F94AA2-7DE5-2CB4-7714-C3FED0C4D585}"/>
              </a:ext>
            </a:extLst>
          </p:cNvPr>
          <p:cNvCxnSpPr>
            <a:cxnSpLocks/>
          </p:cNvCxnSpPr>
          <p:nvPr/>
        </p:nvCxnSpPr>
        <p:spPr>
          <a:xfrm>
            <a:off x="554110" y="4265559"/>
            <a:ext cx="8295595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722FCBD-F0D9-1249-F09B-7B3F928CD3C1}"/>
              </a:ext>
            </a:extLst>
          </p:cNvPr>
          <p:cNvSpPr txBox="1"/>
          <p:nvPr/>
        </p:nvSpPr>
        <p:spPr>
          <a:xfrm>
            <a:off x="9084308" y="1065623"/>
            <a:ext cx="2228537" cy="2410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400" b="1" i="0">
                <a:solidFill>
                  <a:srgbClr val="333333"/>
                </a:solidFill>
                <a:latin typeface="Arial"/>
              </a:rPr>
              <a:t>Key highlights</a:t>
            </a:r>
            <a:endParaRPr sz="1400" b="1" i="0">
              <a:solidFill>
                <a:srgbClr val="333333"/>
              </a:solidFill>
              <a:latin typeface="Arial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6FD9A29-5E51-F560-2768-9556DB94DC9F}"/>
              </a:ext>
            </a:extLst>
          </p:cNvPr>
          <p:cNvCxnSpPr>
            <a:cxnSpLocks/>
          </p:cNvCxnSpPr>
          <p:nvPr/>
        </p:nvCxnSpPr>
        <p:spPr>
          <a:xfrm flipV="1">
            <a:off x="9084308" y="1340582"/>
            <a:ext cx="2392088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603FC6-BD32-CBF0-32E2-3FDCBED7023E}"/>
              </a:ext>
            </a:extLst>
          </p:cNvPr>
          <p:cNvCxnSpPr>
            <a:cxnSpLocks/>
          </p:cNvCxnSpPr>
          <p:nvPr/>
        </p:nvCxnSpPr>
        <p:spPr>
          <a:xfrm flipV="1">
            <a:off x="9106175" y="4909267"/>
            <a:ext cx="2392088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Legend1">
            <a:extLst>
              <a:ext uri="{FF2B5EF4-FFF2-40B4-BE49-F238E27FC236}">
                <a16:creationId xmlns:a16="http://schemas.microsoft.com/office/drawing/2014/main" id="{E1F4D164-B3E0-1930-C490-DC9E855347B3}"/>
              </a:ext>
            </a:extLst>
          </p:cNvPr>
          <p:cNvSpPr/>
          <p:nvPr/>
        </p:nvSpPr>
        <p:spPr>
          <a:xfrm>
            <a:off x="7510404" y="264075"/>
            <a:ext cx="172729" cy="172729"/>
          </a:xfrm>
          <a:prstGeom prst="rect">
            <a:avLst/>
          </a:prstGeom>
          <a:solidFill>
            <a:srgbClr val="0070C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6" name="Legend1">
            <a:extLst>
              <a:ext uri="{FF2B5EF4-FFF2-40B4-BE49-F238E27FC236}">
                <a16:creationId xmlns:a16="http://schemas.microsoft.com/office/drawing/2014/main" id="{CD06BD8F-C52A-71EB-3D61-1ADC363F49CB}"/>
              </a:ext>
            </a:extLst>
          </p:cNvPr>
          <p:cNvSpPr txBox="1"/>
          <p:nvPr/>
        </p:nvSpPr>
        <p:spPr>
          <a:xfrm>
            <a:off x="7836550" y="242717"/>
            <a:ext cx="865622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tr-TR" sz="1400">
                <a:ea typeface="+mn-ea"/>
              </a:rPr>
              <a:t>Completed</a:t>
            </a:r>
            <a:endParaRPr lang="en-US" sz="1400">
              <a:ea typeface="+mn-ea"/>
            </a:endParaRPr>
          </a:p>
        </p:txBody>
      </p:sp>
      <p:sp>
        <p:nvSpPr>
          <p:cNvPr id="2" name="TrackerNumWhite 12">
            <a:extLst>
              <a:ext uri="{FF2B5EF4-FFF2-40B4-BE49-F238E27FC236}">
                <a16:creationId xmlns:a16="http://schemas.microsoft.com/office/drawing/2014/main" id="{893614BC-9C14-B991-3BD9-31CAC23CC57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55557" y="2923201"/>
            <a:ext cx="279340" cy="27934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TrackerNumWhite 12">
            <a:extLst>
              <a:ext uri="{FF2B5EF4-FFF2-40B4-BE49-F238E27FC236}">
                <a16:creationId xmlns:a16="http://schemas.microsoft.com/office/drawing/2014/main" id="{1072EDEB-B3C9-D238-277C-F1055CCA457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55557" y="3645232"/>
            <a:ext cx="279340" cy="27934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" name="TrackerNumWhite 12">
            <a:extLst>
              <a:ext uri="{FF2B5EF4-FFF2-40B4-BE49-F238E27FC236}">
                <a16:creationId xmlns:a16="http://schemas.microsoft.com/office/drawing/2014/main" id="{FE0C89BC-A23A-2E45-CE2E-3CFE4AD370C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355557" y="4372121"/>
            <a:ext cx="279340" cy="27934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F128C3-5EDD-F119-93F7-8541500C7241}"/>
              </a:ext>
            </a:extLst>
          </p:cNvPr>
          <p:cNvCxnSpPr>
            <a:cxnSpLocks/>
          </p:cNvCxnSpPr>
          <p:nvPr/>
        </p:nvCxnSpPr>
        <p:spPr>
          <a:xfrm>
            <a:off x="9106175" y="3360869"/>
            <a:ext cx="2392088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rackerNumWhite 12">
            <a:extLst>
              <a:ext uri="{FF2B5EF4-FFF2-40B4-BE49-F238E27FC236}">
                <a16:creationId xmlns:a16="http://schemas.microsoft.com/office/drawing/2014/main" id="{A2484E43-6C8A-1050-1B02-1D3FBB556249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084308" y="1486934"/>
            <a:ext cx="220834" cy="22083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2" name="TrackerNumWhite 12">
            <a:extLst>
              <a:ext uri="{FF2B5EF4-FFF2-40B4-BE49-F238E27FC236}">
                <a16:creationId xmlns:a16="http://schemas.microsoft.com/office/drawing/2014/main" id="{F7435DFC-3CF4-B6B5-6B31-45131A4F900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9084308" y="3518455"/>
            <a:ext cx="220834" cy="22083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4" name="TrackerNumWhite 12">
            <a:extLst>
              <a:ext uri="{FF2B5EF4-FFF2-40B4-BE49-F238E27FC236}">
                <a16:creationId xmlns:a16="http://schemas.microsoft.com/office/drawing/2014/main" id="{F020AC70-40E4-4BDC-6C64-AE77272E6079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9084308" y="4994344"/>
            <a:ext cx="220834" cy="22083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DAF12D5-95D6-F0F4-F59E-06A1A0477EFB}"/>
              </a:ext>
            </a:extLst>
          </p:cNvPr>
          <p:cNvCxnSpPr>
            <a:cxnSpLocks/>
          </p:cNvCxnSpPr>
          <p:nvPr/>
        </p:nvCxnSpPr>
        <p:spPr>
          <a:xfrm flipH="1">
            <a:off x="5090898" y="1120733"/>
            <a:ext cx="0" cy="5451870"/>
          </a:xfrm>
          <a:prstGeom prst="line">
            <a:avLst/>
          </a:prstGeom>
          <a:ln w="28575" cap="flat">
            <a:solidFill>
              <a:srgbClr val="C00000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BBE357C-A67E-3201-826E-994309DCCA95}"/>
              </a:ext>
            </a:extLst>
          </p:cNvPr>
          <p:cNvCxnSpPr>
            <a:cxnSpLocks/>
          </p:cNvCxnSpPr>
          <p:nvPr/>
        </p:nvCxnSpPr>
        <p:spPr>
          <a:xfrm flipH="1">
            <a:off x="7102142" y="748619"/>
            <a:ext cx="12814" cy="56262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85879B4-30E5-54E0-F4A1-7D554AE93CE0}"/>
              </a:ext>
            </a:extLst>
          </p:cNvPr>
          <p:cNvCxnSpPr>
            <a:cxnSpLocks/>
          </p:cNvCxnSpPr>
          <p:nvPr/>
        </p:nvCxnSpPr>
        <p:spPr>
          <a:xfrm flipH="1">
            <a:off x="5337883" y="753532"/>
            <a:ext cx="12814" cy="56262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>
            <a:spLocks/>
          </p:cNvSpPr>
          <p:nvPr/>
        </p:nvSpPr>
        <p:spPr>
          <a:xfrm>
            <a:off x="2747298" y="1069800"/>
            <a:ext cx="844941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Jul</a:t>
            </a:r>
          </a:p>
        </p:txBody>
      </p:sp>
      <p:sp>
        <p:nvSpPr>
          <p:cNvPr id="7" name="Rounded Rectangle 6"/>
          <p:cNvSpPr>
            <a:spLocks/>
          </p:cNvSpPr>
          <p:nvPr/>
        </p:nvSpPr>
        <p:spPr>
          <a:xfrm>
            <a:off x="3617870" y="1069800"/>
            <a:ext cx="844941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Aug</a:t>
            </a:r>
          </a:p>
        </p:txBody>
      </p:sp>
      <p:sp>
        <p:nvSpPr>
          <p:cNvPr id="8" name="Rounded Rectangle 7"/>
          <p:cNvSpPr>
            <a:spLocks/>
          </p:cNvSpPr>
          <p:nvPr/>
        </p:nvSpPr>
        <p:spPr>
          <a:xfrm>
            <a:off x="4488445" y="1069800"/>
            <a:ext cx="844941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Sep</a:t>
            </a:r>
          </a:p>
        </p:txBody>
      </p:sp>
      <p:sp>
        <p:nvSpPr>
          <p:cNvPr id="16" name="Pentagon 15"/>
          <p:cNvSpPr>
            <a:spLocks/>
          </p:cNvSpPr>
          <p:nvPr/>
        </p:nvSpPr>
        <p:spPr>
          <a:xfrm>
            <a:off x="2747298" y="1428684"/>
            <a:ext cx="1715513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Target state agentic workflow design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Pentagon 23"/>
          <p:cNvSpPr>
            <a:spLocks/>
          </p:cNvSpPr>
          <p:nvPr/>
        </p:nvSpPr>
        <p:spPr>
          <a:xfrm>
            <a:off x="2747297" y="3609352"/>
            <a:ext cx="1294515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MEP PoC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25" name="Chevron 24"/>
          <p:cNvSpPr>
            <a:spLocks/>
          </p:cNvSpPr>
          <p:nvPr/>
        </p:nvSpPr>
        <p:spPr>
          <a:xfrm>
            <a:off x="4085247" y="3609352"/>
            <a:ext cx="1244981" cy="585525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Scale-up</a:t>
            </a:r>
            <a:r>
              <a:rPr sz="1100" b="1">
                <a:solidFill>
                  <a:srgbClr val="333333"/>
                </a:solidFill>
                <a:latin typeface="Arial"/>
              </a:rPr>
              <a:t> to </a:t>
            </a:r>
            <a:br>
              <a:rPr lang="tr-TR" sz="1100" b="1">
                <a:solidFill>
                  <a:srgbClr val="333333"/>
                </a:solidFill>
                <a:latin typeface="Arial"/>
              </a:rPr>
            </a:br>
            <a:r>
              <a:rPr lang="tr-TR" sz="1100" b="1">
                <a:solidFill>
                  <a:srgbClr val="333333"/>
                </a:solidFill>
                <a:latin typeface="Arial"/>
              </a:rPr>
              <a:t>all</a:t>
            </a:r>
            <a:r>
              <a:rPr sz="1100" b="1">
                <a:solidFill>
                  <a:srgbClr val="333333"/>
                </a:solidFill>
                <a:latin typeface="Arial"/>
              </a:rPr>
              <a:t> categories</a:t>
            </a:r>
          </a:p>
        </p:txBody>
      </p:sp>
      <p:sp>
        <p:nvSpPr>
          <p:cNvPr id="50" name="Chevron 20">
            <a:extLst>
              <a:ext uri="{FF2B5EF4-FFF2-40B4-BE49-F238E27FC236}">
                <a16:creationId xmlns:a16="http://schemas.microsoft.com/office/drawing/2014/main" id="{D249602F-2CBA-2982-1038-A8FC8DE41977}"/>
              </a:ext>
            </a:extLst>
          </p:cNvPr>
          <p:cNvSpPr>
            <a:spLocks/>
          </p:cNvSpPr>
          <p:nvPr/>
        </p:nvSpPr>
        <p:spPr>
          <a:xfrm>
            <a:off x="5359017" y="3609352"/>
            <a:ext cx="1715513" cy="585525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BoQ maintenance solution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20" name="Pentagon 19"/>
          <p:cNvSpPr>
            <a:spLocks/>
          </p:cNvSpPr>
          <p:nvPr/>
        </p:nvSpPr>
        <p:spPr>
          <a:xfrm>
            <a:off x="2747298" y="2883845"/>
            <a:ext cx="1711692" cy="584142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PRE central database creation for all BoQs, </a:t>
            </a:r>
            <a:br>
              <a:rPr lang="tr-TR" sz="1100" b="1">
                <a:solidFill>
                  <a:schemeClr val="bg1"/>
                </a:solidFill>
                <a:latin typeface="Arial"/>
              </a:rPr>
            </a:br>
            <a:r>
              <a:rPr lang="tr-TR" sz="1100" b="1">
                <a:solidFill>
                  <a:schemeClr val="bg1"/>
                </a:solidFill>
                <a:latin typeface="Arial"/>
              </a:rPr>
              <a:t>bids and contracts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21" name="Chevron 20"/>
          <p:cNvSpPr>
            <a:spLocks/>
          </p:cNvSpPr>
          <p:nvPr/>
        </p:nvSpPr>
        <p:spPr>
          <a:xfrm>
            <a:off x="4488445" y="2882462"/>
            <a:ext cx="1715514" cy="584142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PRE data lake setup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53" name="Chevron 20">
            <a:extLst>
              <a:ext uri="{FF2B5EF4-FFF2-40B4-BE49-F238E27FC236}">
                <a16:creationId xmlns:a16="http://schemas.microsoft.com/office/drawing/2014/main" id="{18DE42AB-0B4F-6ABD-C79D-90D7706F73C7}"/>
              </a:ext>
            </a:extLst>
          </p:cNvPr>
          <p:cNvSpPr/>
          <p:nvPr/>
        </p:nvSpPr>
        <p:spPr>
          <a:xfrm>
            <a:off x="6258459" y="2882462"/>
            <a:ext cx="2586086" cy="584142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COINS &amp; Aconex integration</a:t>
            </a:r>
            <a:br>
              <a:rPr lang="tr-TR" sz="1100" b="1">
                <a:solidFill>
                  <a:srgbClr val="333333"/>
                </a:solidFill>
                <a:latin typeface="Arial"/>
              </a:rPr>
            </a:br>
            <a:r>
              <a:rPr lang="tr-TR" sz="1100">
                <a:solidFill>
                  <a:srgbClr val="333333"/>
                </a:solidFill>
                <a:latin typeface="Arial"/>
              </a:rPr>
              <a:t>(TBD on technical feasibility)</a:t>
            </a:r>
            <a:endParaRPr sz="110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1" name="Chevron 20">
            <a:extLst>
              <a:ext uri="{FF2B5EF4-FFF2-40B4-BE49-F238E27FC236}">
                <a16:creationId xmlns:a16="http://schemas.microsoft.com/office/drawing/2014/main" id="{D12D86D0-87E1-717E-AED7-F462C171E1E5}"/>
              </a:ext>
            </a:extLst>
          </p:cNvPr>
          <p:cNvSpPr>
            <a:spLocks/>
          </p:cNvSpPr>
          <p:nvPr/>
        </p:nvSpPr>
        <p:spPr>
          <a:xfrm>
            <a:off x="4090594" y="4766101"/>
            <a:ext cx="2985668" cy="326599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000" b="1">
                <a:solidFill>
                  <a:srgbClr val="333333"/>
                </a:solidFill>
                <a:latin typeface="Arial"/>
              </a:rPr>
              <a:t>Scale to all categories</a:t>
            </a:r>
          </a:p>
        </p:txBody>
      </p:sp>
      <p:sp>
        <p:nvSpPr>
          <p:cNvPr id="29" name="Pentagon 28"/>
          <p:cNvSpPr>
            <a:spLocks/>
          </p:cNvSpPr>
          <p:nvPr/>
        </p:nvSpPr>
        <p:spPr>
          <a:xfrm>
            <a:off x="2747297" y="4330700"/>
            <a:ext cx="1294515" cy="76200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MEP PoC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56" name="Chevron 20">
            <a:extLst>
              <a:ext uri="{FF2B5EF4-FFF2-40B4-BE49-F238E27FC236}">
                <a16:creationId xmlns:a16="http://schemas.microsoft.com/office/drawing/2014/main" id="{C1D2FDD5-C185-8B4B-BF57-EC798290754B}"/>
              </a:ext>
            </a:extLst>
          </p:cNvPr>
          <p:cNvSpPr>
            <a:spLocks/>
          </p:cNvSpPr>
          <p:nvPr/>
        </p:nvSpPr>
        <p:spPr>
          <a:xfrm>
            <a:off x="4090594" y="4330700"/>
            <a:ext cx="1245899" cy="384468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ts val="1000"/>
              </a:lnSpc>
            </a:pPr>
            <a:r>
              <a:rPr lang="tr-TR" sz="1000" b="1">
                <a:solidFill>
                  <a:srgbClr val="333333"/>
                </a:solidFill>
                <a:latin typeface="Arial"/>
              </a:rPr>
              <a:t>MVP agentic workflow</a:t>
            </a:r>
          </a:p>
        </p:txBody>
      </p:sp>
      <p:sp>
        <p:nvSpPr>
          <p:cNvPr id="87" name="Pentagon 15">
            <a:extLst>
              <a:ext uri="{FF2B5EF4-FFF2-40B4-BE49-F238E27FC236}">
                <a16:creationId xmlns:a16="http://schemas.microsoft.com/office/drawing/2014/main" id="{E2B9596A-125F-7DC7-3098-254D6B624307}"/>
              </a:ext>
            </a:extLst>
          </p:cNvPr>
          <p:cNvSpPr>
            <a:spLocks/>
          </p:cNvSpPr>
          <p:nvPr/>
        </p:nvSpPr>
        <p:spPr>
          <a:xfrm>
            <a:off x="2747298" y="2159847"/>
            <a:ext cx="1715513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AI stack cloud environment</a:t>
            </a:r>
            <a:endParaRPr lang="en-US"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90" name="Chevron 20">
            <a:extLst>
              <a:ext uri="{FF2B5EF4-FFF2-40B4-BE49-F238E27FC236}">
                <a16:creationId xmlns:a16="http://schemas.microsoft.com/office/drawing/2014/main" id="{AAB967FE-2CDB-03F5-0608-CD61504401A0}"/>
              </a:ext>
            </a:extLst>
          </p:cNvPr>
          <p:cNvSpPr>
            <a:spLocks/>
          </p:cNvSpPr>
          <p:nvPr/>
        </p:nvSpPr>
        <p:spPr>
          <a:xfrm>
            <a:off x="4518813" y="2159848"/>
            <a:ext cx="2613698" cy="246892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Long-term architecture design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57" name="Pentagon 28">
            <a:extLst>
              <a:ext uri="{FF2B5EF4-FFF2-40B4-BE49-F238E27FC236}">
                <a16:creationId xmlns:a16="http://schemas.microsoft.com/office/drawing/2014/main" id="{578988E5-A37A-8F60-B70C-AD7EFD770FF3}"/>
              </a:ext>
            </a:extLst>
          </p:cNvPr>
          <p:cNvSpPr>
            <a:spLocks/>
          </p:cNvSpPr>
          <p:nvPr/>
        </p:nvSpPr>
        <p:spPr>
          <a:xfrm>
            <a:off x="5359017" y="5147757"/>
            <a:ext cx="838532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PoC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96" name="Chevron 20">
            <a:extLst>
              <a:ext uri="{FF2B5EF4-FFF2-40B4-BE49-F238E27FC236}">
                <a16:creationId xmlns:a16="http://schemas.microsoft.com/office/drawing/2014/main" id="{77DEDFDC-354B-54D1-7E78-EDE479FD0FAE}"/>
              </a:ext>
            </a:extLst>
          </p:cNvPr>
          <p:cNvSpPr>
            <a:spLocks/>
          </p:cNvSpPr>
          <p:nvPr/>
        </p:nvSpPr>
        <p:spPr>
          <a:xfrm>
            <a:off x="6229589" y="5147757"/>
            <a:ext cx="844941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>
                <a:solidFill>
                  <a:srgbClr val="333333"/>
                </a:solidFill>
              </a:rPr>
              <a:t>Agentic workflow</a:t>
            </a:r>
          </a:p>
        </p:txBody>
      </p:sp>
      <p:sp>
        <p:nvSpPr>
          <p:cNvPr id="97" name="Chevron 20">
            <a:extLst>
              <a:ext uri="{FF2B5EF4-FFF2-40B4-BE49-F238E27FC236}">
                <a16:creationId xmlns:a16="http://schemas.microsoft.com/office/drawing/2014/main" id="{A2E5EEB1-B236-6F65-2066-26FE52F149E2}"/>
              </a:ext>
            </a:extLst>
          </p:cNvPr>
          <p:cNvSpPr>
            <a:spLocks/>
          </p:cNvSpPr>
          <p:nvPr/>
        </p:nvSpPr>
        <p:spPr>
          <a:xfrm>
            <a:off x="7154422" y="5147757"/>
            <a:ext cx="1690123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>
                <a:solidFill>
                  <a:srgbClr val="333333"/>
                </a:solidFill>
              </a:rPr>
              <a:t>Scale-up to all projects </a:t>
            </a:r>
          </a:p>
        </p:txBody>
      </p:sp>
      <p:sp>
        <p:nvSpPr>
          <p:cNvPr id="98" name="Pentagon 28">
            <a:extLst>
              <a:ext uri="{FF2B5EF4-FFF2-40B4-BE49-F238E27FC236}">
                <a16:creationId xmlns:a16="http://schemas.microsoft.com/office/drawing/2014/main" id="{2C2D448B-A29F-F727-0DFA-CF89B9D33A23}"/>
              </a:ext>
            </a:extLst>
          </p:cNvPr>
          <p:cNvSpPr>
            <a:spLocks/>
          </p:cNvSpPr>
          <p:nvPr/>
        </p:nvSpPr>
        <p:spPr>
          <a:xfrm>
            <a:off x="2747298" y="5790020"/>
            <a:ext cx="1294515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Analytics control tower design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066885B-AA85-A386-EBB7-77CD03F9F1F5}"/>
              </a:ext>
            </a:extLst>
          </p:cNvPr>
          <p:cNvCxnSpPr>
            <a:cxnSpLocks/>
          </p:cNvCxnSpPr>
          <p:nvPr/>
        </p:nvCxnSpPr>
        <p:spPr>
          <a:xfrm>
            <a:off x="2747299" y="1002852"/>
            <a:ext cx="2579677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017D2B64-F892-7054-24A8-CC5D52E99302}"/>
              </a:ext>
            </a:extLst>
          </p:cNvPr>
          <p:cNvSpPr txBox="1"/>
          <p:nvPr/>
        </p:nvSpPr>
        <p:spPr>
          <a:xfrm>
            <a:off x="2747299" y="783368"/>
            <a:ext cx="2579677" cy="1949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1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12BD577-2851-3D42-5C12-E0B4162D1B78}"/>
              </a:ext>
            </a:extLst>
          </p:cNvPr>
          <p:cNvGrpSpPr/>
          <p:nvPr/>
        </p:nvGrpSpPr>
        <p:grpSpPr>
          <a:xfrm>
            <a:off x="5376031" y="1069800"/>
            <a:ext cx="1715513" cy="283540"/>
            <a:chOff x="5897119" y="1069800"/>
            <a:chExt cx="1941055" cy="283540"/>
          </a:xfrm>
        </p:grpSpPr>
        <p:sp>
          <p:nvSpPr>
            <p:cNvPr id="9" name="Rounded Rectangle 8"/>
            <p:cNvSpPr>
              <a:spLocks/>
            </p:cNvSpPr>
            <p:nvPr/>
          </p:nvSpPr>
          <p:spPr>
            <a:xfrm>
              <a:off x="5897119" y="1069800"/>
              <a:ext cx="956027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Oct</a:t>
              </a:r>
            </a:p>
          </p:txBody>
        </p:sp>
        <p:sp>
          <p:nvSpPr>
            <p:cNvPr id="10" name="Rounded Rectangle 9"/>
            <p:cNvSpPr>
              <a:spLocks/>
            </p:cNvSpPr>
            <p:nvPr/>
          </p:nvSpPr>
          <p:spPr>
            <a:xfrm>
              <a:off x="6882147" y="1069800"/>
              <a:ext cx="956027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Nov</a:t>
              </a:r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9FAC8BC-D4DF-90A6-D681-7319DCD8AFE9}"/>
              </a:ext>
            </a:extLst>
          </p:cNvPr>
          <p:cNvCxnSpPr>
            <a:cxnSpLocks/>
          </p:cNvCxnSpPr>
          <p:nvPr/>
        </p:nvCxnSpPr>
        <p:spPr>
          <a:xfrm>
            <a:off x="5376031" y="1001198"/>
            <a:ext cx="1696950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4978D801-FEC3-AD0F-7DB2-51EFFD8E699C}"/>
              </a:ext>
            </a:extLst>
          </p:cNvPr>
          <p:cNvSpPr txBox="1">
            <a:spLocks/>
          </p:cNvSpPr>
          <p:nvPr/>
        </p:nvSpPr>
        <p:spPr>
          <a:xfrm>
            <a:off x="5376031" y="774020"/>
            <a:ext cx="1715514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no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2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1" name="Rounded Rectangle 10"/>
          <p:cNvSpPr>
            <a:spLocks/>
          </p:cNvSpPr>
          <p:nvPr/>
        </p:nvSpPr>
        <p:spPr>
          <a:xfrm>
            <a:off x="7134190" y="1069800"/>
            <a:ext cx="844941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Dec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11B0AEC-A83D-53D5-1E1E-FC9F8CAC33C0}"/>
              </a:ext>
            </a:extLst>
          </p:cNvPr>
          <p:cNvGrpSpPr>
            <a:grpSpLocks/>
          </p:cNvGrpSpPr>
          <p:nvPr/>
        </p:nvGrpSpPr>
        <p:grpSpPr>
          <a:xfrm>
            <a:off x="554109" y="1069800"/>
            <a:ext cx="8295595" cy="3125076"/>
            <a:chOff x="554109" y="1069800"/>
            <a:chExt cx="8295595" cy="312507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BA134E1-07A9-46F5-F4A7-092467E2FBFF}"/>
                </a:ext>
              </a:extLst>
            </p:cNvPr>
            <p:cNvSpPr>
              <a:spLocks/>
            </p:cNvSpPr>
            <p:nvPr/>
          </p:nvSpPr>
          <p:spPr>
            <a:xfrm>
              <a:off x="554109" y="1428684"/>
              <a:ext cx="809856" cy="2766192"/>
            </a:xfrm>
            <a:prstGeom prst="rect">
              <a:avLst/>
            </a:prstGeom>
            <a:solidFill>
              <a:srgbClr val="377A6C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tr-TR" sz="1100" b="1">
                  <a:solidFill>
                    <a:schemeClr val="bg1"/>
                  </a:solidFill>
                </a:rPr>
                <a:t>Foun-dations</a:t>
              </a:r>
              <a:endParaRPr lang="en-US" sz="1100" b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/>
            <p:cNvSpPr>
              <a:spLocks/>
            </p:cNvSpPr>
            <p:nvPr/>
          </p:nvSpPr>
          <p:spPr>
            <a:xfrm>
              <a:off x="8004763" y="1069800"/>
              <a:ext cx="844941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Jan</a:t>
              </a: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B4A53C3-9221-369F-8E96-8CDF96A4190A}"/>
              </a:ext>
            </a:extLst>
          </p:cNvPr>
          <p:cNvCxnSpPr>
            <a:cxnSpLocks/>
          </p:cNvCxnSpPr>
          <p:nvPr/>
        </p:nvCxnSpPr>
        <p:spPr>
          <a:xfrm>
            <a:off x="7134190" y="1001198"/>
            <a:ext cx="1715514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FA3F84B-C159-E7D2-A71F-A9089F5E6534}"/>
              </a:ext>
            </a:extLst>
          </p:cNvPr>
          <p:cNvSpPr txBox="1"/>
          <p:nvPr/>
        </p:nvSpPr>
        <p:spPr>
          <a:xfrm>
            <a:off x="7134190" y="781714"/>
            <a:ext cx="1715514" cy="1949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3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35" name="Pentagon 28">
            <a:extLst>
              <a:ext uri="{FF2B5EF4-FFF2-40B4-BE49-F238E27FC236}">
                <a16:creationId xmlns:a16="http://schemas.microsoft.com/office/drawing/2014/main" id="{ADFF2A27-B2A3-4643-45DA-C9635A400791}"/>
              </a:ext>
            </a:extLst>
          </p:cNvPr>
          <p:cNvSpPr>
            <a:spLocks/>
          </p:cNvSpPr>
          <p:nvPr/>
        </p:nvSpPr>
        <p:spPr>
          <a:xfrm>
            <a:off x="4098058" y="5790019"/>
            <a:ext cx="4744929" cy="585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Continuous support to AI Transformation Team on deployment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5A13558-7DC1-4243-84C3-0E1779A00603}"/>
              </a:ext>
            </a:extLst>
          </p:cNvPr>
          <p:cNvSpPr txBox="1"/>
          <p:nvPr/>
        </p:nvSpPr>
        <p:spPr>
          <a:xfrm>
            <a:off x="4829664" y="6536129"/>
            <a:ext cx="2579677" cy="194925"/>
          </a:xfrm>
          <a:prstGeom prst="rect">
            <a:avLst/>
          </a:prstGeom>
          <a:noFill/>
        </p:spPr>
        <p:txBody>
          <a:bodyPr wrap="square" lIns="25400" tIns="12700" rIns="25400" bIns="12700" anchor="b">
            <a:spAutoFit/>
          </a:bodyPr>
          <a:lstStyle/>
          <a:p>
            <a:pPr algn="l"/>
            <a:r>
              <a:rPr lang="tr-TR" sz="1100" b="1" i="0">
                <a:solidFill>
                  <a:srgbClr val="C00000"/>
                </a:solidFill>
                <a:latin typeface="Arial"/>
              </a:rPr>
              <a:t>TODAY</a:t>
            </a:r>
            <a:endParaRPr sz="1100" b="1" i="0">
              <a:solidFill>
                <a:srgbClr val="C00000"/>
              </a:solidFill>
              <a:latin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F5FA70-2889-6015-B213-BEC3110604E6}"/>
              </a:ext>
            </a:extLst>
          </p:cNvPr>
          <p:cNvCxnSpPr>
            <a:cxnSpLocks/>
          </p:cNvCxnSpPr>
          <p:nvPr/>
        </p:nvCxnSpPr>
        <p:spPr>
          <a:xfrm>
            <a:off x="8849300" y="4263971"/>
            <a:ext cx="261639" cy="645296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F31FDE0-2451-E363-D6CD-C54E71F33DE1}"/>
              </a:ext>
            </a:extLst>
          </p:cNvPr>
          <p:cNvCxnSpPr>
            <a:cxnSpLocks/>
          </p:cNvCxnSpPr>
          <p:nvPr/>
        </p:nvCxnSpPr>
        <p:spPr>
          <a:xfrm flipV="1">
            <a:off x="8842988" y="1334962"/>
            <a:ext cx="241320" cy="1476819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hevron 20">
            <a:extLst>
              <a:ext uri="{FF2B5EF4-FFF2-40B4-BE49-F238E27FC236}">
                <a16:creationId xmlns:a16="http://schemas.microsoft.com/office/drawing/2014/main" id="{1F195254-F262-9C6B-098F-7913A27EC8A4}"/>
              </a:ext>
            </a:extLst>
          </p:cNvPr>
          <p:cNvSpPr>
            <a:spLocks/>
          </p:cNvSpPr>
          <p:nvPr/>
        </p:nvSpPr>
        <p:spPr>
          <a:xfrm>
            <a:off x="4518813" y="2498480"/>
            <a:ext cx="4325732" cy="246892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1100" b="1">
                <a:solidFill>
                  <a:srgbClr val="333333"/>
                </a:solidFill>
                <a:latin typeface="Arial"/>
              </a:rPr>
              <a:t>Application development on cloud server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8378D5-12D9-5D5C-63EC-D1A229AD4157}"/>
              </a:ext>
            </a:extLst>
          </p:cNvPr>
          <p:cNvSpPr txBox="1"/>
          <p:nvPr/>
        </p:nvSpPr>
        <p:spPr>
          <a:xfrm>
            <a:off x="9410576" y="4994344"/>
            <a:ext cx="2106813" cy="12772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0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None/>
              <a:defRPr sz="1300" b="1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/>
              <a:t>Project brief and technical design </a:t>
            </a:r>
            <a:r>
              <a:rPr lang="tr-TR"/>
              <a:t>designs completed</a:t>
            </a:r>
          </a:p>
          <a:p>
            <a:pPr lvl="1"/>
            <a:r>
              <a:rPr lang="tr-TR"/>
              <a:t>Crescent Office L35-36 MEP tender is run </a:t>
            </a:r>
            <a:r>
              <a:rPr lang="tr-TR" b="0"/>
              <a:t>for BoQ unification and CAPEX estimation</a:t>
            </a:r>
            <a:endParaRPr lang="en-US" b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5C67CC-8612-4609-D4AF-AD30E69ABF72}"/>
              </a:ext>
            </a:extLst>
          </p:cNvPr>
          <p:cNvSpPr txBox="1"/>
          <p:nvPr/>
        </p:nvSpPr>
        <p:spPr>
          <a:xfrm>
            <a:off x="9410576" y="3518455"/>
            <a:ext cx="2106813" cy="12772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0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None/>
              <a:defRPr sz="1300" b="1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/>
              <a:t>MEP </a:t>
            </a:r>
            <a:r>
              <a:rPr lang="tr-TR"/>
              <a:t>unified BoQ</a:t>
            </a:r>
            <a:r>
              <a:rPr lang="en-US"/>
              <a:t> review </a:t>
            </a:r>
            <a:br>
              <a:rPr lang="en-US"/>
            </a:br>
            <a:r>
              <a:rPr lang="tr-TR"/>
              <a:t>completed </a:t>
            </a:r>
            <a:r>
              <a:rPr lang="tr-TR" b="0"/>
              <a:t>by teams</a:t>
            </a:r>
            <a:endParaRPr lang="en-US" b="0"/>
          </a:p>
          <a:p>
            <a:pPr lvl="1"/>
            <a:r>
              <a:rPr lang="tr-TR"/>
              <a:t>BoQ unification</a:t>
            </a:r>
            <a:r>
              <a:rPr lang="en-US"/>
              <a:t> expanded beyond MEP </a:t>
            </a:r>
            <a:r>
              <a:rPr lang="tr-TR"/>
              <a:t>to cover all categories </a:t>
            </a:r>
            <a:r>
              <a:rPr lang="tr-TR" b="0"/>
              <a:t>– will start team reviews in October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C0F4DD-4DF8-8B9F-9695-367EC45CE674}"/>
              </a:ext>
            </a:extLst>
          </p:cNvPr>
          <p:cNvSpPr txBox="1"/>
          <p:nvPr/>
        </p:nvSpPr>
        <p:spPr>
          <a:xfrm>
            <a:off x="9410576" y="1486934"/>
            <a:ext cx="2106813" cy="17543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spcAft>
                <a:spcPts val="600"/>
              </a:spcAft>
              <a:buNone/>
            </a:pPr>
            <a:r>
              <a:rPr lang="en-US" sz="1300" b="1"/>
              <a:t>Historical data collection </a:t>
            </a:r>
            <a:r>
              <a:rPr lang="en-US" sz="1300"/>
              <a:t>and processing completed</a:t>
            </a:r>
          </a:p>
          <a:p>
            <a:pPr marL="0" lvl="1" indent="0">
              <a:spcAft>
                <a:spcPts val="600"/>
              </a:spcAft>
              <a:buNone/>
            </a:pPr>
            <a:r>
              <a:rPr lang="tr-TR" sz="1300" b="1"/>
              <a:t>Application development effort started </a:t>
            </a:r>
            <a:r>
              <a:rPr lang="tr-TR" sz="1300"/>
              <a:t>on Azure cloud</a:t>
            </a:r>
          </a:p>
          <a:p>
            <a:pPr marL="0" lvl="1" indent="0">
              <a:spcAft>
                <a:spcPts val="600"/>
              </a:spcAft>
              <a:buNone/>
            </a:pPr>
            <a:r>
              <a:rPr lang="en-US" sz="1300" b="1"/>
              <a:t>COINS and Aconex integration </a:t>
            </a:r>
            <a:r>
              <a:rPr lang="en-US" sz="1300"/>
              <a:t>discussions </a:t>
            </a:r>
            <a:r>
              <a:rPr lang="tr-TR" sz="1300"/>
              <a:t>ongoing</a:t>
            </a:r>
            <a:r>
              <a:rPr lang="en-US" sz="1300"/>
              <a:t> with vendors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EBB9747-89C1-7002-2C2B-F22736379917}"/>
              </a:ext>
            </a:extLst>
          </p:cNvPr>
          <p:cNvCxnSpPr>
            <a:cxnSpLocks/>
          </p:cNvCxnSpPr>
          <p:nvPr/>
        </p:nvCxnSpPr>
        <p:spPr>
          <a:xfrm flipV="1">
            <a:off x="8836903" y="3357637"/>
            <a:ext cx="267684" cy="181032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43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9" hidden="1">
            <a:extLst>
              <a:ext uri="{FF2B5EF4-FFF2-40B4-BE49-F238E27FC236}">
                <a16:creationId xmlns:a16="http://schemas.microsoft.com/office/drawing/2014/main" id="{4B46315C-D27E-CF1A-56DD-3BEF80C4422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01928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4" imgH="405" progId="TCLayout.ActiveDocument.1">
                  <p:embed/>
                </p:oleObj>
              </mc:Choice>
              <mc:Fallback>
                <p:oleObj name="think-cell Slide" r:id="rId10" imgW="404" imgH="405" progId="TCLayout.ActiveDocument.1">
                  <p:embed/>
                  <p:pic>
                    <p:nvPicPr>
                      <p:cNvPr id="5" name="Object 9" hidden="1">
                        <a:extLst>
                          <a:ext uri="{FF2B5EF4-FFF2-40B4-BE49-F238E27FC236}">
                            <a16:creationId xmlns:a16="http://schemas.microsoft.com/office/drawing/2014/main" id="{4B46315C-D27E-CF1A-56DD-3BEF80C442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4">
            <a:hlinkClick r:id="rId12" action="ppaction://hlinksldjump"/>
            <a:extLst>
              <a:ext uri="{FF2B5EF4-FFF2-40B4-BE49-F238E27FC236}">
                <a16:creationId xmlns:a16="http://schemas.microsoft.com/office/drawing/2014/main" id="{E1929E9F-2D27-C9B1-1347-D70631AB2475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32450" y="2541588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Progress update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7801F55-39A8-F008-5211-D210D87A8AB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32450" y="2998788"/>
            <a:ext cx="4178300" cy="4572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tr-TR" sz="1800" b="1">
                <a:cs typeface="+mn-cs"/>
              </a:rPr>
              <a:t>AI engine and core data platform</a:t>
            </a:r>
            <a:endParaRPr lang="en-US" sz="1800" b="1">
              <a:cs typeface="+mn-cs"/>
            </a:endParaRPr>
          </a:p>
        </p:txBody>
      </p:sp>
      <p:sp>
        <p:nvSpPr>
          <p:cNvPr id="6" name="Text Placeholder 4">
            <a:hlinkClick r:id="rId13" action="ppaction://hlinksldjump"/>
            <a:extLst>
              <a:ext uri="{FF2B5EF4-FFF2-40B4-BE49-F238E27FC236}">
                <a16:creationId xmlns:a16="http://schemas.microsoft.com/office/drawing/2014/main" id="{495B8768-97CB-AEF5-F0B6-E86479E23017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632450" y="3455988"/>
            <a:ext cx="41783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cs typeface="+mn-cs"/>
              </a:rPr>
              <a:t>AI-based unified BoQ 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23" name="Text Placeholder 4">
            <a:hlinkClick r:id="rId14" action="ppaction://hlinksldjump"/>
            <a:extLst>
              <a:ext uri="{FF2B5EF4-FFF2-40B4-BE49-F238E27FC236}">
                <a16:creationId xmlns:a16="http://schemas.microsoft.com/office/drawing/2014/main" id="{6CD8395B-E613-D286-6C2C-B9E056F3D86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32450" y="3914775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Cap</a:t>
            </a: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</a:rPr>
              <a:t>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x estimation </a:t>
            </a: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</a:rPr>
              <a:t>solution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Placeholder 4">
            <a:hlinkClick r:id="rId15" action="ppaction://hlinksldjump"/>
            <a:extLst>
              <a:ext uri="{FF2B5EF4-FFF2-40B4-BE49-F238E27FC236}">
                <a16:creationId xmlns:a16="http://schemas.microsoft.com/office/drawing/2014/main" id="{A56E79F0-833D-E5D9-03EA-9E8181A16DF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32450" y="4371975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Next steps</a:t>
            </a:r>
          </a:p>
        </p:txBody>
      </p:sp>
      <p:sp>
        <p:nvSpPr>
          <p:cNvPr id="27" name="2. Slide Title">
            <a:extLst>
              <a:ext uri="{FF2B5EF4-FFF2-40B4-BE49-F238E27FC236}">
                <a16:creationId xmlns:a16="http://schemas.microsoft.com/office/drawing/2014/main" id="{F6207EA1-6267-13DB-7C80-A9AFE4047B8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8800" y="2541588"/>
            <a:ext cx="4064000" cy="376238"/>
          </a:xfrm>
        </p:spPr>
        <p:txBody>
          <a:bodyPr vert="horz">
            <a:spAutoFit/>
          </a:bodyPr>
          <a:lstStyle/>
          <a:p>
            <a:r>
              <a:rPr lang="en-US" sz="250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4478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259C6-DC09-E303-C5C3-F48A9BF0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47A895EA-A903-6402-22C0-3ADDA10C923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88268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47A895EA-A903-6402-22C0-3ADDA10C92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B8A67097-E805-93D0-7E82-6D097E1BC41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7" y="172212"/>
            <a:ext cx="11082528" cy="731520"/>
          </a:xfrm>
        </p:spPr>
        <p:txBody>
          <a:bodyPr vert="horz" wrap="square" rIns="0">
            <a:noAutofit/>
          </a:bodyPr>
          <a:lstStyle/>
          <a:p>
            <a:r>
              <a:rPr lang="tr-TR"/>
              <a:t>We developed an integrated set of AI agents to extract/</a:t>
            </a:r>
            <a:r>
              <a:rPr lang="tr-TR" err="1"/>
              <a:t>clean</a:t>
            </a:r>
            <a:r>
              <a:rPr lang="tr-TR"/>
              <a:t> data, </a:t>
            </a:r>
            <a:r>
              <a:rPr lang="tr-TR" err="1"/>
              <a:t>create</a:t>
            </a:r>
            <a:r>
              <a:rPr lang="tr-TR"/>
              <a:t> unified </a:t>
            </a:r>
            <a:r>
              <a:rPr lang="tr-TR" err="1"/>
              <a:t>BoQ</a:t>
            </a:r>
            <a:r>
              <a:rPr lang="tr-TR"/>
              <a:t> </a:t>
            </a:r>
            <a:r>
              <a:rPr lang="tr-TR" err="1"/>
              <a:t>codes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CAPEX </a:t>
            </a:r>
            <a:r>
              <a:rPr lang="tr-TR" err="1"/>
              <a:t>estimation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C352BC-97A3-0346-BDCA-DF230CC76B71}"/>
              </a:ext>
            </a:extLst>
          </p:cNvPr>
          <p:cNvSpPr/>
          <p:nvPr/>
        </p:nvSpPr>
        <p:spPr>
          <a:xfrm>
            <a:off x="0" y="1165307"/>
            <a:ext cx="12192000" cy="718414"/>
          </a:xfrm>
          <a:prstGeom prst="rect">
            <a:avLst/>
          </a:prstGeom>
          <a:solidFill>
            <a:schemeClr val="accent2"/>
          </a:solidFill>
          <a:ln w="9525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46" name="preEnclosure">
            <a:extLst>
              <a:ext uri="{FF2B5EF4-FFF2-40B4-BE49-F238E27FC236}">
                <a16:creationId xmlns:a16="http://schemas.microsoft.com/office/drawing/2014/main" id="{8D1642D2-66D4-BADD-C9D9-3A134BD64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84540" y="1251704"/>
            <a:ext cx="545621" cy="5456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3586C6-7A2A-12C4-4CDA-9CA56A8E9F73}"/>
              </a:ext>
            </a:extLst>
          </p:cNvPr>
          <p:cNvSpPr txBox="1"/>
          <p:nvPr/>
        </p:nvSpPr>
        <p:spPr>
          <a:xfrm>
            <a:off x="554737" y="2083270"/>
            <a:ext cx="3177731" cy="216469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285750" marR="0" lvl="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tr-TR" sz="1600" b="1"/>
              <a:t>F</a:t>
            </a:r>
            <a:r>
              <a:rPr lang="en-GB" sz="1600" b="1">
                <a:solidFill>
                  <a:schemeClr val="tx1"/>
                </a:solidFill>
                <a:effectLst/>
              </a:rPr>
              <a:t>lag</a:t>
            </a:r>
            <a:r>
              <a:rPr lang="tr-TR" sz="1600" b="1">
                <a:solidFill>
                  <a:schemeClr val="tx1"/>
                </a:solidFill>
                <a:effectLst/>
              </a:rPr>
              <a:t>s</a:t>
            </a:r>
            <a:r>
              <a:rPr lang="en-GB" sz="1600" b="1">
                <a:solidFill>
                  <a:schemeClr val="tx1"/>
                </a:solidFill>
                <a:effectLst/>
              </a:rPr>
              <a:t> </a:t>
            </a:r>
            <a:r>
              <a:rPr lang="en-GB" sz="1600" b="1" err="1">
                <a:solidFill>
                  <a:schemeClr val="tx1"/>
                </a:solidFill>
                <a:effectLst/>
              </a:rPr>
              <a:t>BoQ</a:t>
            </a:r>
            <a:r>
              <a:rPr lang="en-GB" sz="1600" b="1">
                <a:solidFill>
                  <a:schemeClr val="tx1"/>
                </a:solidFill>
                <a:effectLst/>
              </a:rPr>
              <a:t> files </a:t>
            </a:r>
            <a:r>
              <a:rPr lang="en-GB" sz="1600">
                <a:solidFill>
                  <a:schemeClr val="tx1"/>
                </a:solidFill>
                <a:effectLst/>
              </a:rPr>
              <a:t>across </a:t>
            </a:r>
            <a:r>
              <a:rPr lang="tr-TR" sz="1600">
                <a:solidFill>
                  <a:schemeClr val="tx1"/>
                </a:solidFill>
                <a:effectLst/>
              </a:rPr>
              <a:t>thousands of folders </a:t>
            </a:r>
            <a:r>
              <a:rPr lang="en-GB" sz="1600">
                <a:solidFill>
                  <a:schemeClr val="tx1"/>
                </a:solidFill>
                <a:effectLst/>
              </a:rPr>
              <a:t>for targeted processing</a:t>
            </a:r>
          </a:p>
          <a:p>
            <a:pPr marL="285750" marR="0" lvl="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en-GB" sz="1600">
              <a:solidFill>
                <a:schemeClr val="tx1"/>
              </a:solidFill>
              <a:effectLst/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tr-TR" sz="1600" b="1"/>
              <a:t>Evaluates each Excel cell and layout </a:t>
            </a:r>
            <a:r>
              <a:rPr lang="tr-TR" sz="1600"/>
              <a:t>to prepare unique plan for each file to extract/clean data</a:t>
            </a:r>
            <a:endParaRPr lang="en-GB" sz="1600">
              <a:solidFill>
                <a:schemeClr val="tx1"/>
              </a:solidFill>
              <a:effectLst/>
            </a:endParaRPr>
          </a:p>
        </p:txBody>
      </p:sp>
      <p:pic>
        <p:nvPicPr>
          <p:cNvPr id="77" name="preEnclosure">
            <a:extLst>
              <a:ext uri="{FF2B5EF4-FFF2-40B4-BE49-F238E27FC236}">
                <a16:creationId xmlns:a16="http://schemas.microsoft.com/office/drawing/2014/main" id="{B1CAF7C5-A298-DC25-FB15-8E9837D27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5046" y="1306425"/>
            <a:ext cx="436178" cy="436178"/>
          </a:xfrm>
          <a:prstGeom prst="rect">
            <a:avLst/>
          </a:prstGeom>
        </p:spPr>
      </p:pic>
      <p:pic>
        <p:nvPicPr>
          <p:cNvPr id="78" name="preEnclosure">
            <a:extLst>
              <a:ext uri="{FF2B5EF4-FFF2-40B4-BE49-F238E27FC236}">
                <a16:creationId xmlns:a16="http://schemas.microsoft.com/office/drawing/2014/main" id="{1333A41C-B5B9-BD74-43F8-969997E6F4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33325" y="1288396"/>
            <a:ext cx="472237" cy="4722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7F3044B-AD1A-68C7-4FCC-9EB91B891114}"/>
              </a:ext>
            </a:extLst>
          </p:cNvPr>
          <p:cNvSpPr txBox="1"/>
          <p:nvPr/>
        </p:nvSpPr>
        <p:spPr>
          <a:xfrm>
            <a:off x="554737" y="1271623"/>
            <a:ext cx="2216923" cy="58477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R="0" lvl="0">
              <a:spcBef>
                <a:spcPts val="150"/>
              </a:spcBef>
              <a:spcAft>
                <a:spcPts val="150"/>
              </a:spcAft>
            </a:pPr>
            <a:r>
              <a:rPr lang="en-GB" sz="1600" b="1">
                <a:solidFill>
                  <a:schemeClr val="bg1"/>
                </a:solidFill>
                <a:effectLst/>
              </a:rPr>
              <a:t>Data Extraction</a:t>
            </a:r>
            <a:r>
              <a:rPr lang="tr-TR" sz="1600" b="1">
                <a:solidFill>
                  <a:schemeClr val="bg1"/>
                </a:solidFill>
                <a:effectLst/>
              </a:rPr>
              <a:t> and Cleaning</a:t>
            </a:r>
            <a:endParaRPr lang="en-GB" sz="1600" b="1">
              <a:solidFill>
                <a:schemeClr val="bg1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8F38BA-A4E7-F1E2-8544-6CCCA5CFE24A}"/>
              </a:ext>
            </a:extLst>
          </p:cNvPr>
          <p:cNvSpPr txBox="1"/>
          <p:nvPr/>
        </p:nvSpPr>
        <p:spPr>
          <a:xfrm>
            <a:off x="4047068" y="1355237"/>
            <a:ext cx="2216923" cy="33855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ctr">
              <a:spcBef>
                <a:spcPts val="150"/>
              </a:spcBef>
              <a:spcAft>
                <a:spcPts val="150"/>
              </a:spcAft>
            </a:pPr>
            <a:r>
              <a:rPr lang="en-GB" sz="1600" b="1" err="1">
                <a:solidFill>
                  <a:schemeClr val="bg1"/>
                </a:solidFill>
                <a:effectLst/>
              </a:rPr>
              <a:t>BoQ</a:t>
            </a:r>
            <a:r>
              <a:rPr lang="en-GB" sz="1600" b="1">
                <a:solidFill>
                  <a:schemeClr val="bg1"/>
                </a:solidFill>
                <a:effectLst/>
              </a:rPr>
              <a:t> Unification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9A52C7-CE51-87C9-7853-7C04314A8C3C}"/>
              </a:ext>
            </a:extLst>
          </p:cNvPr>
          <p:cNvSpPr txBox="1"/>
          <p:nvPr/>
        </p:nvSpPr>
        <p:spPr>
          <a:xfrm>
            <a:off x="8122359" y="1355237"/>
            <a:ext cx="2216923" cy="33855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ctr">
              <a:spcBef>
                <a:spcPts val="150"/>
              </a:spcBef>
              <a:spcAft>
                <a:spcPts val="150"/>
              </a:spcAft>
            </a:pPr>
            <a:r>
              <a:rPr lang="en-GB" sz="1600" b="1">
                <a:solidFill>
                  <a:schemeClr val="bg1"/>
                </a:solidFill>
              </a:rPr>
              <a:t>CAPEX Estimation</a:t>
            </a:r>
            <a:endParaRPr lang="en-GB" sz="1600" b="1">
              <a:solidFill>
                <a:schemeClr val="bg1"/>
              </a:solidFill>
              <a:effectLst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C6B882-48F3-F253-63DC-A162D2088F9D}"/>
              </a:ext>
            </a:extLst>
          </p:cNvPr>
          <p:cNvCxnSpPr>
            <a:cxnSpLocks/>
          </p:cNvCxnSpPr>
          <p:nvPr/>
        </p:nvCxnSpPr>
        <p:spPr>
          <a:xfrm>
            <a:off x="4041317" y="1253167"/>
            <a:ext cx="0" cy="54269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11">
            <a:extLst>
              <a:ext uri="{FF2B5EF4-FFF2-40B4-BE49-F238E27FC236}">
                <a16:creationId xmlns:a16="http://schemas.microsoft.com/office/drawing/2014/main" id="{579514FE-95DF-E40C-1852-EEF999EA82C2}"/>
              </a:ext>
            </a:extLst>
          </p:cNvPr>
          <p:cNvSpPr/>
          <p:nvPr/>
        </p:nvSpPr>
        <p:spPr>
          <a:xfrm rot="16200000" flipH="1" flipV="1">
            <a:off x="4034522" y="1447346"/>
            <a:ext cx="181920" cy="15682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76200" dist="38100" dir="540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33CD305-23FD-3109-EE9C-7698D16FDBBC}"/>
              </a:ext>
            </a:extLst>
          </p:cNvPr>
          <p:cNvCxnSpPr>
            <a:cxnSpLocks/>
          </p:cNvCxnSpPr>
          <p:nvPr/>
        </p:nvCxnSpPr>
        <p:spPr>
          <a:xfrm>
            <a:off x="8069644" y="1253167"/>
            <a:ext cx="0" cy="54269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11">
            <a:extLst>
              <a:ext uri="{FF2B5EF4-FFF2-40B4-BE49-F238E27FC236}">
                <a16:creationId xmlns:a16="http://schemas.microsoft.com/office/drawing/2014/main" id="{BD7C19B7-E9AB-BD91-9A0B-1E4E0C857158}"/>
              </a:ext>
            </a:extLst>
          </p:cNvPr>
          <p:cNvSpPr/>
          <p:nvPr/>
        </p:nvSpPr>
        <p:spPr>
          <a:xfrm rot="16200000" flipH="1" flipV="1">
            <a:off x="8062849" y="1447346"/>
            <a:ext cx="181920" cy="15682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76200" dist="38100" dir="540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8A9DAAD-0E87-097E-F3F6-22919FBC091E}"/>
              </a:ext>
            </a:extLst>
          </p:cNvPr>
          <p:cNvCxnSpPr>
            <a:cxnSpLocks/>
          </p:cNvCxnSpPr>
          <p:nvPr/>
        </p:nvCxnSpPr>
        <p:spPr>
          <a:xfrm>
            <a:off x="4044490" y="1916055"/>
            <a:ext cx="0" cy="244822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0078D53-8CA6-6DB9-86E4-87EBB9334360}"/>
              </a:ext>
            </a:extLst>
          </p:cNvPr>
          <p:cNvCxnSpPr>
            <a:cxnSpLocks/>
          </p:cNvCxnSpPr>
          <p:nvPr/>
        </p:nvCxnSpPr>
        <p:spPr>
          <a:xfrm>
            <a:off x="8075586" y="1916055"/>
            <a:ext cx="0" cy="244822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57C901C-2B3C-56D6-25F6-ABBCDD4844D6}"/>
              </a:ext>
            </a:extLst>
          </p:cNvPr>
          <p:cNvSpPr txBox="1"/>
          <p:nvPr/>
        </p:nvSpPr>
        <p:spPr>
          <a:xfrm>
            <a:off x="4292993" y="2083270"/>
            <a:ext cx="3434140" cy="270843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tr-TR" sz="1600" b="1"/>
              <a:t>Identifes and generates</a:t>
            </a:r>
            <a:r>
              <a:rPr lang="en-GB" sz="1600"/>
              <a:t> </a:t>
            </a:r>
            <a:r>
              <a:rPr lang="en-GB" sz="1600" b="1"/>
              <a:t>physical parts </a:t>
            </a:r>
            <a:r>
              <a:rPr lang="en-GB" sz="1600"/>
              <a:t>under WBS and map </a:t>
            </a:r>
            <a:r>
              <a:rPr lang="en-GB" sz="1600" err="1"/>
              <a:t>BoQ</a:t>
            </a:r>
            <a:r>
              <a:rPr lang="en-GB" sz="1600"/>
              <a:t> items to them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GB" sz="1600"/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GB" sz="1600" b="1"/>
              <a:t>Domain-specific</a:t>
            </a:r>
            <a:r>
              <a:rPr lang="tr-TR" sz="1600" b="1"/>
              <a:t> trained</a:t>
            </a:r>
            <a:r>
              <a:rPr lang="en-GB" sz="1600" b="1"/>
              <a:t> agents generate specs, </a:t>
            </a:r>
            <a:r>
              <a:rPr lang="en-GB" sz="1600"/>
              <a:t>and main specs are selected for unification based on </a:t>
            </a:r>
            <a:r>
              <a:rPr lang="tr-TR" sz="1600"/>
              <a:t>team</a:t>
            </a:r>
            <a:r>
              <a:rPr lang="en-GB" sz="1600"/>
              <a:t> review and spec</a:t>
            </a:r>
            <a:r>
              <a:rPr lang="tr-TR" sz="1600"/>
              <a:t> dominance </a:t>
            </a:r>
            <a:endParaRPr lang="en-US" sz="1600"/>
          </a:p>
          <a:p>
            <a:pPr marR="0" lvl="0">
              <a:spcBef>
                <a:spcPts val="150"/>
              </a:spcBef>
              <a:spcAft>
                <a:spcPts val="150"/>
              </a:spcAft>
            </a:pPr>
            <a:endParaRPr lang="en-GB" sz="1600">
              <a:solidFill>
                <a:schemeClr val="tx1"/>
              </a:solidFill>
              <a:effectLst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E31C47-6C5D-C030-29C7-220CC4B1176B}"/>
              </a:ext>
            </a:extLst>
          </p:cNvPr>
          <p:cNvSpPr txBox="1"/>
          <p:nvPr/>
        </p:nvSpPr>
        <p:spPr>
          <a:xfrm>
            <a:off x="8287655" y="2083270"/>
            <a:ext cx="3548826" cy="241091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GB" sz="1600" b="1"/>
              <a:t>Top – down</a:t>
            </a:r>
            <a:r>
              <a:rPr lang="tr-TR" sz="1600" b="1"/>
              <a:t> winner inflation</a:t>
            </a:r>
            <a:r>
              <a:rPr lang="en-GB" sz="1600" b="1"/>
              <a:t>: </a:t>
            </a:r>
            <a:r>
              <a:rPr lang="tr-TR" sz="1600"/>
              <a:t>Select winner bids, </a:t>
            </a:r>
            <a:r>
              <a:rPr lang="en-GB" sz="1600"/>
              <a:t>estimates CAPEX adjusting inflation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tr-TR" sz="1600" b="1"/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GB" sz="1600" b="1"/>
              <a:t>Bottom – up</a:t>
            </a:r>
            <a:r>
              <a:rPr lang="tr-TR" sz="1600" b="1"/>
              <a:t> costing</a:t>
            </a:r>
            <a:r>
              <a:rPr lang="en-GB" sz="1600" b="1"/>
              <a:t>: </a:t>
            </a:r>
            <a:br>
              <a:rPr lang="tr-TR" sz="1600" b="1"/>
            </a:br>
            <a:r>
              <a:rPr lang="tr-TR" sz="1600"/>
              <a:t>Generates cost structure with deep research and forecasts key drivers</a:t>
            </a:r>
            <a:r>
              <a:rPr lang="en-GB" sz="1600"/>
              <a:t> (e.g. material, energy) weighted by each driver’s share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3541E09C-51E1-04E1-585B-3CBD50E0E014}"/>
              </a:ext>
            </a:extLst>
          </p:cNvPr>
          <p:cNvGrpSpPr/>
          <p:nvPr/>
        </p:nvGrpSpPr>
        <p:grpSpPr>
          <a:xfrm>
            <a:off x="554737" y="4796220"/>
            <a:ext cx="11082528" cy="1413085"/>
            <a:chOff x="2490752" y="4784800"/>
            <a:chExt cx="9146512" cy="1413085"/>
          </a:xfrm>
        </p:grpSpPr>
        <p:sp>
          <p:nvSpPr>
            <p:cNvPr id="141" name="Rounded Rectangle 48">
              <a:extLst>
                <a:ext uri="{FF2B5EF4-FFF2-40B4-BE49-F238E27FC236}">
                  <a16:creationId xmlns:a16="http://schemas.microsoft.com/office/drawing/2014/main" id="{B1C55351-BAB0-EA8F-52F3-D63FF33F3AD1}"/>
                </a:ext>
              </a:extLst>
            </p:cNvPr>
            <p:cNvSpPr>
              <a:spLocks/>
            </p:cNvSpPr>
            <p:nvPr/>
          </p:nvSpPr>
          <p:spPr>
            <a:xfrm>
              <a:off x="2490752" y="4787082"/>
              <a:ext cx="1404538" cy="1410803"/>
            </a:xfrm>
            <a:prstGeom prst="roundRect">
              <a:avLst>
                <a:gd name="adj" fmla="val 11000"/>
              </a:avLst>
            </a:prstGeom>
            <a:solidFill>
              <a:schemeClr val="accent2"/>
            </a:solidFill>
            <a:ln w="12700">
              <a:solidFill>
                <a:srgbClr val="276360"/>
              </a:solidFill>
            </a:ln>
            <a:effectLst>
              <a:outerShdw blurRad="45720" dist="20320" dir="5400000" rotWithShape="0">
                <a:srgbClr val="9AA6AD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>
              <a:noAutofit/>
            </a:bodyPr>
            <a:lstStyle/>
            <a:p>
              <a:pPr>
                <a:lnSpc>
                  <a:spcPct val="95000"/>
                </a:lnSpc>
                <a:spcBef>
                  <a:spcPts val="0"/>
                </a:spcBef>
                <a:spcAft>
                  <a:spcPts val="100"/>
                </a:spcAft>
              </a:pPr>
              <a:endParaRPr lang="en-US" sz="1400" b="1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42" name="Rounded Rectangle 48">
              <a:extLst>
                <a:ext uri="{FF2B5EF4-FFF2-40B4-BE49-F238E27FC236}">
                  <a16:creationId xmlns:a16="http://schemas.microsoft.com/office/drawing/2014/main" id="{99D98EDE-A871-CCE7-E495-5E4E62B2EEB5}"/>
                </a:ext>
              </a:extLst>
            </p:cNvPr>
            <p:cNvSpPr>
              <a:spLocks/>
            </p:cNvSpPr>
            <p:nvPr/>
          </p:nvSpPr>
          <p:spPr>
            <a:xfrm>
              <a:off x="10232726" y="4784800"/>
              <a:ext cx="1404538" cy="1410803"/>
            </a:xfrm>
            <a:prstGeom prst="roundRect">
              <a:avLst>
                <a:gd name="adj" fmla="val 11000"/>
              </a:avLst>
            </a:prstGeom>
            <a:solidFill>
              <a:schemeClr val="accent2"/>
            </a:solidFill>
            <a:ln w="12700">
              <a:solidFill>
                <a:srgbClr val="276360"/>
              </a:solidFill>
            </a:ln>
            <a:effectLst>
              <a:outerShdw blurRad="45720" dist="20320" dir="5400000" rotWithShape="0">
                <a:srgbClr val="9AA6AD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>
              <a:noAutofit/>
            </a:bodyPr>
            <a:lstStyle/>
            <a:p>
              <a:pPr>
                <a:lnSpc>
                  <a:spcPct val="95000"/>
                </a:lnSpc>
                <a:spcBef>
                  <a:spcPts val="0"/>
                </a:spcBef>
                <a:spcAft>
                  <a:spcPts val="100"/>
                </a:spcAft>
              </a:pPr>
              <a:endParaRPr lang="en-US" sz="1400" b="1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43" name="Rounded Rectangle 48">
              <a:extLst>
                <a:ext uri="{FF2B5EF4-FFF2-40B4-BE49-F238E27FC236}">
                  <a16:creationId xmlns:a16="http://schemas.microsoft.com/office/drawing/2014/main" id="{3436158C-9E4F-FF33-7842-C7A106572000}"/>
                </a:ext>
              </a:extLst>
            </p:cNvPr>
            <p:cNvSpPr>
              <a:spLocks/>
            </p:cNvSpPr>
            <p:nvPr/>
          </p:nvSpPr>
          <p:spPr>
            <a:xfrm>
              <a:off x="8297233" y="4787082"/>
              <a:ext cx="1404538" cy="1410803"/>
            </a:xfrm>
            <a:prstGeom prst="roundRect">
              <a:avLst>
                <a:gd name="adj" fmla="val 11000"/>
              </a:avLst>
            </a:prstGeom>
            <a:solidFill>
              <a:schemeClr val="accent2"/>
            </a:solidFill>
            <a:ln w="12700">
              <a:solidFill>
                <a:srgbClr val="276360"/>
              </a:solidFill>
            </a:ln>
            <a:effectLst>
              <a:outerShdw blurRad="45720" dist="20320" dir="5400000" rotWithShape="0">
                <a:srgbClr val="9AA6AD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>
              <a:noAutofit/>
            </a:bodyPr>
            <a:lstStyle/>
            <a:p>
              <a:pPr>
                <a:lnSpc>
                  <a:spcPct val="95000"/>
                </a:lnSpc>
                <a:spcBef>
                  <a:spcPts val="0"/>
                </a:spcBef>
                <a:spcAft>
                  <a:spcPts val="100"/>
                </a:spcAft>
              </a:pPr>
              <a:endParaRPr lang="en-US" sz="1400" b="1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44" name="Rounded Rectangle 48">
              <a:extLst>
                <a:ext uri="{FF2B5EF4-FFF2-40B4-BE49-F238E27FC236}">
                  <a16:creationId xmlns:a16="http://schemas.microsoft.com/office/drawing/2014/main" id="{F94D6C93-B33F-F8FB-39B8-A44342A9C305}"/>
                </a:ext>
              </a:extLst>
            </p:cNvPr>
            <p:cNvSpPr>
              <a:spLocks/>
            </p:cNvSpPr>
            <p:nvPr/>
          </p:nvSpPr>
          <p:spPr>
            <a:xfrm>
              <a:off x="6361739" y="4787082"/>
              <a:ext cx="1404538" cy="1410803"/>
            </a:xfrm>
            <a:prstGeom prst="roundRect">
              <a:avLst>
                <a:gd name="adj" fmla="val 11000"/>
              </a:avLst>
            </a:prstGeom>
            <a:solidFill>
              <a:schemeClr val="accent2"/>
            </a:solidFill>
            <a:ln w="12700">
              <a:solidFill>
                <a:srgbClr val="276360"/>
              </a:solidFill>
            </a:ln>
            <a:effectLst>
              <a:outerShdw blurRad="45720" dist="20320" dir="5400000" rotWithShape="0">
                <a:srgbClr val="9AA6AD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>
              <a:noAutofit/>
            </a:bodyPr>
            <a:lstStyle/>
            <a:p>
              <a:pPr>
                <a:lnSpc>
                  <a:spcPct val="95000"/>
                </a:lnSpc>
                <a:spcBef>
                  <a:spcPts val="0"/>
                </a:spcBef>
                <a:spcAft>
                  <a:spcPts val="100"/>
                </a:spcAft>
              </a:pPr>
              <a:endParaRPr lang="en-US" sz="1400" b="1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45" name="Rounded Rectangle 48">
              <a:extLst>
                <a:ext uri="{FF2B5EF4-FFF2-40B4-BE49-F238E27FC236}">
                  <a16:creationId xmlns:a16="http://schemas.microsoft.com/office/drawing/2014/main" id="{03C5B3F6-ABF4-121C-0021-963FCC44F069}"/>
                </a:ext>
              </a:extLst>
            </p:cNvPr>
            <p:cNvSpPr>
              <a:spLocks/>
            </p:cNvSpPr>
            <p:nvPr/>
          </p:nvSpPr>
          <p:spPr>
            <a:xfrm>
              <a:off x="4426246" y="4787082"/>
              <a:ext cx="1404538" cy="1410803"/>
            </a:xfrm>
            <a:prstGeom prst="roundRect">
              <a:avLst>
                <a:gd name="adj" fmla="val 11000"/>
              </a:avLst>
            </a:prstGeom>
            <a:solidFill>
              <a:schemeClr val="accent2"/>
            </a:solidFill>
            <a:ln w="12700">
              <a:solidFill>
                <a:srgbClr val="276360"/>
              </a:solidFill>
            </a:ln>
            <a:effectLst>
              <a:outerShdw blurRad="45720" dist="20320" dir="5400000" rotWithShape="0">
                <a:srgbClr val="9AA6AD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>
              <a:noAutofit/>
            </a:bodyPr>
            <a:lstStyle/>
            <a:p>
              <a:pPr>
                <a:lnSpc>
                  <a:spcPct val="95000"/>
                </a:lnSpc>
                <a:spcBef>
                  <a:spcPts val="0"/>
                </a:spcBef>
                <a:spcAft>
                  <a:spcPts val="100"/>
                </a:spcAft>
              </a:pPr>
              <a:endParaRPr lang="en-US" sz="1400" b="1">
                <a:solidFill>
                  <a:srgbClr val="FFFFFF"/>
                </a:solidFill>
                <a:latin typeface="+mj-lt"/>
              </a:endParaRPr>
            </a:p>
          </p:txBody>
        </p: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2FD00E40-88B7-0F92-C342-C5B1DA8CB942}"/>
                </a:ext>
              </a:extLst>
            </p:cNvPr>
            <p:cNvCxnSpPr>
              <a:cxnSpLocks/>
              <a:stCxn id="141" idx="3"/>
              <a:endCxn id="145" idx="1"/>
            </p:cNvCxnSpPr>
            <p:nvPr/>
          </p:nvCxnSpPr>
          <p:spPr>
            <a:xfrm>
              <a:off x="3895290" y="5492484"/>
              <a:ext cx="530956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FC6F0087-86AD-0AD8-BE11-C4A968A490EC}"/>
                </a:ext>
              </a:extLst>
            </p:cNvPr>
            <p:cNvCxnSpPr>
              <a:cxnSpLocks/>
              <a:stCxn id="145" idx="3"/>
              <a:endCxn id="144" idx="1"/>
            </p:cNvCxnSpPr>
            <p:nvPr/>
          </p:nvCxnSpPr>
          <p:spPr>
            <a:xfrm>
              <a:off x="5830784" y="5492484"/>
              <a:ext cx="530956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A78ADC4E-C9F2-91EC-B0A0-7D4E270BA6ED}"/>
                </a:ext>
              </a:extLst>
            </p:cNvPr>
            <p:cNvCxnSpPr>
              <a:cxnSpLocks/>
              <a:stCxn id="144" idx="3"/>
              <a:endCxn id="143" idx="1"/>
            </p:cNvCxnSpPr>
            <p:nvPr/>
          </p:nvCxnSpPr>
          <p:spPr>
            <a:xfrm>
              <a:off x="7766277" y="5492484"/>
              <a:ext cx="530956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A372D06E-8533-4CBA-FF37-B8A011EC29D1}"/>
                </a:ext>
              </a:extLst>
            </p:cNvPr>
            <p:cNvCxnSpPr>
              <a:cxnSpLocks/>
              <a:stCxn id="143" idx="3"/>
              <a:endCxn id="142" idx="1"/>
            </p:cNvCxnSpPr>
            <p:nvPr/>
          </p:nvCxnSpPr>
          <p:spPr>
            <a:xfrm flipV="1">
              <a:off x="9701771" y="5490202"/>
              <a:ext cx="530955" cy="2282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EAFC193-3CA4-097A-DF1E-D0998F1B1A16}"/>
                </a:ext>
              </a:extLst>
            </p:cNvPr>
            <p:cNvSpPr txBox="1"/>
            <p:nvPr/>
          </p:nvSpPr>
          <p:spPr>
            <a:xfrm>
              <a:off x="2503298" y="5428180"/>
              <a:ext cx="1323577" cy="523220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R="0" lvl="0">
                <a:spcBef>
                  <a:spcPts val="150"/>
                </a:spcBef>
                <a:spcAft>
                  <a:spcPts val="150"/>
                </a:spcAft>
              </a:pPr>
              <a:r>
                <a:rPr lang="en-GB" sz="1400">
                  <a:solidFill>
                    <a:schemeClr val="bg1"/>
                  </a:solidFill>
                </a:rPr>
                <a:t>p</a:t>
              </a:r>
              <a:r>
                <a:rPr lang="en-GB" sz="1400">
                  <a:solidFill>
                    <a:schemeClr val="bg1"/>
                  </a:solidFill>
                  <a:effectLst/>
                </a:rPr>
                <a:t>rocessed </a:t>
              </a:r>
              <a:r>
                <a:rPr lang="tr-TR" sz="1400">
                  <a:solidFill>
                    <a:schemeClr val="bg1"/>
                  </a:solidFill>
                </a:rPr>
                <a:t>E</a:t>
              </a:r>
              <a:r>
                <a:rPr lang="en-GB" sz="1400">
                  <a:solidFill>
                    <a:schemeClr val="bg1"/>
                  </a:solidFill>
                  <a:effectLst/>
                </a:rPr>
                <a:t>xcel sheets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B00E227-1100-6825-1BB6-1178986406D2}"/>
                </a:ext>
              </a:extLst>
            </p:cNvPr>
            <p:cNvSpPr txBox="1"/>
            <p:nvPr/>
          </p:nvSpPr>
          <p:spPr>
            <a:xfrm>
              <a:off x="2503298" y="4921025"/>
              <a:ext cx="934648" cy="46166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GB" sz="2400" b="1">
                  <a:solidFill>
                    <a:schemeClr val="bg1"/>
                  </a:solidFill>
                </a:rPr>
                <a:t>14K</a:t>
              </a:r>
              <a:endParaRPr 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0CCD424-A8EF-798B-D93C-05B103F70866}"/>
                </a:ext>
              </a:extLst>
            </p:cNvPr>
            <p:cNvSpPr txBox="1"/>
            <p:nvPr/>
          </p:nvSpPr>
          <p:spPr>
            <a:xfrm>
              <a:off x="4426244" y="5428180"/>
              <a:ext cx="1149927" cy="523220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R="0" lvl="0">
                <a:spcBef>
                  <a:spcPts val="150"/>
                </a:spcBef>
                <a:spcAft>
                  <a:spcPts val="150"/>
                </a:spcAft>
              </a:pPr>
              <a:r>
                <a:rPr lang="en-GB" sz="1400">
                  <a:solidFill>
                    <a:schemeClr val="bg1"/>
                  </a:solidFill>
                </a:rPr>
                <a:t>extracted </a:t>
              </a:r>
              <a:r>
                <a:rPr lang="en-GB" sz="1400" err="1">
                  <a:solidFill>
                    <a:schemeClr val="bg1"/>
                  </a:solidFill>
                </a:rPr>
                <a:t>BoQ</a:t>
              </a:r>
              <a:r>
                <a:rPr lang="en-GB" sz="1400">
                  <a:solidFill>
                    <a:schemeClr val="bg1"/>
                  </a:solidFill>
                </a:rPr>
                <a:t> lines</a:t>
              </a:r>
              <a:endParaRPr lang="en-GB" sz="140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623CC6A5-40EF-7A38-AB07-5F0868661B61}"/>
                </a:ext>
              </a:extLst>
            </p:cNvPr>
            <p:cNvSpPr txBox="1"/>
            <p:nvPr/>
          </p:nvSpPr>
          <p:spPr>
            <a:xfrm>
              <a:off x="4426244" y="4921025"/>
              <a:ext cx="1375621" cy="46166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GB" sz="2400" b="1">
                  <a:solidFill>
                    <a:schemeClr val="bg1"/>
                  </a:solidFill>
                </a:rPr>
                <a:t>1.6Mn</a:t>
              </a:r>
              <a:endParaRPr 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D02B4E82-1F63-6508-049D-427F3B3301BE}"/>
                </a:ext>
              </a:extLst>
            </p:cNvPr>
            <p:cNvSpPr txBox="1"/>
            <p:nvPr/>
          </p:nvSpPr>
          <p:spPr>
            <a:xfrm>
              <a:off x="6381414" y="5428180"/>
              <a:ext cx="1283684" cy="523220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R="0" lvl="0">
                <a:spcBef>
                  <a:spcPts val="150"/>
                </a:spcBef>
                <a:spcAft>
                  <a:spcPts val="150"/>
                </a:spcAft>
              </a:pPr>
              <a:r>
                <a:rPr lang="en-GB" sz="1400">
                  <a:solidFill>
                    <a:schemeClr val="bg1"/>
                  </a:solidFill>
                </a:rPr>
                <a:t>parsed p</a:t>
              </a:r>
              <a:r>
                <a:rPr lang="en-GB" sz="1400">
                  <a:solidFill>
                    <a:schemeClr val="bg1"/>
                  </a:solidFill>
                  <a:effectLst/>
                </a:rPr>
                <a:t>hysical parts 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2FDBACB-B7BF-4EC0-9B24-70AFD538C906}"/>
                </a:ext>
              </a:extLst>
            </p:cNvPr>
            <p:cNvSpPr txBox="1"/>
            <p:nvPr/>
          </p:nvSpPr>
          <p:spPr>
            <a:xfrm>
              <a:off x="6381414" y="4921025"/>
              <a:ext cx="1375621" cy="46166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GB" sz="2400" b="1">
                  <a:solidFill>
                    <a:schemeClr val="bg1"/>
                  </a:solidFill>
                </a:rPr>
                <a:t>+1K</a:t>
              </a:r>
              <a:endParaRPr 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EB94231-A5B8-EBDE-3795-B59427B72E2A}"/>
                </a:ext>
              </a:extLst>
            </p:cNvPr>
            <p:cNvSpPr txBox="1"/>
            <p:nvPr/>
          </p:nvSpPr>
          <p:spPr>
            <a:xfrm>
              <a:off x="8323860" y="5428180"/>
              <a:ext cx="1149927" cy="523220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R="0" lvl="0">
                <a:spcBef>
                  <a:spcPts val="150"/>
                </a:spcBef>
                <a:spcAft>
                  <a:spcPts val="150"/>
                </a:spcAft>
              </a:pPr>
              <a:r>
                <a:rPr lang="en-GB" sz="1400">
                  <a:solidFill>
                    <a:schemeClr val="bg1"/>
                  </a:solidFill>
                </a:rPr>
                <a:t>generated specs</a:t>
              </a:r>
              <a:endParaRPr lang="en-GB" sz="140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8E1A146-8F7A-4439-ADAD-F56427A891FC}"/>
                </a:ext>
              </a:extLst>
            </p:cNvPr>
            <p:cNvSpPr txBox="1"/>
            <p:nvPr/>
          </p:nvSpPr>
          <p:spPr>
            <a:xfrm>
              <a:off x="8323860" y="4921025"/>
              <a:ext cx="1375621" cy="46166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GB" sz="2400" b="1">
                  <a:solidFill>
                    <a:schemeClr val="bg1"/>
                  </a:solidFill>
                </a:rPr>
                <a:t>7.5K</a:t>
              </a:r>
              <a:endParaRPr 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CCA4839-C6DC-13EC-E2CC-63C1A919015C}"/>
                </a:ext>
              </a:extLst>
            </p:cNvPr>
            <p:cNvSpPr txBox="1"/>
            <p:nvPr/>
          </p:nvSpPr>
          <p:spPr>
            <a:xfrm>
              <a:off x="10256732" y="5428180"/>
              <a:ext cx="1279352" cy="738664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R="0" lvl="0">
                <a:spcBef>
                  <a:spcPts val="150"/>
                </a:spcBef>
                <a:spcAft>
                  <a:spcPts val="150"/>
                </a:spcAft>
              </a:pPr>
              <a:r>
                <a:rPr lang="en-GB" sz="1400">
                  <a:solidFill>
                    <a:schemeClr val="bg1"/>
                  </a:solidFill>
                </a:rPr>
                <a:t>selected main specs for unification</a:t>
              </a:r>
              <a:endParaRPr lang="en-GB" sz="140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ECE6C853-4B45-0891-4BE3-D3514BB35BA0}"/>
                </a:ext>
              </a:extLst>
            </p:cNvPr>
            <p:cNvSpPr txBox="1"/>
            <p:nvPr/>
          </p:nvSpPr>
          <p:spPr>
            <a:xfrm>
              <a:off x="10256732" y="4921025"/>
              <a:ext cx="1375621" cy="46166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GB" sz="2400" b="1">
                  <a:solidFill>
                    <a:schemeClr val="bg1"/>
                  </a:solidFill>
                </a:rPr>
                <a:t>3K</a:t>
              </a:r>
              <a:endParaRPr lang="en-US" sz="24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7844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D5C9-DEC1-00BB-CB2D-C254973A4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E1563DC5-E3CE-4F11-C901-C270E0C73CA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2118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E1563DC5-E3CE-4F11-C901-C270E0C73C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B158C4CA-C7B3-8834-21FD-4C4CF814E89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>
            <a:noAutofit/>
          </a:bodyPr>
          <a:lstStyle/>
          <a:p>
            <a:r>
              <a:rPr lang="tr-TR"/>
              <a:t>284 out of 353 (80%) procurement packages since 2023 are captured with item-level prices</a:t>
            </a:r>
            <a:endParaRPr lang="en-US"/>
          </a:p>
        </p:txBody>
      </p:sp>
      <p:sp>
        <p:nvSpPr>
          <p:cNvPr id="46" name="Rounded Rectangle 54">
            <a:extLst>
              <a:ext uri="{FF2B5EF4-FFF2-40B4-BE49-F238E27FC236}">
                <a16:creationId xmlns:a16="http://schemas.microsoft.com/office/drawing/2014/main" id="{E89F0106-80CB-CA8E-EB9C-09C7B822867C}"/>
              </a:ext>
            </a:extLst>
          </p:cNvPr>
          <p:cNvSpPr>
            <a:spLocks/>
          </p:cNvSpPr>
          <p:nvPr/>
        </p:nvSpPr>
        <p:spPr>
          <a:xfrm>
            <a:off x="9877644" y="1413934"/>
            <a:ext cx="1729370" cy="1155455"/>
          </a:xfrm>
          <a:prstGeom prst="roundRect">
            <a:avLst>
              <a:gd name="adj" fmla="val 11000"/>
            </a:avLst>
          </a:prstGeom>
          <a:solidFill>
            <a:srgbClr val="FCF3E5"/>
          </a:solidFill>
          <a:ln w="15875">
            <a:solidFill>
              <a:srgbClr val="E09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lang="tr-TR" sz="2400" b="1">
                <a:solidFill>
                  <a:schemeClr val="tx1"/>
                </a:solidFill>
                <a:latin typeface="+mj-lt"/>
              </a:rPr>
              <a:t>50 </a:t>
            </a:r>
            <a:endParaRPr sz="2400" b="1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400">
                <a:solidFill>
                  <a:schemeClr val="tx1"/>
                </a:solidFill>
                <a:latin typeface="+mj-lt"/>
              </a:rPr>
              <a:t>Has prices but no winner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400">
                <a:solidFill>
                  <a:schemeClr val="tx1"/>
                </a:solidFill>
                <a:latin typeface="+mj-lt"/>
              </a:rPr>
              <a:t>(work-in-progress)</a:t>
            </a:r>
            <a:endParaRPr lang="tr-TR" sz="1400" b="0" i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7" name="Rounded Rectangle 55">
            <a:extLst>
              <a:ext uri="{FF2B5EF4-FFF2-40B4-BE49-F238E27FC236}">
                <a16:creationId xmlns:a16="http://schemas.microsoft.com/office/drawing/2014/main" id="{CAACE796-D2DE-3863-65F7-60588C06C839}"/>
              </a:ext>
            </a:extLst>
          </p:cNvPr>
          <p:cNvSpPr>
            <a:spLocks/>
          </p:cNvSpPr>
          <p:nvPr/>
        </p:nvSpPr>
        <p:spPr>
          <a:xfrm>
            <a:off x="9877644" y="3975345"/>
            <a:ext cx="1729370" cy="1155455"/>
          </a:xfrm>
          <a:prstGeom prst="roundRect">
            <a:avLst>
              <a:gd name="adj" fmla="val 11000"/>
            </a:avLst>
          </a:prstGeom>
          <a:solidFill>
            <a:srgbClr val="FCF3E5"/>
          </a:solidFill>
          <a:ln w="15875">
            <a:solidFill>
              <a:srgbClr val="E09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lang="tr-TR" sz="2400" b="1">
                <a:solidFill>
                  <a:schemeClr val="tx1"/>
                </a:solidFill>
                <a:latin typeface="+mj-lt"/>
              </a:rPr>
              <a:t>59</a:t>
            </a:r>
            <a:endParaRPr sz="2400" b="1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0" i="0">
                <a:solidFill>
                  <a:schemeClr val="tx1"/>
                </a:solidFill>
                <a:latin typeface="+mj-lt"/>
              </a:rPr>
              <a:t>Material / labor cost </a:t>
            </a:r>
            <a:br>
              <a:rPr lang="en-GB" sz="1400" b="0" i="0">
                <a:solidFill>
                  <a:schemeClr val="tx1"/>
                </a:solidFill>
                <a:latin typeface="+mj-lt"/>
              </a:rPr>
            </a:br>
            <a:r>
              <a:rPr lang="en-GB" sz="1400" b="0" i="0">
                <a:solidFill>
                  <a:schemeClr val="tx1"/>
                </a:solidFill>
                <a:latin typeface="+mj-lt"/>
              </a:rPr>
              <a:t>not split</a:t>
            </a:r>
          </a:p>
        </p:txBody>
      </p:sp>
      <p:sp>
        <p:nvSpPr>
          <p:cNvPr id="70" name="Rounded Rectangle 56">
            <a:extLst>
              <a:ext uri="{FF2B5EF4-FFF2-40B4-BE49-F238E27FC236}">
                <a16:creationId xmlns:a16="http://schemas.microsoft.com/office/drawing/2014/main" id="{A97BDC5F-C0D5-263D-879C-8A6B92FD15EC}"/>
              </a:ext>
            </a:extLst>
          </p:cNvPr>
          <p:cNvSpPr>
            <a:spLocks/>
          </p:cNvSpPr>
          <p:nvPr/>
        </p:nvSpPr>
        <p:spPr>
          <a:xfrm>
            <a:off x="9877644" y="2694640"/>
            <a:ext cx="1729370" cy="1155455"/>
          </a:xfrm>
          <a:prstGeom prst="roundRect">
            <a:avLst>
              <a:gd name="adj" fmla="val 11000"/>
            </a:avLst>
          </a:prstGeom>
          <a:solidFill>
            <a:srgbClr val="FCF3E5"/>
          </a:solidFill>
          <a:ln w="15875">
            <a:solidFill>
              <a:srgbClr val="E09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lang="tr-TR" sz="2400" b="1">
                <a:solidFill>
                  <a:schemeClr val="tx1"/>
                </a:solidFill>
                <a:latin typeface="+mj-lt"/>
              </a:rPr>
              <a:t>65</a:t>
            </a:r>
            <a:endParaRPr sz="2400" b="1" i="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400">
                <a:solidFill>
                  <a:schemeClr val="tx1"/>
                </a:solidFill>
                <a:latin typeface="+mj-lt"/>
              </a:rPr>
              <a:t>BoQ captured but limited package mapping </a:t>
            </a:r>
            <a:endParaRPr lang="tr-TR" sz="1400" b="0" i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ounded Rectangle 49">
            <a:extLst>
              <a:ext uri="{FF2B5EF4-FFF2-40B4-BE49-F238E27FC236}">
                <a16:creationId xmlns:a16="http://schemas.microsoft.com/office/drawing/2014/main" id="{7BD28CC9-BF7D-256D-8983-7BE2A603061C}"/>
              </a:ext>
            </a:extLst>
          </p:cNvPr>
          <p:cNvSpPr>
            <a:spLocks/>
          </p:cNvSpPr>
          <p:nvPr/>
        </p:nvSpPr>
        <p:spPr>
          <a:xfrm>
            <a:off x="2833844" y="1413934"/>
            <a:ext cx="1729370" cy="2353102"/>
          </a:xfrm>
          <a:prstGeom prst="roundRect">
            <a:avLst>
              <a:gd name="adj" fmla="val 11000"/>
            </a:avLst>
          </a:prstGeom>
          <a:solidFill>
            <a:schemeClr val="accent2"/>
          </a:solidFill>
          <a:ln w="12700">
            <a:solidFill>
              <a:srgbClr val="276360"/>
            </a:solidFill>
          </a:ln>
          <a:effectLst>
            <a:outerShdw blurRad="45720" dist="20320" dir="5400000" rotWithShape="0">
              <a:srgbClr val="9AA6AD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2400" b="1">
                <a:solidFill>
                  <a:srgbClr val="FFFFFF"/>
                </a:solidFill>
                <a:latin typeface="+mj-lt"/>
              </a:rPr>
              <a:t>3</a:t>
            </a:r>
            <a:r>
              <a:rPr lang="tr-TR" sz="2400" b="1">
                <a:solidFill>
                  <a:srgbClr val="FFFFFF"/>
                </a:solidFill>
                <a:latin typeface="+mj-lt"/>
              </a:rPr>
              <a:t>16</a:t>
            </a:r>
            <a:endParaRPr lang="en-US" sz="2400" b="1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400" b="1">
                <a:solidFill>
                  <a:srgbClr val="FFFFFF"/>
                </a:solidFill>
                <a:latin typeface="+mj-lt"/>
              </a:rPr>
              <a:t>Packages with available </a:t>
            </a:r>
            <a:r>
              <a:rPr lang="en-US" sz="1400" b="1">
                <a:solidFill>
                  <a:srgbClr val="FFFFFF"/>
                </a:solidFill>
                <a:latin typeface="+mj-lt"/>
              </a:rPr>
              <a:t>item data</a:t>
            </a:r>
            <a:endParaRPr lang="tr-TR" sz="1400" b="1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endParaRPr lang="tr-TR" sz="1400" b="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7" name="Rounded Rectangle 50">
            <a:extLst>
              <a:ext uri="{FF2B5EF4-FFF2-40B4-BE49-F238E27FC236}">
                <a16:creationId xmlns:a16="http://schemas.microsoft.com/office/drawing/2014/main" id="{18331A1A-D99C-828D-A64A-C1131A9A853A}"/>
              </a:ext>
            </a:extLst>
          </p:cNvPr>
          <p:cNvSpPr>
            <a:spLocks/>
          </p:cNvSpPr>
          <p:nvPr/>
        </p:nvSpPr>
        <p:spPr>
          <a:xfrm>
            <a:off x="5112952" y="1413934"/>
            <a:ext cx="1729370" cy="2353102"/>
          </a:xfrm>
          <a:prstGeom prst="roundRect">
            <a:avLst>
              <a:gd name="adj" fmla="val 11000"/>
            </a:avLst>
          </a:prstGeom>
          <a:solidFill>
            <a:schemeClr val="accent2"/>
          </a:solidFill>
          <a:ln w="12700">
            <a:solidFill>
              <a:srgbClr val="276360"/>
            </a:solidFill>
          </a:ln>
          <a:effectLst>
            <a:outerShdw blurRad="45720" dist="20320" dir="5400000" rotWithShape="0">
              <a:srgbClr val="9AA6AD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lang="tr-TR" sz="2400" b="1">
                <a:solidFill>
                  <a:srgbClr val="FFFFFF"/>
                </a:solidFill>
                <a:latin typeface="+mj-lt"/>
              </a:rPr>
              <a:t>284</a:t>
            </a:r>
            <a:endParaRPr sz="2400" b="1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400" b="1" i="0">
                <a:solidFill>
                  <a:srgbClr val="FFFFFF"/>
                </a:solidFill>
                <a:latin typeface="+mj-lt"/>
              </a:rPr>
              <a:t>BoQs with </a:t>
            </a:r>
            <a:br>
              <a:rPr lang="tr-TR" sz="1400" b="1" i="0">
                <a:solidFill>
                  <a:srgbClr val="FFFFFF"/>
                </a:solidFill>
                <a:latin typeface="+mj-lt"/>
              </a:rPr>
            </a:br>
            <a:r>
              <a:rPr lang="tr-TR" sz="1400" b="1" i="0">
                <a:solidFill>
                  <a:srgbClr val="FFFFFF"/>
                </a:solidFill>
                <a:latin typeface="+mj-lt"/>
              </a:rPr>
              <a:t>prices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endParaRPr sz="1400" b="1" i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5" name="Rounded Rectangle 51">
            <a:extLst>
              <a:ext uri="{FF2B5EF4-FFF2-40B4-BE49-F238E27FC236}">
                <a16:creationId xmlns:a16="http://schemas.microsoft.com/office/drawing/2014/main" id="{CC904BE1-F1B2-000A-D3BA-86290D778FC7}"/>
              </a:ext>
            </a:extLst>
          </p:cNvPr>
          <p:cNvSpPr>
            <a:spLocks/>
          </p:cNvSpPr>
          <p:nvPr/>
        </p:nvSpPr>
        <p:spPr>
          <a:xfrm>
            <a:off x="7392061" y="1413934"/>
            <a:ext cx="1729370" cy="2353102"/>
          </a:xfrm>
          <a:prstGeom prst="roundRect">
            <a:avLst>
              <a:gd name="adj" fmla="val 11000"/>
            </a:avLst>
          </a:prstGeom>
          <a:solidFill>
            <a:schemeClr val="accent2"/>
          </a:solidFill>
          <a:ln w="12700">
            <a:solidFill>
              <a:srgbClr val="00867C"/>
            </a:solidFill>
          </a:ln>
          <a:effectLst>
            <a:outerShdw blurRad="45720" dist="20320" dir="5400000" rotWithShape="0">
              <a:srgbClr val="9AA6AD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lang="tr-TR" sz="2400" b="1">
                <a:solidFill>
                  <a:srgbClr val="FFFFFF"/>
                </a:solidFill>
                <a:latin typeface="+mj-lt"/>
              </a:rPr>
              <a:t>169</a:t>
            </a:r>
            <a:endParaRPr sz="2400" b="1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400" b="1" i="0">
                <a:solidFill>
                  <a:srgbClr val="FFFFFF"/>
                </a:solidFill>
                <a:latin typeface="+mj-lt"/>
              </a:rPr>
              <a:t>Packages with identified winner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endParaRPr sz="1400" b="1" i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2" name="Rounded Rectangle 53">
            <a:extLst>
              <a:ext uri="{FF2B5EF4-FFF2-40B4-BE49-F238E27FC236}">
                <a16:creationId xmlns:a16="http://schemas.microsoft.com/office/drawing/2014/main" id="{DB8D758D-CFD5-EDDA-A9A5-D552EDB89EA2}"/>
              </a:ext>
            </a:extLst>
          </p:cNvPr>
          <p:cNvSpPr>
            <a:spLocks/>
          </p:cNvSpPr>
          <p:nvPr/>
        </p:nvSpPr>
        <p:spPr>
          <a:xfrm>
            <a:off x="7392061" y="3975345"/>
            <a:ext cx="1729370" cy="1155455"/>
          </a:xfrm>
          <a:prstGeom prst="roundRect">
            <a:avLst>
              <a:gd name="adj" fmla="val 11000"/>
            </a:avLst>
          </a:prstGeom>
          <a:solidFill>
            <a:srgbClr val="FCF3E5"/>
          </a:solidFill>
          <a:ln w="15875">
            <a:solidFill>
              <a:srgbClr val="E09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lang="tr-TR" sz="2400" b="1">
                <a:solidFill>
                  <a:schemeClr val="tx1"/>
                </a:solidFill>
                <a:latin typeface="+mj-lt"/>
              </a:rPr>
              <a:t>174</a:t>
            </a:r>
            <a:endParaRPr sz="2400" b="1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2000"/>
              </a:lnSpc>
              <a:spcAft>
                <a:spcPts val="0"/>
              </a:spcAft>
            </a:pPr>
            <a:r>
              <a:rPr lang="tr-TR" sz="1400">
                <a:solidFill>
                  <a:schemeClr val="tx1"/>
                </a:solidFill>
                <a:latin typeface="+mj-lt"/>
              </a:rPr>
              <a:t>BoQs with </a:t>
            </a:r>
            <a:br>
              <a:rPr lang="tr-TR" sz="1400">
                <a:solidFill>
                  <a:schemeClr val="tx1"/>
                </a:solidFill>
                <a:latin typeface="+mj-lt"/>
              </a:rPr>
            </a:br>
            <a:r>
              <a:rPr lang="tr-TR" sz="1400">
                <a:solidFill>
                  <a:schemeClr val="tx1"/>
                </a:solidFill>
                <a:latin typeface="+mj-lt"/>
              </a:rPr>
              <a:t>data quality issues</a:t>
            </a:r>
            <a:endParaRPr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Rounded Rectangle 58">
            <a:extLst>
              <a:ext uri="{FF2B5EF4-FFF2-40B4-BE49-F238E27FC236}">
                <a16:creationId xmlns:a16="http://schemas.microsoft.com/office/drawing/2014/main" id="{FDA6E1C7-7A79-8D2B-1099-93F617BB876F}"/>
              </a:ext>
            </a:extLst>
          </p:cNvPr>
          <p:cNvSpPr>
            <a:spLocks/>
          </p:cNvSpPr>
          <p:nvPr/>
        </p:nvSpPr>
        <p:spPr>
          <a:xfrm>
            <a:off x="5112952" y="3975345"/>
            <a:ext cx="1729370" cy="1155455"/>
          </a:xfrm>
          <a:prstGeom prst="roundRect">
            <a:avLst>
              <a:gd name="adj" fmla="val 11000"/>
            </a:avLst>
          </a:prstGeom>
          <a:solidFill>
            <a:srgbClr val="FCF3E5"/>
          </a:solidFill>
          <a:ln w="15875">
            <a:solidFill>
              <a:srgbClr val="E09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lang="tr-TR" sz="2400" b="1">
                <a:solidFill>
                  <a:schemeClr val="tx1"/>
                </a:solidFill>
                <a:latin typeface="+mj-lt"/>
              </a:rPr>
              <a:t>32</a:t>
            </a:r>
            <a:endParaRPr sz="2400" b="1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2000"/>
              </a:lnSpc>
              <a:spcAft>
                <a:spcPts val="0"/>
              </a:spcAft>
            </a:pPr>
            <a:r>
              <a:rPr lang="tr-TR" sz="1400">
                <a:solidFill>
                  <a:schemeClr val="tx1"/>
                </a:solidFill>
                <a:latin typeface="+mj-lt"/>
              </a:rPr>
              <a:t>Packages with </a:t>
            </a:r>
            <a:br>
              <a:rPr lang="tr-TR" sz="1400">
                <a:solidFill>
                  <a:schemeClr val="tx1"/>
                </a:solidFill>
                <a:latin typeface="+mj-lt"/>
              </a:rPr>
            </a:br>
            <a:r>
              <a:rPr lang="tr-TR" sz="1400">
                <a:solidFill>
                  <a:schemeClr val="tx1"/>
                </a:solidFill>
                <a:latin typeface="+mj-lt"/>
              </a:rPr>
              <a:t>no available price</a:t>
            </a:r>
          </a:p>
        </p:txBody>
      </p:sp>
      <p:sp>
        <p:nvSpPr>
          <p:cNvPr id="73" name="Rounded Rectangle 59">
            <a:extLst>
              <a:ext uri="{FF2B5EF4-FFF2-40B4-BE49-F238E27FC236}">
                <a16:creationId xmlns:a16="http://schemas.microsoft.com/office/drawing/2014/main" id="{AE59A24A-70C8-8C27-64F2-3D660D00BAE1}"/>
              </a:ext>
            </a:extLst>
          </p:cNvPr>
          <p:cNvSpPr>
            <a:spLocks/>
          </p:cNvSpPr>
          <p:nvPr/>
        </p:nvSpPr>
        <p:spPr>
          <a:xfrm>
            <a:off x="2833844" y="3975345"/>
            <a:ext cx="1729370" cy="1155455"/>
          </a:xfrm>
          <a:prstGeom prst="roundRect">
            <a:avLst>
              <a:gd name="adj" fmla="val 11000"/>
            </a:avLst>
          </a:prstGeom>
          <a:solidFill>
            <a:srgbClr val="FCF3E5"/>
          </a:solidFill>
          <a:ln w="15875">
            <a:solidFill>
              <a:srgbClr val="E09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lang="tr-TR" sz="2400" b="1">
                <a:solidFill>
                  <a:schemeClr val="tx1"/>
                </a:solidFill>
                <a:latin typeface="+mj-lt"/>
              </a:rPr>
              <a:t>37</a:t>
            </a:r>
            <a:endParaRPr sz="2400" b="1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2000"/>
              </a:lnSpc>
            </a:pPr>
            <a:r>
              <a:rPr lang="tr-TR" sz="1400">
                <a:solidFill>
                  <a:schemeClr val="tx1"/>
                </a:solidFill>
                <a:latin typeface="+mj-lt"/>
              </a:rPr>
              <a:t>Package with</a:t>
            </a:r>
            <a:r>
              <a:rPr lang="en-US" sz="1400">
                <a:solidFill>
                  <a:schemeClr val="tx1"/>
                </a:solidFill>
                <a:latin typeface="+mj-lt"/>
              </a:rPr>
              <a:t> </a:t>
            </a:r>
            <a:br>
              <a:rPr lang="tr-TR" sz="1400">
                <a:solidFill>
                  <a:schemeClr val="tx1"/>
                </a:solidFill>
                <a:latin typeface="+mj-lt"/>
              </a:rPr>
            </a:br>
            <a:r>
              <a:rPr lang="en-US" sz="1400">
                <a:solidFill>
                  <a:schemeClr val="tx1"/>
                </a:solidFill>
                <a:latin typeface="+mj-lt"/>
              </a:rPr>
              <a:t>no </a:t>
            </a:r>
            <a:r>
              <a:rPr lang="tr-TR" sz="1400">
                <a:solidFill>
                  <a:schemeClr val="tx1"/>
                </a:solidFill>
                <a:latin typeface="+mj-lt"/>
              </a:rPr>
              <a:t>available</a:t>
            </a:r>
            <a:r>
              <a:rPr lang="en-US" sz="1400">
                <a:solidFill>
                  <a:schemeClr val="tx1"/>
                </a:solidFill>
                <a:latin typeface="+mj-lt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+mj-lt"/>
              </a:rPr>
              <a:t>BoQ</a:t>
            </a:r>
            <a:endParaRPr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4" name="Rounded Rectangle 60">
            <a:extLst>
              <a:ext uri="{FF2B5EF4-FFF2-40B4-BE49-F238E27FC236}">
                <a16:creationId xmlns:a16="http://schemas.microsoft.com/office/drawing/2014/main" id="{19522615-A8B8-D569-C5D4-404A5B86B479}"/>
              </a:ext>
            </a:extLst>
          </p:cNvPr>
          <p:cNvSpPr>
            <a:spLocks/>
          </p:cNvSpPr>
          <p:nvPr/>
        </p:nvSpPr>
        <p:spPr>
          <a:xfrm>
            <a:off x="554736" y="3975345"/>
            <a:ext cx="1729370" cy="1155455"/>
          </a:xfrm>
          <a:prstGeom prst="roundRect">
            <a:avLst>
              <a:gd name="adj" fmla="val 11000"/>
            </a:avLst>
          </a:prstGeom>
          <a:solidFill>
            <a:srgbClr val="F1F3F5"/>
          </a:solidFill>
          <a:ln w="15875">
            <a:solidFill>
              <a:srgbClr val="9AA1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2400" b="1">
                <a:solidFill>
                  <a:schemeClr val="tx1"/>
                </a:solidFill>
                <a:latin typeface="+mj-lt"/>
              </a:rPr>
              <a:t>49</a:t>
            </a:r>
            <a:endParaRPr sz="2400" b="1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chemeClr val="tx1"/>
                </a:solidFill>
                <a:latin typeface="+mj-lt"/>
              </a:rPr>
              <a:t>Ongoing procurement</a:t>
            </a:r>
            <a:endParaRPr sz="14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CFF1A4AD-DBF9-3A63-8FA3-02CF0FC046F5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2284106" y="2590485"/>
            <a:ext cx="549738" cy="196258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3643CE15-96BD-7D51-BAFA-A195BBCFF5E8}"/>
              </a:ext>
            </a:extLst>
          </p:cNvPr>
          <p:cNvCxnSpPr>
            <a:cxnSpLocks/>
            <a:stCxn id="32" idx="3"/>
            <a:endCxn id="48" idx="1"/>
          </p:cNvCxnSpPr>
          <p:nvPr/>
        </p:nvCxnSpPr>
        <p:spPr>
          <a:xfrm>
            <a:off x="4563214" y="2590485"/>
            <a:ext cx="549738" cy="196258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66F795A3-2CEB-A379-2301-C2ED349894AC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2284106" y="2590485"/>
            <a:ext cx="549738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A9FBA3D-EDF8-325F-D2E7-03EEF2C65008}"/>
              </a:ext>
            </a:extLst>
          </p:cNvPr>
          <p:cNvCxnSpPr>
            <a:cxnSpLocks/>
            <a:stCxn id="32" idx="3"/>
            <a:endCxn id="37" idx="1"/>
          </p:cNvCxnSpPr>
          <p:nvPr/>
        </p:nvCxnSpPr>
        <p:spPr>
          <a:xfrm>
            <a:off x="4563214" y="2590485"/>
            <a:ext cx="549738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CDE3CC9-0077-94E2-FF64-7F939ECF9378}"/>
              </a:ext>
            </a:extLst>
          </p:cNvPr>
          <p:cNvCxnSpPr>
            <a:cxnSpLocks/>
            <a:stCxn id="37" idx="3"/>
            <a:endCxn id="65" idx="1"/>
          </p:cNvCxnSpPr>
          <p:nvPr/>
        </p:nvCxnSpPr>
        <p:spPr>
          <a:xfrm>
            <a:off x="6842322" y="2590485"/>
            <a:ext cx="549739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AAE59E3D-30F5-12EC-0681-61C824DF327F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>
            <a:off x="6842322" y="2590485"/>
            <a:ext cx="549739" cy="196258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CD526081-84A1-1393-8430-CA0B42E44640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 flipV="1">
            <a:off x="9121431" y="1991662"/>
            <a:ext cx="756213" cy="2561411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3AAC396F-DB57-6149-38D1-F6ABB9A38FFF}"/>
              </a:ext>
            </a:extLst>
          </p:cNvPr>
          <p:cNvCxnSpPr>
            <a:cxnSpLocks/>
            <a:stCxn id="42" idx="3"/>
            <a:endCxn id="70" idx="1"/>
          </p:cNvCxnSpPr>
          <p:nvPr/>
        </p:nvCxnSpPr>
        <p:spPr>
          <a:xfrm flipV="1">
            <a:off x="9121431" y="3272368"/>
            <a:ext cx="756213" cy="128070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Legend3">
            <a:extLst>
              <a:ext uri="{FF2B5EF4-FFF2-40B4-BE49-F238E27FC236}">
                <a16:creationId xmlns:a16="http://schemas.microsoft.com/office/drawing/2014/main" id="{FD973DA9-ADEE-8366-659E-FB63863D1458}"/>
              </a:ext>
            </a:extLst>
          </p:cNvPr>
          <p:cNvSpPr>
            <a:spLocks/>
          </p:cNvSpPr>
          <p:nvPr/>
        </p:nvSpPr>
        <p:spPr>
          <a:xfrm>
            <a:off x="10489122" y="1142004"/>
            <a:ext cx="134182" cy="134182"/>
          </a:xfrm>
          <a:prstGeom prst="rect">
            <a:avLst/>
          </a:prstGeom>
          <a:solidFill>
            <a:srgbClr val="FCF3E5"/>
          </a:solidFill>
          <a:ln w="15875">
            <a:solidFill>
              <a:srgbClr val="E09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endParaRPr lang="en-US" sz="20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79" name="Legend3">
            <a:extLst>
              <a:ext uri="{FF2B5EF4-FFF2-40B4-BE49-F238E27FC236}">
                <a16:creationId xmlns:a16="http://schemas.microsoft.com/office/drawing/2014/main" id="{A825AF06-2B45-2891-931A-79383DE23740}"/>
              </a:ext>
            </a:extLst>
          </p:cNvPr>
          <p:cNvSpPr txBox="1"/>
          <p:nvPr/>
        </p:nvSpPr>
        <p:spPr>
          <a:xfrm>
            <a:off x="10687227" y="1101373"/>
            <a:ext cx="815929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>
                <a:ea typeface="+mn-ea"/>
              </a:rPr>
              <a:t>Data gaps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43F93A2-CB23-AEA2-F466-58F0B76EC1F3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9121431" y="4553073"/>
            <a:ext cx="756213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559BE4B-3473-BBEA-1A62-936FF9B0B6D8}"/>
              </a:ext>
            </a:extLst>
          </p:cNvPr>
          <p:cNvSpPr/>
          <p:nvPr/>
        </p:nvSpPr>
        <p:spPr>
          <a:xfrm>
            <a:off x="7518030" y="1527517"/>
            <a:ext cx="1477433" cy="2524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400" b="1">
                <a:solidFill>
                  <a:schemeClr val="tx1"/>
                </a:solidFill>
              </a:rPr>
              <a:t>Perfect data</a:t>
            </a:r>
            <a:endParaRPr lang="en-US" sz="1400" b="1" err="1">
              <a:solidFill>
                <a:schemeClr val="tx1"/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422D6128-4E1E-C3FA-A193-9D727F6D2A53}"/>
              </a:ext>
            </a:extLst>
          </p:cNvPr>
          <p:cNvSpPr/>
          <p:nvPr/>
        </p:nvSpPr>
        <p:spPr>
          <a:xfrm>
            <a:off x="680705" y="1527517"/>
            <a:ext cx="1477433" cy="2524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400" b="1">
                <a:solidFill>
                  <a:schemeClr val="tx1"/>
                </a:solidFill>
              </a:rPr>
              <a:t>Total scope</a:t>
            </a:r>
            <a:endParaRPr lang="en-US" sz="1400" b="1" err="1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347D249-D25D-1336-E6E5-595D647F16E2}"/>
              </a:ext>
            </a:extLst>
          </p:cNvPr>
          <p:cNvSpPr/>
          <p:nvPr/>
        </p:nvSpPr>
        <p:spPr>
          <a:xfrm>
            <a:off x="554736" y="5469467"/>
            <a:ext cx="11052278" cy="511806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600" b="1">
                <a:solidFill>
                  <a:schemeClr val="bg1"/>
                </a:solidFill>
              </a:rPr>
              <a:t>The current data set volume and quality are sufficient enough to run AI solutions</a:t>
            </a:r>
            <a:endParaRPr lang="en-US" sz="1600" b="1" err="1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AA0C900-C880-0C20-CAB9-25BB3825EDC5}"/>
              </a:ext>
            </a:extLst>
          </p:cNvPr>
          <p:cNvSpPr txBox="1"/>
          <p:nvPr/>
        </p:nvSpPr>
        <p:spPr>
          <a:xfrm>
            <a:off x="2947410" y="3224860"/>
            <a:ext cx="1502238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>
                <a:solidFill>
                  <a:schemeClr val="bg1"/>
                </a:solidFill>
                <a:cs typeface="+mn-cs"/>
              </a:rPr>
              <a:t>90% of total packages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617B687-8893-DBAF-458D-E69C1EEE347E}"/>
              </a:ext>
            </a:extLst>
          </p:cNvPr>
          <p:cNvSpPr txBox="1"/>
          <p:nvPr/>
        </p:nvSpPr>
        <p:spPr>
          <a:xfrm>
            <a:off x="5205861" y="3224860"/>
            <a:ext cx="1502238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tr-TR" sz="1400">
                <a:solidFill>
                  <a:schemeClr val="bg1"/>
                </a:solidFill>
                <a:cs typeface="+mn-cs"/>
              </a:rPr>
              <a:t>8</a:t>
            </a:r>
            <a:r>
              <a:rPr lang="en-US" sz="1400">
                <a:solidFill>
                  <a:schemeClr val="bg1"/>
                </a:solidFill>
                <a:cs typeface="+mn-cs"/>
              </a:rPr>
              <a:t>0% of total packages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E394C69-4919-5A31-0D40-3D644186E1BD}"/>
              </a:ext>
            </a:extLst>
          </p:cNvPr>
          <p:cNvSpPr txBox="1"/>
          <p:nvPr/>
        </p:nvSpPr>
        <p:spPr>
          <a:xfrm>
            <a:off x="7493225" y="3224860"/>
            <a:ext cx="1502238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tr-TR" sz="1400">
                <a:solidFill>
                  <a:schemeClr val="bg1"/>
                </a:solidFill>
                <a:cs typeface="+mn-cs"/>
              </a:rPr>
              <a:t>45</a:t>
            </a:r>
            <a:r>
              <a:rPr lang="en-US" sz="1400">
                <a:solidFill>
                  <a:schemeClr val="bg1"/>
                </a:solidFill>
                <a:cs typeface="+mn-cs"/>
              </a:rPr>
              <a:t>% of total packages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A669FE65-60C5-FFA9-41D6-F85A051D86F5}"/>
              </a:ext>
            </a:extLst>
          </p:cNvPr>
          <p:cNvSpPr/>
          <p:nvPr/>
        </p:nvSpPr>
        <p:spPr>
          <a:xfrm>
            <a:off x="5238920" y="1527517"/>
            <a:ext cx="1477433" cy="2524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400" b="1">
                <a:solidFill>
                  <a:schemeClr val="tx1"/>
                </a:solidFill>
              </a:rPr>
              <a:t>Good data</a:t>
            </a:r>
            <a:endParaRPr lang="en-US" sz="1400" b="1" err="1">
              <a:solidFill>
                <a:schemeClr val="tx1"/>
              </a:solidFill>
            </a:endParaRPr>
          </a:p>
        </p:txBody>
      </p:sp>
      <p:sp>
        <p:nvSpPr>
          <p:cNvPr id="129" name="Rounded Rectangle 48">
            <a:extLst>
              <a:ext uri="{FF2B5EF4-FFF2-40B4-BE49-F238E27FC236}">
                <a16:creationId xmlns:a16="http://schemas.microsoft.com/office/drawing/2014/main" id="{55155114-65DF-7D13-2499-6DFAAE83CE86}"/>
              </a:ext>
            </a:extLst>
          </p:cNvPr>
          <p:cNvSpPr>
            <a:spLocks/>
          </p:cNvSpPr>
          <p:nvPr/>
        </p:nvSpPr>
        <p:spPr>
          <a:xfrm>
            <a:off x="554736" y="1430867"/>
            <a:ext cx="1729370" cy="2353102"/>
          </a:xfrm>
          <a:prstGeom prst="roundRect">
            <a:avLst>
              <a:gd name="adj" fmla="val 11000"/>
            </a:avLst>
          </a:prstGeom>
          <a:solidFill>
            <a:schemeClr val="accent2"/>
          </a:solidFill>
          <a:ln w="12700">
            <a:solidFill>
              <a:srgbClr val="276360"/>
            </a:solidFill>
          </a:ln>
          <a:effectLst>
            <a:outerShdw blurRad="45720" dist="20320" dir="5400000" rotWithShape="0">
              <a:srgbClr val="9AA6AD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lang="tr-TR" sz="2400" b="1">
                <a:solidFill>
                  <a:srgbClr val="FFFFFF"/>
                </a:solidFill>
                <a:latin typeface="+mj-lt"/>
              </a:rPr>
              <a:t>353</a:t>
            </a:r>
            <a:endParaRPr sz="2400" b="1" i="0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+mj-lt"/>
              </a:rPr>
              <a:t>Awarded procurement</a:t>
            </a:r>
            <a:r>
              <a:rPr lang="tr-TR" sz="1400" b="1">
                <a:solidFill>
                  <a:srgbClr val="FFFFFF"/>
                </a:solidFill>
                <a:latin typeface="+mj-lt"/>
              </a:rPr>
              <a:t> packages</a:t>
            </a:r>
            <a:endParaRPr lang="en-US" sz="1400" b="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6AAE080-3FF7-C5F0-731E-654750C2CB52}"/>
              </a:ext>
            </a:extLst>
          </p:cNvPr>
          <p:cNvSpPr/>
          <p:nvPr/>
        </p:nvSpPr>
        <p:spPr>
          <a:xfrm>
            <a:off x="680705" y="1544450"/>
            <a:ext cx="1477433" cy="2524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400" b="1">
                <a:solidFill>
                  <a:schemeClr val="tx1"/>
                </a:solidFill>
              </a:rPr>
              <a:t>Total scope</a:t>
            </a:r>
            <a:endParaRPr lang="en-US" sz="1400" b="1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55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A619-A001-F59F-63AB-41B0F900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748FE989-33EC-7D02-9EE6-0524FB9A004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6297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4" imgH="405" progId="TCLayout.ActiveDocument.1">
                  <p:embed/>
                </p:oleObj>
              </mc:Choice>
              <mc:Fallback>
                <p:oleObj name="think-cell Slide" r:id="rId10" imgW="404" imgH="405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748FE989-33EC-7D02-9EE6-0524FB9A00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4">
            <a:hlinkClick r:id="rId12" action="ppaction://hlinksldjump"/>
            <a:extLst>
              <a:ext uri="{FF2B5EF4-FFF2-40B4-BE49-F238E27FC236}">
                <a16:creationId xmlns:a16="http://schemas.microsoft.com/office/drawing/2014/main" id="{BD28D98A-B9B9-3C7A-2A3C-8719577A351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32450" y="22860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Progress update</a:t>
            </a:r>
          </a:p>
        </p:txBody>
      </p:sp>
      <p:sp>
        <p:nvSpPr>
          <p:cNvPr id="26" name="Text Placeholder 4">
            <a:hlinkClick r:id="rId13" action="ppaction://hlinksldjump"/>
            <a:extLst>
              <a:ext uri="{FF2B5EF4-FFF2-40B4-BE49-F238E27FC236}">
                <a16:creationId xmlns:a16="http://schemas.microsoft.com/office/drawing/2014/main" id="{FDDF77EF-3DEE-F2EF-1D00-6FA5B40CFE01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32450" y="27432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AI engine and core data platform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71C97D-FC61-58BF-AB5B-DCD9A4D5836C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632450" y="3200400"/>
            <a:ext cx="4178300" cy="4572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>
                <a:effectLst/>
                <a:cs typeface="+mn-cs"/>
              </a:rPr>
              <a:t>AI-based unified BoQ </a:t>
            </a:r>
            <a:endParaRPr lang="en-US" sz="1800" b="1">
              <a:cs typeface="+mn-cs"/>
            </a:endParaRPr>
          </a:p>
        </p:txBody>
      </p:sp>
      <p:sp>
        <p:nvSpPr>
          <p:cNvPr id="33" name="Text Placeholder 4">
            <a:hlinkClick r:id="rId14" action="ppaction://hlinksldjump"/>
            <a:extLst>
              <a:ext uri="{FF2B5EF4-FFF2-40B4-BE49-F238E27FC236}">
                <a16:creationId xmlns:a16="http://schemas.microsoft.com/office/drawing/2014/main" id="{E8323DB9-5542-6DB8-4E63-6F3860E5651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32450" y="36576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Cap</a:t>
            </a: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</a:rPr>
              <a:t>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x estimation </a:t>
            </a: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</a:rPr>
              <a:t>solution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Placeholder 4">
            <a:hlinkClick r:id="rId15" action="ppaction://hlinksldjump"/>
            <a:extLst>
              <a:ext uri="{FF2B5EF4-FFF2-40B4-BE49-F238E27FC236}">
                <a16:creationId xmlns:a16="http://schemas.microsoft.com/office/drawing/2014/main" id="{7D5BCB7F-1711-3C5B-67E2-E9B0248A2B05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5632450" y="4114800"/>
            <a:ext cx="41783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Next steps</a:t>
            </a:r>
          </a:p>
        </p:txBody>
      </p:sp>
      <p:sp>
        <p:nvSpPr>
          <p:cNvPr id="27" name="2. Slide Title">
            <a:extLst>
              <a:ext uri="{FF2B5EF4-FFF2-40B4-BE49-F238E27FC236}">
                <a16:creationId xmlns:a16="http://schemas.microsoft.com/office/drawing/2014/main" id="{73CA960C-79C3-FB4F-47A1-12A292EE4791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8800" y="2286000"/>
            <a:ext cx="4064000" cy="376238"/>
          </a:xfrm>
        </p:spPr>
        <p:txBody>
          <a:bodyPr vert="horz">
            <a:spAutoFit/>
          </a:bodyPr>
          <a:lstStyle/>
          <a:p>
            <a:r>
              <a:rPr lang="en-US" sz="2500"/>
              <a:t>Agenda</a:t>
            </a:r>
          </a:p>
        </p:txBody>
      </p:sp>
      <p:sp>
        <p:nvSpPr>
          <p:cNvPr id="16" name="1. On-page tracker">
            <a:extLst>
              <a:ext uri="{FF2B5EF4-FFF2-40B4-BE49-F238E27FC236}">
                <a16:creationId xmlns:a16="http://schemas.microsoft.com/office/drawing/2014/main" id="{EABE8A90-2AC2-11A2-FBF8-10BE44766A57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8"/>
            </p:custDataLst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08397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7CD50D3-4A0D-40EA-48FA-018611F3517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610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CD50D3-4A0D-40EA-48FA-018611F351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9C331863-A42D-2716-8DD2-2DC6AE31EB94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65A5233-2267-C27D-21D2-8260531BB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975043"/>
            <a:ext cx="11082528" cy="731520"/>
          </a:xfrm>
        </p:spPr>
        <p:txBody>
          <a:bodyPr vert="horz"/>
          <a:lstStyle/>
          <a:p>
            <a:r>
              <a:rPr lang="en-US" sz="2000" b="1">
                <a:solidFill>
                  <a:srgbClr val="333333"/>
                </a:solidFill>
                <a:latin typeface="Arial"/>
              </a:rPr>
              <a:t>2. Switch to the </a:t>
            </a:r>
            <a:r>
              <a:rPr lang="en-US" sz="2000" err="1">
                <a:solidFill>
                  <a:srgbClr val="333333"/>
                </a:solidFill>
                <a:latin typeface="Arial"/>
              </a:rPr>
              <a:t>BoQ</a:t>
            </a:r>
            <a:r>
              <a:rPr lang="en-US" sz="2000">
                <a:solidFill>
                  <a:srgbClr val="333333"/>
                </a:solidFill>
                <a:latin typeface="Arial"/>
              </a:rPr>
              <a:t> search and library</a:t>
            </a:r>
            <a:endParaRPr lang="en-US" sz="2000" b="1">
              <a:solidFill>
                <a:srgbClr val="333333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3256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A619-A001-F59F-63AB-41B0F900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748FE989-33EC-7D02-9EE6-0524FB9A004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720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4" imgH="405" progId="TCLayout.ActiveDocument.1">
                  <p:embed/>
                </p:oleObj>
              </mc:Choice>
              <mc:Fallback>
                <p:oleObj name="think-cell Slide" r:id="rId10" imgW="404" imgH="405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748FE989-33EC-7D02-9EE6-0524FB9A00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4">
            <a:hlinkClick r:id="rId12" action="ppaction://hlinksldjump"/>
            <a:extLst>
              <a:ext uri="{FF2B5EF4-FFF2-40B4-BE49-F238E27FC236}">
                <a16:creationId xmlns:a16="http://schemas.microsoft.com/office/drawing/2014/main" id="{7088E941-816D-5C8F-D0A4-128F30E5D1DB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32450" y="22860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Progress update</a:t>
            </a:r>
          </a:p>
        </p:txBody>
      </p:sp>
      <p:sp>
        <p:nvSpPr>
          <p:cNvPr id="25" name="Text Placeholder 4">
            <a:hlinkClick r:id="rId13" action="ppaction://hlinksldjump"/>
            <a:extLst>
              <a:ext uri="{FF2B5EF4-FFF2-40B4-BE49-F238E27FC236}">
                <a16:creationId xmlns:a16="http://schemas.microsoft.com/office/drawing/2014/main" id="{4A505362-D86B-F8BF-F24D-053D836E8FC6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32450" y="27432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AI engine and core data platform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7" name="Text Placeholder 4">
            <a:hlinkClick r:id="rId14" action="ppaction://hlinksldjump"/>
            <a:extLst>
              <a:ext uri="{FF2B5EF4-FFF2-40B4-BE49-F238E27FC236}">
                <a16:creationId xmlns:a16="http://schemas.microsoft.com/office/drawing/2014/main" id="{2BCADDCD-5DD0-EF58-1D8D-C49250C3B39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632450" y="32004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cs typeface="+mn-cs"/>
              </a:rPr>
              <a:t>AI-based unified BoQ 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2E6D741F-879C-1FB5-6214-79B999426E7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32450" y="3657600"/>
            <a:ext cx="4178300" cy="4572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 b="1"/>
              <a:t>Cap</a:t>
            </a:r>
            <a:r>
              <a:rPr lang="tr-TR" sz="1800" b="1"/>
              <a:t>e</a:t>
            </a:r>
            <a:r>
              <a:rPr lang="en-US" sz="1800" b="1"/>
              <a:t>x estimation </a:t>
            </a:r>
            <a:r>
              <a:rPr lang="tr-TR" sz="1800" b="1"/>
              <a:t>solution</a:t>
            </a:r>
            <a:endParaRPr lang="en-US" sz="1800" b="1"/>
          </a:p>
        </p:txBody>
      </p:sp>
      <p:sp>
        <p:nvSpPr>
          <p:cNvPr id="8" name="Text Placeholder 4">
            <a:hlinkClick r:id="rId15" action="ppaction://hlinksldjump"/>
            <a:extLst>
              <a:ext uri="{FF2B5EF4-FFF2-40B4-BE49-F238E27FC236}">
                <a16:creationId xmlns:a16="http://schemas.microsoft.com/office/drawing/2014/main" id="{0048CA29-5B25-305A-1892-F9B916C81E69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5632450" y="4114800"/>
            <a:ext cx="41783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Next steps</a:t>
            </a:r>
          </a:p>
        </p:txBody>
      </p:sp>
      <p:sp>
        <p:nvSpPr>
          <p:cNvPr id="27" name="2. Slide Title">
            <a:extLst>
              <a:ext uri="{FF2B5EF4-FFF2-40B4-BE49-F238E27FC236}">
                <a16:creationId xmlns:a16="http://schemas.microsoft.com/office/drawing/2014/main" id="{73CA960C-79C3-FB4F-47A1-12A292EE4791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8800" y="3200400"/>
            <a:ext cx="4064000" cy="376000"/>
          </a:xfrm>
        </p:spPr>
        <p:txBody>
          <a:bodyPr vert="horz"/>
          <a:lstStyle/>
          <a:p>
            <a:r>
              <a:rPr lang="en-US" sz="2500"/>
              <a:t>Agenda</a:t>
            </a:r>
          </a:p>
        </p:txBody>
      </p:sp>
      <p:sp>
        <p:nvSpPr>
          <p:cNvPr id="16" name="1. On-page tracker">
            <a:extLst>
              <a:ext uri="{FF2B5EF4-FFF2-40B4-BE49-F238E27FC236}">
                <a16:creationId xmlns:a16="http://schemas.microsoft.com/office/drawing/2014/main" id="{EABE8A90-2AC2-11A2-FBF8-10BE44766A57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8"/>
            </p:custDataLst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64400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74233FF3-CE2D-1033-93F8-95B88776492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6879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74233FF3-CE2D-1033-93F8-95B8877649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54736" y="975043"/>
            <a:ext cx="11082528" cy="731520"/>
          </a:xfrm>
        </p:spPr>
        <p:txBody>
          <a:bodyPr vert="horz"/>
          <a:lstStyle/>
          <a:p>
            <a:r>
              <a:rPr lang="en-US" sz="2000" b="1">
                <a:solidFill>
                  <a:srgbClr val="333333"/>
                </a:solidFill>
                <a:latin typeface="Arial"/>
              </a:rPr>
              <a:t>3. Switch to the project brief report and</a:t>
            </a:r>
            <a:r>
              <a:rPr lang="en-US" sz="2000">
                <a:solidFill>
                  <a:srgbClr val="333333"/>
                </a:solidFill>
              </a:rPr>
              <a:t> technical design view</a:t>
            </a:r>
            <a:endParaRPr lang="en-US" sz="2000" b="1">
              <a:solidFill>
                <a:srgbClr val="33333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99E6B950-9587-4E9C-9373-BEB50409A00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4759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6" progId="TCLayout.ActiveDocument.1">
                  <p:embed/>
                </p:oleObj>
              </mc:Choice>
              <mc:Fallback>
                <p:oleObj name="think-cell Slide" r:id="rId5" imgW="473" imgH="476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99E6B950-9587-4E9C-9373-BEB50409A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8AFCFAB-CA74-4947-A726-F8E2885A98C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tr-TR" sz="2500"/>
              <a:t>We aim to integrate with COINS and Aconex for seamless agentic flow but couldn not achieve it yet</a:t>
            </a:r>
            <a:endParaRPr lang="en-US" sz="250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12FEB39E-19F0-B8DD-BF52-45CA7952E2E5}"/>
              </a:ext>
            </a:extLst>
          </p:cNvPr>
          <p:cNvSpPr/>
          <p:nvPr/>
        </p:nvSpPr>
        <p:spPr>
          <a:xfrm>
            <a:off x="548640" y="1152144"/>
            <a:ext cx="5449824" cy="5102352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12700">
            <a:solidFill>
              <a:srgbClr val="DDE3E2"/>
            </a:solidFill>
          </a:ln>
          <a:effectLst>
            <a:outerShdw blurRad="101600" dist="25400" dir="5400000" algn="bl" rotWithShape="0">
              <a:srgbClr val="8AA6A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8B24E81-17B4-9407-6081-939FC6DB8FE9}"/>
              </a:ext>
            </a:extLst>
          </p:cNvPr>
          <p:cNvSpPr/>
          <p:nvPr/>
        </p:nvSpPr>
        <p:spPr>
          <a:xfrm>
            <a:off x="859536" y="1289304"/>
            <a:ext cx="566928" cy="566928"/>
          </a:xfrm>
          <a:prstGeom prst="ellipse">
            <a:avLst/>
          </a:prstGeom>
          <a:solidFill>
            <a:srgbClr val="37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17.png">
            <a:extLst>
              <a:ext uri="{FF2B5EF4-FFF2-40B4-BE49-F238E27FC236}">
                <a16:creationId xmlns:a16="http://schemas.microsoft.com/office/drawing/2014/main" id="{944EC0A5-18CF-FC60-B8F2-B260075AE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" y="1431036"/>
            <a:ext cx="283464" cy="28346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664A5D7-10DF-10B2-FED7-46417591A346}"/>
              </a:ext>
            </a:extLst>
          </p:cNvPr>
          <p:cNvSpPr txBox="1"/>
          <p:nvPr/>
        </p:nvSpPr>
        <p:spPr>
          <a:xfrm>
            <a:off x="1507020" y="1417320"/>
            <a:ext cx="48646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33333"/>
                </a:solidFill>
                <a:latin typeface="Arial"/>
              </a:rPr>
              <a:t>1. COINS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B4E327-8374-A6A5-1F22-90EBEFB1BB7A}"/>
              </a:ext>
            </a:extLst>
          </p:cNvPr>
          <p:cNvSpPr txBox="1"/>
          <p:nvPr/>
        </p:nvSpPr>
        <p:spPr>
          <a:xfrm>
            <a:off x="859536" y="1956752"/>
            <a:ext cx="486460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tr-TR" sz="1600" b="1">
                <a:solidFill>
                  <a:srgbClr val="377A6C"/>
                </a:solidFill>
                <a:latin typeface="Arial"/>
              </a:rPr>
              <a:t>Need it for </a:t>
            </a:r>
            <a:r>
              <a:rPr sz="1600" b="1">
                <a:solidFill>
                  <a:srgbClr val="377A6C"/>
                </a:solidFill>
                <a:latin typeface="Arial"/>
              </a:rPr>
              <a:t>IPCs</a:t>
            </a:r>
            <a:r>
              <a:rPr lang="tr-TR" sz="1600" b="1">
                <a:solidFill>
                  <a:srgbClr val="377A6C"/>
                </a:solidFill>
                <a:latin typeface="Arial"/>
              </a:rPr>
              <a:t> </a:t>
            </a:r>
            <a:br>
              <a:rPr lang="tr-TR" sz="1600" b="1">
                <a:solidFill>
                  <a:srgbClr val="377A6C"/>
                </a:solidFill>
                <a:latin typeface="Arial"/>
              </a:rPr>
            </a:br>
            <a:r>
              <a:rPr lang="tr-TR" sz="1600" b="1">
                <a:solidFill>
                  <a:srgbClr val="377A6C"/>
                </a:solidFill>
                <a:latin typeface="Arial"/>
              </a:rPr>
              <a:t>to track CAPEX actualization and budget tracking</a:t>
            </a:r>
            <a:endParaRPr sz="1600" b="1">
              <a:solidFill>
                <a:srgbClr val="377A6C"/>
              </a:solidFill>
              <a:latin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40EB12-7C27-C48E-EA78-A344A0695A43}"/>
              </a:ext>
            </a:extLst>
          </p:cNvPr>
          <p:cNvSpPr txBox="1"/>
          <p:nvPr/>
        </p:nvSpPr>
        <p:spPr>
          <a:xfrm>
            <a:off x="859536" y="2664821"/>
            <a:ext cx="486460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707070"/>
                </a:solidFill>
                <a:latin typeface="Arial"/>
              </a:rPr>
              <a:t>OPTIONS TO INTEGRATE</a:t>
            </a:r>
          </a:p>
        </p:txBody>
      </p:sp>
      <p:sp>
        <p:nvSpPr>
          <p:cNvPr id="51" name="Rounded Rectangle 15">
            <a:extLst>
              <a:ext uri="{FF2B5EF4-FFF2-40B4-BE49-F238E27FC236}">
                <a16:creationId xmlns:a16="http://schemas.microsoft.com/office/drawing/2014/main" id="{E92262E2-1415-9D5E-0472-83FAF43996E3}"/>
              </a:ext>
            </a:extLst>
          </p:cNvPr>
          <p:cNvSpPr/>
          <p:nvPr/>
        </p:nvSpPr>
        <p:spPr>
          <a:xfrm>
            <a:off x="859536" y="5404350"/>
            <a:ext cx="4864608" cy="594114"/>
          </a:xfrm>
          <a:prstGeom prst="roundRect">
            <a:avLst>
              <a:gd name="adj" fmla="val 20000"/>
            </a:avLst>
          </a:prstGeom>
          <a:solidFill>
            <a:srgbClr val="E7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2713"/>
            <a:r>
              <a:rPr lang="tr-TR" sz="1600" b="1">
                <a:solidFill>
                  <a:schemeClr val="tx1"/>
                </a:solidFill>
              </a:rPr>
              <a:t>Next step: </a:t>
            </a:r>
            <a:r>
              <a:rPr lang="tr-TR" sz="1600">
                <a:solidFill>
                  <a:schemeClr val="tx1"/>
                </a:solidFill>
              </a:rPr>
              <a:t>Final feasibility discussions ongoing </a:t>
            </a:r>
            <a:br>
              <a:rPr lang="tr-TR" sz="1600">
                <a:solidFill>
                  <a:schemeClr val="tx1"/>
                </a:solidFill>
              </a:rPr>
            </a:br>
            <a:r>
              <a:rPr lang="tr-TR" sz="1600">
                <a:solidFill>
                  <a:schemeClr val="tx1"/>
                </a:solidFill>
              </a:rPr>
              <a:t>with COINS side to make a decision</a:t>
            </a:r>
            <a:endParaRPr sz="1600" b="1">
              <a:solidFill>
                <a:schemeClr val="tx1"/>
              </a:solidFill>
            </a:endParaRPr>
          </a:p>
        </p:txBody>
      </p:sp>
      <p:sp>
        <p:nvSpPr>
          <p:cNvPr id="55" name="Rounded Rectangle 17">
            <a:extLst>
              <a:ext uri="{FF2B5EF4-FFF2-40B4-BE49-F238E27FC236}">
                <a16:creationId xmlns:a16="http://schemas.microsoft.com/office/drawing/2014/main" id="{7A5C3F67-B927-BF6A-AD96-BAB7EB152220}"/>
              </a:ext>
            </a:extLst>
          </p:cNvPr>
          <p:cNvSpPr/>
          <p:nvPr/>
        </p:nvSpPr>
        <p:spPr>
          <a:xfrm>
            <a:off x="6181344" y="1152144"/>
            <a:ext cx="5449824" cy="5102352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12700">
            <a:solidFill>
              <a:srgbClr val="DDE3E2"/>
            </a:solidFill>
          </a:ln>
          <a:effectLst>
            <a:outerShdw blurRad="101600" dist="25400" dir="5400000" algn="bl" rotWithShape="0">
              <a:srgbClr val="8AA6A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3184640-8C8F-E7E5-40C3-38385809BC7F}"/>
              </a:ext>
            </a:extLst>
          </p:cNvPr>
          <p:cNvSpPr/>
          <p:nvPr/>
        </p:nvSpPr>
        <p:spPr>
          <a:xfrm>
            <a:off x="6492240" y="1289304"/>
            <a:ext cx="566928" cy="566928"/>
          </a:xfrm>
          <a:prstGeom prst="ellipse">
            <a:avLst/>
          </a:prstGeom>
          <a:solidFill>
            <a:srgbClr val="2A8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299512-2200-1BEB-18B6-C85C2C602EAD}"/>
              </a:ext>
            </a:extLst>
          </p:cNvPr>
          <p:cNvSpPr txBox="1"/>
          <p:nvPr/>
        </p:nvSpPr>
        <p:spPr>
          <a:xfrm>
            <a:off x="7198941" y="1417320"/>
            <a:ext cx="48646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33333"/>
                </a:solidFill>
                <a:latin typeface="Arial"/>
              </a:rPr>
              <a:t>2. Aconex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DD48C3-EBDF-CE59-E6C9-A5F08037EB66}"/>
              </a:ext>
            </a:extLst>
          </p:cNvPr>
          <p:cNvSpPr txBox="1"/>
          <p:nvPr/>
        </p:nvSpPr>
        <p:spPr>
          <a:xfrm>
            <a:off x="6492240" y="2664821"/>
            <a:ext cx="486460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707070"/>
                </a:solidFill>
                <a:latin typeface="Arial"/>
              </a:rPr>
              <a:t>OPTIONS TO INTEGRATE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C18F5CC-F3C4-1379-BE3F-45BA03DCF615}"/>
              </a:ext>
            </a:extLst>
          </p:cNvPr>
          <p:cNvSpPr txBox="1"/>
          <p:nvPr/>
        </p:nvSpPr>
        <p:spPr>
          <a:xfrm>
            <a:off x="6492240" y="1929707"/>
            <a:ext cx="486460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tr-TR" sz="1600" b="1">
                <a:solidFill>
                  <a:srgbClr val="2A86B0"/>
                </a:solidFill>
                <a:latin typeface="Arial"/>
              </a:rPr>
              <a:t>Need it for procurement bids </a:t>
            </a:r>
            <a:br>
              <a:rPr lang="tr-TR" sz="1600" b="1">
                <a:solidFill>
                  <a:srgbClr val="2A86B0"/>
                </a:solidFill>
                <a:latin typeface="Arial"/>
              </a:rPr>
            </a:br>
            <a:r>
              <a:rPr lang="tr-TR" sz="1600" b="1">
                <a:solidFill>
                  <a:srgbClr val="2A86B0"/>
                </a:solidFill>
                <a:latin typeface="Arial"/>
              </a:rPr>
              <a:t>to run bid evaluation and identify winner prices</a:t>
            </a:r>
            <a:endParaRPr sz="1600" b="1">
              <a:solidFill>
                <a:srgbClr val="2A86B0"/>
              </a:solidFill>
              <a:latin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9EFEDF-1F44-75F7-5574-DC35539EE36A}"/>
              </a:ext>
            </a:extLst>
          </p:cNvPr>
          <p:cNvSpPr txBox="1"/>
          <p:nvPr/>
        </p:nvSpPr>
        <p:spPr>
          <a:xfrm>
            <a:off x="859536" y="3034066"/>
            <a:ext cx="4864608" cy="193899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Aft>
                <a:spcPts val="1200"/>
              </a:spcAft>
            </a:pPr>
            <a:r>
              <a:rPr lang="en-NZ" b="1">
                <a:cs typeface="+mn-cs"/>
              </a:rPr>
              <a:t>Option 1</a:t>
            </a:r>
            <a:r>
              <a:rPr lang="en-NZ">
                <a:cs typeface="+mn-cs"/>
              </a:rPr>
              <a:t>: Buy COINS Analytics solution license</a:t>
            </a:r>
          </a:p>
          <a:p>
            <a:pPr lvl="2">
              <a:spcAft>
                <a:spcPts val="1200"/>
              </a:spcAft>
            </a:pPr>
            <a:r>
              <a:rPr lang="en-US"/>
              <a:t>$15k per year + $16k one-time fee</a:t>
            </a:r>
          </a:p>
          <a:p>
            <a:pPr lvl="1">
              <a:spcAft>
                <a:spcPts val="1200"/>
              </a:spcAft>
            </a:pPr>
            <a:r>
              <a:rPr lang="en-US" b="1">
                <a:cs typeface="+mn-cs"/>
              </a:rPr>
              <a:t>Option 2</a:t>
            </a:r>
            <a:r>
              <a:rPr lang="en-US">
                <a:cs typeface="+mn-cs"/>
              </a:rPr>
              <a:t>: Build an in-house </a:t>
            </a:r>
            <a:r>
              <a:rPr lang="tr-TR">
                <a:cs typeface="+mn-cs"/>
              </a:rPr>
              <a:t>integration</a:t>
            </a:r>
            <a:br>
              <a:rPr lang="tr-TR">
                <a:cs typeface="+mn-cs"/>
              </a:rPr>
            </a:br>
            <a:r>
              <a:rPr lang="tr-TR">
                <a:cs typeface="+mn-cs"/>
              </a:rPr>
              <a:t>to get read-only access</a:t>
            </a:r>
            <a:endParaRPr lang="en-US">
              <a:cs typeface="+mn-cs"/>
            </a:endParaRPr>
          </a:p>
          <a:p>
            <a:pPr lvl="2">
              <a:spcAft>
                <a:spcPts val="1200"/>
              </a:spcAft>
            </a:pPr>
            <a:r>
              <a:rPr lang="en-US">
                <a:cs typeface="+mn-cs"/>
              </a:rPr>
              <a:t>Technical discussions ongoing with COIN</a:t>
            </a:r>
            <a:r>
              <a:rPr lang="tr-TR"/>
              <a:t>S</a:t>
            </a:r>
            <a:r>
              <a:rPr lang="tr-TR">
                <a:cs typeface="+mn-cs"/>
              </a:rPr>
              <a:t> </a:t>
            </a:r>
            <a:br>
              <a:rPr lang="tr-TR">
                <a:cs typeface="+mn-cs"/>
              </a:rPr>
            </a:br>
            <a:r>
              <a:rPr lang="tr-TR">
                <a:cs typeface="+mn-cs"/>
              </a:rPr>
              <a:t>(the vendor does not want to allow it)</a:t>
            </a:r>
            <a:endParaRPr lang="en-NZ"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94C1EA1-EBF2-4AC7-7CEC-F078A76C2664}"/>
              </a:ext>
            </a:extLst>
          </p:cNvPr>
          <p:cNvSpPr txBox="1"/>
          <p:nvPr/>
        </p:nvSpPr>
        <p:spPr>
          <a:xfrm>
            <a:off x="6505244" y="2976181"/>
            <a:ext cx="4864608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Aft>
                <a:spcPts val="1200"/>
              </a:spcAft>
            </a:pPr>
            <a:r>
              <a:rPr lang="en-NZ" b="1">
                <a:cs typeface="+mn-cs"/>
              </a:rPr>
              <a:t>Option 1</a:t>
            </a:r>
            <a:r>
              <a:rPr lang="en-NZ">
                <a:cs typeface="+mn-cs"/>
              </a:rPr>
              <a:t>: </a:t>
            </a:r>
            <a:r>
              <a:rPr lang="tr-TR">
                <a:cs typeface="+mn-cs"/>
              </a:rPr>
              <a:t>Build API integration</a:t>
            </a:r>
            <a:endParaRPr lang="en-NZ">
              <a:cs typeface="+mn-cs"/>
            </a:endParaRPr>
          </a:p>
          <a:p>
            <a:pPr lvl="1">
              <a:spcAft>
                <a:spcPts val="1200"/>
              </a:spcAft>
            </a:pPr>
            <a:r>
              <a:rPr lang="en-US" b="1">
                <a:cs typeface="+mn-cs"/>
              </a:rPr>
              <a:t>Option 2</a:t>
            </a:r>
            <a:r>
              <a:rPr lang="en-US">
                <a:cs typeface="+mn-cs"/>
              </a:rPr>
              <a:t>: </a:t>
            </a:r>
            <a:r>
              <a:rPr lang="tr-TR">
                <a:cs typeface="+mn-cs"/>
              </a:rPr>
              <a:t>Get direct database access</a:t>
            </a:r>
            <a:endParaRPr lang="en-US"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5ECE97F-4C5A-5252-A68A-2D183BEED996}"/>
              </a:ext>
            </a:extLst>
          </p:cNvPr>
          <p:cNvSpPr txBox="1"/>
          <p:nvPr/>
        </p:nvSpPr>
        <p:spPr>
          <a:xfrm>
            <a:off x="6492240" y="3895240"/>
            <a:ext cx="486460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tr-TR" sz="1400" b="1" spc="200">
                <a:solidFill>
                  <a:srgbClr val="707070"/>
                </a:solidFill>
                <a:latin typeface="Arial"/>
              </a:rPr>
              <a:t>STATUS</a:t>
            </a:r>
            <a:endParaRPr sz="1400" b="1" spc="200">
              <a:solidFill>
                <a:srgbClr val="707070"/>
              </a:solidFill>
              <a:latin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8397FCD-8AB8-8A0D-1E0C-5A367FCBD7F2}"/>
              </a:ext>
            </a:extLst>
          </p:cNvPr>
          <p:cNvSpPr txBox="1"/>
          <p:nvPr/>
        </p:nvSpPr>
        <p:spPr>
          <a:xfrm>
            <a:off x="6505244" y="4217741"/>
            <a:ext cx="4864608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Aft>
                <a:spcPts val="1200"/>
              </a:spcAft>
            </a:pPr>
            <a:r>
              <a:rPr lang="tr-TR" b="1">
                <a:cs typeface="+mn-cs"/>
              </a:rPr>
              <a:t>Ticket opened to Oracle</a:t>
            </a:r>
          </a:p>
          <a:p>
            <a:pPr lvl="1">
              <a:spcAft>
                <a:spcPts val="1200"/>
              </a:spcAft>
            </a:pPr>
            <a:r>
              <a:rPr lang="tr-TR" b="1"/>
              <a:t>Technical support assigned</a:t>
            </a:r>
          </a:p>
        </p:txBody>
      </p:sp>
      <p:sp>
        <p:nvSpPr>
          <p:cNvPr id="95" name="Rounded Rectangle 15">
            <a:extLst>
              <a:ext uri="{FF2B5EF4-FFF2-40B4-BE49-F238E27FC236}">
                <a16:creationId xmlns:a16="http://schemas.microsoft.com/office/drawing/2014/main" id="{57CDAED7-844B-0CD2-774E-54D57F1801A4}"/>
              </a:ext>
            </a:extLst>
          </p:cNvPr>
          <p:cNvSpPr/>
          <p:nvPr/>
        </p:nvSpPr>
        <p:spPr>
          <a:xfrm>
            <a:off x="6473952" y="5404350"/>
            <a:ext cx="4864608" cy="594114"/>
          </a:xfrm>
          <a:prstGeom prst="roundRect">
            <a:avLst>
              <a:gd name="adj" fmla="val 20000"/>
            </a:avLst>
          </a:prstGeom>
          <a:solidFill>
            <a:srgbClr val="E5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2713"/>
            <a:r>
              <a:rPr lang="tr-TR" sz="1600" b="1">
                <a:solidFill>
                  <a:schemeClr val="tx1"/>
                </a:solidFill>
              </a:rPr>
              <a:t>Next step: </a:t>
            </a:r>
            <a:r>
              <a:rPr lang="tr-TR" sz="1600">
                <a:solidFill>
                  <a:schemeClr val="tx1"/>
                </a:solidFill>
              </a:rPr>
              <a:t>Confirm with Oracle technician the feasibility of options</a:t>
            </a:r>
            <a:endParaRPr sz="1600" b="1">
              <a:solidFill>
                <a:schemeClr val="tx1"/>
              </a:solidFill>
            </a:endParaRPr>
          </a:p>
        </p:txBody>
      </p:sp>
      <p:pic>
        <p:nvPicPr>
          <p:cNvPr id="97" name="Image 0" descr="preencoded.png">
            <a:extLst>
              <a:ext uri="{FF2B5EF4-FFF2-40B4-BE49-F238E27FC236}">
                <a16:creationId xmlns:a16="http://schemas.microsoft.com/office/drawing/2014/main" id="{23BB4B19-3723-0DC0-CBEE-A19BFD5CD5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474" y="1423538"/>
            <a:ext cx="298460" cy="29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8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DF8F-6380-EFAB-73F9-20DBA809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CBC83794-0418-EFF2-F92E-F29AB8DE614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6143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4" imgH="405" progId="TCLayout.ActiveDocument.1">
                  <p:embed/>
                </p:oleObj>
              </mc:Choice>
              <mc:Fallback>
                <p:oleObj name="think-cell Slide" r:id="rId10" imgW="404" imgH="405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CBC83794-0418-EFF2-F92E-F29AB8DE61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4">
            <a:hlinkClick r:id="rId12" action="ppaction://hlinksldjump"/>
            <a:extLst>
              <a:ext uri="{FF2B5EF4-FFF2-40B4-BE49-F238E27FC236}">
                <a16:creationId xmlns:a16="http://schemas.microsoft.com/office/drawing/2014/main" id="{5921E026-3429-22B6-0C3A-F05ABAD45B73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32450" y="22860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Progress update</a:t>
            </a:r>
          </a:p>
        </p:txBody>
      </p:sp>
      <p:sp>
        <p:nvSpPr>
          <p:cNvPr id="25" name="Text Placeholder 4">
            <a:hlinkClick r:id="rId13" action="ppaction://hlinksldjump"/>
            <a:extLst>
              <a:ext uri="{FF2B5EF4-FFF2-40B4-BE49-F238E27FC236}">
                <a16:creationId xmlns:a16="http://schemas.microsoft.com/office/drawing/2014/main" id="{E7CF8A0C-AEE0-B830-FB0B-508E94197053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32450" y="27432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0488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AI engine and core data platform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10" name="Text Placeholder 4">
            <a:hlinkClick r:id="rId14" action="ppaction://hlinksldjump"/>
            <a:extLst>
              <a:ext uri="{FF2B5EF4-FFF2-40B4-BE49-F238E27FC236}">
                <a16:creationId xmlns:a16="http://schemas.microsoft.com/office/drawing/2014/main" id="{AD62BCBA-429E-8B22-BB53-F4CE320076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632450" y="32004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cs typeface="+mn-cs"/>
              </a:rPr>
              <a:t>AI-based unified BoQ 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11" name="Text Placeholder 4">
            <a:hlinkClick r:id="rId15" action="ppaction://hlinksldjump"/>
            <a:extLst>
              <a:ext uri="{FF2B5EF4-FFF2-40B4-BE49-F238E27FC236}">
                <a16:creationId xmlns:a16="http://schemas.microsoft.com/office/drawing/2014/main" id="{82710604-55F1-028C-EC1A-468F26E1D911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32450" y="3657600"/>
            <a:ext cx="417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90488" tIns="92075" rIns="0" bIns="90488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Cap</a:t>
            </a: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</a:rPr>
              <a:t>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x estimation </a:t>
            </a:r>
            <a:r>
              <a:rPr lang="tr-TR" sz="1800">
                <a:solidFill>
                  <a:schemeClr val="tx1">
                    <a:lumMod val="95000"/>
                    <a:lumOff val="5000"/>
                  </a:schemeClr>
                </a:solidFill>
              </a:rPr>
              <a:t>solution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3CF9933-9EE6-E850-944B-65D1545C46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32450" y="4114800"/>
            <a:ext cx="4178300" cy="45878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90488" tIns="92075" rIns="0" bIns="92075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912" indent="-21031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5544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3816" indent="-14630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800" b="1"/>
              <a:t>Next steps</a:t>
            </a:r>
          </a:p>
        </p:txBody>
      </p:sp>
      <p:sp>
        <p:nvSpPr>
          <p:cNvPr id="27" name="2. Slide Title">
            <a:extLst>
              <a:ext uri="{FF2B5EF4-FFF2-40B4-BE49-F238E27FC236}">
                <a16:creationId xmlns:a16="http://schemas.microsoft.com/office/drawing/2014/main" id="{F16A06EB-E77F-5C22-1B04-A3F20BDC3252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8800" y="3200400"/>
            <a:ext cx="4064000" cy="376000"/>
          </a:xfrm>
        </p:spPr>
        <p:txBody>
          <a:bodyPr vert="horz"/>
          <a:lstStyle/>
          <a:p>
            <a:r>
              <a:rPr lang="en-US" sz="2500"/>
              <a:t>Agenda</a:t>
            </a:r>
          </a:p>
        </p:txBody>
      </p:sp>
      <p:sp>
        <p:nvSpPr>
          <p:cNvPr id="16" name="1. On-page tracker">
            <a:extLst>
              <a:ext uri="{FF2B5EF4-FFF2-40B4-BE49-F238E27FC236}">
                <a16:creationId xmlns:a16="http://schemas.microsoft.com/office/drawing/2014/main" id="{3BA874E9-A1E1-3A82-1526-C72579B6BDF7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8"/>
            </p:custDataLst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30462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2C8B-9B96-16DC-9F2C-3BA91FFE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F71366CD-C8A8-59E2-2309-D1114810D09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1967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F71366CD-C8A8-59E2-2309-D1114810D0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88A8CDD9-5920-F837-6C44-B8984A38D6F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>
            <a:noAutofit/>
          </a:bodyPr>
          <a:lstStyle/>
          <a:p>
            <a:r>
              <a:rPr lang="tr-TR" sz="2500" b="1">
                <a:solidFill>
                  <a:srgbClr val="333333"/>
                </a:solidFill>
                <a:latin typeface="Arial"/>
              </a:rPr>
              <a:t>Delivery targets until end of September</a:t>
            </a:r>
            <a:br>
              <a:rPr lang="tr-TR" sz="2500" b="1">
                <a:solidFill>
                  <a:srgbClr val="333333"/>
                </a:solidFill>
                <a:latin typeface="Arial"/>
              </a:rPr>
            </a:br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98A0A9E-A38F-4038-E523-7F574C411E7B}"/>
              </a:ext>
            </a:extLst>
          </p:cNvPr>
          <p:cNvCxnSpPr>
            <a:cxnSpLocks/>
          </p:cNvCxnSpPr>
          <p:nvPr/>
        </p:nvCxnSpPr>
        <p:spPr>
          <a:xfrm>
            <a:off x="1414512" y="5130800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AB0375-85C6-61F1-55D0-6D8B32AC1A28}"/>
              </a:ext>
            </a:extLst>
          </p:cNvPr>
          <p:cNvCxnSpPr>
            <a:cxnSpLocks/>
          </p:cNvCxnSpPr>
          <p:nvPr/>
        </p:nvCxnSpPr>
        <p:spPr>
          <a:xfrm>
            <a:off x="1414512" y="5765800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2BA28FB-2792-DD5F-D1DD-D9ED1F9FDF23}"/>
              </a:ext>
            </a:extLst>
          </p:cNvPr>
          <p:cNvCxnSpPr>
            <a:cxnSpLocks/>
          </p:cNvCxnSpPr>
          <p:nvPr/>
        </p:nvCxnSpPr>
        <p:spPr>
          <a:xfrm>
            <a:off x="1414512" y="2811781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0771C08-7801-7CED-E6A9-011D1E0E4AF5}"/>
              </a:ext>
            </a:extLst>
          </p:cNvPr>
          <p:cNvCxnSpPr>
            <a:cxnSpLocks/>
          </p:cNvCxnSpPr>
          <p:nvPr/>
        </p:nvCxnSpPr>
        <p:spPr>
          <a:xfrm>
            <a:off x="1414512" y="3538669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D048131-DA7D-A511-CC0B-FB10C5533EAE}"/>
              </a:ext>
            </a:extLst>
          </p:cNvPr>
          <p:cNvCxnSpPr>
            <a:cxnSpLocks/>
          </p:cNvCxnSpPr>
          <p:nvPr/>
        </p:nvCxnSpPr>
        <p:spPr>
          <a:xfrm>
            <a:off x="1414512" y="2084891"/>
            <a:ext cx="742397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CA891F7-940F-6F02-5E68-FB85F3BE60D8}"/>
              </a:ext>
            </a:extLst>
          </p:cNvPr>
          <p:cNvSpPr>
            <a:spLocks/>
          </p:cNvSpPr>
          <p:nvPr/>
        </p:nvSpPr>
        <p:spPr>
          <a:xfrm>
            <a:off x="551689" y="4336241"/>
            <a:ext cx="809856" cy="2039297"/>
          </a:xfrm>
          <a:prstGeom prst="rect">
            <a:avLst/>
          </a:prstGeom>
          <a:solidFill>
            <a:srgbClr val="00A8A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100" b="1">
                <a:solidFill>
                  <a:schemeClr val="bg1"/>
                </a:solidFill>
              </a:rPr>
              <a:t>Solutions</a:t>
            </a:r>
            <a:endParaRPr lang="en-US" sz="1100" b="1" err="1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2045BC6-65EF-2F19-631A-3A52579FD657}"/>
              </a:ext>
            </a:extLst>
          </p:cNvPr>
          <p:cNvSpPr/>
          <p:nvPr/>
        </p:nvSpPr>
        <p:spPr>
          <a:xfrm>
            <a:off x="1414512" y="288246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 core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platform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6BA5DB9-7FD1-BDF0-C8D3-F7DBD419DEEF}"/>
              </a:ext>
            </a:extLst>
          </p:cNvPr>
          <p:cNvSpPr/>
          <p:nvPr/>
        </p:nvSpPr>
        <p:spPr>
          <a:xfrm>
            <a:off x="1414512" y="2159847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 AI stack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ED10465-E321-D042-3FAC-394429D3DB4C}"/>
              </a:ext>
            </a:extLst>
          </p:cNvPr>
          <p:cNvSpPr/>
          <p:nvPr/>
        </p:nvSpPr>
        <p:spPr>
          <a:xfrm>
            <a:off x="1414512" y="5152030"/>
            <a:ext cx="1267000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Tender bid evaluation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9812C4F-91BB-BBB5-4500-0059CCEDC498}"/>
              </a:ext>
            </a:extLst>
          </p:cNvPr>
          <p:cNvSpPr>
            <a:spLocks/>
          </p:cNvSpPr>
          <p:nvPr/>
        </p:nvSpPr>
        <p:spPr>
          <a:xfrm>
            <a:off x="1414512" y="4330700"/>
            <a:ext cx="1269421" cy="762000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CAPEX estimation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49B578C-01BC-29B9-81FA-C5A46133A63B}"/>
              </a:ext>
            </a:extLst>
          </p:cNvPr>
          <p:cNvSpPr/>
          <p:nvPr/>
        </p:nvSpPr>
        <p:spPr>
          <a:xfrm>
            <a:off x="1414512" y="360935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AI-based </a:t>
            </a:r>
            <a:b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unified BoQ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36FA412-C617-D1CA-3524-FEA1D73B4DBA}"/>
              </a:ext>
            </a:extLst>
          </p:cNvPr>
          <p:cNvSpPr/>
          <p:nvPr/>
        </p:nvSpPr>
        <p:spPr>
          <a:xfrm>
            <a:off x="1414512" y="579429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Construction</a:t>
            </a: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control tower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ounded Rectangle 13">
            <a:extLst>
              <a:ext uri="{FF2B5EF4-FFF2-40B4-BE49-F238E27FC236}">
                <a16:creationId xmlns:a16="http://schemas.microsoft.com/office/drawing/2014/main" id="{CAA3B7EC-560A-8523-C89D-3B2F9D5D3C48}"/>
              </a:ext>
            </a:extLst>
          </p:cNvPr>
          <p:cNvSpPr>
            <a:spLocks/>
          </p:cNvSpPr>
          <p:nvPr/>
        </p:nvSpPr>
        <p:spPr>
          <a:xfrm>
            <a:off x="1414512" y="1428684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Agentic workflow design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RectangleLegend1">
            <a:extLst>
              <a:ext uri="{FF2B5EF4-FFF2-40B4-BE49-F238E27FC236}">
                <a16:creationId xmlns:a16="http://schemas.microsoft.com/office/drawing/2014/main" id="{464065B3-4E8C-100F-BE1D-61A7FE99110B}"/>
              </a:ext>
            </a:extLst>
          </p:cNvPr>
          <p:cNvSpPr/>
          <p:nvPr/>
        </p:nvSpPr>
        <p:spPr>
          <a:xfrm>
            <a:off x="8911579" y="278237"/>
            <a:ext cx="172729" cy="172729"/>
          </a:xfrm>
          <a:prstGeom prst="rect">
            <a:avLst/>
          </a:prstGeom>
          <a:solidFill>
            <a:srgbClr val="D1EAE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0" name="Legend1">
            <a:extLst>
              <a:ext uri="{FF2B5EF4-FFF2-40B4-BE49-F238E27FC236}">
                <a16:creationId xmlns:a16="http://schemas.microsoft.com/office/drawing/2014/main" id="{E3945B25-197C-E511-874D-746D425AAEB9}"/>
              </a:ext>
            </a:extLst>
          </p:cNvPr>
          <p:cNvSpPr txBox="1"/>
          <p:nvPr/>
        </p:nvSpPr>
        <p:spPr>
          <a:xfrm>
            <a:off x="9237725" y="256879"/>
            <a:ext cx="1074012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>
                <a:ea typeface="+mn-ea"/>
              </a:rPr>
              <a:t>Current focus</a:t>
            </a:r>
          </a:p>
        </p:txBody>
      </p:sp>
      <p:sp>
        <p:nvSpPr>
          <p:cNvPr id="34" name="RectangleLegend2">
            <a:extLst>
              <a:ext uri="{FF2B5EF4-FFF2-40B4-BE49-F238E27FC236}">
                <a16:creationId xmlns:a16="http://schemas.microsoft.com/office/drawing/2014/main" id="{CB53F940-9A1D-373B-89B3-BE9EBDD4E233}"/>
              </a:ext>
            </a:extLst>
          </p:cNvPr>
          <p:cNvSpPr/>
          <p:nvPr/>
        </p:nvSpPr>
        <p:spPr>
          <a:xfrm>
            <a:off x="10435878" y="278237"/>
            <a:ext cx="172729" cy="17272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1" name="Legend2">
            <a:extLst>
              <a:ext uri="{FF2B5EF4-FFF2-40B4-BE49-F238E27FC236}">
                <a16:creationId xmlns:a16="http://schemas.microsoft.com/office/drawing/2014/main" id="{8138DCCE-BAFC-5EBE-4F81-11E00B04A781}"/>
              </a:ext>
            </a:extLst>
          </p:cNvPr>
          <p:cNvSpPr txBox="1"/>
          <p:nvPr/>
        </p:nvSpPr>
        <p:spPr>
          <a:xfrm>
            <a:off x="10762024" y="256879"/>
            <a:ext cx="875240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>
                <a:ea typeface="+mn-ea"/>
              </a:rPr>
              <a:t>No</a:t>
            </a:r>
            <a:r>
              <a:rPr lang="tr-TR" sz="1400">
                <a:ea typeface="+mn-ea"/>
              </a:rPr>
              <a:t>t</a:t>
            </a:r>
            <a:r>
              <a:rPr lang="en-US" sz="1400">
                <a:ea typeface="+mn-ea"/>
              </a:rPr>
              <a:t> started</a:t>
            </a:r>
          </a:p>
        </p:txBody>
      </p:sp>
      <p:sp>
        <p:nvSpPr>
          <p:cNvPr id="66" name="Chevron 20">
            <a:extLst>
              <a:ext uri="{FF2B5EF4-FFF2-40B4-BE49-F238E27FC236}">
                <a16:creationId xmlns:a16="http://schemas.microsoft.com/office/drawing/2014/main" id="{B2ABDF2B-96D2-3325-2EB7-C2A35D75CF3A}"/>
              </a:ext>
            </a:extLst>
          </p:cNvPr>
          <p:cNvSpPr/>
          <p:nvPr/>
        </p:nvSpPr>
        <p:spPr>
          <a:xfrm>
            <a:off x="9035225" y="976639"/>
            <a:ext cx="2586086" cy="5473371"/>
          </a:xfrm>
          <a:prstGeom prst="rect">
            <a:avLst/>
          </a:prstGeom>
          <a:solidFill>
            <a:srgbClr val="EAF2F1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100">
              <a:solidFill>
                <a:srgbClr val="333333"/>
              </a:solidFill>
              <a:latin typeface="Arial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859393-555F-8DDE-2440-042E465260F1}"/>
              </a:ext>
            </a:extLst>
          </p:cNvPr>
          <p:cNvCxnSpPr>
            <a:cxnSpLocks/>
          </p:cNvCxnSpPr>
          <p:nvPr/>
        </p:nvCxnSpPr>
        <p:spPr>
          <a:xfrm>
            <a:off x="554110" y="4265559"/>
            <a:ext cx="8295595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55717E7-474C-5757-A9EC-2F7261704431}"/>
              </a:ext>
            </a:extLst>
          </p:cNvPr>
          <p:cNvSpPr txBox="1"/>
          <p:nvPr/>
        </p:nvSpPr>
        <p:spPr>
          <a:xfrm>
            <a:off x="9084308" y="1065623"/>
            <a:ext cx="2228537" cy="2410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400" b="1">
                <a:solidFill>
                  <a:srgbClr val="333333"/>
                </a:solidFill>
                <a:latin typeface="Arial"/>
              </a:rPr>
              <a:t>Next steps</a:t>
            </a:r>
            <a:endParaRPr sz="1400" b="1" i="0">
              <a:solidFill>
                <a:srgbClr val="333333"/>
              </a:solidFill>
              <a:latin typeface="Arial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6FC4399-8AC2-E728-0AC7-05937BF0CDC2}"/>
              </a:ext>
            </a:extLst>
          </p:cNvPr>
          <p:cNvCxnSpPr>
            <a:cxnSpLocks/>
          </p:cNvCxnSpPr>
          <p:nvPr/>
        </p:nvCxnSpPr>
        <p:spPr>
          <a:xfrm flipV="1">
            <a:off x="9084308" y="1340582"/>
            <a:ext cx="2392088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Legend1">
            <a:extLst>
              <a:ext uri="{FF2B5EF4-FFF2-40B4-BE49-F238E27FC236}">
                <a16:creationId xmlns:a16="http://schemas.microsoft.com/office/drawing/2014/main" id="{B3C33AF5-1A67-3A4A-1D3B-8751D4F50A16}"/>
              </a:ext>
            </a:extLst>
          </p:cNvPr>
          <p:cNvSpPr/>
          <p:nvPr/>
        </p:nvSpPr>
        <p:spPr>
          <a:xfrm>
            <a:off x="7510404" y="264075"/>
            <a:ext cx="172729" cy="172729"/>
          </a:xfrm>
          <a:prstGeom prst="rect">
            <a:avLst/>
          </a:prstGeom>
          <a:solidFill>
            <a:srgbClr val="0070C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6" name="Legend1">
            <a:extLst>
              <a:ext uri="{FF2B5EF4-FFF2-40B4-BE49-F238E27FC236}">
                <a16:creationId xmlns:a16="http://schemas.microsoft.com/office/drawing/2014/main" id="{D5C412D0-4FEC-1FB4-28D4-BE33ABDABF4B}"/>
              </a:ext>
            </a:extLst>
          </p:cNvPr>
          <p:cNvSpPr txBox="1"/>
          <p:nvPr/>
        </p:nvSpPr>
        <p:spPr>
          <a:xfrm>
            <a:off x="7836550" y="242717"/>
            <a:ext cx="865622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tr-TR" sz="1400">
                <a:ea typeface="+mn-ea"/>
              </a:rPr>
              <a:t>Completed</a:t>
            </a:r>
            <a:endParaRPr lang="en-US" sz="1400">
              <a:ea typeface="+mn-ea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1789660-2D25-6405-7A32-29F30203D11D}"/>
              </a:ext>
            </a:extLst>
          </p:cNvPr>
          <p:cNvCxnSpPr>
            <a:cxnSpLocks/>
          </p:cNvCxnSpPr>
          <p:nvPr/>
        </p:nvCxnSpPr>
        <p:spPr>
          <a:xfrm flipH="1">
            <a:off x="5090898" y="1120733"/>
            <a:ext cx="0" cy="5451870"/>
          </a:xfrm>
          <a:prstGeom prst="line">
            <a:avLst/>
          </a:prstGeom>
          <a:ln w="28575" cap="flat">
            <a:solidFill>
              <a:srgbClr val="C00000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23471C8-7CB4-CC46-68F2-40D6A8EC09BD}"/>
              </a:ext>
            </a:extLst>
          </p:cNvPr>
          <p:cNvCxnSpPr>
            <a:cxnSpLocks/>
          </p:cNvCxnSpPr>
          <p:nvPr/>
        </p:nvCxnSpPr>
        <p:spPr>
          <a:xfrm flipH="1">
            <a:off x="7102142" y="748619"/>
            <a:ext cx="12814" cy="56262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C06A79D-9588-60A8-F759-AEF26416862D}"/>
              </a:ext>
            </a:extLst>
          </p:cNvPr>
          <p:cNvCxnSpPr>
            <a:cxnSpLocks/>
          </p:cNvCxnSpPr>
          <p:nvPr/>
        </p:nvCxnSpPr>
        <p:spPr>
          <a:xfrm flipH="1">
            <a:off x="5337883" y="753532"/>
            <a:ext cx="12814" cy="56262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20FE36-42D2-7EBB-811D-7480206927E7}"/>
              </a:ext>
            </a:extLst>
          </p:cNvPr>
          <p:cNvSpPr>
            <a:spLocks/>
          </p:cNvSpPr>
          <p:nvPr/>
        </p:nvSpPr>
        <p:spPr>
          <a:xfrm>
            <a:off x="2747298" y="1069800"/>
            <a:ext cx="844941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Jul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435B40-D57E-CAE9-BC3D-88984E284B80}"/>
              </a:ext>
            </a:extLst>
          </p:cNvPr>
          <p:cNvSpPr>
            <a:spLocks/>
          </p:cNvSpPr>
          <p:nvPr/>
        </p:nvSpPr>
        <p:spPr>
          <a:xfrm>
            <a:off x="3617870" y="1069800"/>
            <a:ext cx="844941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Aug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4799C4-7C5A-8EC9-D75D-98814F365779}"/>
              </a:ext>
            </a:extLst>
          </p:cNvPr>
          <p:cNvSpPr>
            <a:spLocks/>
          </p:cNvSpPr>
          <p:nvPr/>
        </p:nvSpPr>
        <p:spPr>
          <a:xfrm>
            <a:off x="4488445" y="1069800"/>
            <a:ext cx="844941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Sep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75DC6E45-C61A-6987-CF3E-5879A28F80A3}"/>
              </a:ext>
            </a:extLst>
          </p:cNvPr>
          <p:cNvSpPr>
            <a:spLocks/>
          </p:cNvSpPr>
          <p:nvPr/>
        </p:nvSpPr>
        <p:spPr>
          <a:xfrm>
            <a:off x="2747298" y="1428684"/>
            <a:ext cx="1715513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Target state agentic workflow design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ABED7FF8-B1AF-E9F0-1038-F47455BE281E}"/>
              </a:ext>
            </a:extLst>
          </p:cNvPr>
          <p:cNvSpPr>
            <a:spLocks/>
          </p:cNvSpPr>
          <p:nvPr/>
        </p:nvSpPr>
        <p:spPr>
          <a:xfrm>
            <a:off x="2747297" y="3609352"/>
            <a:ext cx="1294515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MEP PoC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4F66CEDA-0372-487D-3E77-18F4A229AE54}"/>
              </a:ext>
            </a:extLst>
          </p:cNvPr>
          <p:cNvSpPr>
            <a:spLocks/>
          </p:cNvSpPr>
          <p:nvPr/>
        </p:nvSpPr>
        <p:spPr>
          <a:xfrm>
            <a:off x="4085247" y="3609352"/>
            <a:ext cx="1244981" cy="585525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Scale-up</a:t>
            </a:r>
            <a:r>
              <a:rPr sz="1100" b="1">
                <a:solidFill>
                  <a:srgbClr val="333333"/>
                </a:solidFill>
                <a:latin typeface="Arial"/>
              </a:rPr>
              <a:t> to </a:t>
            </a:r>
            <a:br>
              <a:rPr lang="tr-TR" sz="1100" b="1">
                <a:solidFill>
                  <a:srgbClr val="333333"/>
                </a:solidFill>
                <a:latin typeface="Arial"/>
              </a:rPr>
            </a:br>
            <a:r>
              <a:rPr lang="tr-TR" sz="1100" b="1">
                <a:solidFill>
                  <a:srgbClr val="333333"/>
                </a:solidFill>
                <a:latin typeface="Arial"/>
              </a:rPr>
              <a:t>all</a:t>
            </a:r>
            <a:r>
              <a:rPr sz="1100" b="1">
                <a:solidFill>
                  <a:srgbClr val="333333"/>
                </a:solidFill>
                <a:latin typeface="Arial"/>
              </a:rPr>
              <a:t> categories</a:t>
            </a:r>
          </a:p>
        </p:txBody>
      </p:sp>
      <p:sp>
        <p:nvSpPr>
          <p:cNvPr id="50" name="Chevron 20">
            <a:extLst>
              <a:ext uri="{FF2B5EF4-FFF2-40B4-BE49-F238E27FC236}">
                <a16:creationId xmlns:a16="http://schemas.microsoft.com/office/drawing/2014/main" id="{821C2495-8F55-82E0-2A5F-E0F6DF04F17A}"/>
              </a:ext>
            </a:extLst>
          </p:cNvPr>
          <p:cNvSpPr>
            <a:spLocks/>
          </p:cNvSpPr>
          <p:nvPr/>
        </p:nvSpPr>
        <p:spPr>
          <a:xfrm>
            <a:off x="5359017" y="3609352"/>
            <a:ext cx="1715513" cy="585525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BoQ maintenance solution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20" name="Pentagon 19">
            <a:extLst>
              <a:ext uri="{FF2B5EF4-FFF2-40B4-BE49-F238E27FC236}">
                <a16:creationId xmlns:a16="http://schemas.microsoft.com/office/drawing/2014/main" id="{A42076BD-67E7-AB77-4383-903BF0F39DE5}"/>
              </a:ext>
            </a:extLst>
          </p:cNvPr>
          <p:cNvSpPr>
            <a:spLocks/>
          </p:cNvSpPr>
          <p:nvPr/>
        </p:nvSpPr>
        <p:spPr>
          <a:xfrm>
            <a:off x="2747298" y="2883845"/>
            <a:ext cx="1711692" cy="584142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PRE central database creation for all BoQs, </a:t>
            </a:r>
            <a:br>
              <a:rPr lang="tr-TR" sz="1100" b="1">
                <a:solidFill>
                  <a:schemeClr val="bg1"/>
                </a:solidFill>
                <a:latin typeface="Arial"/>
              </a:rPr>
            </a:br>
            <a:r>
              <a:rPr lang="tr-TR" sz="1100" b="1">
                <a:solidFill>
                  <a:schemeClr val="bg1"/>
                </a:solidFill>
                <a:latin typeface="Arial"/>
              </a:rPr>
              <a:t>bids and contracts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DB6038B2-82CC-1E3A-3D66-2831401595F5}"/>
              </a:ext>
            </a:extLst>
          </p:cNvPr>
          <p:cNvSpPr>
            <a:spLocks/>
          </p:cNvSpPr>
          <p:nvPr/>
        </p:nvSpPr>
        <p:spPr>
          <a:xfrm>
            <a:off x="4488445" y="2882462"/>
            <a:ext cx="1715514" cy="584142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PRE data lake setup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53" name="Chevron 20">
            <a:extLst>
              <a:ext uri="{FF2B5EF4-FFF2-40B4-BE49-F238E27FC236}">
                <a16:creationId xmlns:a16="http://schemas.microsoft.com/office/drawing/2014/main" id="{58B3E5D2-7BD3-9D7C-3097-6B213E60AEF2}"/>
              </a:ext>
            </a:extLst>
          </p:cNvPr>
          <p:cNvSpPr/>
          <p:nvPr/>
        </p:nvSpPr>
        <p:spPr>
          <a:xfrm>
            <a:off x="6258459" y="2882462"/>
            <a:ext cx="2586086" cy="584142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COINS &amp; Aconex integration</a:t>
            </a:r>
            <a:br>
              <a:rPr lang="tr-TR" sz="1100" b="1">
                <a:solidFill>
                  <a:srgbClr val="333333"/>
                </a:solidFill>
                <a:latin typeface="Arial"/>
              </a:rPr>
            </a:br>
            <a:r>
              <a:rPr lang="tr-TR" sz="1100">
                <a:solidFill>
                  <a:srgbClr val="333333"/>
                </a:solidFill>
                <a:latin typeface="Arial"/>
              </a:rPr>
              <a:t>(TBD on technical feasibility)</a:t>
            </a:r>
            <a:endParaRPr sz="110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1" name="Chevron 20">
            <a:extLst>
              <a:ext uri="{FF2B5EF4-FFF2-40B4-BE49-F238E27FC236}">
                <a16:creationId xmlns:a16="http://schemas.microsoft.com/office/drawing/2014/main" id="{5EE0CE0D-54BA-3E8A-9A80-007002193066}"/>
              </a:ext>
            </a:extLst>
          </p:cNvPr>
          <p:cNvSpPr>
            <a:spLocks/>
          </p:cNvSpPr>
          <p:nvPr/>
        </p:nvSpPr>
        <p:spPr>
          <a:xfrm>
            <a:off x="4090594" y="4766101"/>
            <a:ext cx="2985668" cy="326599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000" b="1">
                <a:solidFill>
                  <a:srgbClr val="333333"/>
                </a:solidFill>
                <a:latin typeface="Arial"/>
              </a:rPr>
              <a:t>Scale to all categories</a:t>
            </a:r>
          </a:p>
        </p:txBody>
      </p:sp>
      <p:sp>
        <p:nvSpPr>
          <p:cNvPr id="29" name="Pentagon 28">
            <a:extLst>
              <a:ext uri="{FF2B5EF4-FFF2-40B4-BE49-F238E27FC236}">
                <a16:creationId xmlns:a16="http://schemas.microsoft.com/office/drawing/2014/main" id="{0289003D-1116-7DED-3B0A-68004668FED1}"/>
              </a:ext>
            </a:extLst>
          </p:cNvPr>
          <p:cNvSpPr>
            <a:spLocks/>
          </p:cNvSpPr>
          <p:nvPr/>
        </p:nvSpPr>
        <p:spPr>
          <a:xfrm>
            <a:off x="2747297" y="4330700"/>
            <a:ext cx="1294515" cy="76200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MEP PoC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56" name="Chevron 20">
            <a:extLst>
              <a:ext uri="{FF2B5EF4-FFF2-40B4-BE49-F238E27FC236}">
                <a16:creationId xmlns:a16="http://schemas.microsoft.com/office/drawing/2014/main" id="{FB9DC11A-9414-4A23-E2BF-0475FD39D0FE}"/>
              </a:ext>
            </a:extLst>
          </p:cNvPr>
          <p:cNvSpPr>
            <a:spLocks/>
          </p:cNvSpPr>
          <p:nvPr/>
        </p:nvSpPr>
        <p:spPr>
          <a:xfrm>
            <a:off x="4090594" y="4330700"/>
            <a:ext cx="1245899" cy="384468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ts val="1000"/>
              </a:lnSpc>
            </a:pPr>
            <a:r>
              <a:rPr lang="tr-TR" sz="1000" b="1">
                <a:solidFill>
                  <a:srgbClr val="333333"/>
                </a:solidFill>
                <a:latin typeface="Arial"/>
              </a:rPr>
              <a:t>MVP agentic workflow</a:t>
            </a:r>
          </a:p>
        </p:txBody>
      </p:sp>
      <p:sp>
        <p:nvSpPr>
          <p:cNvPr id="87" name="Pentagon 15">
            <a:extLst>
              <a:ext uri="{FF2B5EF4-FFF2-40B4-BE49-F238E27FC236}">
                <a16:creationId xmlns:a16="http://schemas.microsoft.com/office/drawing/2014/main" id="{0EF149FF-5485-A101-CF47-750B1D8AE207}"/>
              </a:ext>
            </a:extLst>
          </p:cNvPr>
          <p:cNvSpPr>
            <a:spLocks/>
          </p:cNvSpPr>
          <p:nvPr/>
        </p:nvSpPr>
        <p:spPr>
          <a:xfrm>
            <a:off x="2747298" y="2159847"/>
            <a:ext cx="1715513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AI stack cloud environment</a:t>
            </a:r>
            <a:endParaRPr lang="en-US" sz="11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90" name="Chevron 20">
            <a:extLst>
              <a:ext uri="{FF2B5EF4-FFF2-40B4-BE49-F238E27FC236}">
                <a16:creationId xmlns:a16="http://schemas.microsoft.com/office/drawing/2014/main" id="{3300212B-BDF6-0E46-6C4B-3BCFC3E7131D}"/>
              </a:ext>
            </a:extLst>
          </p:cNvPr>
          <p:cNvSpPr>
            <a:spLocks/>
          </p:cNvSpPr>
          <p:nvPr/>
        </p:nvSpPr>
        <p:spPr>
          <a:xfrm>
            <a:off x="4518813" y="2159848"/>
            <a:ext cx="2613698" cy="246892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Long-term architecture design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57" name="Pentagon 28">
            <a:extLst>
              <a:ext uri="{FF2B5EF4-FFF2-40B4-BE49-F238E27FC236}">
                <a16:creationId xmlns:a16="http://schemas.microsoft.com/office/drawing/2014/main" id="{3E8FEFF6-E215-303D-5E43-676A69BD5853}"/>
              </a:ext>
            </a:extLst>
          </p:cNvPr>
          <p:cNvSpPr>
            <a:spLocks/>
          </p:cNvSpPr>
          <p:nvPr/>
        </p:nvSpPr>
        <p:spPr>
          <a:xfrm>
            <a:off x="5359017" y="5147757"/>
            <a:ext cx="838532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PoC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96" name="Chevron 20">
            <a:extLst>
              <a:ext uri="{FF2B5EF4-FFF2-40B4-BE49-F238E27FC236}">
                <a16:creationId xmlns:a16="http://schemas.microsoft.com/office/drawing/2014/main" id="{9EFA569C-8EC0-3B25-B4EC-12936BFF4665}"/>
              </a:ext>
            </a:extLst>
          </p:cNvPr>
          <p:cNvSpPr>
            <a:spLocks/>
          </p:cNvSpPr>
          <p:nvPr/>
        </p:nvSpPr>
        <p:spPr>
          <a:xfrm>
            <a:off x="6229589" y="5147757"/>
            <a:ext cx="844941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>
                <a:solidFill>
                  <a:srgbClr val="333333"/>
                </a:solidFill>
              </a:rPr>
              <a:t>Agentic workflow</a:t>
            </a:r>
          </a:p>
        </p:txBody>
      </p:sp>
      <p:sp>
        <p:nvSpPr>
          <p:cNvPr id="97" name="Chevron 20">
            <a:extLst>
              <a:ext uri="{FF2B5EF4-FFF2-40B4-BE49-F238E27FC236}">
                <a16:creationId xmlns:a16="http://schemas.microsoft.com/office/drawing/2014/main" id="{D002C8E5-7B7B-808C-AE38-2AEE2BE88E84}"/>
              </a:ext>
            </a:extLst>
          </p:cNvPr>
          <p:cNvSpPr>
            <a:spLocks/>
          </p:cNvSpPr>
          <p:nvPr/>
        </p:nvSpPr>
        <p:spPr>
          <a:xfrm>
            <a:off x="7154422" y="5147757"/>
            <a:ext cx="1690123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>
                <a:solidFill>
                  <a:srgbClr val="333333"/>
                </a:solidFill>
              </a:rPr>
              <a:t>Scale-up to all projects </a:t>
            </a:r>
          </a:p>
        </p:txBody>
      </p:sp>
      <p:sp>
        <p:nvSpPr>
          <p:cNvPr id="98" name="Pentagon 28">
            <a:extLst>
              <a:ext uri="{FF2B5EF4-FFF2-40B4-BE49-F238E27FC236}">
                <a16:creationId xmlns:a16="http://schemas.microsoft.com/office/drawing/2014/main" id="{3F38CC30-3E1A-47E8-C741-4652ACEDB812}"/>
              </a:ext>
            </a:extLst>
          </p:cNvPr>
          <p:cNvSpPr>
            <a:spLocks/>
          </p:cNvSpPr>
          <p:nvPr/>
        </p:nvSpPr>
        <p:spPr>
          <a:xfrm>
            <a:off x="2747298" y="5790020"/>
            <a:ext cx="1294515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chemeClr val="bg1"/>
                </a:solidFill>
                <a:latin typeface="Arial"/>
              </a:rPr>
              <a:t>Analytics control tower design</a:t>
            </a:r>
            <a:endParaRPr sz="1100" b="1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1F1D530-5016-642F-7FAA-9BAADA17CCAF}"/>
              </a:ext>
            </a:extLst>
          </p:cNvPr>
          <p:cNvCxnSpPr>
            <a:cxnSpLocks/>
          </p:cNvCxnSpPr>
          <p:nvPr/>
        </p:nvCxnSpPr>
        <p:spPr>
          <a:xfrm>
            <a:off x="2747299" y="1002852"/>
            <a:ext cx="2579677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DA2D6134-8415-51DB-02A5-BA5EDD9F66C5}"/>
              </a:ext>
            </a:extLst>
          </p:cNvPr>
          <p:cNvSpPr txBox="1"/>
          <p:nvPr/>
        </p:nvSpPr>
        <p:spPr>
          <a:xfrm>
            <a:off x="2747299" y="783368"/>
            <a:ext cx="2579677" cy="1949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1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F60D8BC-5C31-B167-3B11-7030110AFC01}"/>
              </a:ext>
            </a:extLst>
          </p:cNvPr>
          <p:cNvGrpSpPr/>
          <p:nvPr/>
        </p:nvGrpSpPr>
        <p:grpSpPr>
          <a:xfrm>
            <a:off x="5376031" y="1069800"/>
            <a:ext cx="1715513" cy="283540"/>
            <a:chOff x="5897119" y="1069800"/>
            <a:chExt cx="1941055" cy="28354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261BC0E-E393-011B-B6E0-C4A3ED62AAD9}"/>
                </a:ext>
              </a:extLst>
            </p:cNvPr>
            <p:cNvSpPr>
              <a:spLocks/>
            </p:cNvSpPr>
            <p:nvPr/>
          </p:nvSpPr>
          <p:spPr>
            <a:xfrm>
              <a:off x="5897119" y="1069800"/>
              <a:ext cx="956027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Oct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9F8CFEA-99BB-2B81-C9FE-01B84B573A91}"/>
                </a:ext>
              </a:extLst>
            </p:cNvPr>
            <p:cNvSpPr>
              <a:spLocks/>
            </p:cNvSpPr>
            <p:nvPr/>
          </p:nvSpPr>
          <p:spPr>
            <a:xfrm>
              <a:off x="6882147" y="1069800"/>
              <a:ext cx="956027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Nov</a:t>
              </a:r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4EAF434-D476-73FF-33DF-17C83A949EFB}"/>
              </a:ext>
            </a:extLst>
          </p:cNvPr>
          <p:cNvCxnSpPr>
            <a:cxnSpLocks/>
          </p:cNvCxnSpPr>
          <p:nvPr/>
        </p:nvCxnSpPr>
        <p:spPr>
          <a:xfrm>
            <a:off x="5376031" y="1001198"/>
            <a:ext cx="1696950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B1DC36D-4352-5F80-56F9-94FBFCB74328}"/>
              </a:ext>
            </a:extLst>
          </p:cNvPr>
          <p:cNvSpPr txBox="1">
            <a:spLocks/>
          </p:cNvSpPr>
          <p:nvPr/>
        </p:nvSpPr>
        <p:spPr>
          <a:xfrm>
            <a:off x="5376031" y="774020"/>
            <a:ext cx="1715514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no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2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D7DF97C-07C7-4928-990F-BFB2C04890D2}"/>
              </a:ext>
            </a:extLst>
          </p:cNvPr>
          <p:cNvSpPr>
            <a:spLocks/>
          </p:cNvSpPr>
          <p:nvPr/>
        </p:nvSpPr>
        <p:spPr>
          <a:xfrm>
            <a:off x="7134190" y="1069800"/>
            <a:ext cx="844941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Dec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82C4A24-5CAB-0C7C-6FA0-78B0F52378A6}"/>
              </a:ext>
            </a:extLst>
          </p:cNvPr>
          <p:cNvGrpSpPr>
            <a:grpSpLocks/>
          </p:cNvGrpSpPr>
          <p:nvPr/>
        </p:nvGrpSpPr>
        <p:grpSpPr>
          <a:xfrm>
            <a:off x="554109" y="1069800"/>
            <a:ext cx="8295595" cy="3125076"/>
            <a:chOff x="554109" y="1069800"/>
            <a:chExt cx="8295595" cy="312507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9268122-98F1-C5BA-7A5A-974474B5E8F9}"/>
                </a:ext>
              </a:extLst>
            </p:cNvPr>
            <p:cNvSpPr>
              <a:spLocks/>
            </p:cNvSpPr>
            <p:nvPr/>
          </p:nvSpPr>
          <p:spPr>
            <a:xfrm>
              <a:off x="554109" y="1428684"/>
              <a:ext cx="809856" cy="2766192"/>
            </a:xfrm>
            <a:prstGeom prst="rect">
              <a:avLst/>
            </a:prstGeom>
            <a:solidFill>
              <a:srgbClr val="377A6C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tr-TR" sz="1100" b="1">
                  <a:solidFill>
                    <a:schemeClr val="bg1"/>
                  </a:solidFill>
                </a:rPr>
                <a:t>Foun-dations</a:t>
              </a:r>
              <a:endParaRPr lang="en-US" sz="1100" b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B9611D7-0A77-D14B-85A6-ED1391F53A13}"/>
                </a:ext>
              </a:extLst>
            </p:cNvPr>
            <p:cNvSpPr>
              <a:spLocks/>
            </p:cNvSpPr>
            <p:nvPr/>
          </p:nvSpPr>
          <p:spPr>
            <a:xfrm>
              <a:off x="8004763" y="1069800"/>
              <a:ext cx="844941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Jan</a:t>
              </a: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FDEFF73-FA42-A5AD-DF56-7CA1C0348BDE}"/>
              </a:ext>
            </a:extLst>
          </p:cNvPr>
          <p:cNvCxnSpPr>
            <a:cxnSpLocks/>
          </p:cNvCxnSpPr>
          <p:nvPr/>
        </p:nvCxnSpPr>
        <p:spPr>
          <a:xfrm>
            <a:off x="7134190" y="1001198"/>
            <a:ext cx="1715514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4618151-457D-4203-80B9-A5017DB469B6}"/>
              </a:ext>
            </a:extLst>
          </p:cNvPr>
          <p:cNvSpPr txBox="1"/>
          <p:nvPr/>
        </p:nvSpPr>
        <p:spPr>
          <a:xfrm>
            <a:off x="7134190" y="781714"/>
            <a:ext cx="1715514" cy="1949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3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35" name="Pentagon 28">
            <a:extLst>
              <a:ext uri="{FF2B5EF4-FFF2-40B4-BE49-F238E27FC236}">
                <a16:creationId xmlns:a16="http://schemas.microsoft.com/office/drawing/2014/main" id="{5218DDE9-D3BA-312D-460A-B9ACE05A2369}"/>
              </a:ext>
            </a:extLst>
          </p:cNvPr>
          <p:cNvSpPr>
            <a:spLocks/>
          </p:cNvSpPr>
          <p:nvPr/>
        </p:nvSpPr>
        <p:spPr>
          <a:xfrm>
            <a:off x="4098058" y="5790019"/>
            <a:ext cx="4744929" cy="585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>
                <a:solidFill>
                  <a:srgbClr val="333333"/>
                </a:solidFill>
                <a:latin typeface="Arial"/>
              </a:rPr>
              <a:t>Continuous support to AI Transformation Team on deployment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C5839AE-462F-A03E-C3D3-C990EAC33423}"/>
              </a:ext>
            </a:extLst>
          </p:cNvPr>
          <p:cNvSpPr txBox="1"/>
          <p:nvPr/>
        </p:nvSpPr>
        <p:spPr>
          <a:xfrm>
            <a:off x="4829664" y="6536129"/>
            <a:ext cx="2579677" cy="194925"/>
          </a:xfrm>
          <a:prstGeom prst="rect">
            <a:avLst/>
          </a:prstGeom>
          <a:noFill/>
        </p:spPr>
        <p:txBody>
          <a:bodyPr wrap="square" lIns="25400" tIns="12700" rIns="25400" bIns="12700" anchor="b">
            <a:spAutoFit/>
          </a:bodyPr>
          <a:lstStyle/>
          <a:p>
            <a:pPr algn="l"/>
            <a:r>
              <a:rPr lang="tr-TR" sz="1100" b="1" i="0">
                <a:solidFill>
                  <a:srgbClr val="C00000"/>
                </a:solidFill>
                <a:latin typeface="Arial"/>
              </a:rPr>
              <a:t>TODAY</a:t>
            </a:r>
            <a:endParaRPr sz="1100" b="1" i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78" name="Chevron 20">
            <a:extLst>
              <a:ext uri="{FF2B5EF4-FFF2-40B4-BE49-F238E27FC236}">
                <a16:creationId xmlns:a16="http://schemas.microsoft.com/office/drawing/2014/main" id="{9A8B7B2B-26EF-C045-62CF-C8DF7BCEDE9C}"/>
              </a:ext>
            </a:extLst>
          </p:cNvPr>
          <p:cNvSpPr>
            <a:spLocks/>
          </p:cNvSpPr>
          <p:nvPr/>
        </p:nvSpPr>
        <p:spPr>
          <a:xfrm>
            <a:off x="4518813" y="2498480"/>
            <a:ext cx="4325732" cy="246892"/>
          </a:xfrm>
          <a:prstGeom prst="rect">
            <a:avLst/>
          </a:prstGeom>
          <a:solidFill>
            <a:srgbClr val="D1E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1100" b="1">
                <a:solidFill>
                  <a:srgbClr val="333333"/>
                </a:solidFill>
                <a:latin typeface="Arial"/>
              </a:rPr>
              <a:t>Application development on cloud server</a:t>
            </a:r>
            <a:endParaRPr sz="11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47BC92-A64E-8AF2-1832-5ADCF9FAAA64}"/>
              </a:ext>
            </a:extLst>
          </p:cNvPr>
          <p:cNvSpPr txBox="1">
            <a:spLocks/>
          </p:cNvSpPr>
          <p:nvPr/>
        </p:nvSpPr>
        <p:spPr>
          <a:xfrm>
            <a:off x="9160511" y="1486934"/>
            <a:ext cx="2286424" cy="138499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spcAft>
                <a:spcPts val="600"/>
              </a:spcAft>
              <a:buNone/>
            </a:pPr>
            <a:r>
              <a:rPr lang="tr-TR" b="1"/>
              <a:t>1. Release first MVP to users:</a:t>
            </a:r>
          </a:p>
          <a:p>
            <a:pPr lvl="1">
              <a:spcAft>
                <a:spcPts val="600"/>
              </a:spcAft>
              <a:buFontTx/>
              <a:buChar char="-"/>
            </a:pPr>
            <a:r>
              <a:rPr lang="tr-TR"/>
              <a:t>BoQ Search Engine</a:t>
            </a:r>
          </a:p>
          <a:p>
            <a:pPr lvl="1">
              <a:spcAft>
                <a:spcPts val="600"/>
              </a:spcAft>
              <a:buFontTx/>
              <a:buChar char="-"/>
            </a:pPr>
            <a:r>
              <a:rPr lang="tr-TR"/>
              <a:t>Technical Design View for MEP packages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0CA5BF-A1B0-6B1D-5DBE-2869CCDCC01E}"/>
              </a:ext>
            </a:extLst>
          </p:cNvPr>
          <p:cNvSpPr txBox="1">
            <a:spLocks/>
          </p:cNvSpPr>
          <p:nvPr/>
        </p:nvSpPr>
        <p:spPr>
          <a:xfrm>
            <a:off x="9160511" y="4858195"/>
            <a:ext cx="2286424" cy="1231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spcAft>
                <a:spcPts val="600"/>
              </a:spcAft>
              <a:buNone/>
            </a:pPr>
            <a:r>
              <a:rPr lang="tr-TR" b="1"/>
              <a:t>3. Finalize concept design, procurement and construction interfaces for CAPEX estimation</a:t>
            </a:r>
            <a:endParaRPr lang="tr-T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F44D30-E592-E8EE-6E12-32846BDD938A}"/>
              </a:ext>
            </a:extLst>
          </p:cNvPr>
          <p:cNvSpPr txBox="1">
            <a:spLocks/>
          </p:cNvSpPr>
          <p:nvPr/>
        </p:nvSpPr>
        <p:spPr>
          <a:xfrm>
            <a:off x="9160511" y="3495730"/>
            <a:ext cx="2286424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spcAft>
                <a:spcPts val="600"/>
              </a:spcAft>
              <a:buNone/>
            </a:pPr>
            <a:r>
              <a:rPr lang="tr-TR" b="1"/>
              <a:t>2. Start end-user unified BoQ review for non-MEP categories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938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DB16BAA-B0AB-5BCB-271B-38C598A8E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8551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4" imgH="405" progId="TCLayout.ActiveDocument.1">
                  <p:embed/>
                </p:oleObj>
              </mc:Choice>
              <mc:Fallback>
                <p:oleObj name="think-cell Slide" r:id="rId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B16BAA-B0AB-5BCB-271B-38C598A8E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3. Subtitle">
            <a:extLst>
              <a:ext uri="{FF2B5EF4-FFF2-40B4-BE49-F238E27FC236}">
                <a16:creationId xmlns:a16="http://schemas.microsoft.com/office/drawing/2014/main" id="{84522F50-D703-A3EC-03AC-DBA860180F27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5B9CD685-0999-C0A1-99A1-D0126FEBA74E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BAF524A7-E218-3029-8601-A7A68F584AD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695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UNDODONOTDELETE" val="0"/>
  <p:tag name="TEMPLATELASTEDITED" val="2021-09-23 06:12 PM"/>
  <p:tag name="TCCONTRASTACCENTS" val="4|5|6|7|8|9"/>
  <p:tag name="TCLIGHTACCENTS" val="4|5|6|7|8|9"/>
  <p:tag name="LINKEDPICTURESLINKREMOVED" val="True"/>
  <p:tag name="DSS_ID" val="63e76589-38f4-4fb8-ae51-b63827488b7b"/>
  <p:tag name="ICONFILLBACKGROUND" val="Color [A=255, R=255, G=255, B=255]"/>
  <p:tag name="ICONFILLBACKGROUNDTHEME" val="Background 1"/>
  <p:tag name="ICONLINEFILL" val="Color [A=255, R=55, G=122, B=108]"/>
  <p:tag name="ICONLINEFILLTHEME" val="Accent 2"/>
  <p:tag name="ICONENCLOSURE" val="True"/>
  <p:tag name="SLIDE_PRO_DECK_ID" val="70b47ba4-a401-40ff-893a-737e4f2e49de"/>
  <p:tag name="THINKCELLPRESENTATIONDONOTDELETE" val="&lt;?xml version=&quot;1.0&quot; encoding=&quot;UTF-16&quot; standalone=&quot;yes&quot;?&gt;&lt;root reqver=&quot;28224&quot;&gt;&lt;version val=&quot;3591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#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2.24659000000000030894E+00&quot;&gt;&lt;m_msothmcolidx val=&quot;0&quot;/&gt;&lt;m_rgb r=&quot;75&quot; g=&quot;C1&quot; b=&quot;B1&quot;/&gt;&lt;/elem&gt;&lt;elem m_fUsage=&quot;9.00000000000000022204E-01&quot;&gt;&lt;m_msothmcolidx val=&quot;0&quot;/&gt;&lt;m_rgb r=&quot;25&quot; g=&quot;5D&quot; b=&quot;8F&quot;/&gt;&lt;/elem&gt;&lt;elem m_fUsage=&quot;8.10000000000000053291E-01&quot;&gt;&lt;m_msothmcolidx val=&quot;0&quot;/&gt;&lt;m_rgb r=&quot;D0&quot; g=&quot;E9&quot; b=&quot;E4&quot;/&gt;&lt;/elem&gt;&lt;elem m_fUsage=&quot;7.29000000000000092371E-01&quot;&gt;&lt;m_msothmcolidx val=&quot;0&quot;/&gt;&lt;m_rgb r=&quot;D1&quot; g=&quot;EA&quot; b=&quot;E5&quot;/&gt;&lt;/elem&gt;&lt;elem m_fUsage=&quot;5.31441000000000163261E-01&quot;&gt;&lt;m_msothmcolidx val=&quot;0&quot;/&gt;&lt;m_rgb r=&quot;00&quot; g=&quot;54&quot; b=&quot;52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2cfVXMjPErSV02JED8j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h8qO97.4rLEedaabYf0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ijwfvl5za05JV43Gva4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Uzx7yDgfdjCubRPZQc2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RHpoG2JHpfsrTdlCV.u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RCLESTATUS" val="Blue"/>
  <p:tag name="NAME" val="CheckmarkBlue"/>
  <p:tag name="SYMBOLNAME" val="Checkmark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RWoQQqh8HaAP152fMI0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2cfVXMjPErSV02JED8j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gloSMp_GDVoNMkQHIOV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xOtZP.4ynhbhItWNuIQ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KdmJi9O6YV2WjwZFW4D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nZqub1ALL4pSQHkEs4t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2tk98lY_jhI1oBZ2zR1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OwOH51RGWimMfVqmTmhn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NkZmityNDyRGHMw2ibN6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liM_hBwV4.PQYnbvCk0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zbQbRReiCUTW9MjTj4J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93.iUQEnKZkaY_tHjloJ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5BhVA6.VWx8XdWX9NdZ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2cfVXMjPErSV02JED8j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fGX1KG9V17yCz65X20u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PjmuimFNODmnz21MVC2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dWeoPQP0d.3cqjskPMS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Dehw3T_YPLju6fwtcg2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H2vqScSDo4z4T9OfCd.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2cfVXMjPErSV02JED8j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3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464646"/>
      </a:accent1>
      <a:accent2>
        <a:srgbClr val="377A6C"/>
      </a:accent2>
      <a:accent3>
        <a:srgbClr val="808080"/>
      </a:accent3>
      <a:accent4>
        <a:srgbClr val="00A8A4"/>
      </a:accent4>
      <a:accent5>
        <a:srgbClr val="709F9A"/>
      </a:accent5>
      <a:accent6>
        <a:srgbClr val="CBDBD9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464646"/>
        </a:accent1>
        <a:accent2>
          <a:srgbClr val="377A6C"/>
        </a:accent2>
        <a:accent3>
          <a:srgbClr val="808080"/>
        </a:accent3>
        <a:accent4>
          <a:srgbClr val="00A8A4"/>
        </a:accent4>
        <a:accent5>
          <a:srgbClr val="709F9A"/>
        </a:accent5>
        <a:accent6>
          <a:srgbClr val="CBDBD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4653YN01_CF_16x9_ENG_V1.potx" id="{507158C7-83EB-481B-8817-8F7FD05CF2CE}" vid="{7FC63C86-57C6-4DF3-B311-3C3B9F2E0303}"/>
    </a:ext>
  </a:extLst>
</a:theme>
</file>

<file path=ppt/theme/theme2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5" Type="http://schemas.microsoft.com/office/2011/relationships/webextension" Target="webextension5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  <wetp:taskpane dockstate="right" visibility="0" width="525" row="2">
    <wetp:webextensionref xmlns:r="http://schemas.openxmlformats.org/officeDocument/2006/relationships" r:id="rId3"/>
  </wetp:taskpane>
  <wetp:taskpane dockstate="right" visibility="0" width="350" row="0">
    <wetp:webextensionref xmlns:r="http://schemas.openxmlformats.org/officeDocument/2006/relationships" r:id="rId4"/>
  </wetp:taskpane>
  <wetp:taskpane dockstate="right" visibility="1" width="525" row="0">
    <wetp:webextensionref xmlns:r="http://schemas.openxmlformats.org/officeDocument/2006/relationships" r:id="rId5"/>
  </wetp:taskpane>
</wetp:taskpanes>
</file>

<file path=ppt/webextensions/webextension1.xml><?xml version="1.0" encoding="utf-8"?>
<we:webextension xmlns:we="http://schemas.microsoft.com/office/webextensions/webextension/2010/11" id="{E571D730-7238-4400-930C-4C79A2C03DC3}">
  <we:reference id="5332053f-08b1-4ad5-b936-144d44d33f40" version="2.1.0.2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CDEDDE5-A80F-4000-B107-6FB09A38E98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c00b6de-a000-4985-a99d-0580ff03f620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33E276E-E35B-49CA-AF90-0B225883A149}">
  <we:reference id="e74ca2a7-5e50-4ebf-bfa5-bb75c7950374" version="4.0.0.0" store="EXCatalog" storeType="EXCatalog"/>
  <we:alternateReferences/>
  <we:properties>
    <we:property name="srChargeCodeData" value="{&quot;selectedSupportOption&quot;:&quot;SLIDEREQUESTPLUS&quot;,&quot;language&quot;:&quot;English&quot;,&quot;chargeCode&quot;:{&quot;activityCode&quot;:&quot;CE&quot;,&quot;allocation_date&quot;:&quot;2026-07-13T00:30:00.000Z&quot;,&quot;announcements&quot;:null,&quot;chargeCode&quot;:&quot;valid&quot;,&quot;chargeCodeRegistered&quot;:true,&quot;critical&quot;:0,&quot;csProjectId&quot;:1357467055,&quot;eligibleForPlus&quot;:false,&quot;featureFlag&quot;:{&quot;blockRequestsEnabled&quot;:false,&quot;overnightDeliveryEnabled&quot;:false,&quot;searchOfferingEnabled&quot;:false,&quot;sharePointUploadEnabled&quot;:false},&quot;forecast_value&quot;:&quot;Usual&quot;,&quot;inScope&quot;:true,&quot;is_mandate&quot;:1,&quot;isBoxDisabled&quot;:false,&quot;isCTEEnabled&quot;:false,&quot;lane&quot;:&quot;Global&quot;,&quot;mandate_date&quot;:&quot;2026-03-16&quot;,&quot;maxStartTime&quot;:480,&quot;message&quot;:&quot;&quot;,&quot;outSourced&quot;:true,&quot;platform&quot;:&quot;GW&quot;,&quot;projectType&quot;:&quot;Client&quot;,&quot;showInternal&quot;:false,&quot;study_end_date&quot;:&quot;2027-01-11&quot;,&quot;subLane&quot;:&quot;&quot;,&quot;subTeamDetails&quot;:{&quot;is_default&quot;:1,&quot;project_id&quot;:1357467055,&quot;sub_team_id&quot;:&quot;default&quot;,&quot;team_name&quot;:&quot;Team 1&quot;,&quot;token_admin&quot;:&quot;Sabina Isayeva&quot;},&quot;teamMembers&quot;:[{&quot;end_date&quot;:&quot;2026-09-25&quot;,&quot;fmno&quot;:350304,&quot;start_date&quot;:&quot;2026-07-20&quot;},{&quot;end_date&quot;:&quot;2027-01-01&quot;,&quot;fmno&quot;:311635,&quot;start_date&quot;:&quot;2026-07-20&quot;},{&quot;end_date&quot;:&quot;2026-09-25&quot;,&quot;fmno&quot;:344518,&quot;start_date&quot;:&quot;2026-07-20&quot;}],&quot;token_admin&quot;:&quot;Sabina Isayeva&quot;,&quot;tokenInfo&quot;:{&quot;allocated&quot;:22,&quot;autoNegotiation&quot;:0,&quot;autoNegotiationAvailCount&quot;:0,&quot;available&quot;:22,&quot;buffer&quot;:80,&quot;eligibleForNegotiation&quot;:true,&quot;escalationCount&quot;:0,&quot;forecast_value&quot;:&quot;Usual&quot;,&quot;manualNegotiation&quot;:0,&quot;manualNegotiationAvailCount&quot;:0,&quot;minimumTokenValue&quot;:30,&quot;negotiated&quot;:0,&quot;spent&quot;:0,&quot;study_end_date&quot;:&quot;2027-01-11&quot;,&quot;teamMembers&quot;:[],&quot;token_admin&quot;:null},&quot;userRegistered&quot;:true,&quot;code&quot;:&quot;7076YD01&quot;,&quot;updatedAt&quot;:&quot;2026-09-23T11:51:34.380Z&quot;}}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47BA3D33-1059-4841-8730-86D87EFF577F}">
  <we:reference id="186f9e69-8c0a-4e87-b19c-647c4ba34c10" version="16.26.6.1" store="EXCatalog" storeType="EXCatalog"/>
  <we:alternateReferences/>
  <we:properties/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F8E71445-05EE-4E93-B242-C898B9453F47}">
  <we:reference id="7888317b-a425-4590-9747-4c188fd7be2e" version="2.30.1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BE56D8D9282A48BDF00275E88ADAB6" ma:contentTypeVersion="13" ma:contentTypeDescription="Create a new document." ma:contentTypeScope="" ma:versionID="eceb09b52cc939cb007a5856c2d7cfc2">
  <xsd:schema xmlns:xsd="http://www.w3.org/2001/XMLSchema" xmlns:xs="http://www.w3.org/2001/XMLSchema" xmlns:p="http://schemas.microsoft.com/office/2006/metadata/properties" xmlns:ns2="360b96f5-0798-44cd-a449-910e1f571c60" xmlns:ns3="a30c2615-e6ee-419c-b51f-547e2dc52105" targetNamespace="http://schemas.microsoft.com/office/2006/metadata/properties" ma:root="true" ma:fieldsID="40db8ea44158f6562026f77178b4a578" ns2:_="" ns3:_="">
    <xsd:import namespace="360b96f5-0798-44cd-a449-910e1f571c60"/>
    <xsd:import namespace="a30c2615-e6ee-419c-b51f-547e2dc5210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BillingMetadata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96f5-0798-44cd-a449-910e1f571c6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9" nillable="true" ma:displayName="Taxonomy Catch All Column" ma:hidden="true" ma:list="{14599d19-f6b3-4266-a284-b9c84d490afe}" ma:internalName="TaxCatchAll" ma:showField="CatchAllData" ma:web="360b96f5-0798-44cd-a449-910e1f571c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0c2615-e6ee-419c-b51f-547e2dc521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60b96f5-0798-44cd-a449-910e1f571c60">JNPFHS4YFQKA-662903222-31256</_dlc_DocId>
    <_dlc_DocIdUrl xmlns="360b96f5-0798-44cd-a449-910e1f571c60">
      <Url>https://mckinsey.sharepoint.com/sites/spe-int-1fkf7xb6xwq0rq/_layouts/15/DocIdRedir.aspx?ID=JNPFHS4YFQKA-662903222-31256</Url>
      <Description>JNPFHS4YFQKA-662903222-31256</Description>
    </_dlc_DocIdUrl>
    <lcf76f155ced4ddcb4097134ff3c332f xmlns="a30c2615-e6ee-419c-b51f-547e2dc52105">
      <Terms xmlns="http://schemas.microsoft.com/office/infopath/2007/PartnerControls"/>
    </lcf76f155ced4ddcb4097134ff3c332f>
    <TaxCatchAll xmlns="360b96f5-0798-44cd-a449-910e1f571c60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44FD01-6B6E-4966-B24B-F890E71329A2}">
  <ds:schemaRefs>
    <ds:schemaRef ds:uri="360b96f5-0798-44cd-a449-910e1f571c60"/>
    <ds:schemaRef ds:uri="a30c2615-e6ee-419c-b51f-547e2dc521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79BCD87-0F55-41CA-BD79-AC84A135807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91F5CCB3-C396-4DE2-9FB3-96518FFD5FED}">
  <ds:schemaRefs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360b96f5-0798-44cd-a449-910e1f571c60"/>
    <ds:schemaRef ds:uri="http://schemas.microsoft.com/office/2006/documentManagement/types"/>
    <ds:schemaRef ds:uri="http://schemas.microsoft.com/office/infopath/2007/PartnerControls"/>
    <ds:schemaRef ds:uri="a30c2615-e6ee-419c-b51f-547e2dc52105"/>
  </ds:schemaRefs>
</ds:datastoreItem>
</file>

<file path=customXml/itemProps4.xml><?xml version="1.0" encoding="utf-8"?>
<ds:datastoreItem xmlns:ds="http://schemas.openxmlformats.org/officeDocument/2006/customXml" ds:itemID="{3F14045A-A9D2-430D-97C7-592E529A72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4653YN01_CF_16x9_ENG_V1</Template>
  <TotalTime>1579</TotalTime>
  <Words>1049</Words>
  <Application>Microsoft Office PowerPoint</Application>
  <PresentationFormat>Widescreen</PresentationFormat>
  <Paragraphs>254</Paragraphs>
  <Slides>15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Segoe UI</vt:lpstr>
      <vt:lpstr>Wingdings</vt:lpstr>
      <vt:lpstr>Georgia</vt:lpstr>
      <vt:lpstr>3_White</vt:lpstr>
      <vt:lpstr>think-cell Slide</vt:lpstr>
      <vt:lpstr>AI Champions Program Progress Update</vt:lpstr>
      <vt:lpstr>Agenda</vt:lpstr>
      <vt:lpstr>Recap: 3 solutions in one connected workflow on a single AI platform </vt:lpstr>
      <vt:lpstr>AI Champions Program Action Plan </vt:lpstr>
      <vt:lpstr>Agenda</vt:lpstr>
      <vt:lpstr>We developed an integrated set of AI agents to extract/clean data, create unified BoQ codes and CAPEX estimation</vt:lpstr>
      <vt:lpstr>284 out of 353 (80%) procurement packages since 2023 are captured with item-level prices</vt:lpstr>
      <vt:lpstr>Agenda</vt:lpstr>
      <vt:lpstr>2. Switch to the BoQ search and library</vt:lpstr>
      <vt:lpstr>Agenda</vt:lpstr>
      <vt:lpstr>3. Switch to the project brief report and technical design view</vt:lpstr>
      <vt:lpstr>We aim to integrate with COINS and Aconex for seamless agentic flow but couldn not achieve it yet</vt:lpstr>
      <vt:lpstr>Agenda</vt:lpstr>
      <vt:lpstr>Delivery targets until end of September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Sarp_Ersoy@mckinsey.com</dc:creator>
  <cp:keywords/>
  <dc:description/>
  <cp:lastModifiedBy>Sarp Ersoy</cp:lastModifiedBy>
  <cp:revision>1</cp:revision>
  <dcterms:created xsi:type="dcterms:W3CDTF">2025-04-15T04:58:43Z</dcterms:created>
  <dcterms:modified xsi:type="dcterms:W3CDTF">2026-10-02T11:09:31Z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LastEdited">
    <vt:lpwstr>2021-09-23 06:12 PM</vt:lpwstr>
  </property>
  <property fmtid="{D5CDD505-2E9C-101B-9397-08002B2CF9AE}" pid="3" name="ContentTypeId">
    <vt:lpwstr>0x010100CDBE56D8D9282A48BDF00275E88ADAB6</vt:lpwstr>
  </property>
  <property fmtid="{D5CDD505-2E9C-101B-9397-08002B2CF9AE}" pid="4" name="DataSource">
    <vt:lpwstr>2;#Internal|0b10eabc-00d3-4553-8252-f6efa1cda259</vt:lpwstr>
  </property>
  <property fmtid="{D5CDD505-2E9C-101B-9397-08002B2CF9AE}" pid="5" name="SourceSystem">
    <vt:lpwstr>1;#SPE|e1155322-03d8-4904-a51c-d7d7cbd8ca84</vt:lpwstr>
  </property>
  <property fmtid="{D5CDD505-2E9C-101B-9397-08002B2CF9AE}" pid="6" name="MSIP_Label_83303d7c-e5a3-4cc8-90eb-69bfd7570ac4_Enabled">
    <vt:lpwstr>True</vt:lpwstr>
  </property>
  <property fmtid="{D5CDD505-2E9C-101B-9397-08002B2CF9AE}" pid="7" name="MSIP_Label_83303d7c-e5a3-4cc8-90eb-69bfd7570ac4_SiteId">
    <vt:lpwstr>cc8936bc-9382-4fff-87cb-6f55999549e7</vt:lpwstr>
  </property>
  <property fmtid="{D5CDD505-2E9C-101B-9397-08002B2CF9AE}" pid="8" name="MSIP_Label_83303d7c-e5a3-4cc8-90eb-69bfd7570ac4_SetDate">
    <vt:lpwstr>2025-09-10T09:33:09Z</vt:lpwstr>
  </property>
  <property fmtid="{D5CDD505-2E9C-101B-9397-08002B2CF9AE}" pid="9" name="MSIP_Label_83303d7c-e5a3-4cc8-90eb-69bfd7570ac4_Name">
    <vt:lpwstr>Client Confidential</vt:lpwstr>
  </property>
  <property fmtid="{D5CDD505-2E9C-101B-9397-08002B2CF9AE}" pid="10" name="MSIP_Label_83303d7c-e5a3-4cc8-90eb-69bfd7570ac4_ActionId">
    <vt:lpwstr>42c3de9b-d2c9-4368-953b-38f3e37218a5</vt:lpwstr>
  </property>
  <property fmtid="{D5CDD505-2E9C-101B-9397-08002B2CF9AE}" pid="11" name="MSIP_Label_83303d7c-e5a3-4cc8-90eb-69bfd7570ac4_Removed">
    <vt:lpwstr>False</vt:lpwstr>
  </property>
  <property fmtid="{D5CDD505-2E9C-101B-9397-08002B2CF9AE}" pid="12" name="MSIP_Label_83303d7c-e5a3-4cc8-90eb-69bfd7570ac4_Extended_MSFT_Method">
    <vt:lpwstr>Standard</vt:lpwstr>
  </property>
  <property fmtid="{D5CDD505-2E9C-101B-9397-08002B2CF9AE}" pid="13" name="Sensitivity">
    <vt:lpwstr>Client Confidential</vt:lpwstr>
  </property>
  <property fmtid="{D5CDD505-2E9C-101B-9397-08002B2CF9AE}" pid="14" name="Order">
    <vt:r8>1463800</vt:r8>
  </property>
  <property fmtid="{D5CDD505-2E9C-101B-9397-08002B2CF9AE}" pid="15" name="ComplianceAssetId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  <property fmtid="{D5CDD505-2E9C-101B-9397-08002B2CF9AE}" pid="18" name="MediaServiceImageTags">
    <vt:lpwstr/>
  </property>
  <property fmtid="{D5CDD505-2E9C-101B-9397-08002B2CF9AE}" pid="19" name="_dlc_DocIdItemGuid">
    <vt:lpwstr>f519828d-a5cf-46f3-adf9-827d59269fe0</vt:lpwstr>
  </property>
</Properties>
</file>